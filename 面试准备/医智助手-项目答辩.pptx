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-731520"/>
            <a:ext cx="1463040" cy="1463040"/>
          </a:xfrm>
          <a:prstGeom prst="ellipse">
            <a:avLst/>
          </a:prstGeom>
          <a:solidFill>
            <a:srgbClr val="14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83480" y="1234440"/>
            <a:ext cx="2221992" cy="420624"/>
          </a:xfrm>
          <a:prstGeom prst="roundRect">
            <a:avLst>
              <a:gd name="adj" fmla="val 50000"/>
            </a:avLst>
          </a:prstGeom>
          <a:solidFill>
            <a:srgbClr val="CC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项目答辩 · 课程设计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6015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医智助手</a:t>
            </a:r>
            <a:endParaRPr sz="6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99F6E4"/>
                </a:solidFill>
                <a:latin typeface="微软雅黑" panose="020B0503020204020204" charset="-122"/>
                <a:ea typeface="微软雅黑" panose="020B0503020204020204" charset="-122"/>
              </a:rPr>
              <a:t>医疗知识库智能问答系统</a:t>
            </a:r>
            <a:endParaRPr sz="3000" b="0" i="0">
              <a:solidFill>
                <a:srgbClr val="99F6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13248" y="4041648"/>
            <a:ext cx="1371600" cy="27432"/>
          </a:xfrm>
          <a:prstGeom prst="rect">
            <a:avLst/>
          </a:prstGeom>
          <a:solidFill>
            <a:srgbClr val="99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CEAE6"/>
                </a:solidFill>
                <a:latin typeface="微软雅黑" panose="020B0503020204020204" charset="-122"/>
                <a:ea typeface="微软雅黑" panose="020B0503020204020204" charset="-122"/>
              </a:rPr>
              <a:t>基于 RAG 的可追溯医学知识问答  ·  五角色医院信息系统教学平台</a:t>
            </a:r>
            <a:endParaRPr sz="1600" b="0" i="0">
              <a:solidFill>
                <a:srgbClr val="CCEA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EC9C4"/>
                </a:solidFill>
                <a:latin typeface="微软雅黑" panose="020B0503020204020204" charset="-122"/>
                <a:ea typeface="微软雅黑" panose="020B0503020204020204" charset="-122"/>
              </a:rPr>
              <a:t>技术栈：Vue 3 · Flask · MySQL 8 · Milvus · 大语言模型</a:t>
            </a:r>
            <a:endParaRPr sz="1300" b="0" i="0">
              <a:solidFill>
                <a:srgbClr val="9EC9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EC9C4"/>
                </a:solidFill>
                <a:latin typeface="微软雅黑" panose="020B0503020204020204" charset="-122"/>
                <a:ea typeface="微软雅黑" panose="020B0503020204020204" charset="-122"/>
              </a:rPr>
              <a:t>2026 年 8 月</a:t>
            </a:r>
            <a:endParaRPr sz="1300" b="0" i="0">
              <a:solidFill>
                <a:srgbClr val="9EC9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960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sz="1200" b="1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8503920" y="1463040"/>
            <a:ext cx="3291840" cy="3291840"/>
          </a:xfrm>
          <a:prstGeom prst="ellipse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0" y="2651760"/>
            <a:ext cx="1463040" cy="146304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7223760" cy="786384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0992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240" y="1673352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项目背景与需求分析</a:t>
            </a:r>
            <a:endParaRPr sz="17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2029967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背景意义 · 系统简介 · 角色权限 · 功能/非功能需求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7223760" cy="786384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2432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20240" y="2587752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系统总体设计</a:t>
            </a:r>
            <a:endParaRPr sz="17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20240" y="2944368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总体架构 · 技术栈 · 数据库 · 权限安全 · RAG 设计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7223760" cy="786384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53872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20240" y="3502152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系统详细实现</a:t>
            </a:r>
            <a:endParaRPr sz="17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20240" y="3858768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后端架构 · 前端架构 · 四大核心功能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7223760" cy="786384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45312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20240" y="4416552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系统运行与测试</a:t>
            </a:r>
            <a:endParaRPr sz="17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20240" y="4773168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运行效果 · 测试用例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7223760" cy="786384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36752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20240" y="5330952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项目总结</a:t>
            </a:r>
            <a:endParaRPr sz="17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20240" y="5687568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亮点与难点 · 总结展望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4114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5000" b="1" i="0">
              <a:solidFill>
                <a:srgbClr val="E0F2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项目背景与需求分析</a:t>
            </a:r>
            <a:endParaRPr sz="3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70432" y="422452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BACKGROUND &amp; REQUIREMENTS</a:t>
            </a:r>
            <a:endParaRPr sz="1500" b="1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0" y="1371600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499616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项目背景与意义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0" y="2176272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3042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231343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系统简介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0" y="2980944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310896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3118103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用户角色与权限分析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0" y="3785615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3913631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392277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功能性需求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0" y="4590288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4718303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472744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非功能性需求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项目背景与意义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978847" y="384048"/>
            <a:ext cx="1709928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 · 背景与需求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440680" cy="4983480"/>
          </a:xfrm>
          <a:prstGeom prst="roundRect">
            <a:avLst>
              <a:gd name="adj" fmla="val 5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医疗信息化现状</a:t>
            </a:r>
            <a:endParaRPr sz="17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029968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医疗信息化是医院管理与患者服务的核心支撑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传统医疗信息咨询痛点：资料分散、检索困难、缺乏个性化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缺乏面向教学场景的医学知识服务平台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大模型与 RAG 技术为医学知识服务带来新可能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813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设计思路</a:t>
            </a:r>
            <a:endParaRPr sz="1700" b="1" i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029968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以"医学知识库 + 智能问答"为切入点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参考医院信息系统（HIS）的真实用户角色划分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44068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233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</a:rPr>
              <a:t>项目意义</a:t>
            </a:r>
            <a:endParaRPr sz="1700" b="1" i="0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01968" y="457200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为数据库 / 软件工程课程提供完整工程样例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面向公众的医学知识科普与辅助理解平台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系统简介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978847" y="384048"/>
            <a:ext cx="1709928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 · 背景与需求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医智助手：面向医院信息系统教学场景的医学知识库智能问答平台</a:t>
            </a:r>
            <a:endParaRPr sz="15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26791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26791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3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24963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个疾病知识库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37560" y="1783080"/>
            <a:ext cx="26791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011680"/>
            <a:ext cx="26791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241</a:t>
            </a:r>
            <a:endParaRPr sz="3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29000" y="2697480"/>
            <a:ext cx="24963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篇医学文档（公开 + 私有）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26791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011680"/>
            <a:ext cx="26791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3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63640" y="2697480"/>
            <a:ext cx="24963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种用户角色门户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06840" y="1783080"/>
            <a:ext cx="26791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011680"/>
            <a:ext cx="26791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sz="3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98280" y="2697480"/>
            <a:ext cx="24963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张 MySQL 数据表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3429000"/>
            <a:ext cx="11183112" cy="28346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3931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sz="16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" y="4160520"/>
            <a:ext cx="5212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RAG+Agent 智能咨询：双路召回→融合重排→流式回答+引用，可追溯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公开 / 私有双层级权限模型，按角色过滤可见文档</a:t>
            </a:r>
            <a:endParaRPr sz="13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5 角色统一单页应用门户，差异化导航与权限</a:t>
            </a:r>
            <a:endParaRPr sz="13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09360" y="4160520"/>
            <a:ext cx="5212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患者健康档案：住院、消费明细、预约挂号</a:t>
            </a:r>
            <a:endParaRPr sz="13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医护工作台：患者管理、护理记录、排班</a:t>
            </a:r>
            <a:endParaRPr sz="13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知识库管理：上传→复核(HITL)→检索，全流程可审计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用户角色与权限分析（RBAC）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978847" y="384048"/>
            <a:ext cx="1709928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 · 背景与需求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669280"/>
                <a:gridCol w="3410712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角色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核心功能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数据可见范围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0F766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群众 / 患者</a:t>
                      </a:r>
                      <a:endParaRPr sz="120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智能咨询 · 健康资讯 · 预约挂号 · 本人健康档案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仅公开知识库 + 公开文档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医生</a:t>
                      </a:r>
                      <a:endParaRPr sz="120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知识库管理 · 上传公开/私有文档 · 患者/住院管理 · 排班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公开 + 私有文档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护士</a:t>
                      </a:r>
                      <a:endParaRPr sz="120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患者查看 · 护理记录 · 排班查看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仅公开知识库 + 公开文档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管理员</a:t>
                      </a:r>
                      <a:endParaRPr sz="120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用户管理 · 全部知识库 · 全系统数据看板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全部数据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006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权限控制策略</a:t>
            </a:r>
            <a:endParaRPr sz="15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5257800"/>
            <a:ext cx="111556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普通用户（患者/群众/护士）检索时仅保留公开片段，过滤下推到向量库（Milvus expr / Numpy 标量过滤）</a:t>
            </a:r>
            <a:endParaRPr sz="12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医生可上传私有文档并仅供本人可见；管理员拥有全部权限，实现细粒度 RBAC</a:t>
            </a:r>
            <a:endParaRPr sz="12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功能性需求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978847" y="384048"/>
            <a:ext cx="1709928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 · 背景与需求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111831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80744"/>
            <a:ext cx="73152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075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智能医疗咨询</a:t>
            </a:r>
            <a:endParaRPr sz="13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29000" y="1325880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自然语言提问 → 双路召回+融合重排 v4 → 大模型流式回答，前端流式输出并附引用来源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1947672"/>
            <a:ext cx="111831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093976"/>
            <a:ext cx="73152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020824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公开/私有权限模型</a:t>
            </a:r>
            <a:endParaRPr sz="13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29000" y="2039112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知识库与文档均可设置公开或私有，查询时按角色自动过滤可见文档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2660904"/>
            <a:ext cx="111831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807208"/>
            <a:ext cx="73152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73405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多角色门户</a:t>
            </a:r>
            <a:endParaRPr sz="13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29000" y="2752344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5 种角色登录后呈现不同功能导航与权限，统一单页应用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3374136"/>
            <a:ext cx="111831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520440"/>
            <a:ext cx="73152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44728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患者健康档案</a:t>
            </a:r>
            <a:endParaRPr sz="13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29000" y="3465576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最近住院信息、消费明细、预约挂号查询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4087368"/>
            <a:ext cx="111831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233672"/>
            <a:ext cx="73152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医护工作台</a:t>
            </a:r>
            <a:endParaRPr sz="13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29000" y="4178808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患者管理、住院信息管理、护理记录、排班管理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2920" y="4800600"/>
            <a:ext cx="111831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946904"/>
            <a:ext cx="73152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8737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知识库管理</a:t>
            </a:r>
            <a:endParaRPr sz="13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29000" y="4892040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创建知识库、上传 txt/md/pdf/docx/pptx、切分、向量化入库与检索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2920" y="5513832"/>
            <a:ext cx="1118311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5660136"/>
            <a:ext cx="73152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586984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系统管理</a:t>
            </a:r>
            <a:endParaRPr sz="13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429000" y="5605272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用户增删改查、全系统统计看板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非功能性需求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978847" y="384048"/>
            <a:ext cx="1709928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 · 背景与需求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性能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5528" y="228600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SSE 流式响应，边生成边输出，首字延迟低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59" y="1600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可用性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56248" y="228600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无 API Key 也可运行；Milvus 未启动自动降级 NumpyStore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70332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CC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977639"/>
            <a:ext cx="502920" cy="502920"/>
          </a:xfrm>
          <a:prstGeom prst="ellipse">
            <a:avLst/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069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安全性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5528" y="466344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JWT 认证 · 密码哈希存储 · 接口角色校验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370332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59" y="3977639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4069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可维护性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56248" y="466344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Blueprint + Service 分层，模块职责清晰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58064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可扩展性：向量库可切换（Milvus / NumpyStore）、模型可更换（DeepSeek / OpenAI / 通义 / Ollama）</a:t>
            </a:r>
            <a:endParaRPr sz="12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4114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5000" b="1" i="0">
              <a:solidFill>
                <a:srgbClr val="E0F2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系统总体设计</a:t>
            </a:r>
            <a:endParaRPr sz="3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70432" y="422452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SYSTEM DESIGN</a:t>
            </a:r>
            <a:endParaRPr sz="1500" b="1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0" y="1371600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499616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系统总体架构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0" y="2176272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3042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231343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技术栈选型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0" y="2980944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310896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3118103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数据库设计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0" y="3785615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3913631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392277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权限与安全设计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0" y="4590288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4718303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472744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向量检索与 RAG 设计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系统总体架构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0579" y="384048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 · 总体设计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CC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患者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50058" y="123444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CC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医生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997196" y="123444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CC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护士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44333" y="123444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CC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群众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491472" y="123444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CC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管理员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16752" y="1755648"/>
            <a:ext cx="164592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71032" y="1700784"/>
            <a:ext cx="256032" cy="146304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1828800"/>
            <a:ext cx="11183112" cy="640080"/>
          </a:xfrm>
          <a:prstGeom prst="roundRect">
            <a:avLst>
              <a:gd name="adj" fmla="val 14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956816"/>
            <a:ext cx="108173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表现层：Vue 3 单页应用（Element Plus · Pinia · Vue Router · ECharts · Axios）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16752" y="2505456"/>
            <a:ext cx="164592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5971032" y="2450592"/>
            <a:ext cx="256032" cy="146304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578608"/>
            <a:ext cx="5440680" cy="1481328"/>
          </a:xfrm>
          <a:prstGeom prst="roundRect">
            <a:avLst>
              <a:gd name="adj" fmla="val 5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6974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API 接口层 · Flask Blueprint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3127248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auth · chat · kb · medical · dashboard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agent · review · mcp（/api/mcp JSON-RPC）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45352" y="2578608"/>
            <a:ext cx="544068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6974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业务服务层 · Service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73952" y="3127248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智能问答(RAG+Agent) · 知识库 · 文档处理 · 检索重排 v4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患者档案 · 医护排班 · 用户管理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16752" y="4096512"/>
            <a:ext cx="164592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>
            <a:off x="5971032" y="4041648"/>
            <a:ext cx="256032" cy="146304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4169663"/>
            <a:ext cx="11183112" cy="640080"/>
          </a:xfrm>
          <a:prstGeom prst="roundRect">
            <a:avLst>
              <a:gd name="adj" fmla="val 14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97680"/>
            <a:ext cx="108173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数据与基础：MySQL 8 业务数据 · Milvus/NumpyStore 向量库 · 本地文件存储 · LLM 接口（DeepSeek）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23036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关键机制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95528" y="565099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JWT 认证与会话管理 → 角色鉴权后访问各服务；SSE 流式响应推送到前端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RAG v4：双路召回 → 融合重排 → 引用可追溯；Agent v2：Supervisor 路由 6 子智能体，SSE 轨迹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技术栈选型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0579" y="384048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 · 总体设计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80160"/>
          <a:ext cx="1118311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846320"/>
                <a:gridCol w="4782312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层级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技术选型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0F766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前端</a:t>
                      </a:r>
                      <a:endParaRPr sz="120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Vue 3 · TypeScript · Vite · Element Plus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Pinia · Vue Router · ECharts · Axios，单页应用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后端</a:t>
                      </a:r>
                      <a:endParaRPr sz="120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· Flask · Flask-CORS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Blueprint + Service 分层，SSE 流式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数据存储</a:t>
                      </a:r>
                      <a:endParaRPr sz="120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MySQL 8 · Milvus 向量库 · 本地文件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NumpyStore 纯 Python 兜底，cosine 相似度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 / RAG</a:t>
                      </a:r>
                      <a:endParaRPr sz="120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OpenAI 兼容接口 · bge 向量模型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文档切分 · 向量检索 · 关键词重排 · 流式响应 · 离线兜底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部署</a:t>
                      </a:r>
                      <a:endParaRPr sz="120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Docker Compose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MySQL + 前端 Nginx + 后端 gunicorn，一键启动</a:t>
                      </a:r>
                      <a:endParaRPr sz="120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开源可复用：MySQL 建库建表自动执行、幂等播种演示数据，开箱即用</a:t>
            </a:r>
            <a:endParaRPr sz="12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全链路可降级：无 LLM 密钥、无 Milvus 也能运行完整 RAG 流程</a:t>
            </a:r>
            <a:endParaRPr sz="12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数据库设计（MySQL 8）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0579" y="384048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 · 总体设计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数据库 medical-assistant-master · utf8mb4 · 17 张表 · 启动时自动建库建表、幂等播种</a:t>
            </a:r>
            <a:endParaRPr sz="13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54406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013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users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80360" y="18105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用户（5 种角色）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74920" y="181051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54406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8013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knowledge_bases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41080" y="18105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知识库（公开/私有）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35640" y="181051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2313432"/>
            <a:ext cx="54406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2423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documents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80360" y="243230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文档（visibility）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74920" y="243230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241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63640" y="2313432"/>
            <a:ext cx="54406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2423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conversations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41080" y="243230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咨询会话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835640" y="243230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2935224"/>
            <a:ext cx="54406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0449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messages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880360" y="305409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会话消息（问答对）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74920" y="3054096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63640" y="2935224"/>
            <a:ext cx="54406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7" y="30449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citations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41080" y="305409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回答引用来源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835640" y="3054096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3557016"/>
            <a:ext cx="54406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366674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hospitalizations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80360" y="36758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住院信息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74920" y="3675888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263640" y="3557016"/>
            <a:ext cx="54406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7" y="366674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bills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641080" y="36758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消费明细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835640" y="3675888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02920" y="4178808"/>
            <a:ext cx="54406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" y="428853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appointments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880360" y="4297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预约挂号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74920" y="42976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263640" y="4178808"/>
            <a:ext cx="54406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64807" y="428853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nursing_records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641080" y="4297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护理记录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35640" y="42976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502920" y="4800600"/>
            <a:ext cx="54406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" y="491032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schedules</a:t>
            </a:r>
            <a:endParaRPr sz="13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880360" y="491947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医护排班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074920" y="491947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02920" y="5486400"/>
            <a:ext cx="11183112" cy="777240"/>
          </a:xfrm>
          <a:prstGeom prst="roundRect">
            <a:avLst>
              <a:gd name="adj" fmla="val 1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设计要点：11 张业务表主外键闭环（用户→会话→消息→引用 / 患者→住院→账单→挂号→护理）；另含 4 张检索支撑表 + audit_logs + 预约复核表，共 17 张；双层权限 + 复核状态机留痕</a:t>
            </a:r>
            <a:endParaRPr sz="1250" b="0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关键数据表结构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0579" y="384048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 · 总体设计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07008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2801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16736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users · 用户表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40" y="1737360"/>
            <a:ext cx="4892040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86537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username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88920" y="186537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VARCHAR(32) 唯一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登录名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5528" y="217627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password_hash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88920" y="217627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VARCHAR(255)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60520" y="217627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密码哈希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5528" y="248716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role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88920" y="248716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VARCHAR(16)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60520" y="248716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patient/doctor/nurse/public/admin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5528" y="2798063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display_name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88920" y="2798063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VARCHAR(64)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60520" y="2798063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显示名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63640" y="1207008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207008"/>
            <a:ext cx="12801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1316736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knowledge_bases · 知识库表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37959" y="1737360"/>
            <a:ext cx="4892040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186537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owner_id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49640" y="186537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INT NULL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921240" y="186537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NULL=平台公共库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56248" y="217627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name / description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49640" y="217627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VARCHAR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21240" y="217627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库名与描述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56248" y="248716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visibility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49640" y="248716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VARCHAR(16)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921240" y="248716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public / private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02920" y="3694176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3694176"/>
            <a:ext cx="12801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380390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documents · 文档表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77240" y="4224528"/>
            <a:ext cx="4892040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" y="4352544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kb_id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88920" y="435254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160520" y="435254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所属知识库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5528" y="466344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file_path / file_type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88920" y="466344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VARCHAR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160520" y="466344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落盘路径 · txt/md/pdf/docx/pptx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95528" y="497433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visibility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88920" y="497433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VARCHAR(16)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160520" y="497433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public / private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95528" y="5285231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chunk_count · status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88920" y="5285231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INT / VARCHAR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60520" y="5285231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块数 · ready/failed · review_status 待复核/通过/驳回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263640" y="3694176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63640" y="3694176"/>
            <a:ext cx="12801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56248" y="380390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citations · 引用来源表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537959" y="4224528"/>
            <a:ext cx="4892040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56248" y="4352544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message_id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549640" y="435254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921240" y="435254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关联回答消息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556248" y="466344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document_id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549640" y="466344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921240" y="466344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引用文档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556248" y="497433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chunk_index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549640" y="497433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921240" y="497433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片段序号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556248" y="5285231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similarity</a:t>
            </a:r>
            <a:endParaRPr sz="11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549640" y="5285231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DOUBLE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921240" y="5285231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cosine 相似度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权限与安全设计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0579" y="384048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 · 总体设计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JWT 认证流程</a:t>
            </a:r>
            <a:endParaRPr sz="16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77240" y="1965960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07107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98448" y="2011679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用户登录 → 校验用户名 + 密码哈希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77240" y="239572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3687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8448" y="244144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签发 JWT（HS256，24h 过期）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7240" y="2825496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66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98448" y="2871215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前端携带 Token 访问 /api/*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77240" y="3255263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96411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98448" y="3300983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装饰器校验角色 → 放行 / 拒绝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63640" y="123444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46304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安全机制</a:t>
            </a:r>
            <a:endParaRPr sz="16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01968" y="19659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密码 werkzeug 哈希存储，不存明文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角色装饰器 require_auth / require_roles 校验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公开/私有过滤下推到向量库查询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.env 敏感配置不入库、不提交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200" b="1" i="0">
                <a:solidFill>
                  <a:srgbClr val="0F766E"/>
                </a:solidFill>
                <a:latin typeface="微软雅黑" panose="020B0503020204020204" charset="-122"/>
              </a:rPr>
              <a:t>● HITL：文档/AI 回答/预约三通道人工复核，audit_logs 全量审计（仅 admin 查询）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3794760"/>
            <a:ext cx="11183112" cy="23774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2336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核心权限矩阵</a:t>
            </a:r>
            <a:endParaRPr sz="16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480560"/>
          <a:ext cx="10607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417320"/>
                <a:gridCol w="1417320"/>
                <a:gridCol w="1417320"/>
                <a:gridCol w="1417320"/>
                <a:gridCol w="17373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能力</a:t>
                      </a:r>
                      <a:endParaRPr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患者</a:t>
                      </a:r>
                      <a:endParaRPr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医生</a:t>
                      </a:r>
                      <a:endParaRPr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护士</a:t>
                      </a:r>
                      <a:endParaRPr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群众</a:t>
                      </a:r>
                      <a:endParaRPr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管理员</a:t>
                      </a:r>
                      <a:endParaRPr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0F766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公开知识库 / 文档查询</a:t>
                      </a:r>
                      <a:endParaRPr sz="115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B8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150" b="0" i="0">
                        <a:solidFill>
                          <a:srgbClr val="0B8A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B8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150" b="0" i="0">
                        <a:solidFill>
                          <a:srgbClr val="0B8A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B8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150" b="0" i="0">
                        <a:solidFill>
                          <a:srgbClr val="0B8A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B8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150" b="0" i="0">
                        <a:solidFill>
                          <a:srgbClr val="0B8A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B8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150" b="0" i="0">
                        <a:solidFill>
                          <a:srgbClr val="0B8A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私有文档检索</a:t>
                      </a:r>
                      <a:endParaRPr sz="115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B8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150" b="0" i="0">
                        <a:solidFill>
                          <a:srgbClr val="0B8A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B8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150" b="0" i="0">
                        <a:solidFill>
                          <a:srgbClr val="0B8A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E6F6F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创建知识库 / 上传文档</a:t>
                      </a:r>
                      <a:endParaRPr sz="115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B8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150" b="0" i="0">
                        <a:solidFill>
                          <a:srgbClr val="0B8A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B8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150" b="0" i="0">
                        <a:solidFill>
                          <a:srgbClr val="0B8A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健康档案 / 护理记录 / 排班</a:t>
                      </a:r>
                      <a:endParaRPr sz="115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本人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管理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护理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挂号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全量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45720" marT="18288" marB="18288" anchor="ctr">
                    <a:solidFill>
                      <a:srgbClr val="E6F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向量检索与 RAG 设计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0579" y="384048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 · 总体设计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26974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26974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09344"/>
            <a:ext cx="2697480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文档切分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23317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CHUNK_SIZE=500 字符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CHUNK_OVERLAP=80 保证连贯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支持 txt/md/pdf/docx/pptx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37560" y="1280160"/>
            <a:ext cx="26974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1280160"/>
            <a:ext cx="26974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609344"/>
            <a:ext cx="2697480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37160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向量化模型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20440" y="1965960"/>
            <a:ext cx="23317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bge-base-zh-v1.5 · 768 维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ModelScope 下载 · 本地推理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中文语义检索效果好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72200" y="1280160"/>
            <a:ext cx="26974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1280160"/>
            <a:ext cx="26974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609344"/>
            <a:ext cx="2697480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37160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向量存储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5080" y="1965960"/>
            <a:ext cx="23317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Milvus：集合 medical_chunks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kb_id 分区键 + cosine HNSW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未启动自动降级 NumpyStore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06840" y="1280160"/>
            <a:ext cx="26974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06840" y="1280160"/>
            <a:ext cx="26974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1609344"/>
            <a:ext cx="2697480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137160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检索与重排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89719" y="1965960"/>
            <a:ext cx="23317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双路召回：BM25(jieba) ∪ BGE 各 Top-30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融合重排 v4 = 0.55·稠密 + 0.30·BM25 + 0.15·词法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实体命中地板 0.90+证据 · 阈值 0.45 → Top-8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2920" y="4434840"/>
            <a:ext cx="11183112" cy="1737360"/>
          </a:xfrm>
          <a:prstGeom prst="roundRect">
            <a:avLst>
              <a:gd name="adj" fmla="val 6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检索过滤与评测</a:t>
            </a:r>
            <a:endParaRPr sz="15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1248" y="5138928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双路并集去重后候选约 40-60 条 → 融合重排 v4 打分过滤：score ≥ 0.45 且仅 approved&amp;ready 文档 → Top-8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本地 42 问评测：重排 Hit@1=100%、平均分≈0.94；HITL 复核保证语料质量，未复核/驳回文档不进上下文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RAG 智能问答全流程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0579" y="384048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 · 总体设计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① 用户提问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自然语言问题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18688" y="1732788"/>
            <a:ext cx="91440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3200400" y="1687068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8416" y="137160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5576" y="153619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② 权限过滤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65576" y="192024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公开/私有文档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44184" y="1732788"/>
            <a:ext cx="91440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6025896" y="1687068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3912" y="137160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53619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③ 向量化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91072" y="192024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bge-zh 768 维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869680" y="1732788"/>
            <a:ext cx="91440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8851392" y="1687068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9408" y="137160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8" y="153619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④ 双路召回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16568" y="192024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BM25 ∪ BGE Top-30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02920" y="2834639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99923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⑤ 融合重排 v4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3383279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0.55/0.30/0.15 加权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18688" y="3195828"/>
            <a:ext cx="91440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3200400" y="3150108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28416" y="2834639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65576" y="299923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⑥ 上下文构建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65576" y="3383279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Top-8 编号片段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044184" y="3195828"/>
            <a:ext cx="91440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025896" y="3150108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53912" y="2834639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299923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⑦ LLM 生成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91072" y="3383279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SSE 流式输出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869680" y="3195828"/>
            <a:ext cx="91440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8851392" y="3150108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979408" y="2834639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16568" y="299923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⑧ 返回 + 引用</a:t>
            </a:r>
            <a:endParaRPr sz="1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116568" y="3383279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citations 来源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769364" y="2514600"/>
            <a:ext cx="164592" cy="2651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1723644" y="2670048"/>
            <a:ext cx="256032" cy="146304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45852" y="2514600"/>
            <a:ext cx="164592" cy="2651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0200132" y="2670048"/>
            <a:ext cx="256032" cy="146304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02920" y="443484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</a:rPr>
              <a:t>离线兜底，全链路始终可用</a:t>
            </a:r>
            <a:endParaRPr sz="1450" b="1" i="0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2960" y="49834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未配置 API Key / 大模型调用失败 → 自动降级为基于知识库检索的离线合成回答，并保留引用来源</a:t>
            </a:r>
            <a:endParaRPr sz="12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02920" y="557784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568756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知识库切换：可在多个疾病知识库间选择；咨询历史按会话保存，回答引用可逐条追溯</a:t>
            </a:r>
            <a:endParaRPr sz="12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4114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5000" b="1" i="0">
              <a:solidFill>
                <a:srgbClr val="E0F2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系统详细实现</a:t>
            </a:r>
            <a:endParaRPr sz="3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70432" y="422452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IMPLEMENTATION</a:t>
            </a:r>
            <a:endParaRPr sz="1500" b="1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0" y="1371600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499616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后端架构实现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0" y="2176272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3042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231343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前端架构实现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0" y="2980944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310896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3118103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智能咨询功能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0" y="3785615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3913631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392277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知识库管理功能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0" y="4590288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4718303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472744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核心业务功能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后端架构实现（Flask）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0579" y="384048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03 · 详细实现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440680" cy="31089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分层目录结构</a:t>
            </a:r>
            <a:endParaRPr sz="15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920240"/>
            <a:ext cx="4892040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7510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app.py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68880" y="19842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Flask 入口：自动建库建表 + 播种</a:t>
            </a:r>
            <a:endParaRPr sz="10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395728"/>
            <a:ext cx="4892040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4505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api/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24597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7 个蓝图：auth chat kb medical</a:t>
            </a:r>
            <a:endParaRPr sz="10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2871216"/>
            <a:ext cx="4892040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9260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68880" y="293522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dashboard agent review /api/mcp</a:t>
            </a:r>
            <a:endParaRPr sz="10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346704"/>
            <a:ext cx="4892040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40156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services/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68880" y="341071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咨询 · 知识库 · 检索 · 文档处理 · LLM</a:t>
            </a:r>
            <a:endParaRPr sz="10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3822191"/>
            <a:ext cx="4892040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77055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models/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68880" y="3886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schema_mysql.sql · db.py 数据访问层</a:t>
            </a:r>
            <a:endParaRPr sz="10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7240" y="4297679"/>
            <a:ext cx="4892040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352543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utils/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68880" y="436168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错误处理 · 文件工具 · 文本工具</a:t>
            </a:r>
            <a:endParaRPr sz="10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63640" y="1234440"/>
            <a:ext cx="54406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14630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实现要点</a:t>
            </a:r>
            <a:endParaRPr sz="15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01968" y="196596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Blueprint 按业务域拆分，接口职责单一</a:t>
            </a:r>
            <a:endParaRPr sz="12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Service 层隔离业务逻辑，可独立测试</a:t>
            </a:r>
            <a:endParaRPr sz="12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doc_pipeline：上传 → 切分 → 向量化 → 入库待复核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retriever：BM25∪BGE 双路召回 + 融合重排 v4 + 引用构建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seed.py 幂等播种 5 角色 + 241 篇文档 + 各表 ≥50 条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250" b="1" i="0">
                <a:solidFill>
                  <a:srgbClr val="0F766E"/>
                </a:solidFill>
                <a:latin typeface="微软雅黑" panose="020B0503020204020204" charset="-122"/>
              </a:rPr>
              <a:t>● agent/：护栏 + 记忆 + Supervisor + 子智能体×6 + Skills/Tools（v2）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4572000"/>
            <a:ext cx="11183112" cy="1600200"/>
          </a:xfrm>
          <a:prstGeom prst="roundRect">
            <a:avLst>
              <a:gd name="adj" fmla="val 6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数据流示例：文档上传 → 检索</a:t>
            </a:r>
            <a:endParaRPr sz="15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48640" y="5349240"/>
            <a:ext cx="1874519" cy="5029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上传文档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478024" y="5349240"/>
            <a:ext cx="329184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2697479" y="5303520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807208" y="5349240"/>
            <a:ext cx="1874519" cy="5029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doc_pipeline 切分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736592" y="5349240"/>
            <a:ext cx="329184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4956048" y="5303520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65776" y="5349240"/>
            <a:ext cx="1874519" cy="5029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bge 向量化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995160" y="5349240"/>
            <a:ext cx="329184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7214616" y="5303520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24344" y="5349240"/>
            <a:ext cx="1874519" cy="5029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Milvus 入库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253728" y="5349240"/>
            <a:ext cx="329184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9473184" y="5303520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82912" y="5349240"/>
            <a:ext cx="1874519" cy="5029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查询时向量召回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状态机：ready 待复核 → approved/rejected/failed（解析失败返回具体原因）</a:t>
            </a:r>
            <a:endParaRPr sz="11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前端架构实现（Vue 3）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0579" y="384048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03 · 详细实现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02-患者数据仪表盘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80160"/>
            <a:ext cx="5394960" cy="33718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280160"/>
            <a:ext cx="5394960" cy="3371850"/>
          </a:xfrm>
          <a:prstGeom prst="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234440"/>
            <a:ext cx="5440680" cy="37947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工程结构</a:t>
            </a:r>
            <a:endParaRPr sz="15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" y="1920240"/>
            <a:ext cx="48920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99339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layouts/MainLayout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43200" y="19933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5 角色导航 + 底部版权</a:t>
            </a:r>
            <a:endParaRPr sz="10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2414016"/>
            <a:ext cx="48920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8716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pages/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0" y="24871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仪表盘 · 咨询 · 健康档案 · 挂号 · 工作台</a:t>
            </a:r>
            <a:endParaRPr sz="10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" y="2907792"/>
            <a:ext cx="48920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98094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api/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43200" y="298094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Axios 封装与 /api 端点</a:t>
            </a:r>
            <a:endParaRPr sz="10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401568"/>
            <a:ext cx="48920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47472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store/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43200" y="34747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Pinia 状态管理（用户/会话）</a:t>
            </a:r>
            <a:endParaRPr sz="10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77240" y="3895344"/>
            <a:ext cx="48920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96849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types/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43200" y="396849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角色与业务类型定义</a:t>
            </a:r>
            <a:endParaRPr sz="10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525780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SSE 流式渲染：EventSource 接收回答分片，逐字呈现；知识库/角色权限前端路由守卫</a:t>
            </a:r>
            <a:endParaRPr sz="12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2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ECharts 数据看板：管理员全系统统计、患者个人健康数据可视化</a:t>
            </a:r>
            <a:endParaRPr sz="12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核心功能 · 智能医疗咨询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0579" y="384048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03 · 详细实现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394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自然语言提问，多疾病知识库任选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双模式：chat(RAG v4 检索问答) / agent(多智能体编排)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回答附引用来源，支持逐条追溯（citations）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咨询历史按会话保存，随时回看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普通用户只能检索公开知识库 + 公开文档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离线兜底：无密钥也可完整演示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03-智能咨询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80160"/>
            <a:ext cx="5394960" cy="33718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3640" y="1280160"/>
            <a:ext cx="5394960" cy="3371850"/>
          </a:xfrm>
          <a:prstGeom prst="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4709160"/>
            <a:ext cx="11183112" cy="1463040"/>
          </a:xfrm>
          <a:prstGeom prst="roundRect">
            <a:avLst>
              <a:gd name="adj" fmla="val 6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1947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回答生成逻辑（chat / agent 双引擎）</a:t>
            </a:r>
            <a:endParaRPr sz="14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chat：权限过滤 → BM25∪BGE 双路召回(Top-30) → 融合重排 v4(≥0.45 → Top-8) → 编号上下文 → OpenAI 兼容 LLM → SSE 流式返回 + citations 引用；agent：护栏 → 记忆 → Supervisor 路由 ×6 子智能体 → 技能/工具 → ReAct 轨迹；无 Key 均降级离线合成回答。</a:t>
            </a:r>
            <a:endParaRPr sz="12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核心功能 · 知识库管理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0579" y="384048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03 · 详细实现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13-知识库管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80160"/>
            <a:ext cx="5394960" cy="33718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280160"/>
            <a:ext cx="5394960" cy="3371850"/>
          </a:xfrm>
          <a:prstGeom prst="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80160"/>
            <a:ext cx="5394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12 个疾病知识库：呼吸、心血管、消化、神经……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知识库 / 文档均可设置公开或私有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支持上传 txt · md · pdf · docx · pptx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上传自动切分向量化入库，医生复核通过(approved)后方可检索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失败时返回具体原因，状态机清晰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4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医生私有库仅本人可见（visibility + owner）</a:t>
            </a:r>
            <a:endParaRPr sz="14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1" i="0">
                <a:solidFill>
                  <a:srgbClr val="0F766E"/>
                </a:solidFill>
                <a:latin typeface="微软雅黑" panose="020B0503020204020204" charset="-122"/>
              </a:rPr>
              <a:t>● HITL：上传默认 pending，医生/管理员复核 approve/reject，全程审计留痕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4709160"/>
            <a:ext cx="11183112" cy="1463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1947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上传管线（doc_pipeline）</a:t>
            </a:r>
            <a:endParaRPr sz="14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541324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格式校验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66543" y="5404104"/>
            <a:ext cx="310896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2267711" y="5358384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77440" y="541324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正文抽取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95344" y="5404104"/>
            <a:ext cx="310896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4096511" y="5358384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541324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切分(500+80)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24144" y="5404104"/>
            <a:ext cx="310896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5925312" y="5358384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0" y="541324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bge 向量化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52944" y="5404104"/>
            <a:ext cx="310896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7754112" y="5358384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63840" y="541324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Milvus 写入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381744" y="5404104"/>
            <a:ext cx="310896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9582912" y="5358384"/>
            <a:ext cx="146304" cy="256032"/>
          </a:xfrm>
          <a:prstGeom prst="triangl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541324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待复核 pending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核心业务功能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20579" y="384048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03 · 详细实现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26974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-患者健康档案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2423160" cy="15144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7947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患者健康档案</a:t>
            </a:r>
            <a:endParaRPr sz="13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" y="4133087"/>
            <a:ext cx="24780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最近住院信息 · 消费明细 · 预约挂号查询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37560" y="1280160"/>
            <a:ext cx="26974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-预约挂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17320"/>
            <a:ext cx="2423160" cy="15144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74720" y="37947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在线预约挂号</a:t>
            </a:r>
            <a:endParaRPr sz="13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47288" y="4133087"/>
            <a:ext cx="24780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科室/时间选择 · 状态流转（booked→visited）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2200" y="1280160"/>
            <a:ext cx="26974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9-医生工作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2423160" cy="151447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9360" y="37947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医护工作台</a:t>
            </a:r>
            <a:endParaRPr sz="13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81928" y="4133087"/>
            <a:ext cx="24780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患者管理 · 住院信息 · 护理记录 · 排班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006840" y="1280160"/>
            <a:ext cx="26974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15-系统管理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417320"/>
            <a:ext cx="2423160" cy="15144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4000" y="37947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系统管理</a:t>
            </a:r>
            <a:endParaRPr sz="13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16567" y="4133087"/>
            <a:ext cx="24780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用户增删改查 · 全系统数据看板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480060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1091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业务闭环</a:t>
            </a:r>
            <a:endParaRPr sz="14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54406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患者：注册 → 挂号 → 住院 → 消费 → 健康档案查询；医护：排班 → 接诊 → 护理记录 → 出院管理；管理员：用户与全系统数据一屏掌握。业务数据贯穿 17 张表（含复核/审计表），形成完整闭环。</a:t>
            </a:r>
            <a:endParaRPr sz="12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4114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5000" b="1" i="0">
              <a:solidFill>
                <a:srgbClr val="E0F2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系统运行与测试</a:t>
            </a:r>
            <a:endParaRPr sz="3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70432" y="422452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RUNNING &amp; TESTING</a:t>
            </a:r>
            <a:endParaRPr sz="1500" b="1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0" y="1371600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499616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系统运行效果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0" y="2176272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3042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231343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功能测试用例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系统运行效果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978847" y="384048"/>
            <a:ext cx="1709928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04 · 运行与测试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01-登录页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1143000"/>
            <a:ext cx="3493008" cy="218312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40280" y="1143000"/>
            <a:ext cx="3493008" cy="2183129"/>
          </a:xfrm>
          <a:prstGeom prst="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3390137"/>
            <a:ext cx="3493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登录页 · 五种角色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1" descr="02-患者数据仪表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143000"/>
            <a:ext cx="3493008" cy="21831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64808" y="1143000"/>
            <a:ext cx="3493008" cy="2183129"/>
          </a:xfrm>
          <a:prstGeom prst="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3390137"/>
            <a:ext cx="3493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患者数据仪表盘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14" descr="03-智能咨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3710177"/>
            <a:ext cx="3493008" cy="218312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40280" y="3710177"/>
            <a:ext cx="3493008" cy="2183129"/>
          </a:xfrm>
          <a:prstGeom prst="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5957315"/>
            <a:ext cx="3493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智能咨询 · 流式回答 + 引用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Picture 17" descr="05-患者健康档案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710177"/>
            <a:ext cx="3493008" cy="218312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464808" y="3710177"/>
            <a:ext cx="3493008" cy="2183129"/>
          </a:xfrm>
          <a:prstGeom prst="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5957315"/>
            <a:ext cx="3493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患者健康档案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系统测试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978847" y="384048"/>
            <a:ext cx="1709928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04 · 运行与测试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480560"/>
                <a:gridCol w="4233672"/>
              </a:tblGrid>
              <a:tr h="52251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用例</a:t>
                      </a:r>
                      <a:endParaRPr sz="12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测试步骤</a:t>
                      </a:r>
                      <a:endParaRPr sz="12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预期结果</a:t>
                      </a:r>
                      <a:endParaRPr sz="12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0F766E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多角色登录</a:t>
                      </a:r>
                      <a:endParaRPr sz="115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 个演示账号逐一登录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各自进入对应角色门户，权限正确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公开/私有过滤</a:t>
                      </a:r>
                      <a:endParaRPr sz="115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患者/群众检索私有文档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返回空或仅公开结果，拒绝越权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RAG 智能问答</a:t>
                      </a:r>
                      <a:endParaRPr sz="115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对知识库提问并查看引用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流式回答 + 引用来源可追溯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文档上传</a:t>
                      </a:r>
                      <a:endParaRPr sz="115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上传 txt/md/pdf/docx/pptx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切分向量化成功，检索可用；非法文件报具体原因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健康档案/挂号</a:t>
                      </a:r>
                      <a:endParaRPr sz="115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患者查看住院消费、预约挂号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数据与本人一致，状态流转正确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兜底降级</a:t>
                      </a:r>
                      <a:endParaRPr sz="1150" b="1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停用 API Key / 关闭 Milvus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自动降级离线合成回答 / NumpyStore，系统不中断</a:t>
                      </a:r>
                      <a:endParaRPr sz="1150" b="0" i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9728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12064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说明</a:t>
            </a:r>
            <a:endParaRPr sz="135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553212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本轮以功能用例手工验证为主，配合接口联调与降级演练；项目结构为后续接入 pytest 单元测试预留了 Service 层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运行截图由 scripts/screenshot.mjs（puppeteer-core + 本机 Chrome）自动生成，可回归验证 UI</a:t>
            </a:r>
            <a:endParaRPr sz="11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4114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5000" b="1" i="0">
              <a:solidFill>
                <a:srgbClr val="E0F2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项目总结</a:t>
            </a:r>
            <a:endParaRPr sz="34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70432" y="422452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SUMMARY</a:t>
            </a:r>
            <a:endParaRPr sz="1500" b="1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0" y="1371600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499616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项目亮点与难点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0" y="2176272"/>
            <a:ext cx="6035040" cy="658368"/>
          </a:xfrm>
          <a:prstGeom prst="roundRect">
            <a:avLst>
              <a:gd name="adj" fmla="val 18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3042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231343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sz="145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项目亮点与难点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404043" y="384048"/>
            <a:ext cx="1284732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05 · 总结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27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440680" cy="3291840"/>
          </a:xfrm>
          <a:prstGeom prst="roundRect">
            <a:avLst>
              <a:gd name="adj" fmla="val 5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项目亮点</a:t>
            </a:r>
            <a:endParaRPr sz="16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011680"/>
            <a:ext cx="484632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端到端 RAG：切分→向量化→检索→重排→生成→引用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公开/私有双层权限，过滤下推到向量库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全链路降级，离线也完整可用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知识问答 + 健康档案 + 医护管理三合一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持续演进：SQLite→MySQL、ChromaDB→Milvus、关键词重排→融合重排 v4、单流程→Agent v2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300" b="1" i="0">
                <a:solidFill>
                  <a:srgbClr val="0F766E"/>
                </a:solidFill>
                <a:latin typeface="微软雅黑" panose="020B0503020204020204" charset="-122"/>
              </a:rPr>
              <a:t>● Agent v2：护栏 + 增强记忆 + Supervisor 路由 6 子智能体，SSE 轨迹可观测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4406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8132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</a:rPr>
              <a:t>技术难点与解决</a:t>
            </a:r>
            <a:endParaRPr sz="1600" b="1" i="0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011680"/>
            <a:ext cx="484632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中文向量模型下载（HF Xet 不可达）→ 改用 ModelScope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相似度压分失真（1/(1+d)）→ cosine 修正 + 融合重排 v4（0.55/0.30/0.15、实体地板）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多角色权限矩阵复杂 → 装饰器 + 下推过滤统一实现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向量库不可用 → Milvus 自动降级 NumpyStore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300" b="1" i="0">
                <a:solidFill>
                  <a:srgbClr val="0F766E"/>
                </a:solidFill>
                <a:latin typeface="微软雅黑" panose="020B0503020204020204" charset="-122"/>
              </a:rPr>
              <a:t>● AI 回答合规：HITL 复核三通道（文档/回答/预约）兜底，杜绝低质内容外流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475488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工程亮点</a:t>
            </a:r>
            <a:endParaRPr sz="15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" y="544068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自动建库建表 + 幂等播种，五角色一键演示；Docker Compose 一键部署（Milvus+MySQL+前后端）；HITL 复核三通道 + audit_logs 全链路审计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10896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sz="2300" b="1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404043" y="384048"/>
            <a:ext cx="1284732" cy="36576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05 · 总结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1183112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28</a:t>
            </a:r>
            <a:endParaRPr sz="100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11183112" cy="2148840"/>
          </a:xfrm>
          <a:prstGeom prst="roundRect">
            <a:avLst>
              <a:gd name="adj" fmla="val 5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4E4A"/>
                </a:solidFill>
                <a:latin typeface="微软雅黑" panose="020B0503020204020204" charset="-122"/>
                <a:ea typeface="微软雅黑" panose="020B0503020204020204" charset="-122"/>
              </a:rPr>
              <a:t>项目总结</a:t>
            </a:r>
            <a:endParaRPr sz="1600" b="1" i="0">
              <a:solidFill>
                <a:srgbClr val="134E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1938528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完成了一个"知识库 + 智能问答 + 多角色业务"的医疗辅助平台，覆盖 12 疾病库 / 241 篇文档 / 5 角色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基于 RAG + Agent v2 实现可追溯、可观测的医学问答，并配套健康档案、挂号、医护、管理全业务闭环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工程上从数据库、向量检索到前端门户均有完整设计与可运行实现，满足课程设计与教学演示要求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657600"/>
            <a:ext cx="11183112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后续展望</a:t>
            </a:r>
            <a:endParaRPr sz="1600" b="1" i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" y="438912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扩充专科知识库与权威医学语料，接入多模态（病历图片、影像报告）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在已实现的 Agent v2（Supervisor+6 子智能体）上扩展 MCP 工具生态与 Multi-Agent 协作，对接真实 HIS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记忆画像已内置（ConversationMemory），继续深化个性化推荐与随访管理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3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补充自动化测试（pytest）与 CI/CD，部署公网并接入微信 / App</a:t>
            </a:r>
            <a:endParaRPr sz="13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sz="5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3248" y="3429000"/>
            <a:ext cx="1371600" cy="27432"/>
          </a:xfrm>
          <a:prstGeom prst="rect">
            <a:avLst/>
          </a:prstGeom>
          <a:solidFill>
            <a:srgbClr val="99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9F6E4"/>
                </a:solidFill>
                <a:latin typeface="微软雅黑" panose="020B0503020204020204" charset="-122"/>
                <a:ea typeface="微软雅黑" panose="020B0503020204020204" charset="-122"/>
              </a:rPr>
              <a:t>敬请各位老师批评指正</a:t>
            </a:r>
            <a:endParaRPr sz="2000" b="0" i="0">
              <a:solidFill>
                <a:srgbClr val="99F6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EC9C4"/>
                </a:solidFill>
                <a:latin typeface="微软雅黑" panose="020B0503020204020204" charset="-122"/>
                <a:ea typeface="微软雅黑" panose="020B0503020204020204" charset="-122"/>
              </a:rPr>
              <a:t>医智助手 · 医疗知识库智能问答系统</a:t>
            </a:r>
            <a:endParaRPr sz="1400" b="0" i="0">
              <a:solidFill>
                <a:srgbClr val="9EC9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8192</Words>
  <Application>WPS 演示</Application>
  <PresentationFormat>On-screen Show (4:3)</PresentationFormat>
  <Paragraphs>1063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何朋伟</cp:lastModifiedBy>
  <cp:revision>2</cp:revision>
  <dcterms:created xsi:type="dcterms:W3CDTF">2013-01-27T09:14:00Z</dcterms:created>
  <dcterms:modified xsi:type="dcterms:W3CDTF">2026-09-06T09:28:22Z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07116AEABF754A5CA8DB3816D458419B_12</vt:lpwstr>
  </property>
</Properties>
</file>