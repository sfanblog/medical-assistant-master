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15.fntdata" ContentType="application/x-fontdata"/>
  <Override PartName="/ppt/fonts/font16.fntdata" ContentType="application/x-fontdata"/>
  <Override PartName="/ppt/fonts/font17.fntdata" ContentType="application/x-fontdata"/>
  <Override PartName="/ppt/fonts/font18.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heme/themeOverride14.xml" ContentType="application/vnd.openxmlformats-officedocument.themeOverride+xml"/>
  <Override PartName="/ppt/theme/themeOverride15.xml" ContentType="application/vnd.openxmlformats-officedocument.themeOverride+xml"/>
  <Override PartName="/ppt/theme/themeOverride16.xml" ContentType="application/vnd.openxmlformats-officedocument.themeOverride+xml"/>
  <Override PartName="/ppt/theme/themeOverride17.xml" ContentType="application/vnd.openxmlformats-officedocument.themeOverride+xml"/>
  <Override PartName="/ppt/theme/themeOverride18.xml" ContentType="application/vnd.openxmlformats-officedocument.themeOverride+xml"/>
  <Override PartName="/ppt/theme/themeOverride19.xml" ContentType="application/vnd.openxmlformats-officedocument.themeOverride+xml"/>
  <Override PartName="/ppt/theme/themeOverride2.xml" ContentType="application/vnd.openxmlformats-officedocument.themeOverride+xml"/>
  <Override PartName="/ppt/theme/themeOverride20.xml" ContentType="application/vnd.openxmlformats-officedocument.themeOverride+xml"/>
  <Override PartName="/ppt/theme/themeOverride21.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5"/>
  </p:notesMasterIdLst>
  <p:sldIdLst>
    <p:sldId id="1048576" r:id="rId3"/>
    <p:sldId id="1048577" r:id="rId4"/>
    <p:sldId id="1048578" r:id="rId5"/>
    <p:sldId id="1048579" r:id="rId6"/>
    <p:sldId id="1048580" r:id="rId7"/>
    <p:sldId id="1048581" r:id="rId8"/>
    <p:sldId id="1048582" r:id="rId9"/>
    <p:sldId id="1048583" r:id="rId10"/>
    <p:sldId id="1048586" r:id="rId11"/>
    <p:sldId id="1048587" r:id="rId12"/>
    <p:sldId id="1048588" r:id="rId13"/>
    <p:sldId id="1048589" r:id="rId14"/>
    <p:sldId id="1048590" r:id="rId15"/>
    <p:sldId id="1048591" r:id="rId16"/>
    <p:sldId id="1048592" r:id="rId17"/>
    <p:sldId id="1048599" r:id="rId18"/>
    <p:sldId id="1048597" r:id="rId19"/>
    <p:sldId id="1048600" r:id="rId20"/>
    <p:sldId id="1048601" r:id="rId21"/>
    <p:sldId id="1048602" r:id="rId22"/>
    <p:sldId id="1048603" r:id="rId23"/>
    <p:sldId id="1048584" r:id="rId24"/>
  </p:sldIdLst>
  <p:sldSz cx="9144000" cy="5143500"/>
  <p:notesSz cx="6858000" cy="9144000"/>
  <p:embeddedFontLst>
    <p:embeddedFont>
      <p:font typeface="微软雅黑" panose="020B0503020204020204" pitchFamily="34" charset="-122"/>
      <p:regular r:id="rId29"/>
      <p:bold r:id="rId30"/>
    </p:embeddedFont>
    <p:embeddedFont>
      <p:font typeface="Font Awesome 6 Free Solid" panose="02000903000000000000" pitchFamily="34" charset="0"/>
      <p:bold r:id="rId31"/>
    </p:embeddedFont>
    <p:embeddedFont>
      <p:font typeface="Font Awesome 6 Free Solid" panose="02000903000000000000" pitchFamily="34" charset="-122"/>
      <p:bold r:id="rId32"/>
    </p:embeddedFont>
    <p:embeddedFont>
      <p:font typeface="Font Awesome 6 Free Solid" panose="02000903000000000000" pitchFamily="34" charset="-120"/>
      <p:bold r:id="rId33"/>
    </p:embeddedFont>
    <p:embeddedFont>
      <p:font typeface="Consolas" panose="020B0609020204030204" pitchFamily="34" charset="0"/>
      <p:regular r:id="rId34"/>
      <p:bold r:id="rId35"/>
      <p:italic r:id="rId36"/>
      <p:boldItalic r:id="rId37"/>
    </p:embeddedFont>
    <p:embeddedFont>
      <p:font typeface="Noto Sans SC" panose="020B0200000000000000" charset="-122"/>
      <p:regular r:id="rId38"/>
      <p:bold r:id="rId39"/>
    </p:embeddedFont>
    <p:embeddedFont>
      <p:font typeface="Calibri" panose="020F0502020204030204" charset="0"/>
      <p:regular r:id="rId40"/>
      <p:bold r:id="rId41"/>
      <p:italic r:id="rId42"/>
      <p:boldItalic r:id="rId43"/>
    </p:embeddedFont>
    <p:embeddedFont>
      <p:font typeface="黑体" panose="02010609060101010101" charset="-122"/>
      <p:regular r:id="rId44"/>
    </p:embeddedFont>
    <p:embeddedFont>
      <p:font typeface="等线" panose="02010600030101010101" charset="-122"/>
      <p:regular r:id="rId45"/>
      <p:bold r:id="rId4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F5D85"/>
    <a:srgbClr val="A6A6A6"/>
    <a:srgbClr val="00B150"/>
    <a:srgbClr val="EAECF1"/>
    <a:srgbClr val="CFD6E3"/>
    <a:srgbClr val="E9EBF2"/>
    <a:srgbClr val="CFD5E2"/>
    <a:srgbClr val="DCDCDC"/>
    <a:srgbClr val="FFD579"/>
    <a:srgbClr val="FFF0C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829"/>
    <p:restoredTop sz="96289"/>
  </p:normalViewPr>
  <p:slideViewPr>
    <p:cSldViewPr snapToGrid="0" snapToObjects="1">
      <p:cViewPr varScale="1">
        <p:scale>
          <a:sx n="134" d="100"/>
          <a:sy n="134" d="100"/>
        </p:scale>
        <p:origin x="432"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6" Type="http://schemas.openxmlformats.org/officeDocument/2006/relationships/font" Target="fonts/font18.fntdata"/><Relationship Id="rId45" Type="http://schemas.openxmlformats.org/officeDocument/2006/relationships/font" Target="fonts/font17.fntdata"/><Relationship Id="rId44" Type="http://schemas.openxmlformats.org/officeDocument/2006/relationships/font" Target="fonts/font16.fntdata"/><Relationship Id="rId43" Type="http://schemas.openxmlformats.org/officeDocument/2006/relationships/font" Target="fonts/font15.fntdata"/><Relationship Id="rId42" Type="http://schemas.openxmlformats.org/officeDocument/2006/relationships/font" Target="fonts/font14.fntdata"/><Relationship Id="rId41" Type="http://schemas.openxmlformats.org/officeDocument/2006/relationships/font" Target="fonts/font13.fntdata"/><Relationship Id="rId40" Type="http://schemas.openxmlformats.org/officeDocument/2006/relationships/font" Target="fonts/font12.fntdata"/><Relationship Id="rId4" Type="http://schemas.openxmlformats.org/officeDocument/2006/relationships/slide" Target="slides/slide2.xml"/><Relationship Id="rId39" Type="http://schemas.openxmlformats.org/officeDocument/2006/relationships/font" Target="fonts/font11.fntdata"/><Relationship Id="rId38" Type="http://schemas.openxmlformats.org/officeDocument/2006/relationships/font" Target="fonts/font10.fntdata"/><Relationship Id="rId37" Type="http://schemas.openxmlformats.org/officeDocument/2006/relationships/font" Target="fonts/font9.fntdata"/><Relationship Id="rId36" Type="http://schemas.openxmlformats.org/officeDocument/2006/relationships/font" Target="fonts/font8.fntdata"/><Relationship Id="rId35" Type="http://schemas.openxmlformats.org/officeDocument/2006/relationships/font" Target="fonts/font7.fntdata"/><Relationship Id="rId34" Type="http://schemas.openxmlformats.org/officeDocument/2006/relationships/font" Target="fonts/font6.fntdata"/><Relationship Id="rId33" Type="http://schemas.openxmlformats.org/officeDocument/2006/relationships/font" Target="fonts/font5.fntdata"/><Relationship Id="rId32" Type="http://schemas.openxmlformats.org/officeDocument/2006/relationships/font" Target="fonts/font4.fntdata"/><Relationship Id="rId31" Type="http://schemas.openxmlformats.org/officeDocument/2006/relationships/font" Target="fonts/font3.fntdata"/><Relationship Id="rId30" Type="http://schemas.openxmlformats.org/officeDocument/2006/relationships/font" Target="fonts/font2.fntdata"/><Relationship Id="rId3" Type="http://schemas.openxmlformats.org/officeDocument/2006/relationships/slide" Target="slides/slide1.xml"/><Relationship Id="rId29" Type="http://schemas.openxmlformats.org/officeDocument/2006/relationships/font" Target="fonts/font1.fntdata"/><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notesMaster" Target="notesMasters/notesMaster1.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BBE6FB-4983-42F5-B216-1A2ADEE7DF7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735503-9D21-443F-BC18-5459550EB72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8" name="矩形 7"/>
          <p:cNvSpPr/>
          <p:nvPr userDrawn="1"/>
        </p:nvSpPr>
        <p:spPr>
          <a:xfrm>
            <a:off x="0" y="6732104"/>
            <a:ext cx="12192000" cy="12589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9ëζħë" descr="9ëζħë" title="9ëζħë"/>
          <p:cNvSpPr>
            <a:spLocks noGrp="1"/>
          </p:cNvSpPr>
          <p:nvPr>
            <p:ph type="title"/>
          </p:nvPr>
        </p:nvSpPr>
        <p:spPr>
          <a:xfrm>
            <a:off x="660402" y="0"/>
            <a:ext cx="10858500" cy="1028700"/>
          </a:xfrm>
          <a:prstGeom prst="rect">
            <a:avLst/>
          </a:prstGeom>
        </p:spPr>
        <p:txBody>
          <a:bodyPr vert="horz" lIns="91440" tIns="45720" rIns="91440" bIns="45720" rtlCol="0" anchor="b">
            <a:normAutofit/>
          </a:bodyPr>
          <a:lstStyle/>
          <a:p>
            <a:r>
              <a:rPr lang="zh-CN" altLang="en-US" dirty="0"/>
              <a:t>单击此处编辑母版标题样式</a:t>
            </a:r>
            <a:endParaRPr lang="zh-CN" altLang="en-US" dirty="0"/>
          </a:p>
        </p:txBody>
      </p:sp>
      <p:sp>
        <p:nvSpPr>
          <p:cNvPr id="10" name="9ëζħë" descr="9ëζħë" title="9ëζħë"/>
          <p:cNvSpPr>
            <a:spLocks noGrp="1"/>
          </p:cNvSpPr>
          <p:nvPr>
            <p:ph type="dt" sz="half" idx="2"/>
          </p:nvPr>
        </p:nvSpPr>
        <p:spPr>
          <a:xfrm>
            <a:off x="5401732" y="6235704"/>
            <a:ext cx="1388536" cy="206381"/>
          </a:xfrm>
          <a:prstGeom prst="rect">
            <a:avLst/>
          </a:prstGeom>
        </p:spPr>
        <p:txBody>
          <a:bodyPr vert="horz" lIns="91440" tIns="45720" rIns="91440" bIns="45720" rtlCol="0" anchor="ctr"/>
          <a:lstStyle>
            <a:lvl1pPr algn="ctr">
              <a:defRPr sz="900">
                <a:solidFill>
                  <a:schemeClr val="tx1">
                    <a:lumMod val="50000"/>
                    <a:lumOff val="50000"/>
                  </a:schemeClr>
                </a:solidFill>
              </a:defRPr>
            </a:lvl1pPr>
          </a:lstStyle>
          <a:p>
            <a:endParaRPr lang="zh-CN" altLang="en-US"/>
          </a:p>
        </p:txBody>
      </p:sp>
      <p:sp>
        <p:nvSpPr>
          <p:cNvPr id="11" name="9ëζħë" descr="9ëζħë" title="9ëζħë"/>
          <p:cNvSpPr>
            <a:spLocks noGrp="1"/>
          </p:cNvSpPr>
          <p:nvPr>
            <p:ph type="ftr" sz="quarter" idx="3"/>
          </p:nvPr>
        </p:nvSpPr>
        <p:spPr>
          <a:xfrm>
            <a:off x="660402" y="6235704"/>
            <a:ext cx="4140201" cy="206381"/>
          </a:xfrm>
          <a:prstGeom prst="rect">
            <a:avLst/>
          </a:prstGeom>
        </p:spPr>
        <p:txBody>
          <a:bodyPr vert="horz" lIns="91440" tIns="45720" rIns="91440" bIns="45720" rtlCol="0" anchor="ctr"/>
          <a:lstStyle>
            <a:lvl1pPr algn="l">
              <a:defRPr sz="900">
                <a:solidFill>
                  <a:schemeClr val="tx1">
                    <a:lumMod val="50000"/>
                    <a:lumOff val="50000"/>
                  </a:schemeClr>
                </a:solidFill>
              </a:defRPr>
            </a:lvl1pPr>
          </a:lstStyle>
          <a:p>
            <a:endParaRPr lang="zh-CN" altLang="en-US" dirty="0"/>
          </a:p>
        </p:txBody>
      </p:sp>
      <p:sp>
        <p:nvSpPr>
          <p:cNvPr id="12" name="9ëζħë" descr="9ëζħë" title="9ëζħë"/>
          <p:cNvSpPr>
            <a:spLocks noGrp="1"/>
          </p:cNvSpPr>
          <p:nvPr>
            <p:ph type="sldNum" sz="quarter" idx="4"/>
          </p:nvPr>
        </p:nvSpPr>
        <p:spPr>
          <a:xfrm>
            <a:off x="8971305" y="6235704"/>
            <a:ext cx="2547595" cy="206381"/>
          </a:xfrm>
          <a:prstGeom prst="rect">
            <a:avLst/>
          </a:prstGeom>
        </p:spPr>
        <p:txBody>
          <a:bodyPr vert="horz" lIns="91440" tIns="45720" rIns="91440" bIns="45720" rtlCol="0" anchor="ctr"/>
          <a:lstStyle>
            <a:lvl1pPr algn="r">
              <a:defRPr sz="900">
                <a:solidFill>
                  <a:schemeClr val="tx1">
                    <a:lumMod val="50000"/>
                    <a:lumOff val="50000"/>
                  </a:schemeClr>
                </a:solidFill>
              </a:defRPr>
            </a:lvl1pPr>
          </a:lstStyle>
          <a:p>
            <a:fld id="{5DD3DB80-B894-403A-B48E-6FDC1A72010E}"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hyperlink" Target="https://gezhe.com/?utm_source=gezhe&amp;utm_medium=pptx&amp;utm_campaign=watermark&amp;utm_content=slide_footer" TargetMode="Externa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hemeOverride" Target="../theme/themeOverride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hemeOverride" Target="../theme/themeOverride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hemeOverride" Target="../theme/themeOverride3.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hemeOverride" Target="../theme/themeOverride4.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hemeOverride" Target="../theme/themeOverride5.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hemeOverride" Target="../theme/themeOverride6.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hemeOverride" Target="../theme/themeOverride7.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hemeOverride" Target="../theme/themeOverride8.xml"/><Relationship Id="rId2" Type="http://schemas.openxmlformats.org/officeDocument/2006/relationships/image" Target="../media/image5.png"/><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hemeOverride" Target="../theme/themeOverride9.xml"/><Relationship Id="rId2" Type="http://schemas.openxmlformats.org/officeDocument/2006/relationships/image" Target="../media/image6.pn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hemeOverride" Target="../theme/themeOverride10.xml"/><Relationship Id="rId2" Type="http://schemas.openxmlformats.org/officeDocument/2006/relationships/image" Target="../media/image7.png"/><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hemeOverride" Target="../theme/themeOverride11.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hemeOverride" Target="../theme/themeOverride12.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hemeOverride" Target="../theme/themeOverride13.xml"/><Relationship Id="rId2" Type="http://schemas.openxmlformats.org/officeDocument/2006/relationships/image" Target="../media/image12.png"/><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hemeOverride" Target="../theme/themeOverride14.xml"/><Relationship Id="rId2" Type="http://schemas.openxmlformats.org/officeDocument/2006/relationships/image" Target="../media/image13.png"/><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hemeOverride" Target="../theme/themeOverride15.xml"/><Relationship Id="rId2" Type="http://schemas.openxmlformats.org/officeDocument/2006/relationships/image" Target="../media/image14.png"/><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hemeOverride" Target="../theme/themeOverride16.xml"/><Relationship Id="rId2" Type="http://schemas.openxmlformats.org/officeDocument/2006/relationships/image" Target="../media/image15.png"/><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hemeOverride" Target="../theme/themeOverride17.xml"/><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hemeOverride" Target="../theme/themeOverride18.xml"/><Relationship Id="rId2" Type="http://schemas.openxmlformats.org/officeDocument/2006/relationships/image" Target="../media/image18.png"/><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hemeOverride" Target="../theme/themeOverride19.xml"/><Relationship Id="rId2" Type="http://schemas.openxmlformats.org/officeDocument/2006/relationships/image" Target="../media/image19.png"/><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hemeOverride" Target="../theme/themeOverride20.xml"/><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hemeOverride" Target="../theme/themeOverride21.xml"/><Relationship Id="rId2" Type="http://schemas.openxmlformats.org/officeDocument/2006/relationships/hyperlink" Target="https://github.com/SFANBLOG/medical-assistant-master" TargetMode="External"/><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sp>
        <p:nvSpPr>
          <p:cNvPr id="4" name="Shape 1"/>
          <p:cNvSpPr/>
          <p:nvPr/>
        </p:nvSpPr>
        <p:spPr>
          <a:xfrm>
            <a:off x="6100763" y="663258"/>
            <a:ext cx="2143125" cy="2143125"/>
          </a:xfrm>
          <a:prstGeom prst="ellipse">
            <a:avLst/>
          </a:prstGeom>
          <a:noFill/>
          <a:ln w="254000">
            <a:solidFill>
              <a:srgbClr val="2E6EA6"/>
            </a:solidFill>
            <a:prstDash val="solid"/>
          </a:ln>
        </p:spPr>
      </p:sp>
      <p:sp>
        <p:nvSpPr>
          <p:cNvPr id="11" name="Shape 7"/>
          <p:cNvSpPr/>
          <p:nvPr/>
        </p:nvSpPr>
        <p:spPr>
          <a:xfrm>
            <a:off x="571500" y="1237431"/>
            <a:ext cx="571500" cy="57150"/>
          </a:xfrm>
          <a:prstGeom prst="roundRect">
            <a:avLst>
              <a:gd name="adj" fmla="val 50000"/>
            </a:avLst>
          </a:prstGeom>
          <a:solidFill>
            <a:srgbClr val="2563EB"/>
          </a:solidFill>
        </p:spPr>
      </p:sp>
      <p:sp>
        <p:nvSpPr>
          <p:cNvPr id="12" name="Text 8"/>
          <p:cNvSpPr/>
          <p:nvPr/>
        </p:nvSpPr>
        <p:spPr>
          <a:xfrm>
            <a:off x="571500" y="1466031"/>
            <a:ext cx="6429375" cy="959941"/>
          </a:xfrm>
          <a:prstGeom prst="rect">
            <a:avLst/>
          </a:prstGeom>
          <a:noFill/>
        </p:spPr>
        <p:txBody>
          <a:bodyPr wrap="none" lIns="0" tIns="0" rIns="0" bIns="0" rtlCol="0" anchor="t"/>
          <a:lstStyle/>
          <a:p>
            <a:pPr marL="0" indent="0">
              <a:lnSpc>
                <a:spcPct val="120000"/>
              </a:lnSpc>
              <a:buNone/>
            </a:pPr>
            <a:r>
              <a:rPr lang="zh-CN" sz="3000" b="1" dirty="0">
                <a:solidFill>
                  <a:srgbClr val="1F2A37"/>
                </a:solidFill>
                <a:latin typeface="Arial" panose="020B0604020202020204" pitchFamily="34" charset="0"/>
                <a:ea typeface="微软雅黑" panose="020B0503020204020204" pitchFamily="34" charset="-122"/>
              </a:rPr>
              <a:t>医智助手</a:t>
            </a:r>
            <a:endParaRPr lang="en-US" sz="3000" dirty="0"/>
          </a:p>
        </p:txBody>
      </p:sp>
      <p:sp>
        <p:nvSpPr>
          <p:cNvPr id="13" name="Text 9"/>
          <p:cNvSpPr/>
          <p:nvPr/>
        </p:nvSpPr>
        <p:spPr>
          <a:xfrm>
            <a:off x="571500" y="2540273"/>
            <a:ext cx="6429375" cy="279946"/>
          </a:xfrm>
          <a:prstGeom prst="rect">
            <a:avLst/>
          </a:prstGeom>
          <a:noFill/>
        </p:spPr>
        <p:txBody>
          <a:bodyPr wrap="none" lIns="176784" tIns="0" rIns="0" bIns="0" rtlCol="0" anchor="t"/>
          <a:lstStyle/>
          <a:p>
            <a:pPr marL="0" indent="0">
              <a:lnSpc>
                <a:spcPct val="140000"/>
              </a:lnSpc>
              <a:buNone/>
            </a:pPr>
            <a:r>
              <a:rPr lang="zh-CN" sz="1500" b="1" dirty="0">
                <a:solidFill>
                  <a:srgbClr val="2E6EA6"/>
                </a:solidFill>
                <a:latin typeface="Arial" panose="020B0604020202020204" pitchFamily="34" charset="0"/>
                <a:ea typeface="微软雅黑" panose="020B0503020204020204" pitchFamily="34" charset="-122"/>
              </a:rPr>
              <a:t>面向医疗信息化建设的智能问答平台</a:t>
            </a:r>
            <a:endParaRPr lang="en-US" sz="1500" dirty="0"/>
          </a:p>
        </p:txBody>
      </p:sp>
      <p:sp>
        <p:nvSpPr>
          <p:cNvPr id="14" name="Shape 10"/>
          <p:cNvSpPr/>
          <p:nvPr/>
        </p:nvSpPr>
        <p:spPr>
          <a:xfrm>
            <a:off x="571500" y="2540273"/>
            <a:ext cx="28575" cy="279946"/>
          </a:xfrm>
          <a:prstGeom prst="rect">
            <a:avLst/>
          </a:prstGeom>
          <a:solidFill>
            <a:srgbClr val="5B9DFF"/>
          </a:solidFill>
        </p:spPr>
      </p:sp>
      <p:sp>
        <p:nvSpPr>
          <p:cNvPr id="15" name="Shape 11"/>
          <p:cNvSpPr/>
          <p:nvPr/>
        </p:nvSpPr>
        <p:spPr>
          <a:xfrm>
            <a:off x="571500" y="3248844"/>
            <a:ext cx="6429375" cy="657225"/>
          </a:xfrm>
          <a:prstGeom prst="rect">
            <a:avLst/>
          </a:prstGeom>
          <a:noFill/>
        </p:spPr>
      </p:sp>
      <p:sp>
        <p:nvSpPr>
          <p:cNvPr id="16" name="Shape 12"/>
          <p:cNvSpPr/>
          <p:nvPr/>
        </p:nvSpPr>
        <p:spPr>
          <a:xfrm>
            <a:off x="571500" y="3248844"/>
            <a:ext cx="6429375" cy="7144"/>
          </a:xfrm>
          <a:prstGeom prst="rect">
            <a:avLst/>
          </a:prstGeom>
          <a:solidFill>
            <a:srgbClr val="DCEAF5"/>
          </a:solidFill>
        </p:spPr>
      </p:sp>
      <p:sp>
        <p:nvSpPr>
          <p:cNvPr id="17" name="Text 13"/>
          <p:cNvSpPr/>
          <p:nvPr/>
        </p:nvSpPr>
        <p:spPr>
          <a:xfrm>
            <a:off x="571500" y="3541737"/>
            <a:ext cx="2415480" cy="135731"/>
          </a:xfrm>
          <a:prstGeom prst="rect">
            <a:avLst/>
          </a:prstGeom>
          <a:noFill/>
        </p:spPr>
        <p:txBody>
          <a:bodyPr wrap="none" lIns="0" tIns="0" rIns="0" bIns="0" rtlCol="0" anchor="t"/>
          <a:lstStyle/>
          <a:p>
            <a:pPr marL="0" indent="0">
              <a:buNone/>
            </a:pPr>
            <a:r>
              <a:rPr lang="zh-CN" sz="700" b="1" kern="0" spc="78" dirty="0">
                <a:solidFill>
                  <a:srgbClr val="5B9DFF"/>
                </a:solidFill>
                <a:latin typeface="Arial" panose="020B0604020202020204" pitchFamily="34" charset="0"/>
                <a:ea typeface="微软雅黑" panose="020B0503020204020204" pitchFamily="34" charset="-122"/>
              </a:rPr>
              <a:t>汇报人 </a:t>
            </a:r>
            <a:r>
              <a:rPr lang="en-US" sz="700" b="1" kern="0" spc="78" dirty="0">
                <a:solidFill>
                  <a:srgbClr val="5B9DFF"/>
                </a:solidFill>
                <a:latin typeface="Arial" panose="020B0604020202020204" pitchFamily="34" charset="0"/>
              </a:rPr>
              <a:t>/ PRESENTER</a:t>
            </a:r>
            <a:endParaRPr lang="en-US" sz="700" dirty="0"/>
          </a:p>
        </p:txBody>
      </p:sp>
      <p:sp>
        <p:nvSpPr>
          <p:cNvPr id="18" name="Text 14"/>
          <p:cNvSpPr/>
          <p:nvPr/>
        </p:nvSpPr>
        <p:spPr>
          <a:xfrm>
            <a:off x="571500" y="3734619"/>
            <a:ext cx="2415480" cy="171450"/>
          </a:xfrm>
          <a:prstGeom prst="rect">
            <a:avLst/>
          </a:prstGeom>
          <a:noFill/>
        </p:spPr>
        <p:txBody>
          <a:bodyPr wrap="none" lIns="0" tIns="0" rIns="0" bIns="0" rtlCol="0" anchor="t"/>
          <a:lstStyle/>
          <a:p>
            <a:pPr marL="0" indent="0">
              <a:buNone/>
            </a:pPr>
            <a:r>
              <a:rPr lang="zh-CN" sz="1000" dirty="0">
                <a:solidFill>
                  <a:srgbClr val="1F2A37"/>
                </a:solidFill>
                <a:latin typeface="Arial" panose="020B0604020202020204" pitchFamily="34" charset="0"/>
                <a:ea typeface="微软雅黑" panose="020B0503020204020204" pitchFamily="34" charset="-122"/>
              </a:rPr>
              <a:t>第七组：</a:t>
            </a:r>
            <a:r>
              <a:rPr lang="zh-CN" sz="1000" dirty="0">
                <a:solidFill>
                  <a:srgbClr val="1F2A37"/>
                </a:solidFill>
                <a:latin typeface="Arial" panose="020B0604020202020204" pitchFamily="34" charset="0"/>
                <a:ea typeface="微软雅黑" panose="020B0503020204020204" pitchFamily="34" charset="-122"/>
              </a:rPr>
              <a:t>全体成员</a:t>
            </a:r>
            <a:endParaRPr lang="zh-CN" sz="1000" dirty="0">
              <a:solidFill>
                <a:srgbClr val="1F2A37"/>
              </a:solidFill>
              <a:latin typeface="Arial" panose="020B0604020202020204" pitchFamily="34" charset="0"/>
              <a:ea typeface="微软雅黑" panose="020B0503020204020204" pitchFamily="34" charset="-122"/>
            </a:endParaRPr>
          </a:p>
        </p:txBody>
      </p:sp>
      <p:sp>
        <p:nvSpPr>
          <p:cNvPr id="19" name="Text 15"/>
          <p:cNvSpPr/>
          <p:nvPr/>
        </p:nvSpPr>
        <p:spPr>
          <a:xfrm>
            <a:off x="3272730" y="3541737"/>
            <a:ext cx="3728145" cy="135731"/>
          </a:xfrm>
          <a:prstGeom prst="rect">
            <a:avLst/>
          </a:prstGeom>
          <a:noFill/>
        </p:spPr>
        <p:txBody>
          <a:bodyPr wrap="none" lIns="0" tIns="0" rIns="0" bIns="0" rtlCol="0" anchor="t"/>
          <a:lstStyle/>
          <a:p>
            <a:pPr marL="0" indent="0">
              <a:buNone/>
            </a:pPr>
            <a:r>
              <a:rPr lang="zh-CN" sz="700" b="1" kern="0" spc="78" dirty="0">
                <a:solidFill>
                  <a:srgbClr val="5B9DFF"/>
                </a:solidFill>
                <a:latin typeface="Arial" panose="020B0604020202020204" pitchFamily="34" charset="0"/>
                <a:ea typeface="微软雅黑" panose="020B0503020204020204" pitchFamily="34" charset="-122"/>
              </a:rPr>
              <a:t>适用场景 </a:t>
            </a:r>
            <a:r>
              <a:rPr lang="en-US" sz="700" b="1" kern="0" spc="78" dirty="0">
                <a:solidFill>
                  <a:srgbClr val="5B9DFF"/>
                </a:solidFill>
                <a:latin typeface="Arial" panose="020B0604020202020204" pitchFamily="34" charset="0"/>
              </a:rPr>
              <a:t>/ SCENARIOS</a:t>
            </a:r>
            <a:endParaRPr lang="en-US" sz="700" dirty="0"/>
          </a:p>
        </p:txBody>
      </p:sp>
      <p:sp>
        <p:nvSpPr>
          <p:cNvPr id="20" name="Text 16"/>
          <p:cNvSpPr/>
          <p:nvPr/>
        </p:nvSpPr>
        <p:spPr>
          <a:xfrm>
            <a:off x="3272730" y="3734619"/>
            <a:ext cx="3728145" cy="171450"/>
          </a:xfrm>
          <a:prstGeom prst="rect">
            <a:avLst/>
          </a:prstGeom>
          <a:noFill/>
        </p:spPr>
        <p:txBody>
          <a:bodyPr wrap="none" lIns="0" tIns="0" rIns="0" bIns="0" rtlCol="0" anchor="t"/>
          <a:lstStyle/>
          <a:p>
            <a:pPr marL="0" indent="0">
              <a:buNone/>
            </a:pPr>
            <a:r>
              <a:rPr lang="zh-CN" sz="1000" dirty="0">
                <a:solidFill>
                  <a:srgbClr val="1F2A37"/>
                </a:solidFill>
                <a:latin typeface="Arial" panose="020B0604020202020204" pitchFamily="34" charset="0"/>
                <a:ea typeface="微软雅黑" panose="020B0503020204020204" pitchFamily="34" charset="-122"/>
              </a:rPr>
              <a:t>医疗信息化系统</a:t>
            </a:r>
            <a:r>
              <a:rPr lang="zh-CN" sz="1000" dirty="0">
                <a:solidFill>
                  <a:srgbClr val="1F2A37"/>
                </a:solidFill>
                <a:latin typeface="Arial" panose="020B0604020202020204" pitchFamily="34" charset="0"/>
                <a:ea typeface="微软雅黑" panose="020B0503020204020204" pitchFamily="34" charset="-122"/>
              </a:rPr>
              <a:t>建设</a:t>
            </a:r>
            <a:endParaRPr lang="zh-CN" sz="1000" dirty="0">
              <a:solidFill>
                <a:srgbClr val="1F2A37"/>
              </a:solidFill>
              <a:latin typeface="Arial" panose="020B0604020202020204" pitchFamily="34" charset="0"/>
              <a:ea typeface="微软雅黑" panose="020B0503020204020204" pitchFamily="34" charset="-122"/>
            </a:endParaRPr>
          </a:p>
        </p:txBody>
      </p:sp>
      <p:sp>
        <p:nvSpPr>
          <p:cNvPr id="21" name="Brand">
            <a:hlinkClick r:id="rId2"/>
          </p:cNvPr>
          <p:cNvSpPr/>
          <p:nvPr/>
        </p:nvSpPr>
        <p:spPr>
          <a:xfrm>
            <a:off x="5898785" y="3537347"/>
            <a:ext cx="2160000" cy="368186"/>
          </a:xfrm>
          <a:prstGeom prst="roundRect">
            <a:avLst>
              <a:gd name="adj" fmla="val 50000"/>
            </a:avLst>
          </a:prstGeom>
          <a:solidFill>
            <a:srgbClr val="FFFFFF">
              <a:alpha val="14902"/>
            </a:srgbClr>
          </a:solidFill>
          <a:ln w="12700">
            <a:solidFill>
              <a:srgbClr val="FFFFFF">
                <a:alpha val="50196"/>
              </a:srgbClr>
            </a:solidFill>
          </a:ln>
          <a:effectLst>
            <a:outerShdw blurRad="127000" sx="102000" sy="102000" algn="ctr" rotWithShape="0">
              <a:prstClr val="black">
                <a:alpha val="20000"/>
              </a:prstClr>
            </a:outerShdw>
          </a:effectLst>
        </p:spPr>
        <p:txBody>
          <a:bodyPr wrap="square" lIns="180000" rIns="180000" rtlCol="0" anchor="ctr">
            <a:spAutoFit/>
          </a:bodyPr>
          <a:lstStyle/>
          <a:p>
            <a:pPr algn="ctr"/>
            <a:r>
              <a:rPr kumimoji="1" lang="en-US" altLang="zh-CN" sz="1100" dirty="0">
                <a:solidFill>
                  <a:srgbClr val="CCCCCC"/>
                </a:solidFill>
              </a:rPr>
              <a:t>© Designed </a:t>
            </a:r>
            <a:r>
              <a:rPr kumimoji="1" lang="zh-CN" altLang="en-US" sz="1100" dirty="0">
                <a:solidFill>
                  <a:srgbClr val="CCCCCC"/>
                </a:solidFill>
              </a:rPr>
              <a:t>何朋伟</a:t>
            </a:r>
            <a:endParaRPr kumimoji="1" lang="zh-CN" altLang="en-US" sz="1100" dirty="0">
              <a:solidFill>
                <a:srgbClr val="CCCCCC"/>
              </a:solidFill>
            </a:endParaRPr>
          </a:p>
        </p:txBody>
      </p:sp>
    </p:spTree>
  </p:cSld>
  <p:clrMapOvr>
    <a:masterClrMapping/>
  </p:clrMapOvr>
  <p:transition spd="med">
    <p:dissolve/>
  </p:transition>
</p:sld>
</file>

<file path=ppt/slides/slide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7000875" y="-714375"/>
            <a:ext cx="2857500" cy="2857500"/>
          </a:xfrm>
          <a:prstGeom prst="rect">
            <a:avLst/>
          </a:prstGeom>
          <a:gradFill>
            <a:gsLst>
              <a:gs pos="0">
                <a:srgbClr val="5B9DFF">
                  <a:alpha val="5000"/>
                </a:srgbClr>
              </a:gs>
              <a:gs pos="70000">
                <a:srgbClr val="000000">
                  <a:alpha val="0"/>
                </a:srgbClr>
              </a:gs>
              <a:gs pos="100000">
                <a:srgbClr val="000000">
                  <a:alpha val="0"/>
                </a:srgbClr>
              </a:gs>
            </a:gsLst>
            <a:path path="circle">
              <a:fillToRect l="50000" t="50000" r="50000" b="50000"/>
            </a:path>
          </a:gradFill>
        </p:spPr>
      </p:sp>
      <p:sp>
        <p:nvSpPr>
          <p:cNvPr id="4" name="Shape 1"/>
          <p:cNvSpPr/>
          <p:nvPr/>
        </p:nvSpPr>
        <p:spPr>
          <a:xfrm>
            <a:off x="571500" y="428625"/>
            <a:ext cx="8001000" cy="714375"/>
          </a:xfrm>
          <a:prstGeom prst="rect">
            <a:avLst/>
          </a:prstGeom>
          <a:noFill/>
        </p:spPr>
      </p:sp>
      <p:sp>
        <p:nvSpPr>
          <p:cNvPr id="5" name="Shape 2"/>
          <p:cNvSpPr/>
          <p:nvPr/>
        </p:nvSpPr>
        <p:spPr>
          <a:xfrm>
            <a:off x="571500" y="428625"/>
            <a:ext cx="42863" cy="714375"/>
          </a:xfrm>
          <a:prstGeom prst="rect">
            <a:avLst/>
          </a:prstGeom>
          <a:solidFill>
            <a:srgbClr val="2563EB"/>
          </a:solidFill>
        </p:spPr>
      </p:sp>
      <p:sp>
        <p:nvSpPr>
          <p:cNvPr id="6" name="Text 3"/>
          <p:cNvSpPr/>
          <p:nvPr/>
        </p:nvSpPr>
        <p:spPr>
          <a:xfrm>
            <a:off x="785813" y="428625"/>
            <a:ext cx="7786688" cy="514350"/>
          </a:xfrm>
          <a:prstGeom prst="rect">
            <a:avLst/>
          </a:prstGeom>
          <a:noFill/>
        </p:spPr>
        <p:txBody>
          <a:bodyPr wrap="none" lIns="0" tIns="0" rIns="0" bIns="0" rtlCol="0" anchor="t"/>
          <a:lstStyle/>
          <a:p>
            <a:pPr marL="0" indent="0">
              <a:lnSpc>
                <a:spcPct val="150000"/>
              </a:lnSpc>
              <a:buNone/>
            </a:pPr>
            <a:r>
              <a:rPr lang="zh-CN" sz="2600" b="1" kern="0" spc="75" dirty="0">
                <a:solidFill>
                  <a:srgbClr val="1F2A37"/>
                </a:solidFill>
                <a:latin typeface="Arial" panose="020B0604020202020204" pitchFamily="34" charset="0"/>
                <a:ea typeface="微软雅黑" panose="020B0503020204020204" pitchFamily="34" charset="-122"/>
              </a:rPr>
              <a:t>目录</a:t>
            </a:r>
            <a:endParaRPr lang="en-US" sz="2600" dirty="0"/>
          </a:p>
        </p:txBody>
      </p:sp>
      <p:sp>
        <p:nvSpPr>
          <p:cNvPr id="7" name="Text 4"/>
          <p:cNvSpPr/>
          <p:nvPr/>
        </p:nvSpPr>
        <p:spPr>
          <a:xfrm>
            <a:off x="785813" y="971550"/>
            <a:ext cx="7786688" cy="171450"/>
          </a:xfrm>
          <a:prstGeom prst="rect">
            <a:avLst/>
          </a:prstGeom>
          <a:noFill/>
        </p:spPr>
        <p:txBody>
          <a:bodyPr wrap="none" lIns="0" tIns="0" rIns="0" bIns="0" rtlCol="0" anchor="t"/>
          <a:lstStyle/>
          <a:p>
            <a:pPr marL="0" indent="0">
              <a:lnSpc>
                <a:spcPct val="150000"/>
              </a:lnSpc>
              <a:buNone/>
            </a:pPr>
            <a:r>
              <a:rPr lang="zh-CN" sz="900" b="1" dirty="0">
                <a:solidFill>
                  <a:srgbClr val="2E6EA6"/>
                </a:solidFill>
                <a:latin typeface="Arial" panose="020B0604020202020204" pitchFamily="34" charset="0"/>
                <a:ea typeface="微软雅黑" panose="020B0503020204020204" pitchFamily="34" charset="-122"/>
              </a:rPr>
              <a:t>项目概览与核心技术架构</a:t>
            </a:r>
            <a:endParaRPr lang="en-US" sz="900" dirty="0"/>
          </a:p>
        </p:txBody>
      </p:sp>
      <p:sp>
        <p:nvSpPr>
          <p:cNvPr id="8" name="Shape 5"/>
          <p:cNvSpPr/>
          <p:nvPr/>
        </p:nvSpPr>
        <p:spPr>
          <a:xfrm>
            <a:off x="571500" y="1500188"/>
            <a:ext cx="371475" cy="371475"/>
          </a:xfrm>
          <a:prstGeom prst="roundRect">
            <a:avLst>
              <a:gd name="adj" fmla="val 19231"/>
            </a:avLst>
          </a:prstGeom>
          <a:solidFill>
            <a:srgbClr val="5B9DFF">
              <a:alpha val="10000"/>
            </a:srgbClr>
          </a:solidFill>
        </p:spPr>
      </p:sp>
      <p:sp>
        <p:nvSpPr>
          <p:cNvPr id="9" name="Text 6"/>
          <p:cNvSpPr/>
          <p:nvPr/>
        </p:nvSpPr>
        <p:spPr>
          <a:xfrm>
            <a:off x="650081" y="1600200"/>
            <a:ext cx="214313" cy="171450"/>
          </a:xfrm>
          <a:prstGeom prst="rect">
            <a:avLst/>
          </a:prstGeom>
          <a:noFill/>
        </p:spPr>
        <p:txBody>
          <a:bodyPr wrap="none" lIns="0" tIns="0" rIns="0" bIns="0" rtlCol="0" anchor="t"/>
          <a:lstStyle/>
          <a:p>
            <a:pPr marL="0" indent="0">
              <a:lnSpc>
                <a:spcPct val="100000"/>
              </a:lnSpc>
              <a:buNone/>
            </a:pPr>
            <a:r>
              <a:rPr lang="en-US" sz="1300" dirty="0">
                <a:solidFill>
                  <a:srgbClr val="5B9DFF"/>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1300" dirty="0"/>
          </a:p>
        </p:txBody>
      </p:sp>
      <p:sp>
        <p:nvSpPr>
          <p:cNvPr id="10" name="Text 7"/>
          <p:cNvSpPr/>
          <p:nvPr/>
        </p:nvSpPr>
        <p:spPr>
          <a:xfrm>
            <a:off x="1085850" y="1500188"/>
            <a:ext cx="2200275" cy="204267"/>
          </a:xfrm>
          <a:prstGeom prst="rect">
            <a:avLst/>
          </a:prstGeom>
          <a:noFill/>
        </p:spPr>
        <p:txBody>
          <a:bodyPr wrap="none" lIns="0" tIns="0" rIns="0" bIns="0" rtlCol="0" anchor="t"/>
          <a:lstStyle/>
          <a:p>
            <a:pPr marL="0" indent="0">
              <a:lnSpc>
                <a:spcPct val="130000"/>
              </a:lnSpc>
              <a:buNone/>
            </a:pPr>
            <a:r>
              <a:rPr lang="zh-CN" sz="1200" b="1" dirty="0">
                <a:solidFill>
                  <a:srgbClr val="1F2A37"/>
                </a:solidFill>
                <a:latin typeface="Arial" panose="020B0604020202020204" pitchFamily="34" charset="0"/>
                <a:ea typeface="微软雅黑" panose="020B0503020204020204" pitchFamily="34" charset="-122"/>
              </a:rPr>
              <a:t>一、项目背景与多角色用户体系</a:t>
            </a:r>
            <a:endParaRPr lang="en-US" sz="1200" dirty="0"/>
          </a:p>
        </p:txBody>
      </p:sp>
      <p:sp>
        <p:nvSpPr>
          <p:cNvPr id="11" name="Text 8"/>
          <p:cNvSpPr/>
          <p:nvPr/>
        </p:nvSpPr>
        <p:spPr>
          <a:xfrm>
            <a:off x="1085850" y="1733029"/>
            <a:ext cx="2200275" cy="171450"/>
          </a:xfrm>
          <a:prstGeom prst="rect">
            <a:avLst/>
          </a:prstGeom>
          <a:noFill/>
        </p:spPr>
        <p:txBody>
          <a:bodyPr wrap="none" lIns="0" tIns="0" rIns="0" bIns="0" rtlCol="0" anchor="t"/>
          <a:lstStyle/>
          <a:p>
            <a:pPr marL="0" indent="0">
              <a:lnSpc>
                <a:spcPct val="150000"/>
              </a:lnSpc>
              <a:buNone/>
            </a:pPr>
            <a:r>
              <a:rPr lang="en-US" sz="900" b="1" dirty="0">
                <a:solidFill>
                  <a:srgbClr val="2563EB">
                    <a:alpha val="80000"/>
                  </a:srgbClr>
                </a:solidFill>
                <a:latin typeface="Arial" panose="020B0604020202020204" pitchFamily="34" charset="0"/>
              </a:rPr>
              <a:t>5</a:t>
            </a:r>
            <a:r>
              <a:rPr lang="zh-CN" sz="900" dirty="0">
                <a:solidFill>
                  <a:srgbClr val="1F2A37">
                    <a:alpha val="80000"/>
                  </a:srgbClr>
                </a:solidFill>
                <a:latin typeface="Arial" panose="020B0604020202020204" pitchFamily="34" charset="0"/>
                <a:ea typeface="微软雅黑" panose="020B0503020204020204" pitchFamily="34" charset="-122"/>
              </a:rPr>
              <a:t>大系统角色的定义、权限及其业务场景</a:t>
            </a:r>
            <a:endParaRPr lang="en-US" sz="900" dirty="0"/>
          </a:p>
        </p:txBody>
      </p:sp>
      <p:sp>
        <p:nvSpPr>
          <p:cNvPr id="12" name="Shape 9"/>
          <p:cNvSpPr/>
          <p:nvPr/>
        </p:nvSpPr>
        <p:spPr>
          <a:xfrm>
            <a:off x="4857750" y="1500188"/>
            <a:ext cx="371475" cy="371475"/>
          </a:xfrm>
          <a:prstGeom prst="roundRect">
            <a:avLst>
              <a:gd name="adj" fmla="val 19231"/>
            </a:avLst>
          </a:prstGeom>
          <a:solidFill>
            <a:srgbClr val="5B9DFF">
              <a:alpha val="10000"/>
            </a:srgbClr>
          </a:solidFill>
        </p:spPr>
      </p:sp>
      <p:sp>
        <p:nvSpPr>
          <p:cNvPr id="13" name="Text 10"/>
          <p:cNvSpPr/>
          <p:nvPr/>
        </p:nvSpPr>
        <p:spPr>
          <a:xfrm>
            <a:off x="4968478" y="1600200"/>
            <a:ext cx="150019" cy="171450"/>
          </a:xfrm>
          <a:prstGeom prst="rect">
            <a:avLst/>
          </a:prstGeom>
          <a:noFill/>
        </p:spPr>
        <p:txBody>
          <a:bodyPr wrap="none" lIns="0" tIns="0" rIns="0" bIns="0" rtlCol="0" anchor="t"/>
          <a:lstStyle/>
          <a:p>
            <a:pPr marL="0" indent="0">
              <a:lnSpc>
                <a:spcPct val="100000"/>
              </a:lnSpc>
              <a:buNone/>
            </a:pPr>
            <a:r>
              <a:rPr lang="en-US" sz="1300" dirty="0">
                <a:solidFill>
                  <a:srgbClr val="5B9DFF"/>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1300" dirty="0"/>
          </a:p>
        </p:txBody>
      </p:sp>
      <p:sp>
        <p:nvSpPr>
          <p:cNvPr id="14" name="Text 11"/>
          <p:cNvSpPr/>
          <p:nvPr/>
        </p:nvSpPr>
        <p:spPr>
          <a:xfrm>
            <a:off x="5372100" y="1500188"/>
            <a:ext cx="2473635" cy="204267"/>
          </a:xfrm>
          <a:prstGeom prst="rect">
            <a:avLst/>
          </a:prstGeom>
          <a:noFill/>
        </p:spPr>
        <p:txBody>
          <a:bodyPr wrap="none" lIns="0" tIns="0" rIns="0" bIns="0" rtlCol="0" anchor="t"/>
          <a:lstStyle/>
          <a:p>
            <a:pPr marL="0" indent="0">
              <a:lnSpc>
                <a:spcPct val="130000"/>
              </a:lnSpc>
              <a:buNone/>
            </a:pPr>
            <a:r>
              <a:rPr lang="zh-CN" sz="1200" b="1" dirty="0">
                <a:solidFill>
                  <a:srgbClr val="1F2A37"/>
                </a:solidFill>
                <a:latin typeface="Arial" panose="020B0604020202020204" pitchFamily="34" charset="0"/>
                <a:ea typeface="微软雅黑" panose="020B0503020204020204" pitchFamily="34" charset="-122"/>
              </a:rPr>
              <a:t>五、数据库设计与</a:t>
            </a:r>
            <a:r>
              <a:rPr lang="en-US" sz="1200" b="1" dirty="0">
                <a:solidFill>
                  <a:srgbClr val="1F2A37"/>
                </a:solidFill>
                <a:latin typeface="Arial" panose="020B0604020202020204" pitchFamily="34" charset="0"/>
              </a:rPr>
              <a:t>11</a:t>
            </a:r>
            <a:r>
              <a:rPr lang="zh-CN" sz="1200" b="1" dirty="0">
                <a:solidFill>
                  <a:srgbClr val="1F2A37"/>
                </a:solidFill>
                <a:latin typeface="Arial" panose="020B0604020202020204" pitchFamily="34" charset="0"/>
                <a:ea typeface="微软雅黑" panose="020B0503020204020204" pitchFamily="34" charset="-122"/>
              </a:rPr>
              <a:t>张核心数据表</a:t>
            </a:r>
            <a:endParaRPr lang="en-US" sz="1200" dirty="0"/>
          </a:p>
        </p:txBody>
      </p:sp>
      <p:sp>
        <p:nvSpPr>
          <p:cNvPr id="15" name="Text 12"/>
          <p:cNvSpPr/>
          <p:nvPr/>
        </p:nvSpPr>
        <p:spPr>
          <a:xfrm>
            <a:off x="5372100" y="1733029"/>
            <a:ext cx="2473635" cy="171450"/>
          </a:xfrm>
          <a:prstGeom prst="rect">
            <a:avLst/>
          </a:prstGeom>
          <a:noFill/>
        </p:spPr>
        <p:txBody>
          <a:bodyPr wrap="none" lIns="0" tIns="0" rIns="0" bIns="0" rtlCol="0" anchor="t"/>
          <a:lstStyle/>
          <a:p>
            <a:pPr marL="0" indent="0">
              <a:lnSpc>
                <a:spcPct val="150000"/>
              </a:lnSpc>
              <a:buNone/>
            </a:pPr>
            <a:r>
              <a:rPr lang="en-US" sz="900" dirty="0">
                <a:solidFill>
                  <a:srgbClr val="1F2A37">
                    <a:alpha val="80000"/>
                  </a:srgbClr>
                </a:solidFill>
                <a:latin typeface="Arial" panose="020B0604020202020204" pitchFamily="34" charset="0"/>
              </a:rPr>
              <a:t>MySQL</a:t>
            </a:r>
            <a:r>
              <a:rPr lang="zh-CN" sz="900" dirty="0">
                <a:solidFill>
                  <a:srgbClr val="1F2A37">
                    <a:alpha val="80000"/>
                  </a:srgbClr>
                </a:solidFill>
                <a:latin typeface="Arial" panose="020B0604020202020204" pitchFamily="34" charset="0"/>
                <a:ea typeface="微软雅黑" panose="020B0503020204020204" pitchFamily="34" charset="-122"/>
              </a:rPr>
              <a:t>建表语句、表结构及关联逻辑（</a:t>
            </a:r>
            <a:r>
              <a:rPr lang="en-US" sz="900" b="1" dirty="0">
                <a:solidFill>
                  <a:srgbClr val="2563EB">
                    <a:alpha val="80000"/>
                  </a:srgbClr>
                </a:solidFill>
                <a:latin typeface="Arial" panose="020B0604020202020204" pitchFamily="34" charset="0"/>
              </a:rPr>
              <a:t> 11</a:t>
            </a:r>
            <a:r>
              <a:rPr lang="zh-CN" sz="900" dirty="0">
                <a:solidFill>
                  <a:srgbClr val="1F2A37">
                    <a:alpha val="80000"/>
                  </a:srgbClr>
                </a:solidFill>
                <a:latin typeface="Arial" panose="020B0604020202020204" pitchFamily="34" charset="0"/>
                <a:ea typeface="微软雅黑" panose="020B0503020204020204" pitchFamily="34" charset="-122"/>
              </a:rPr>
              <a:t>张表）</a:t>
            </a:r>
            <a:endParaRPr lang="en-US" sz="900" dirty="0"/>
          </a:p>
        </p:txBody>
      </p:sp>
      <p:sp>
        <p:nvSpPr>
          <p:cNvPr id="16" name="Shape 13"/>
          <p:cNvSpPr/>
          <p:nvPr/>
        </p:nvSpPr>
        <p:spPr>
          <a:xfrm>
            <a:off x="571500" y="2133079"/>
            <a:ext cx="371475" cy="371475"/>
          </a:xfrm>
          <a:prstGeom prst="roundRect">
            <a:avLst>
              <a:gd name="adj" fmla="val 19231"/>
            </a:avLst>
          </a:prstGeom>
          <a:solidFill>
            <a:srgbClr val="5B9DFF">
              <a:alpha val="10000"/>
            </a:srgbClr>
          </a:solidFill>
        </p:spPr>
      </p:sp>
      <p:sp>
        <p:nvSpPr>
          <p:cNvPr id="17" name="Text 14"/>
          <p:cNvSpPr/>
          <p:nvPr/>
        </p:nvSpPr>
        <p:spPr>
          <a:xfrm>
            <a:off x="1085850" y="2133079"/>
            <a:ext cx="2419387" cy="204267"/>
          </a:xfrm>
          <a:prstGeom prst="rect">
            <a:avLst/>
          </a:prstGeom>
          <a:noFill/>
        </p:spPr>
        <p:txBody>
          <a:bodyPr wrap="none" lIns="0" tIns="0" rIns="0" bIns="0" rtlCol="0" anchor="t"/>
          <a:lstStyle/>
          <a:p>
            <a:pPr marL="0" indent="0">
              <a:lnSpc>
                <a:spcPct val="130000"/>
              </a:lnSpc>
              <a:buNone/>
            </a:pPr>
            <a:r>
              <a:rPr lang="zh-CN" sz="1200" b="1" dirty="0">
                <a:solidFill>
                  <a:srgbClr val="1F2A37"/>
                </a:solidFill>
                <a:latin typeface="Arial" panose="020B0604020202020204" pitchFamily="34" charset="0"/>
                <a:ea typeface="微软雅黑" panose="020B0503020204020204" pitchFamily="34" charset="-122"/>
              </a:rPr>
              <a:t>二、核心功能与</a:t>
            </a:r>
            <a:r>
              <a:rPr lang="en-US" sz="1200" b="1" dirty="0">
                <a:solidFill>
                  <a:srgbClr val="1F2A37"/>
                </a:solidFill>
                <a:latin typeface="Arial" panose="020B0604020202020204" pitchFamily="34" charset="0"/>
              </a:rPr>
              <a:t>RAG</a:t>
            </a:r>
            <a:r>
              <a:rPr lang="zh-CN" sz="1200" b="1" dirty="0">
                <a:solidFill>
                  <a:srgbClr val="1F2A37"/>
                </a:solidFill>
                <a:latin typeface="Arial" panose="020B0604020202020204" pitchFamily="34" charset="0"/>
                <a:ea typeface="微软雅黑" panose="020B0503020204020204" pitchFamily="34" charset="-122"/>
              </a:rPr>
              <a:t>智能咨询机制</a:t>
            </a:r>
            <a:endParaRPr lang="en-US" sz="1200" dirty="0"/>
          </a:p>
        </p:txBody>
      </p:sp>
      <p:sp>
        <p:nvSpPr>
          <p:cNvPr id="18" name="Text 15"/>
          <p:cNvSpPr/>
          <p:nvPr/>
        </p:nvSpPr>
        <p:spPr>
          <a:xfrm>
            <a:off x="1085850" y="2365921"/>
            <a:ext cx="2419387" cy="171450"/>
          </a:xfrm>
          <a:prstGeom prst="rect">
            <a:avLst/>
          </a:prstGeom>
          <a:noFill/>
        </p:spPr>
        <p:txBody>
          <a:bodyPr wrap="none" lIns="0" tIns="0" rIns="0" bIns="0" rtlCol="0" anchor="t"/>
          <a:lstStyle/>
          <a:p>
            <a:pPr marL="0" indent="0">
              <a:lnSpc>
                <a:spcPct val="150000"/>
              </a:lnSpc>
              <a:buNone/>
            </a:pPr>
            <a:r>
              <a:rPr lang="en-US" sz="900" dirty="0">
                <a:solidFill>
                  <a:srgbClr val="1F2A37">
                    <a:alpha val="80000"/>
                  </a:srgbClr>
                </a:solidFill>
                <a:latin typeface="Arial" panose="020B0604020202020204" pitchFamily="34" charset="0"/>
              </a:rPr>
              <a:t>RAG</a:t>
            </a:r>
            <a:r>
              <a:rPr lang="zh-CN" sz="900" dirty="0">
                <a:solidFill>
                  <a:srgbClr val="1F2A37">
                    <a:alpha val="80000"/>
                  </a:srgbClr>
                </a:solidFill>
                <a:latin typeface="Arial" panose="020B0604020202020204" pitchFamily="34" charset="0"/>
                <a:ea typeface="微软雅黑" panose="020B0503020204020204" pitchFamily="34" charset="-122"/>
              </a:rPr>
              <a:t>检索增强生成、降级策略与智能咨询工作流</a:t>
            </a:r>
            <a:endParaRPr lang="en-US" sz="900" dirty="0"/>
          </a:p>
        </p:txBody>
      </p:sp>
      <p:sp>
        <p:nvSpPr>
          <p:cNvPr id="19" name="Shape 16"/>
          <p:cNvSpPr/>
          <p:nvPr/>
        </p:nvSpPr>
        <p:spPr>
          <a:xfrm>
            <a:off x="4857750" y="2133079"/>
            <a:ext cx="371475" cy="371475"/>
          </a:xfrm>
          <a:prstGeom prst="roundRect">
            <a:avLst>
              <a:gd name="adj" fmla="val 19231"/>
            </a:avLst>
          </a:prstGeom>
          <a:solidFill>
            <a:srgbClr val="5B9DFF">
              <a:alpha val="10000"/>
            </a:srgbClr>
          </a:solidFill>
        </p:spPr>
      </p:sp>
      <p:sp>
        <p:nvSpPr>
          <p:cNvPr id="20" name="Text 17"/>
          <p:cNvSpPr/>
          <p:nvPr/>
        </p:nvSpPr>
        <p:spPr>
          <a:xfrm>
            <a:off x="4947047" y="2233092"/>
            <a:ext cx="192881" cy="171450"/>
          </a:xfrm>
          <a:prstGeom prst="rect">
            <a:avLst/>
          </a:prstGeom>
          <a:noFill/>
        </p:spPr>
        <p:txBody>
          <a:bodyPr wrap="none" lIns="0" tIns="0" rIns="0" bIns="0" rtlCol="0" anchor="t"/>
          <a:lstStyle/>
          <a:p>
            <a:pPr marL="0" indent="0">
              <a:lnSpc>
                <a:spcPct val="100000"/>
              </a:lnSpc>
              <a:buNone/>
            </a:pPr>
            <a:r>
              <a:rPr lang="en-US" sz="1300" dirty="0">
                <a:solidFill>
                  <a:srgbClr val="5B9DFF"/>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1300" dirty="0"/>
          </a:p>
        </p:txBody>
      </p:sp>
      <p:sp>
        <p:nvSpPr>
          <p:cNvPr id="21" name="Text 18"/>
          <p:cNvSpPr/>
          <p:nvPr/>
        </p:nvSpPr>
        <p:spPr>
          <a:xfrm>
            <a:off x="5372100" y="2133079"/>
            <a:ext cx="2261667" cy="204267"/>
          </a:xfrm>
          <a:prstGeom prst="rect">
            <a:avLst/>
          </a:prstGeom>
          <a:noFill/>
        </p:spPr>
        <p:txBody>
          <a:bodyPr wrap="none" lIns="0" tIns="0" rIns="0" bIns="0" rtlCol="0" anchor="t"/>
          <a:lstStyle/>
          <a:p>
            <a:pPr marL="0" indent="0">
              <a:lnSpc>
                <a:spcPct val="130000"/>
              </a:lnSpc>
              <a:buNone/>
            </a:pPr>
            <a:r>
              <a:rPr lang="zh-CN" sz="1200" b="1" dirty="0">
                <a:solidFill>
                  <a:srgbClr val="1F2A37"/>
                </a:solidFill>
                <a:latin typeface="Arial" panose="020B0604020202020204" pitchFamily="34" charset="0"/>
                <a:ea typeface="微软雅黑" panose="020B0503020204020204" pitchFamily="34" charset="-122"/>
              </a:rPr>
              <a:t>六、运行配置与</a:t>
            </a:r>
            <a:r>
              <a:rPr lang="en-US" sz="1200" b="1" dirty="0">
                <a:solidFill>
                  <a:srgbClr val="1F2A37"/>
                </a:solidFill>
                <a:latin typeface="Arial" panose="020B0604020202020204" pitchFamily="34" charset="0"/>
              </a:rPr>
              <a:t>Docker</a:t>
            </a:r>
            <a:r>
              <a:rPr lang="zh-CN" sz="1200" b="1" dirty="0">
                <a:solidFill>
                  <a:srgbClr val="1F2A37"/>
                </a:solidFill>
                <a:latin typeface="Arial" panose="020B0604020202020204" pitchFamily="34" charset="0"/>
                <a:ea typeface="微软雅黑" panose="020B0503020204020204" pitchFamily="34" charset="-122"/>
              </a:rPr>
              <a:t>一键部署</a:t>
            </a:r>
            <a:endParaRPr lang="en-US" sz="1200" dirty="0"/>
          </a:p>
        </p:txBody>
      </p:sp>
      <p:sp>
        <p:nvSpPr>
          <p:cNvPr id="22" name="Text 19"/>
          <p:cNvSpPr/>
          <p:nvPr/>
        </p:nvSpPr>
        <p:spPr>
          <a:xfrm>
            <a:off x="5372100" y="2365921"/>
            <a:ext cx="2261667" cy="171450"/>
          </a:xfrm>
          <a:prstGeom prst="rect">
            <a:avLst/>
          </a:prstGeom>
          <a:noFill/>
        </p:spPr>
        <p:txBody>
          <a:bodyPr wrap="none" lIns="0" tIns="0" rIns="0" bIns="0" rtlCol="0" anchor="t"/>
          <a:lstStyle/>
          <a:p>
            <a:pPr marL="0" indent="0">
              <a:lnSpc>
                <a:spcPct val="150000"/>
              </a:lnSpc>
              <a:buNone/>
            </a:pPr>
            <a:r>
              <a:rPr lang="zh-CN" sz="900" dirty="0">
                <a:solidFill>
                  <a:srgbClr val="1F2A37">
                    <a:alpha val="80000"/>
                  </a:srgbClr>
                </a:solidFill>
                <a:latin typeface="Arial" panose="020B0604020202020204" pitchFamily="34" charset="0"/>
                <a:ea typeface="微软雅黑" panose="020B0503020204020204" pitchFamily="34" charset="-122"/>
              </a:rPr>
              <a:t>多环境变量配置、快速启动指南与演示账号</a:t>
            </a:r>
            <a:endParaRPr lang="en-US" sz="900" dirty="0"/>
          </a:p>
        </p:txBody>
      </p:sp>
      <p:sp>
        <p:nvSpPr>
          <p:cNvPr id="23" name="Shape 20"/>
          <p:cNvSpPr/>
          <p:nvPr/>
        </p:nvSpPr>
        <p:spPr>
          <a:xfrm>
            <a:off x="571500" y="2765971"/>
            <a:ext cx="371475" cy="371475"/>
          </a:xfrm>
          <a:prstGeom prst="roundRect">
            <a:avLst>
              <a:gd name="adj" fmla="val 19231"/>
            </a:avLst>
          </a:prstGeom>
          <a:solidFill>
            <a:srgbClr val="5B9DFF">
              <a:alpha val="10000"/>
            </a:srgbClr>
          </a:solidFill>
        </p:spPr>
      </p:sp>
      <p:sp>
        <p:nvSpPr>
          <p:cNvPr id="24" name="Text 21"/>
          <p:cNvSpPr/>
          <p:nvPr/>
        </p:nvSpPr>
        <p:spPr>
          <a:xfrm>
            <a:off x="682228" y="2865983"/>
            <a:ext cx="150019" cy="171450"/>
          </a:xfrm>
          <a:prstGeom prst="rect">
            <a:avLst/>
          </a:prstGeom>
          <a:noFill/>
        </p:spPr>
        <p:txBody>
          <a:bodyPr wrap="none" lIns="0" tIns="0" rIns="0" bIns="0" rtlCol="0" anchor="t"/>
          <a:lstStyle/>
          <a:p>
            <a:pPr marL="0" indent="0">
              <a:lnSpc>
                <a:spcPct val="100000"/>
              </a:lnSpc>
              <a:buNone/>
            </a:pPr>
            <a:r>
              <a:rPr lang="en-US" sz="1300" dirty="0">
                <a:solidFill>
                  <a:srgbClr val="5B9DFF"/>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1300" dirty="0"/>
          </a:p>
        </p:txBody>
      </p:sp>
      <p:sp>
        <p:nvSpPr>
          <p:cNvPr id="25" name="Text 22"/>
          <p:cNvSpPr/>
          <p:nvPr/>
        </p:nvSpPr>
        <p:spPr>
          <a:xfrm>
            <a:off x="1085850" y="2765971"/>
            <a:ext cx="2532348" cy="204267"/>
          </a:xfrm>
          <a:prstGeom prst="rect">
            <a:avLst/>
          </a:prstGeom>
          <a:noFill/>
        </p:spPr>
        <p:txBody>
          <a:bodyPr wrap="none" lIns="0" tIns="0" rIns="0" bIns="0" rtlCol="0" anchor="t"/>
          <a:lstStyle/>
          <a:p>
            <a:pPr marL="0" indent="0">
              <a:lnSpc>
                <a:spcPct val="130000"/>
              </a:lnSpc>
              <a:buNone/>
            </a:pPr>
            <a:r>
              <a:rPr lang="zh-CN" sz="1200" b="1" dirty="0">
                <a:solidFill>
                  <a:srgbClr val="1F2A37"/>
                </a:solidFill>
                <a:latin typeface="Arial" panose="020B0604020202020204" pitchFamily="34" charset="0"/>
                <a:ea typeface="微软雅黑" panose="020B0503020204020204" pitchFamily="34" charset="-122"/>
              </a:rPr>
              <a:t>三、</a:t>
            </a:r>
            <a:r>
              <a:rPr lang="en-US" sz="1200" b="1" dirty="0">
                <a:solidFill>
                  <a:srgbClr val="1F2A37"/>
                </a:solidFill>
                <a:latin typeface="Arial" panose="020B0604020202020204" pitchFamily="34" charset="0"/>
              </a:rPr>
              <a:t>12</a:t>
            </a:r>
            <a:r>
              <a:rPr lang="zh-CN" sz="1200" b="1" dirty="0">
                <a:solidFill>
                  <a:srgbClr val="1F2A37"/>
                </a:solidFill>
                <a:latin typeface="Arial" panose="020B0604020202020204" pitchFamily="34" charset="0"/>
                <a:ea typeface="微软雅黑" panose="020B0503020204020204" pitchFamily="34" charset="-122"/>
              </a:rPr>
              <a:t>大疾病知识库与权限隔离模型</a:t>
            </a:r>
            <a:endParaRPr lang="en-US" sz="1200" dirty="0"/>
          </a:p>
        </p:txBody>
      </p:sp>
      <p:sp>
        <p:nvSpPr>
          <p:cNvPr id="26" name="Text 23"/>
          <p:cNvSpPr/>
          <p:nvPr/>
        </p:nvSpPr>
        <p:spPr>
          <a:xfrm>
            <a:off x="1085850" y="2998812"/>
            <a:ext cx="2532348" cy="171450"/>
          </a:xfrm>
          <a:prstGeom prst="rect">
            <a:avLst/>
          </a:prstGeom>
          <a:noFill/>
        </p:spPr>
        <p:txBody>
          <a:bodyPr wrap="none" lIns="0" tIns="0" rIns="0" bIns="0" rtlCol="0" anchor="t"/>
          <a:lstStyle/>
          <a:p>
            <a:pPr marL="0" indent="0">
              <a:lnSpc>
                <a:spcPct val="150000"/>
              </a:lnSpc>
              <a:buNone/>
            </a:pPr>
            <a:r>
              <a:rPr lang="en-US" sz="900" b="1" dirty="0">
                <a:solidFill>
                  <a:srgbClr val="2563EB">
                    <a:alpha val="80000"/>
                  </a:srgbClr>
                </a:solidFill>
                <a:latin typeface="Arial" panose="020B0604020202020204" pitchFamily="34" charset="0"/>
              </a:rPr>
              <a:t>12</a:t>
            </a:r>
            <a:r>
              <a:rPr lang="zh-CN" sz="900" dirty="0">
                <a:solidFill>
                  <a:srgbClr val="1F2A37">
                    <a:alpha val="80000"/>
                  </a:srgbClr>
                </a:solidFill>
                <a:latin typeface="Arial" panose="020B0604020202020204" pitchFamily="34" charset="0"/>
                <a:ea typeface="微软雅黑" panose="020B0503020204020204" pitchFamily="34" charset="-122"/>
              </a:rPr>
              <a:t>个公开</a:t>
            </a:r>
            <a:r>
              <a:rPr lang="en-US" sz="900" dirty="0">
                <a:solidFill>
                  <a:srgbClr val="1F2A37">
                    <a:alpha val="80000"/>
                  </a:srgbClr>
                </a:solidFill>
                <a:latin typeface="Arial" panose="020B0604020202020204" pitchFamily="34" charset="0"/>
              </a:rPr>
              <a:t>/</a:t>
            </a:r>
            <a:r>
              <a:rPr lang="zh-CN" sz="900" dirty="0">
                <a:solidFill>
                  <a:srgbClr val="1F2A37">
                    <a:alpha val="80000"/>
                  </a:srgbClr>
                </a:solidFill>
                <a:latin typeface="Arial" panose="020B0604020202020204" pitchFamily="34" charset="0"/>
                <a:ea typeface="微软雅黑" panose="020B0503020204020204" pitchFamily="34" charset="-122"/>
              </a:rPr>
              <a:t>私有文档库划分及其角色访问权限</a:t>
            </a:r>
            <a:endParaRPr lang="en-US" sz="900" dirty="0"/>
          </a:p>
        </p:txBody>
      </p:sp>
      <p:sp>
        <p:nvSpPr>
          <p:cNvPr id="27" name="Shape 24"/>
          <p:cNvSpPr/>
          <p:nvPr/>
        </p:nvSpPr>
        <p:spPr>
          <a:xfrm>
            <a:off x="4857750" y="2765971"/>
            <a:ext cx="371475" cy="371475"/>
          </a:xfrm>
          <a:prstGeom prst="roundRect">
            <a:avLst>
              <a:gd name="adj" fmla="val 19231"/>
            </a:avLst>
          </a:prstGeom>
          <a:solidFill>
            <a:srgbClr val="5B9DFF">
              <a:alpha val="10000"/>
            </a:srgbClr>
          </a:solidFill>
        </p:spPr>
      </p:sp>
      <p:sp>
        <p:nvSpPr>
          <p:cNvPr id="28" name="Text 25"/>
          <p:cNvSpPr/>
          <p:nvPr/>
        </p:nvSpPr>
        <p:spPr>
          <a:xfrm>
            <a:off x="4957763" y="2865983"/>
            <a:ext cx="171450" cy="171450"/>
          </a:xfrm>
          <a:prstGeom prst="rect">
            <a:avLst/>
          </a:prstGeom>
          <a:noFill/>
        </p:spPr>
        <p:txBody>
          <a:bodyPr wrap="none" lIns="0" tIns="0" rIns="0" bIns="0" rtlCol="0" anchor="t"/>
          <a:lstStyle/>
          <a:p>
            <a:pPr marL="0" indent="0">
              <a:lnSpc>
                <a:spcPct val="100000"/>
              </a:lnSpc>
              <a:buNone/>
            </a:pPr>
            <a:r>
              <a:rPr lang="en-US" sz="1300" dirty="0">
                <a:solidFill>
                  <a:srgbClr val="5B9DFF"/>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1300" dirty="0"/>
          </a:p>
        </p:txBody>
      </p:sp>
      <p:sp>
        <p:nvSpPr>
          <p:cNvPr id="29" name="Text 26"/>
          <p:cNvSpPr/>
          <p:nvPr/>
        </p:nvSpPr>
        <p:spPr>
          <a:xfrm>
            <a:off x="5372100" y="2765971"/>
            <a:ext cx="1943100" cy="204267"/>
          </a:xfrm>
          <a:prstGeom prst="rect">
            <a:avLst/>
          </a:prstGeom>
          <a:noFill/>
        </p:spPr>
        <p:txBody>
          <a:bodyPr wrap="none" lIns="0" tIns="0" rIns="0" bIns="0" rtlCol="0" anchor="t"/>
          <a:lstStyle/>
          <a:p>
            <a:pPr marL="0" indent="0">
              <a:lnSpc>
                <a:spcPct val="130000"/>
              </a:lnSpc>
              <a:buNone/>
            </a:pPr>
            <a:r>
              <a:rPr lang="zh-CN" sz="1200" b="1" dirty="0">
                <a:solidFill>
                  <a:srgbClr val="1F2A37"/>
                </a:solidFill>
                <a:latin typeface="Arial" panose="020B0604020202020204" pitchFamily="34" charset="0"/>
                <a:ea typeface="微软雅黑" panose="020B0503020204020204" pitchFamily="34" charset="-122"/>
              </a:rPr>
              <a:t>七、项目总结与免责声明</a:t>
            </a:r>
            <a:endParaRPr lang="en-US" sz="1200" dirty="0"/>
          </a:p>
        </p:txBody>
      </p:sp>
      <p:sp>
        <p:nvSpPr>
          <p:cNvPr id="30" name="Text 27"/>
          <p:cNvSpPr/>
          <p:nvPr/>
        </p:nvSpPr>
        <p:spPr>
          <a:xfrm>
            <a:off x="5372100" y="2998812"/>
            <a:ext cx="1943100" cy="171450"/>
          </a:xfrm>
          <a:prstGeom prst="rect">
            <a:avLst/>
          </a:prstGeom>
          <a:noFill/>
        </p:spPr>
        <p:txBody>
          <a:bodyPr wrap="none" lIns="0" tIns="0" rIns="0" bIns="0" rtlCol="0" anchor="t"/>
          <a:lstStyle/>
          <a:p>
            <a:pPr marL="0" indent="0">
              <a:lnSpc>
                <a:spcPct val="150000"/>
              </a:lnSpc>
              <a:buNone/>
            </a:pPr>
            <a:r>
              <a:rPr lang="zh-CN" sz="900" dirty="0">
                <a:solidFill>
                  <a:srgbClr val="1F2A37">
                    <a:alpha val="80000"/>
                  </a:srgbClr>
                </a:solidFill>
                <a:latin typeface="Arial" panose="020B0604020202020204" pitchFamily="34" charset="0"/>
                <a:ea typeface="微软雅黑" panose="020B0503020204020204" pitchFamily="34" charset="-122"/>
              </a:rPr>
              <a:t>项目医疗价值评估与医疗信息合规说明</a:t>
            </a:r>
            <a:endParaRPr lang="en-US" sz="900" dirty="0"/>
          </a:p>
        </p:txBody>
      </p:sp>
      <p:sp>
        <p:nvSpPr>
          <p:cNvPr id="31" name="Shape 28"/>
          <p:cNvSpPr/>
          <p:nvPr/>
        </p:nvSpPr>
        <p:spPr>
          <a:xfrm>
            <a:off x="571500" y="3398862"/>
            <a:ext cx="371475" cy="371475"/>
          </a:xfrm>
          <a:prstGeom prst="roundRect">
            <a:avLst>
              <a:gd name="adj" fmla="val 19231"/>
            </a:avLst>
          </a:prstGeom>
          <a:solidFill>
            <a:srgbClr val="5B9DFF">
              <a:alpha val="10000"/>
            </a:srgbClr>
          </a:solidFill>
        </p:spPr>
      </p:sp>
      <p:sp>
        <p:nvSpPr>
          <p:cNvPr id="32" name="Text 29"/>
          <p:cNvSpPr/>
          <p:nvPr/>
        </p:nvSpPr>
        <p:spPr>
          <a:xfrm>
            <a:off x="660797" y="3498875"/>
            <a:ext cx="192881" cy="171450"/>
          </a:xfrm>
          <a:prstGeom prst="rect">
            <a:avLst/>
          </a:prstGeom>
          <a:noFill/>
        </p:spPr>
        <p:txBody>
          <a:bodyPr wrap="none" lIns="0" tIns="0" rIns="0" bIns="0" rtlCol="0" anchor="t"/>
          <a:lstStyle/>
          <a:p>
            <a:pPr marL="0" indent="0">
              <a:lnSpc>
                <a:spcPct val="100000"/>
              </a:lnSpc>
              <a:buNone/>
            </a:pPr>
            <a:r>
              <a:rPr lang="en-US" sz="1300" dirty="0">
                <a:solidFill>
                  <a:srgbClr val="5B9DFF"/>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1300" dirty="0"/>
          </a:p>
        </p:txBody>
      </p:sp>
      <p:sp>
        <p:nvSpPr>
          <p:cNvPr id="33" name="Text 30"/>
          <p:cNvSpPr/>
          <p:nvPr/>
        </p:nvSpPr>
        <p:spPr>
          <a:xfrm>
            <a:off x="1085850" y="3398862"/>
            <a:ext cx="2538264" cy="204267"/>
          </a:xfrm>
          <a:prstGeom prst="rect">
            <a:avLst/>
          </a:prstGeom>
          <a:noFill/>
        </p:spPr>
        <p:txBody>
          <a:bodyPr wrap="none" lIns="0" tIns="0" rIns="0" bIns="0" rtlCol="0" anchor="t"/>
          <a:lstStyle/>
          <a:p>
            <a:pPr marL="0" indent="0">
              <a:lnSpc>
                <a:spcPct val="130000"/>
              </a:lnSpc>
              <a:buNone/>
            </a:pPr>
            <a:r>
              <a:rPr lang="zh-CN" sz="1200" b="1" dirty="0">
                <a:solidFill>
                  <a:srgbClr val="1F2A37"/>
                </a:solidFill>
                <a:latin typeface="Arial" panose="020B0604020202020204" pitchFamily="34" charset="0"/>
                <a:ea typeface="微软雅黑" panose="020B0503020204020204" pitchFamily="34" charset="-122"/>
              </a:rPr>
              <a:t>四、系统技术架构与前后端技术栈</a:t>
            </a:r>
            <a:endParaRPr lang="en-US" sz="1200" dirty="0"/>
          </a:p>
        </p:txBody>
      </p:sp>
      <p:sp>
        <p:nvSpPr>
          <p:cNvPr id="34" name="Text 31"/>
          <p:cNvSpPr/>
          <p:nvPr/>
        </p:nvSpPr>
        <p:spPr>
          <a:xfrm>
            <a:off x="1085850" y="3631704"/>
            <a:ext cx="2538264" cy="171450"/>
          </a:xfrm>
          <a:prstGeom prst="rect">
            <a:avLst/>
          </a:prstGeom>
          <a:noFill/>
        </p:spPr>
        <p:txBody>
          <a:bodyPr wrap="none" lIns="0" tIns="0" rIns="0" bIns="0" rtlCol="0" anchor="t"/>
          <a:lstStyle/>
          <a:p>
            <a:pPr marL="0" indent="0">
              <a:lnSpc>
                <a:spcPct val="150000"/>
              </a:lnSpc>
              <a:buNone/>
            </a:pPr>
            <a:r>
              <a:rPr lang="zh-CN" sz="900" dirty="0">
                <a:solidFill>
                  <a:srgbClr val="1F2A37">
                    <a:alpha val="80000"/>
                  </a:srgbClr>
                </a:solidFill>
                <a:latin typeface="Arial" panose="020B0604020202020204" pitchFamily="34" charset="0"/>
                <a:ea typeface="微软雅黑" panose="020B0503020204020204" pitchFamily="34" charset="-122"/>
              </a:rPr>
              <a:t>基于 </a:t>
            </a:r>
            <a:r>
              <a:rPr lang="en-US" sz="900" dirty="0">
                <a:solidFill>
                  <a:srgbClr val="1F2A37">
                    <a:alpha val="80000"/>
                  </a:srgbClr>
                </a:solidFill>
                <a:latin typeface="Arial" panose="020B0604020202020204" pitchFamily="34" charset="0"/>
              </a:rPr>
              <a:t>Vue 3</a:t>
            </a:r>
            <a:r>
              <a:rPr lang="zh-CN" sz="900" dirty="0">
                <a:solidFill>
                  <a:srgbClr val="1F2A37">
                    <a:alpha val="80000"/>
                  </a:srgbClr>
                </a:solidFill>
                <a:latin typeface="Arial" panose="020B0604020202020204" pitchFamily="34" charset="0"/>
                <a:ea typeface="微软雅黑" panose="020B0503020204020204" pitchFamily="34" charset="-122"/>
              </a:rPr>
              <a:t>、</a:t>
            </a:r>
            <a:r>
              <a:rPr lang="en-US" sz="900" dirty="0">
                <a:solidFill>
                  <a:srgbClr val="1F2A37">
                    <a:alpha val="80000"/>
                  </a:srgbClr>
                </a:solidFill>
                <a:latin typeface="Arial" panose="020B0604020202020204" pitchFamily="34" charset="0"/>
              </a:rPr>
              <a:t>Flask</a:t>
            </a:r>
            <a:r>
              <a:rPr lang="zh-CN" sz="900" dirty="0">
                <a:solidFill>
                  <a:srgbClr val="1F2A37">
                    <a:alpha val="80000"/>
                  </a:srgbClr>
                </a:solidFill>
                <a:latin typeface="Arial" panose="020B0604020202020204" pitchFamily="34" charset="0"/>
                <a:ea typeface="微软雅黑" panose="020B0503020204020204" pitchFamily="34" charset="-122"/>
              </a:rPr>
              <a:t>、</a:t>
            </a:r>
            <a:r>
              <a:rPr lang="en-US" sz="900" dirty="0">
                <a:solidFill>
                  <a:srgbClr val="1F2A37">
                    <a:alpha val="80000"/>
                  </a:srgbClr>
                </a:solidFill>
                <a:latin typeface="Arial" panose="020B0604020202020204" pitchFamily="34" charset="0"/>
              </a:rPr>
              <a:t>Milvus </a:t>
            </a:r>
            <a:r>
              <a:rPr lang="zh-CN" sz="900" dirty="0">
                <a:solidFill>
                  <a:srgbClr val="1F2A37">
                    <a:alpha val="80000"/>
                  </a:srgbClr>
                </a:solidFill>
                <a:latin typeface="Arial" panose="020B0604020202020204" pitchFamily="34" charset="0"/>
                <a:ea typeface="微软雅黑" panose="020B0503020204020204" pitchFamily="34" charset="-122"/>
              </a:rPr>
              <a:t>及 </a:t>
            </a:r>
            <a:r>
              <a:rPr lang="en-US" sz="900" dirty="0">
                <a:solidFill>
                  <a:srgbClr val="1F2A37">
                    <a:alpha val="80000"/>
                  </a:srgbClr>
                </a:solidFill>
                <a:latin typeface="Arial" panose="020B0604020202020204" pitchFamily="34" charset="0"/>
              </a:rPr>
              <a:t>MySQL </a:t>
            </a:r>
            <a:r>
              <a:rPr lang="zh-CN" sz="900" dirty="0">
                <a:solidFill>
                  <a:srgbClr val="1F2A37">
                    <a:alpha val="80000"/>
                  </a:srgbClr>
                </a:solidFill>
                <a:latin typeface="Arial" panose="020B0604020202020204" pitchFamily="34" charset="0"/>
                <a:ea typeface="微软雅黑" panose="020B0503020204020204" pitchFamily="34" charset="-122"/>
              </a:rPr>
              <a:t>的稳健架构</a:t>
            </a:r>
            <a:endParaRPr lang="en-US" sz="900" dirty="0"/>
          </a:p>
        </p:txBody>
      </p:sp>
      <p:sp>
        <p:nvSpPr>
          <p:cNvPr id="35" name="Shape 32"/>
          <p:cNvSpPr/>
          <p:nvPr/>
        </p:nvSpPr>
        <p:spPr>
          <a:xfrm>
            <a:off x="571500" y="4850606"/>
            <a:ext cx="8001000" cy="7144"/>
          </a:xfrm>
          <a:prstGeom prst="rect">
            <a:avLst/>
          </a:prstGeom>
          <a:solidFill>
            <a:srgbClr val="DCEAF5"/>
          </a:solidFill>
        </p:spPr>
      </p:sp>
    </p:spTree>
  </p:cSld>
  <p:clrMapOvr>
    <a:overrideClrMapping bg1="lt1" tx1="dk1" bg2="lt2" tx2="dk2" accent1="accent1" accent2="accent2" accent3="accent3" accent4="accent4" accent5="accent5" accent6="accent6" hlink="hlink" folHlink="folHlink"/>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342900" y="342900"/>
            <a:ext cx="8458200" cy="342900"/>
          </a:xfrm>
          <a:prstGeom prst="rect">
            <a:avLst/>
          </a:prstGeom>
          <a:noFill/>
        </p:spPr>
        <p:txBody>
          <a:bodyPr wrap="none" lIns="0" tIns="0" rIns="0" bIns="0" rtlCol="0" anchor="t"/>
          <a:lstStyle/>
          <a:p>
            <a:pPr marL="0" indent="0">
              <a:lnSpc>
                <a:spcPct val="120000"/>
              </a:lnSpc>
              <a:buNone/>
            </a:pPr>
            <a:r>
              <a:rPr lang="zh-CN" sz="2100" b="1" dirty="0">
                <a:solidFill>
                  <a:srgbClr val="2E6EA6"/>
                </a:solidFill>
                <a:latin typeface="Arial" panose="020B0604020202020204" pitchFamily="34" charset="0"/>
                <a:ea typeface="微软雅黑" panose="020B0503020204020204" pitchFamily="34" charset="-122"/>
              </a:rPr>
              <a:t>项目背景与多角色用户体系</a:t>
            </a:r>
            <a:endParaRPr lang="en-US" sz="2100" dirty="0"/>
          </a:p>
        </p:txBody>
      </p:sp>
      <p:sp>
        <p:nvSpPr>
          <p:cNvPr id="4" name="Text 1"/>
          <p:cNvSpPr/>
          <p:nvPr/>
        </p:nvSpPr>
        <p:spPr>
          <a:xfrm>
            <a:off x="342900" y="800100"/>
            <a:ext cx="6429375" cy="411435"/>
          </a:xfrm>
          <a:prstGeom prst="rect">
            <a:avLst/>
          </a:prstGeom>
          <a:noFill/>
        </p:spPr>
        <p:txBody>
          <a:bodyPr wrap="square" lIns="0" tIns="0" rIns="0" bIns="0" rtlCol="0" anchor="t"/>
          <a:lstStyle/>
          <a:p>
            <a:pPr marL="0" indent="0">
              <a:lnSpc>
                <a:spcPct val="160000"/>
              </a:lnSpc>
              <a:buNone/>
            </a:pPr>
            <a:r>
              <a:rPr lang="zh-CN" sz="1000" dirty="0">
                <a:solidFill>
                  <a:srgbClr val="1F2A37">
                    <a:alpha val="90000"/>
                  </a:srgbClr>
                </a:solidFill>
                <a:latin typeface="Arial" panose="020B0604020202020204" pitchFamily="34" charset="0"/>
                <a:ea typeface="微软雅黑" panose="020B0503020204020204" pitchFamily="34" charset="-122"/>
              </a:rPr>
              <a:t>医疗信息化是现代医院管理与患者服务的核心支撑。本系统以</a:t>
            </a:r>
            <a:r>
              <a:rPr lang="en-US" sz="1000" b="1" dirty="0">
                <a:solidFill>
                  <a:srgbClr val="2563EB">
                    <a:alpha val="90000"/>
                  </a:srgbClr>
                </a:solidFill>
                <a:latin typeface="Arial" panose="020B0604020202020204" pitchFamily="34" charset="0"/>
              </a:rPr>
              <a:t>“</a:t>
            </a:r>
            <a:r>
              <a:rPr lang="zh-CN" sz="1000" b="1" dirty="0">
                <a:solidFill>
                  <a:srgbClr val="2563EB">
                    <a:alpha val="90000"/>
                  </a:srgbClr>
                </a:solidFill>
                <a:latin typeface="Arial" panose="020B0604020202020204" pitchFamily="34" charset="0"/>
                <a:ea typeface="微软雅黑" panose="020B0503020204020204" pitchFamily="34" charset="-122"/>
              </a:rPr>
              <a:t>医学知识库 </a:t>
            </a:r>
            <a:r>
              <a:rPr lang="en-US" sz="1000" b="1" dirty="0">
                <a:solidFill>
                  <a:srgbClr val="2563EB">
                    <a:alpha val="90000"/>
                  </a:srgbClr>
                </a:solidFill>
                <a:latin typeface="Arial" panose="020B0604020202020204" pitchFamily="34" charset="0"/>
              </a:rPr>
              <a:t>+ </a:t>
            </a:r>
            <a:r>
              <a:rPr lang="zh-CN" sz="1000" b="1" dirty="0">
                <a:solidFill>
                  <a:srgbClr val="2563EB">
                    <a:alpha val="90000"/>
                  </a:srgbClr>
                </a:solidFill>
                <a:latin typeface="Arial" panose="020B0604020202020204" pitchFamily="34" charset="0"/>
                <a:ea typeface="微软雅黑" panose="020B0503020204020204" pitchFamily="34" charset="-122"/>
              </a:rPr>
              <a:t>智能问答</a:t>
            </a:r>
            <a:r>
              <a:rPr lang="en-US" sz="1000" b="1" dirty="0">
                <a:solidFill>
                  <a:srgbClr val="2563EB">
                    <a:alpha val="90000"/>
                  </a:srgbClr>
                </a:solidFill>
                <a:latin typeface="Arial" panose="020B0604020202020204" pitchFamily="34" charset="0"/>
              </a:rPr>
              <a:t>”</a:t>
            </a:r>
            <a:r>
              <a:rPr lang="zh-CN" sz="1000" dirty="0">
                <a:solidFill>
                  <a:srgbClr val="1F2A37">
                    <a:alpha val="90000"/>
                  </a:srgbClr>
                </a:solidFill>
                <a:latin typeface="Arial" panose="020B0604020202020204" pitchFamily="34" charset="0"/>
                <a:ea typeface="微软雅黑" panose="020B0503020204020204" pitchFamily="34" charset="-122"/>
              </a:rPr>
              <a:t>为切入点，构建了一个包含患者、医生、护士、群众、管理员五种角色的医疗辅助平台。</a:t>
            </a:r>
            <a:endParaRPr lang="en-US" sz="1000" dirty="0"/>
          </a:p>
        </p:txBody>
      </p:sp>
      <p:grpSp>
        <p:nvGrpSpPr>
          <p:cNvPr id="85" name="h2p-grp-h2p-animroot-1"/>
          <p:cNvGrpSpPr/>
          <p:nvPr/>
        </p:nvGrpSpPr>
        <p:grpSpPr>
          <a:xfrm>
            <a:off x="342900" y="1497285"/>
            <a:ext cx="1577318" cy="3303315"/>
            <a:chOff x="0" y="0"/>
            <a:chExt cx="1577318" cy="3303315"/>
          </a:xfrm>
        </p:grpSpPr>
        <p:sp>
          <p:nvSpPr>
            <p:cNvPr id="5" name="圆角矩形 4"/>
            <p:cNvSpPr/>
            <p:nvPr/>
          </p:nvSpPr>
          <p:spPr>
            <a:xfrm>
              <a:off x="0" y="0"/>
              <a:ext cx="1577318" cy="3303315"/>
            </a:xfrm>
            <a:prstGeom prst="roundRect">
              <a:avLst>
                <a:gd name="adj" fmla="val 5435"/>
              </a:avLst>
            </a:prstGeom>
            <a:solidFill>
              <a:srgbClr val="FFFFFF"/>
            </a:solidFill>
            <a:ln w="6350">
              <a:solidFill>
                <a:srgbClr val="DCEAF5"/>
              </a:solidFill>
              <a:prstDash val="solid"/>
            </a:ln>
          </p:spPr>
        </p:sp>
        <p:sp>
          <p:nvSpPr>
            <p:cNvPr id="6" name="圆角矩形 5"/>
            <p:cNvSpPr/>
            <p:nvPr/>
          </p:nvSpPr>
          <p:spPr>
            <a:xfrm>
              <a:off x="178594" y="178594"/>
              <a:ext cx="342900" cy="342900"/>
            </a:xfrm>
            <a:prstGeom prst="roundRect">
              <a:avLst>
                <a:gd name="adj" fmla="val 20833"/>
              </a:avLst>
            </a:prstGeom>
            <a:solidFill>
              <a:srgbClr val="EAF5FF"/>
            </a:solidFill>
          </p:spPr>
        </p:sp>
        <p:sp>
          <p:nvSpPr>
            <p:cNvPr id="7" name="任意多边形 6"/>
            <p:cNvSpPr/>
            <p:nvPr/>
          </p:nvSpPr>
          <p:spPr>
            <a:xfrm>
              <a:off x="271463" y="371475"/>
              <a:ext cx="114300" cy="42863"/>
            </a:xfrm>
            <a:custGeom>
              <a:avLst/>
              <a:gdLst/>
              <a:ahLst/>
              <a:cxnLst/>
              <a:pathLst>
                <a:path w="21600" h="21600">
                  <a:moveTo>
                    <a:pt x="21600" y="21600"/>
                  </a:moveTo>
                  <a:lnTo>
                    <a:pt x="21600" y="17388"/>
                  </a:lnTo>
                  <a:lnTo>
                    <a:pt x="21581" y="13178"/>
                  </a:lnTo>
                  <a:lnTo>
                    <a:pt x="21221" y="9093"/>
                  </a:lnTo>
                  <a:lnTo>
                    <a:pt x="20433" y="5460"/>
                  </a:lnTo>
                  <a:lnTo>
                    <a:pt x="19287" y="2584"/>
                  </a:lnTo>
                  <a:lnTo>
                    <a:pt x="17879" y="710"/>
                  </a:lnTo>
                  <a:lnTo>
                    <a:pt x="16328" y="4"/>
                  </a:lnTo>
                  <a:lnTo>
                    <a:pt x="14748" y="0"/>
                  </a:lnTo>
                  <a:lnTo>
                    <a:pt x="13169" y="0"/>
                  </a:lnTo>
                  <a:lnTo>
                    <a:pt x="11590" y="0"/>
                  </a:lnTo>
                  <a:lnTo>
                    <a:pt x="10010" y="0"/>
                  </a:lnTo>
                  <a:lnTo>
                    <a:pt x="8431" y="0"/>
                  </a:lnTo>
                  <a:lnTo>
                    <a:pt x="6852" y="0"/>
                  </a:lnTo>
                  <a:lnTo>
                    <a:pt x="5272" y="4"/>
                  </a:lnTo>
                  <a:lnTo>
                    <a:pt x="3721" y="710"/>
                  </a:lnTo>
                  <a:lnTo>
                    <a:pt x="2313" y="2584"/>
                  </a:lnTo>
                  <a:lnTo>
                    <a:pt x="1167" y="5460"/>
                  </a:lnTo>
                  <a:lnTo>
                    <a:pt x="379" y="9093"/>
                  </a:lnTo>
                  <a:lnTo>
                    <a:pt x="19" y="13178"/>
                  </a:lnTo>
                  <a:lnTo>
                    <a:pt x="0" y="17388"/>
                  </a:lnTo>
                  <a:lnTo>
                    <a:pt x="0" y="21600"/>
                  </a:lnTo>
                </a:path>
              </a:pathLst>
            </a:custGeom>
            <a:ln w="12700">
              <a:solidFill>
                <a:srgbClr val="2563EB"/>
              </a:solidFill>
              <a:prstDash val="solid"/>
            </a:ln>
          </p:spPr>
        </p:sp>
        <p:sp>
          <p:nvSpPr>
            <p:cNvPr id="8" name="椭圆 7"/>
            <p:cNvSpPr/>
            <p:nvPr/>
          </p:nvSpPr>
          <p:spPr>
            <a:xfrm>
              <a:off x="300038" y="285750"/>
              <a:ext cx="57150" cy="57150"/>
            </a:xfrm>
            <a:prstGeom prst="ellipse">
              <a:avLst/>
            </a:prstGeom>
            <a:noFill/>
            <a:ln w="12700">
              <a:solidFill>
                <a:srgbClr val="2563EB"/>
              </a:solidFill>
              <a:prstDash val="solid"/>
            </a:ln>
          </p:spPr>
        </p:sp>
        <p:sp>
          <p:nvSpPr>
            <p:cNvPr id="9" name="任意多边形 8"/>
            <p:cNvSpPr/>
            <p:nvPr/>
          </p:nvSpPr>
          <p:spPr>
            <a:xfrm>
              <a:off x="407194" y="372404"/>
              <a:ext cx="21431" cy="41934"/>
            </a:xfrm>
            <a:custGeom>
              <a:avLst/>
              <a:gdLst/>
              <a:ahLst/>
              <a:cxnLst/>
              <a:pathLst>
                <a:path w="21600" h="21600">
                  <a:moveTo>
                    <a:pt x="21600" y="21600"/>
                  </a:moveTo>
                  <a:lnTo>
                    <a:pt x="21600" y="19928"/>
                  </a:lnTo>
                  <a:lnTo>
                    <a:pt x="21600" y="18256"/>
                  </a:lnTo>
                  <a:lnTo>
                    <a:pt x="21600" y="16584"/>
                  </a:lnTo>
                  <a:lnTo>
                    <a:pt x="21600" y="14912"/>
                  </a:lnTo>
                  <a:lnTo>
                    <a:pt x="21533" y="13241"/>
                  </a:lnTo>
                  <a:lnTo>
                    <a:pt x="21125" y="11583"/>
                  </a:lnTo>
                  <a:lnTo>
                    <a:pt x="20351" y="9960"/>
                  </a:lnTo>
                  <a:lnTo>
                    <a:pt x="19221" y="8392"/>
                  </a:lnTo>
                  <a:lnTo>
                    <a:pt x="17750" y="6899"/>
                  </a:lnTo>
                  <a:lnTo>
                    <a:pt x="15958" y="5502"/>
                  </a:lnTo>
                  <a:lnTo>
                    <a:pt x="13869" y="4216"/>
                  </a:lnTo>
                  <a:lnTo>
                    <a:pt x="11508" y="3060"/>
                  </a:lnTo>
                  <a:lnTo>
                    <a:pt x="8907" y="2048"/>
                  </a:lnTo>
                  <a:lnTo>
                    <a:pt x="6097" y="1194"/>
                  </a:lnTo>
                  <a:lnTo>
                    <a:pt x="3115" y="508"/>
                  </a:lnTo>
                  <a:lnTo>
                    <a:pt x="0" y="0"/>
                  </a:lnTo>
                </a:path>
              </a:pathLst>
            </a:custGeom>
            <a:ln w="12700">
              <a:solidFill>
                <a:srgbClr val="2563EB"/>
              </a:solidFill>
              <a:prstDash val="solid"/>
            </a:ln>
          </p:spPr>
        </p:sp>
        <p:sp>
          <p:nvSpPr>
            <p:cNvPr id="10" name="任意多边形 9"/>
            <p:cNvSpPr/>
            <p:nvPr/>
          </p:nvSpPr>
          <p:spPr>
            <a:xfrm>
              <a:off x="378619" y="286679"/>
              <a:ext cx="21487" cy="55364"/>
            </a:xfrm>
            <a:custGeom>
              <a:avLst/>
              <a:gdLst/>
              <a:ahLst/>
              <a:cxnLst/>
              <a:pathLst>
                <a:path w="21600" h="21600">
                  <a:moveTo>
                    <a:pt x="0" y="0"/>
                  </a:moveTo>
                  <a:lnTo>
                    <a:pt x="4475" y="600"/>
                  </a:lnTo>
                  <a:lnTo>
                    <a:pt x="8635" y="1478"/>
                  </a:lnTo>
                  <a:lnTo>
                    <a:pt x="12365" y="2610"/>
                  </a:lnTo>
                  <a:lnTo>
                    <a:pt x="15566" y="3964"/>
                  </a:lnTo>
                  <a:lnTo>
                    <a:pt x="18152" y="5504"/>
                  </a:lnTo>
                  <a:lnTo>
                    <a:pt x="20052" y="7187"/>
                  </a:lnTo>
                  <a:lnTo>
                    <a:pt x="21212" y="8969"/>
                  </a:lnTo>
                  <a:lnTo>
                    <a:pt x="21600" y="10800"/>
                  </a:lnTo>
                  <a:lnTo>
                    <a:pt x="21212" y="12631"/>
                  </a:lnTo>
                  <a:lnTo>
                    <a:pt x="20052" y="14413"/>
                  </a:lnTo>
                  <a:lnTo>
                    <a:pt x="18152" y="16096"/>
                  </a:lnTo>
                  <a:lnTo>
                    <a:pt x="15566" y="17636"/>
                  </a:lnTo>
                  <a:lnTo>
                    <a:pt x="12365" y="18990"/>
                  </a:lnTo>
                  <a:lnTo>
                    <a:pt x="8635" y="20122"/>
                  </a:lnTo>
                  <a:lnTo>
                    <a:pt x="4475" y="21000"/>
                  </a:lnTo>
                  <a:lnTo>
                    <a:pt x="0" y="21600"/>
                  </a:lnTo>
                </a:path>
              </a:pathLst>
            </a:custGeom>
            <a:ln w="12700">
              <a:solidFill>
                <a:srgbClr val="2563EB"/>
              </a:solidFill>
              <a:prstDash val="solid"/>
            </a:ln>
          </p:spPr>
        </p:sp>
        <p:sp>
          <p:nvSpPr>
            <p:cNvPr id="11" name="矩形 10"/>
            <p:cNvSpPr/>
            <p:nvPr/>
          </p:nvSpPr>
          <p:spPr>
            <a:xfrm>
              <a:off x="178594" y="664369"/>
              <a:ext cx="285750" cy="157163"/>
            </a:xfrm>
            <a:prstGeom prst="rect">
              <a:avLst/>
            </a:prstGeom>
            <a:noFill/>
          </p:spPr>
          <p:txBody>
            <a:bodyPr wrap="none" lIns="0" tIns="0" rIns="0" bIns="0" rtlCol="0" anchor="ctr"/>
            <a:lstStyle/>
            <a:p>
              <a:pPr marL="0" indent="0">
                <a:lnSpc>
                  <a:spcPct val="150000"/>
                </a:lnSpc>
                <a:buNone/>
              </a:pPr>
              <a:r>
                <a:rPr lang="zh-CN" sz="1100" b="1" dirty="0">
                  <a:solidFill>
                    <a:srgbClr val="2E6EA6"/>
                  </a:solidFill>
                  <a:latin typeface="Arial" panose="020B0604020202020204" pitchFamily="34" charset="0"/>
                  <a:ea typeface="微软雅黑" panose="020B0503020204020204" pitchFamily="34" charset="-122"/>
                </a:rPr>
                <a:t>群众</a:t>
              </a:r>
              <a:endParaRPr lang="en-US" sz="1100" dirty="0"/>
            </a:p>
          </p:txBody>
        </p:sp>
        <p:sp>
          <p:nvSpPr>
            <p:cNvPr id="12" name="圆角矩形 11"/>
            <p:cNvSpPr/>
            <p:nvPr/>
          </p:nvSpPr>
          <p:spPr>
            <a:xfrm>
              <a:off x="521494" y="664369"/>
              <a:ext cx="433425" cy="157163"/>
            </a:xfrm>
            <a:prstGeom prst="roundRect">
              <a:avLst>
                <a:gd name="adj" fmla="val 18182"/>
              </a:avLst>
            </a:prstGeom>
            <a:solidFill>
              <a:srgbClr val="5B9DFF">
                <a:alpha val="10000"/>
              </a:srgbClr>
            </a:solidFill>
          </p:spPr>
        </p:sp>
        <p:sp>
          <p:nvSpPr>
            <p:cNvPr id="13" name="矩形 12"/>
            <p:cNvSpPr/>
            <p:nvPr/>
          </p:nvSpPr>
          <p:spPr>
            <a:xfrm>
              <a:off x="521494" y="664369"/>
              <a:ext cx="433425" cy="157163"/>
            </a:xfrm>
            <a:prstGeom prst="rect">
              <a:avLst/>
            </a:prstGeom>
            <a:noFill/>
          </p:spPr>
          <p:txBody>
            <a:bodyPr wrap="none" lIns="58928" tIns="14732" rIns="58928" bIns="14732" rtlCol="0" anchor="t"/>
            <a:lstStyle/>
            <a:p>
              <a:pPr marL="0" indent="0">
                <a:lnSpc>
                  <a:spcPct val="150000"/>
                </a:lnSpc>
                <a:buNone/>
              </a:pPr>
              <a:r>
                <a:rPr lang="en-US" sz="600" b="1" dirty="0">
                  <a:solidFill>
                    <a:srgbClr val="5B9DFF"/>
                  </a:solidFill>
                  <a:latin typeface="Arial" panose="020B0604020202020204" pitchFamily="34" charset="0"/>
                </a:rPr>
                <a:t>PUBLIC</a:t>
              </a:r>
              <a:endParaRPr lang="en-US" sz="600" dirty="0"/>
            </a:p>
          </p:txBody>
        </p:sp>
        <p:sp>
          <p:nvSpPr>
            <p:cNvPr id="14" name="矩形 13"/>
            <p:cNvSpPr/>
            <p:nvPr/>
          </p:nvSpPr>
          <p:spPr>
            <a:xfrm>
              <a:off x="178594" y="907257"/>
              <a:ext cx="1220130" cy="150019"/>
            </a:xfrm>
            <a:prstGeom prst="rect">
              <a:avLst/>
            </a:prstGeom>
            <a:noFill/>
          </p:spPr>
          <p:txBody>
            <a:bodyPr wrap="none" lIns="0"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主要访问公开信息。</a:t>
              </a:r>
              <a:endParaRPr lang="en-US" sz="700" dirty="0"/>
            </a:p>
          </p:txBody>
        </p:sp>
        <p:sp>
          <p:nvSpPr>
            <p:cNvPr id="15" name="矩形 14"/>
            <p:cNvSpPr/>
            <p:nvPr/>
          </p:nvSpPr>
          <p:spPr>
            <a:xfrm>
              <a:off x="178594" y="1143000"/>
              <a:ext cx="1220130" cy="289322"/>
            </a:xfrm>
            <a:prstGeom prst="rect">
              <a:avLst/>
            </a:prstGeom>
            <a:noFill/>
          </p:spPr>
          <p:txBody>
            <a:bodyPr wrap="square" lIns="132588"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基于公开知识库进行智能咨询</a:t>
              </a:r>
              <a:endParaRPr lang="en-US" sz="700" dirty="0"/>
            </a:p>
          </p:txBody>
        </p:sp>
        <p:sp>
          <p:nvSpPr>
            <p:cNvPr id="17" name="矩形 16"/>
            <p:cNvSpPr/>
            <p:nvPr/>
          </p:nvSpPr>
          <p:spPr>
            <a:xfrm>
              <a:off x="178594" y="1489472"/>
              <a:ext cx="1220130" cy="144661"/>
            </a:xfrm>
            <a:prstGeom prst="rect">
              <a:avLst/>
            </a:prstGeom>
            <a:noFill/>
          </p:spPr>
          <p:txBody>
            <a:bodyPr wrap="none" lIns="132588" tIns="0" rIns="0" bIns="0" rtlCol="0" anchor="t"/>
            <a:lstStyle/>
            <a:p>
              <a:pPr marL="0" indent="0">
                <a:lnSpc>
                  <a:spcPct val="150000"/>
                </a:lnSpc>
                <a:buNone/>
              </a:pPr>
              <a:r>
                <a:rPr lang="en-US" sz="700" dirty="0">
                  <a:solidFill>
                    <a:srgbClr val="1F2A37"/>
                  </a:solidFill>
                  <a:latin typeface="Arial" panose="020B0604020202020204" pitchFamily="34" charset="0"/>
                  <a:ea typeface="Arial" panose="020B0604020202020204" pitchFamily="34" charset="-122"/>
                  <a:cs typeface="Arial" panose="020B0604020202020204" pitchFamily="34" charset="-120"/>
                </a:rPr>
                <a:t>浏览健康资讯与就诊指南</a:t>
              </a:r>
              <a:endParaRPr lang="en-US" sz="700" dirty="0"/>
            </a:p>
          </p:txBody>
        </p:sp>
        <p:sp>
          <p:nvSpPr>
            <p:cNvPr id="19" name="矩形 18"/>
            <p:cNvSpPr/>
            <p:nvPr/>
          </p:nvSpPr>
          <p:spPr>
            <a:xfrm>
              <a:off x="178594" y="1691283"/>
              <a:ext cx="1220130" cy="144661"/>
            </a:xfrm>
            <a:prstGeom prst="rect">
              <a:avLst/>
            </a:prstGeom>
            <a:noFill/>
          </p:spPr>
          <p:txBody>
            <a:bodyPr wrap="none" lIns="132588"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进行在线预约挂号</a:t>
              </a:r>
              <a:endParaRPr lang="en-US" sz="700" dirty="0"/>
            </a:p>
          </p:txBody>
        </p:sp>
      </p:grpSp>
      <p:sp>
        <p:nvSpPr>
          <p:cNvPr id="16" name="Shape 13"/>
          <p:cNvSpPr/>
          <p:nvPr/>
        </p:nvSpPr>
        <p:spPr>
          <a:xfrm>
            <a:off x="521494" y="2697435"/>
            <a:ext cx="42863" cy="42863"/>
          </a:xfrm>
          <a:prstGeom prst="ellipse">
            <a:avLst/>
          </a:prstGeom>
          <a:solidFill>
            <a:srgbClr val="5B9DFF"/>
          </a:solidFill>
        </p:spPr>
      </p:sp>
      <p:sp>
        <p:nvSpPr>
          <p:cNvPr id="18" name="Shape 15"/>
          <p:cNvSpPr/>
          <p:nvPr/>
        </p:nvSpPr>
        <p:spPr>
          <a:xfrm>
            <a:off x="521494" y="3043907"/>
            <a:ext cx="42863" cy="42863"/>
          </a:xfrm>
          <a:prstGeom prst="ellipse">
            <a:avLst/>
          </a:prstGeom>
          <a:solidFill>
            <a:srgbClr val="5B9DFF"/>
          </a:solidFill>
        </p:spPr>
      </p:sp>
      <p:sp>
        <p:nvSpPr>
          <p:cNvPr id="20" name="Shape 17"/>
          <p:cNvSpPr/>
          <p:nvPr/>
        </p:nvSpPr>
        <p:spPr>
          <a:xfrm>
            <a:off x="521494" y="3245718"/>
            <a:ext cx="42863" cy="42863"/>
          </a:xfrm>
          <a:prstGeom prst="ellipse">
            <a:avLst/>
          </a:prstGeom>
          <a:solidFill>
            <a:srgbClr val="5B9DFF"/>
          </a:solidFill>
        </p:spPr>
      </p:sp>
      <p:grpSp>
        <p:nvGrpSpPr>
          <p:cNvPr id="86" name="h2p-grp-h2p-animroot-2"/>
          <p:cNvGrpSpPr/>
          <p:nvPr/>
        </p:nvGrpSpPr>
        <p:grpSpPr>
          <a:xfrm>
            <a:off x="2063093" y="1497285"/>
            <a:ext cx="1577318" cy="3303315"/>
            <a:chOff x="0" y="0"/>
            <a:chExt cx="1577318" cy="3303315"/>
          </a:xfrm>
        </p:grpSpPr>
        <p:sp>
          <p:nvSpPr>
            <p:cNvPr id="21" name="圆角矩形 20"/>
            <p:cNvSpPr/>
            <p:nvPr/>
          </p:nvSpPr>
          <p:spPr>
            <a:xfrm>
              <a:off x="0" y="0"/>
              <a:ext cx="1577318" cy="3303315"/>
            </a:xfrm>
            <a:prstGeom prst="roundRect">
              <a:avLst>
                <a:gd name="adj" fmla="val 5435"/>
              </a:avLst>
            </a:prstGeom>
            <a:solidFill>
              <a:srgbClr val="FFFFFF"/>
            </a:solidFill>
            <a:ln w="6350">
              <a:solidFill>
                <a:srgbClr val="DCEAF5"/>
              </a:solidFill>
              <a:prstDash val="solid"/>
            </a:ln>
          </p:spPr>
        </p:sp>
        <p:sp>
          <p:nvSpPr>
            <p:cNvPr id="22" name="圆角矩形 21"/>
            <p:cNvSpPr/>
            <p:nvPr/>
          </p:nvSpPr>
          <p:spPr>
            <a:xfrm>
              <a:off x="178593" y="178594"/>
              <a:ext cx="342900" cy="342900"/>
            </a:xfrm>
            <a:prstGeom prst="roundRect">
              <a:avLst>
                <a:gd name="adj" fmla="val 20833"/>
              </a:avLst>
            </a:prstGeom>
            <a:solidFill>
              <a:srgbClr val="EAF5FF"/>
            </a:solidFill>
          </p:spPr>
        </p:sp>
        <p:sp>
          <p:nvSpPr>
            <p:cNvPr id="23" name="任意多边形 22"/>
            <p:cNvSpPr/>
            <p:nvPr/>
          </p:nvSpPr>
          <p:spPr>
            <a:xfrm>
              <a:off x="278606" y="285750"/>
              <a:ext cx="142875" cy="128588"/>
            </a:xfrm>
            <a:custGeom>
              <a:avLst/>
              <a:gdLst/>
              <a:ahLst/>
              <a:cxnLst/>
              <a:pathLst>
                <a:path w="21600" h="21600">
                  <a:moveTo>
                    <a:pt x="18360" y="13200"/>
                  </a:moveTo>
                  <a:lnTo>
                    <a:pt x="19248" y="12186"/>
                  </a:lnTo>
                  <a:lnTo>
                    <a:pt x="20067" y="11103"/>
                  </a:lnTo>
                  <a:lnTo>
                    <a:pt x="20769" y="9925"/>
                  </a:lnTo>
                  <a:lnTo>
                    <a:pt x="21292" y="8637"/>
                  </a:lnTo>
                  <a:lnTo>
                    <a:pt x="21568" y="7258"/>
                  </a:lnTo>
                  <a:lnTo>
                    <a:pt x="21562" y="5846"/>
                  </a:lnTo>
                  <a:lnTo>
                    <a:pt x="21283" y="4469"/>
                  </a:lnTo>
                  <a:lnTo>
                    <a:pt x="20746" y="3189"/>
                  </a:lnTo>
                  <a:lnTo>
                    <a:pt x="19976" y="2065"/>
                  </a:lnTo>
                  <a:lnTo>
                    <a:pt x="19009" y="1148"/>
                  </a:lnTo>
                  <a:lnTo>
                    <a:pt x="17889" y="481"/>
                  </a:lnTo>
                  <a:lnTo>
                    <a:pt x="16667" y="94"/>
                  </a:lnTo>
                  <a:lnTo>
                    <a:pt x="15398" y="4"/>
                  </a:lnTo>
                  <a:lnTo>
                    <a:pt x="14135" y="164"/>
                  </a:lnTo>
                  <a:lnTo>
                    <a:pt x="12933" y="623"/>
                  </a:lnTo>
                  <a:lnTo>
                    <a:pt x="11853" y="1367"/>
                  </a:lnTo>
                  <a:lnTo>
                    <a:pt x="10894" y="2296"/>
                  </a:lnTo>
                  <a:lnTo>
                    <a:pt x="9956" y="1548"/>
                  </a:lnTo>
                  <a:lnTo>
                    <a:pt x="8902" y="757"/>
                  </a:lnTo>
                  <a:lnTo>
                    <a:pt x="7723" y="233"/>
                  </a:lnTo>
                  <a:lnTo>
                    <a:pt x="6466" y="17"/>
                  </a:lnTo>
                  <a:lnTo>
                    <a:pt x="5195" y="51"/>
                  </a:lnTo>
                  <a:lnTo>
                    <a:pt x="3958" y="376"/>
                  </a:lnTo>
                  <a:lnTo>
                    <a:pt x="2813" y="988"/>
                  </a:lnTo>
                  <a:lnTo>
                    <a:pt x="1810" y="1856"/>
                  </a:lnTo>
                  <a:lnTo>
                    <a:pt x="996" y="2940"/>
                  </a:lnTo>
                  <a:lnTo>
                    <a:pt x="408" y="4192"/>
                  </a:lnTo>
                  <a:lnTo>
                    <a:pt x="74" y="5555"/>
                  </a:lnTo>
                  <a:lnTo>
                    <a:pt x="10" y="6965"/>
                  </a:lnTo>
                  <a:lnTo>
                    <a:pt x="228" y="8356"/>
                  </a:lnTo>
                  <a:lnTo>
                    <a:pt x="705" y="9666"/>
                  </a:lnTo>
                  <a:lnTo>
                    <a:pt x="1375" y="10867"/>
                  </a:lnTo>
                  <a:lnTo>
                    <a:pt x="2175" y="11968"/>
                  </a:lnTo>
                  <a:lnTo>
                    <a:pt x="3051" y="12993"/>
                  </a:lnTo>
                  <a:lnTo>
                    <a:pt x="3953" y="13992"/>
                  </a:lnTo>
                  <a:lnTo>
                    <a:pt x="4854" y="14993"/>
                  </a:lnTo>
                  <a:lnTo>
                    <a:pt x="5754" y="15993"/>
                  </a:lnTo>
                  <a:lnTo>
                    <a:pt x="6654" y="16994"/>
                  </a:lnTo>
                  <a:lnTo>
                    <a:pt x="7555" y="17994"/>
                  </a:lnTo>
                  <a:lnTo>
                    <a:pt x="8455" y="18995"/>
                  </a:lnTo>
                  <a:lnTo>
                    <a:pt x="9356" y="19995"/>
                  </a:lnTo>
                  <a:lnTo>
                    <a:pt x="10256" y="20996"/>
                  </a:lnTo>
                  <a:lnTo>
                    <a:pt x="11157" y="21204"/>
                  </a:lnTo>
                  <a:lnTo>
                    <a:pt x="12057" y="20203"/>
                  </a:lnTo>
                  <a:lnTo>
                    <a:pt x="12957" y="19203"/>
                  </a:lnTo>
                  <a:lnTo>
                    <a:pt x="13858" y="18202"/>
                  </a:lnTo>
                  <a:lnTo>
                    <a:pt x="14758" y="17202"/>
                  </a:lnTo>
                  <a:lnTo>
                    <a:pt x="15659" y="16201"/>
                  </a:lnTo>
                  <a:lnTo>
                    <a:pt x="16559" y="15201"/>
                  </a:lnTo>
                  <a:lnTo>
                    <a:pt x="17460" y="14200"/>
                  </a:lnTo>
                  <a:lnTo>
                    <a:pt x="18360" y="13200"/>
                  </a:lnTo>
                </a:path>
              </a:pathLst>
            </a:custGeom>
            <a:ln w="12700">
              <a:solidFill>
                <a:srgbClr val="2563EB"/>
              </a:solidFill>
              <a:prstDash val="solid"/>
            </a:ln>
          </p:spPr>
        </p:sp>
        <p:sp>
          <p:nvSpPr>
            <p:cNvPr id="24" name="矩形 23"/>
            <p:cNvSpPr/>
            <p:nvPr/>
          </p:nvSpPr>
          <p:spPr>
            <a:xfrm>
              <a:off x="178593" y="664369"/>
              <a:ext cx="285750" cy="157163"/>
            </a:xfrm>
            <a:prstGeom prst="rect">
              <a:avLst/>
            </a:prstGeom>
            <a:noFill/>
          </p:spPr>
          <p:txBody>
            <a:bodyPr wrap="none" lIns="0" tIns="0" rIns="0" bIns="0" rtlCol="0" anchor="ctr"/>
            <a:lstStyle/>
            <a:p>
              <a:pPr marL="0" indent="0">
                <a:lnSpc>
                  <a:spcPct val="150000"/>
                </a:lnSpc>
                <a:buNone/>
              </a:pPr>
              <a:r>
                <a:rPr lang="zh-CN" sz="1100" b="1" dirty="0">
                  <a:solidFill>
                    <a:srgbClr val="2E6EA6"/>
                  </a:solidFill>
                  <a:latin typeface="Arial" panose="020B0604020202020204" pitchFamily="34" charset="0"/>
                  <a:ea typeface="微软雅黑" panose="020B0503020204020204" pitchFamily="34" charset="-122"/>
                </a:rPr>
                <a:t>患者</a:t>
              </a:r>
              <a:endParaRPr lang="en-US" sz="1100" dirty="0"/>
            </a:p>
          </p:txBody>
        </p:sp>
        <p:sp>
          <p:nvSpPr>
            <p:cNvPr id="25" name="圆角矩形 24"/>
            <p:cNvSpPr/>
            <p:nvPr/>
          </p:nvSpPr>
          <p:spPr>
            <a:xfrm>
              <a:off x="521493" y="664369"/>
              <a:ext cx="468362" cy="157163"/>
            </a:xfrm>
            <a:prstGeom prst="roundRect">
              <a:avLst>
                <a:gd name="adj" fmla="val 18182"/>
              </a:avLst>
            </a:prstGeom>
            <a:solidFill>
              <a:srgbClr val="5B9DFF">
                <a:alpha val="10000"/>
              </a:srgbClr>
            </a:solidFill>
          </p:spPr>
        </p:sp>
        <p:sp>
          <p:nvSpPr>
            <p:cNvPr id="26" name="矩形 25"/>
            <p:cNvSpPr/>
            <p:nvPr/>
          </p:nvSpPr>
          <p:spPr>
            <a:xfrm>
              <a:off x="521493" y="664369"/>
              <a:ext cx="468362" cy="157163"/>
            </a:xfrm>
            <a:prstGeom prst="rect">
              <a:avLst/>
            </a:prstGeom>
            <a:noFill/>
          </p:spPr>
          <p:txBody>
            <a:bodyPr wrap="none" lIns="58928" tIns="14732" rIns="58928" bIns="14732" rtlCol="0" anchor="t"/>
            <a:lstStyle/>
            <a:p>
              <a:pPr marL="0" indent="0">
                <a:lnSpc>
                  <a:spcPct val="150000"/>
                </a:lnSpc>
                <a:buNone/>
              </a:pPr>
              <a:r>
                <a:rPr lang="en-US" sz="600" b="1" dirty="0">
                  <a:solidFill>
                    <a:srgbClr val="5B9DFF"/>
                  </a:solidFill>
                  <a:latin typeface="Arial" panose="020B0604020202020204" pitchFamily="34" charset="0"/>
                </a:rPr>
                <a:t>PATIENT</a:t>
              </a:r>
              <a:endParaRPr lang="en-US" sz="600" dirty="0"/>
            </a:p>
          </p:txBody>
        </p:sp>
        <p:sp>
          <p:nvSpPr>
            <p:cNvPr id="27" name="矩形 26"/>
            <p:cNvSpPr/>
            <p:nvPr/>
          </p:nvSpPr>
          <p:spPr>
            <a:xfrm>
              <a:off x="178593" y="907257"/>
              <a:ext cx="1220130" cy="150019"/>
            </a:xfrm>
            <a:prstGeom prst="rect">
              <a:avLst/>
            </a:prstGeom>
            <a:noFill/>
          </p:spPr>
          <p:txBody>
            <a:bodyPr wrap="none" lIns="0"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系统服务的核心对象。</a:t>
              </a:r>
              <a:endParaRPr lang="en-US" sz="700" dirty="0"/>
            </a:p>
          </p:txBody>
        </p:sp>
        <p:sp>
          <p:nvSpPr>
            <p:cNvPr id="28" name="矩形 27"/>
            <p:cNvSpPr/>
            <p:nvPr/>
          </p:nvSpPr>
          <p:spPr>
            <a:xfrm>
              <a:off x="178593" y="1143000"/>
              <a:ext cx="1220130" cy="144661"/>
            </a:xfrm>
            <a:prstGeom prst="rect">
              <a:avLst/>
            </a:prstGeom>
            <a:noFill/>
          </p:spPr>
          <p:txBody>
            <a:bodyPr wrap="none" lIns="132588"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享有群众全部公开功能</a:t>
              </a:r>
              <a:endParaRPr lang="en-US" sz="700" dirty="0"/>
            </a:p>
          </p:txBody>
        </p:sp>
        <p:sp>
          <p:nvSpPr>
            <p:cNvPr id="30" name="矩形 29"/>
            <p:cNvSpPr/>
            <p:nvPr/>
          </p:nvSpPr>
          <p:spPr>
            <a:xfrm>
              <a:off x="178593" y="1344811"/>
              <a:ext cx="1220130" cy="289322"/>
            </a:xfrm>
            <a:prstGeom prst="rect">
              <a:avLst/>
            </a:prstGeom>
            <a:noFill/>
          </p:spPr>
          <p:txBody>
            <a:bodyPr wrap="square" lIns="132588" tIns="0" rIns="0" bIns="0" rtlCol="0" anchor="t"/>
            <a:lstStyle/>
            <a:p>
              <a:pPr marL="0" indent="0">
                <a:lnSpc>
                  <a:spcPct val="150000"/>
                </a:lnSpc>
                <a:buNone/>
              </a:pPr>
              <a:r>
                <a:rPr lang="en-US" sz="700" dirty="0">
                  <a:solidFill>
                    <a:srgbClr val="1F2A37"/>
                  </a:solidFill>
                  <a:latin typeface="Arial" panose="020B0604020202020204" pitchFamily="34" charset="0"/>
                  <a:ea typeface="Arial" panose="020B0604020202020204" pitchFamily="34" charset="-122"/>
                  <a:cs typeface="Arial" panose="020B0604020202020204" pitchFamily="34" charset="-120"/>
                </a:rPr>
                <a:t>查询本人住院信息与消费明细</a:t>
              </a:r>
              <a:endParaRPr lang="en-US" sz="700" dirty="0"/>
            </a:p>
          </p:txBody>
        </p:sp>
        <p:sp>
          <p:nvSpPr>
            <p:cNvPr id="32" name="矩形 31"/>
            <p:cNvSpPr/>
            <p:nvPr/>
          </p:nvSpPr>
          <p:spPr>
            <a:xfrm>
              <a:off x="178593" y="1691283"/>
              <a:ext cx="1220130" cy="144661"/>
            </a:xfrm>
            <a:prstGeom prst="rect">
              <a:avLst/>
            </a:prstGeom>
            <a:noFill/>
          </p:spPr>
          <p:txBody>
            <a:bodyPr wrap="none" lIns="132588"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查询历史预约挂号记录</a:t>
              </a:r>
              <a:endParaRPr lang="en-US" sz="700" dirty="0"/>
            </a:p>
          </p:txBody>
        </p:sp>
      </p:grpSp>
      <p:sp>
        <p:nvSpPr>
          <p:cNvPr id="29" name="Shape 26"/>
          <p:cNvSpPr/>
          <p:nvPr/>
        </p:nvSpPr>
        <p:spPr>
          <a:xfrm>
            <a:off x="2241686" y="2697435"/>
            <a:ext cx="42863" cy="42863"/>
          </a:xfrm>
          <a:prstGeom prst="ellipse">
            <a:avLst/>
          </a:prstGeom>
          <a:solidFill>
            <a:srgbClr val="5B9DFF"/>
          </a:solidFill>
        </p:spPr>
      </p:sp>
      <p:sp>
        <p:nvSpPr>
          <p:cNvPr id="31" name="Shape 28"/>
          <p:cNvSpPr/>
          <p:nvPr/>
        </p:nvSpPr>
        <p:spPr>
          <a:xfrm>
            <a:off x="2241686" y="2899246"/>
            <a:ext cx="42863" cy="42863"/>
          </a:xfrm>
          <a:prstGeom prst="ellipse">
            <a:avLst/>
          </a:prstGeom>
          <a:solidFill>
            <a:srgbClr val="5B9DFF"/>
          </a:solidFill>
        </p:spPr>
      </p:sp>
      <p:sp>
        <p:nvSpPr>
          <p:cNvPr id="33" name="Shape 30"/>
          <p:cNvSpPr/>
          <p:nvPr/>
        </p:nvSpPr>
        <p:spPr>
          <a:xfrm>
            <a:off x="2241686" y="3245718"/>
            <a:ext cx="42863" cy="42863"/>
          </a:xfrm>
          <a:prstGeom prst="ellipse">
            <a:avLst/>
          </a:prstGeom>
          <a:solidFill>
            <a:srgbClr val="5B9DFF"/>
          </a:solidFill>
        </p:spPr>
      </p:sp>
      <p:grpSp>
        <p:nvGrpSpPr>
          <p:cNvPr id="87" name="h2p-grp-h2p-animroot-3"/>
          <p:cNvGrpSpPr/>
          <p:nvPr/>
        </p:nvGrpSpPr>
        <p:grpSpPr>
          <a:xfrm>
            <a:off x="3783285" y="1497285"/>
            <a:ext cx="1577318" cy="3303315"/>
            <a:chOff x="0" y="0"/>
            <a:chExt cx="1577318" cy="3303315"/>
          </a:xfrm>
        </p:grpSpPr>
        <p:sp>
          <p:nvSpPr>
            <p:cNvPr id="34" name="圆角矩形 33"/>
            <p:cNvSpPr/>
            <p:nvPr/>
          </p:nvSpPr>
          <p:spPr>
            <a:xfrm>
              <a:off x="0" y="0"/>
              <a:ext cx="1577318" cy="3303315"/>
            </a:xfrm>
            <a:prstGeom prst="roundRect">
              <a:avLst>
                <a:gd name="adj" fmla="val 5435"/>
              </a:avLst>
            </a:prstGeom>
            <a:solidFill>
              <a:srgbClr val="FFFFFF"/>
            </a:solidFill>
            <a:ln w="6350">
              <a:solidFill>
                <a:srgbClr val="DCEAF5"/>
              </a:solidFill>
              <a:prstDash val="solid"/>
            </a:ln>
          </p:spPr>
        </p:sp>
        <p:sp>
          <p:nvSpPr>
            <p:cNvPr id="35" name="圆角矩形 34"/>
            <p:cNvSpPr/>
            <p:nvPr/>
          </p:nvSpPr>
          <p:spPr>
            <a:xfrm>
              <a:off x="178594" y="178594"/>
              <a:ext cx="342900" cy="342900"/>
            </a:xfrm>
            <a:prstGeom prst="roundRect">
              <a:avLst>
                <a:gd name="adj" fmla="val 20833"/>
              </a:avLst>
            </a:prstGeom>
            <a:solidFill>
              <a:srgbClr val="EAF5FF"/>
            </a:solidFill>
          </p:spPr>
        </p:sp>
        <p:sp>
          <p:nvSpPr>
            <p:cNvPr id="36" name="任意多边形 35"/>
            <p:cNvSpPr/>
            <p:nvPr/>
          </p:nvSpPr>
          <p:spPr>
            <a:xfrm>
              <a:off x="278607" y="278485"/>
              <a:ext cx="25714" cy="66437"/>
            </a:xfrm>
            <a:custGeom>
              <a:avLst/>
              <a:gdLst/>
              <a:ahLst/>
              <a:cxnLst/>
              <a:pathLst>
                <a:path w="21600" h="21600">
                  <a:moveTo>
                    <a:pt x="16802" y="736"/>
                  </a:moveTo>
                  <a:lnTo>
                    <a:pt x="19809" y="181"/>
                  </a:lnTo>
                  <a:lnTo>
                    <a:pt x="12882" y="39"/>
                  </a:lnTo>
                  <a:lnTo>
                    <a:pt x="6096" y="640"/>
                  </a:lnTo>
                  <a:lnTo>
                    <a:pt x="1291" y="2586"/>
                  </a:lnTo>
                  <a:lnTo>
                    <a:pt x="0" y="5238"/>
                  </a:lnTo>
                  <a:lnTo>
                    <a:pt x="0" y="7969"/>
                  </a:lnTo>
                  <a:lnTo>
                    <a:pt x="0" y="10700"/>
                  </a:lnTo>
                  <a:lnTo>
                    <a:pt x="0" y="13430"/>
                  </a:lnTo>
                  <a:lnTo>
                    <a:pt x="0" y="16161"/>
                  </a:lnTo>
                  <a:lnTo>
                    <a:pt x="1821" y="18759"/>
                  </a:lnTo>
                  <a:lnTo>
                    <a:pt x="7056" y="20531"/>
                  </a:lnTo>
                  <a:lnTo>
                    <a:pt x="13960" y="20943"/>
                  </a:lnTo>
                  <a:lnTo>
                    <a:pt x="20085" y="21591"/>
                  </a:lnTo>
                  <a:lnTo>
                    <a:pt x="19151" y="19829"/>
                  </a:lnTo>
                  <a:lnTo>
                    <a:pt x="18816" y="17102"/>
                  </a:lnTo>
                  <a:lnTo>
                    <a:pt x="18480" y="14374"/>
                  </a:lnTo>
                  <a:lnTo>
                    <a:pt x="18144" y="11647"/>
                  </a:lnTo>
                  <a:lnTo>
                    <a:pt x="17809" y="8919"/>
                  </a:lnTo>
                  <a:lnTo>
                    <a:pt x="17473" y="6191"/>
                  </a:lnTo>
                  <a:lnTo>
                    <a:pt x="17138" y="3464"/>
                  </a:lnTo>
                  <a:lnTo>
                    <a:pt x="16802" y="736"/>
                  </a:lnTo>
                </a:path>
              </a:pathLst>
            </a:custGeom>
            <a:ln w="12700">
              <a:solidFill>
                <a:srgbClr val="2563EB"/>
              </a:solidFill>
              <a:prstDash val="solid"/>
            </a:ln>
          </p:spPr>
        </p:sp>
        <p:sp>
          <p:nvSpPr>
            <p:cNvPr id="37" name="任意多边形 36"/>
            <p:cNvSpPr/>
            <p:nvPr/>
          </p:nvSpPr>
          <p:spPr>
            <a:xfrm>
              <a:off x="321469" y="371475"/>
              <a:ext cx="85725" cy="50006"/>
            </a:xfrm>
            <a:custGeom>
              <a:avLst/>
              <a:gdLst/>
              <a:ahLst/>
              <a:cxnLst/>
              <a:pathLst>
                <a:path w="21600" h="21600">
                  <a:moveTo>
                    <a:pt x="0" y="0"/>
                  </a:moveTo>
                  <a:lnTo>
                    <a:pt x="4" y="3575"/>
                  </a:lnTo>
                  <a:lnTo>
                    <a:pt x="257" y="7117"/>
                  </a:lnTo>
                  <a:lnTo>
                    <a:pt x="903" y="10510"/>
                  </a:lnTo>
                  <a:lnTo>
                    <a:pt x="1919" y="13625"/>
                  </a:lnTo>
                  <a:lnTo>
                    <a:pt x="3265" y="16349"/>
                  </a:lnTo>
                  <a:lnTo>
                    <a:pt x="4889" y="18583"/>
                  </a:lnTo>
                  <a:lnTo>
                    <a:pt x="6732" y="20242"/>
                  </a:lnTo>
                  <a:lnTo>
                    <a:pt x="8728" y="21259"/>
                  </a:lnTo>
                  <a:lnTo>
                    <a:pt x="10800" y="21600"/>
                  </a:lnTo>
                  <a:lnTo>
                    <a:pt x="12873" y="21259"/>
                  </a:lnTo>
                  <a:lnTo>
                    <a:pt x="14868" y="20242"/>
                  </a:lnTo>
                  <a:lnTo>
                    <a:pt x="16711" y="18583"/>
                  </a:lnTo>
                  <a:lnTo>
                    <a:pt x="18335" y="16349"/>
                  </a:lnTo>
                  <a:lnTo>
                    <a:pt x="19681" y="13625"/>
                  </a:lnTo>
                  <a:lnTo>
                    <a:pt x="20697" y="10510"/>
                  </a:lnTo>
                  <a:lnTo>
                    <a:pt x="21343" y="7117"/>
                  </a:lnTo>
                  <a:lnTo>
                    <a:pt x="21596" y="3575"/>
                  </a:lnTo>
                  <a:lnTo>
                    <a:pt x="21600" y="0"/>
                  </a:lnTo>
                </a:path>
              </a:pathLst>
            </a:custGeom>
            <a:ln w="12700">
              <a:solidFill>
                <a:srgbClr val="2563EB"/>
              </a:solidFill>
              <a:prstDash val="solid"/>
            </a:ln>
          </p:spPr>
        </p:sp>
        <p:sp>
          <p:nvSpPr>
            <p:cNvPr id="38" name="椭圆 37"/>
            <p:cNvSpPr/>
            <p:nvPr/>
          </p:nvSpPr>
          <p:spPr>
            <a:xfrm>
              <a:off x="335757" y="285750"/>
              <a:ext cx="57150" cy="57150"/>
            </a:xfrm>
            <a:prstGeom prst="ellipse">
              <a:avLst/>
            </a:prstGeom>
            <a:noFill/>
            <a:ln w="12700">
              <a:solidFill>
                <a:srgbClr val="2563EB"/>
              </a:solidFill>
              <a:prstDash val="solid"/>
            </a:ln>
          </p:spPr>
        </p:sp>
        <p:sp>
          <p:nvSpPr>
            <p:cNvPr id="39" name="直接连接符 38"/>
            <p:cNvSpPr/>
            <p:nvPr/>
          </p:nvSpPr>
          <p:spPr>
            <a:xfrm>
              <a:off x="364332" y="342900"/>
              <a:ext cx="0" cy="7144"/>
            </a:xfrm>
            <a:prstGeom prst="line">
              <a:avLst/>
            </a:prstGeom>
            <a:noFill/>
            <a:ln w="12700">
              <a:solidFill>
                <a:srgbClr val="2563EB"/>
              </a:solidFill>
              <a:prstDash val="solid"/>
            </a:ln>
          </p:spPr>
        </p:sp>
        <p:sp>
          <p:nvSpPr>
            <p:cNvPr id="40" name="矩形 39"/>
            <p:cNvSpPr/>
            <p:nvPr/>
          </p:nvSpPr>
          <p:spPr>
            <a:xfrm>
              <a:off x="178594" y="664369"/>
              <a:ext cx="285750" cy="157163"/>
            </a:xfrm>
            <a:prstGeom prst="rect">
              <a:avLst/>
            </a:prstGeom>
            <a:noFill/>
          </p:spPr>
          <p:txBody>
            <a:bodyPr wrap="none" lIns="0" tIns="0" rIns="0" bIns="0" rtlCol="0" anchor="ctr"/>
            <a:lstStyle/>
            <a:p>
              <a:pPr marL="0" indent="0">
                <a:lnSpc>
                  <a:spcPct val="150000"/>
                </a:lnSpc>
                <a:buNone/>
              </a:pPr>
              <a:r>
                <a:rPr lang="zh-CN" sz="1100" b="1" dirty="0">
                  <a:solidFill>
                    <a:srgbClr val="2E6EA6"/>
                  </a:solidFill>
                  <a:latin typeface="Arial" panose="020B0604020202020204" pitchFamily="34" charset="0"/>
                  <a:ea typeface="微软雅黑" panose="020B0503020204020204" pitchFamily="34" charset="-122"/>
                </a:rPr>
                <a:t>医生</a:t>
              </a:r>
              <a:endParaRPr lang="en-US" sz="1100" dirty="0"/>
            </a:p>
          </p:txBody>
        </p:sp>
        <p:sp>
          <p:nvSpPr>
            <p:cNvPr id="41" name="圆角矩形 40"/>
            <p:cNvSpPr/>
            <p:nvPr/>
          </p:nvSpPr>
          <p:spPr>
            <a:xfrm>
              <a:off x="521494" y="664369"/>
              <a:ext cx="484212" cy="157163"/>
            </a:xfrm>
            <a:prstGeom prst="roundRect">
              <a:avLst>
                <a:gd name="adj" fmla="val 18182"/>
              </a:avLst>
            </a:prstGeom>
            <a:solidFill>
              <a:srgbClr val="5B9DFF">
                <a:alpha val="10000"/>
              </a:srgbClr>
            </a:solidFill>
          </p:spPr>
        </p:sp>
        <p:sp>
          <p:nvSpPr>
            <p:cNvPr id="42" name="矩形 41"/>
            <p:cNvSpPr/>
            <p:nvPr/>
          </p:nvSpPr>
          <p:spPr>
            <a:xfrm>
              <a:off x="521494" y="664369"/>
              <a:ext cx="484212" cy="157163"/>
            </a:xfrm>
            <a:prstGeom prst="rect">
              <a:avLst/>
            </a:prstGeom>
            <a:noFill/>
          </p:spPr>
          <p:txBody>
            <a:bodyPr wrap="none" lIns="58928" tIns="14732" rIns="58928" bIns="14732" rtlCol="0" anchor="t"/>
            <a:lstStyle/>
            <a:p>
              <a:pPr marL="0" indent="0">
                <a:lnSpc>
                  <a:spcPct val="150000"/>
                </a:lnSpc>
                <a:buNone/>
              </a:pPr>
              <a:r>
                <a:rPr lang="en-US" sz="600" b="1" dirty="0">
                  <a:solidFill>
                    <a:srgbClr val="5B9DFF"/>
                  </a:solidFill>
                  <a:latin typeface="Arial" panose="020B0604020202020204" pitchFamily="34" charset="0"/>
                </a:rPr>
                <a:t>DOCTOR</a:t>
              </a:r>
              <a:endParaRPr lang="en-US" sz="600" dirty="0"/>
            </a:p>
          </p:txBody>
        </p:sp>
        <p:sp>
          <p:nvSpPr>
            <p:cNvPr id="43" name="矩形 42"/>
            <p:cNvSpPr/>
            <p:nvPr/>
          </p:nvSpPr>
          <p:spPr>
            <a:xfrm>
              <a:off x="178594" y="907257"/>
              <a:ext cx="1220130" cy="150019"/>
            </a:xfrm>
            <a:prstGeom prst="rect">
              <a:avLst/>
            </a:prstGeom>
            <a:noFill/>
          </p:spPr>
          <p:txBody>
            <a:bodyPr wrap="none" lIns="0"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医疗服务提供者与建设者。</a:t>
              </a:r>
              <a:endParaRPr lang="en-US" sz="700" dirty="0"/>
            </a:p>
          </p:txBody>
        </p:sp>
        <p:sp>
          <p:nvSpPr>
            <p:cNvPr id="44" name="矩形 43"/>
            <p:cNvSpPr/>
            <p:nvPr/>
          </p:nvSpPr>
          <p:spPr>
            <a:xfrm>
              <a:off x="178594" y="1143000"/>
              <a:ext cx="1220130" cy="144661"/>
            </a:xfrm>
            <a:prstGeom prst="rect">
              <a:avLst/>
            </a:prstGeom>
            <a:noFill/>
          </p:spPr>
          <p:txBody>
            <a:bodyPr wrap="none" lIns="132588"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创建管理知识库及文档</a:t>
              </a:r>
              <a:endParaRPr lang="en-US" sz="700" dirty="0"/>
            </a:p>
          </p:txBody>
        </p:sp>
        <p:sp>
          <p:nvSpPr>
            <p:cNvPr id="46" name="矩形 45"/>
            <p:cNvSpPr/>
            <p:nvPr/>
          </p:nvSpPr>
          <p:spPr>
            <a:xfrm>
              <a:off x="178594" y="1344811"/>
              <a:ext cx="1220130" cy="144661"/>
            </a:xfrm>
            <a:prstGeom prst="rect">
              <a:avLst/>
            </a:prstGeom>
            <a:noFill/>
          </p:spPr>
          <p:txBody>
            <a:bodyPr wrap="none" lIns="132588" tIns="0" rIns="0" bIns="0" rtlCol="0" anchor="t"/>
            <a:lstStyle/>
            <a:p>
              <a:pPr marL="0" indent="0">
                <a:lnSpc>
                  <a:spcPct val="150000"/>
                </a:lnSpc>
                <a:buNone/>
              </a:pPr>
              <a:r>
                <a:rPr lang="en-US" sz="700" dirty="0">
                  <a:solidFill>
                    <a:srgbClr val="1F2A37"/>
                  </a:solidFill>
                  <a:latin typeface="Arial" panose="020B0604020202020204" pitchFamily="34" charset="0"/>
                  <a:ea typeface="Arial" panose="020B0604020202020204" pitchFamily="34" charset="-122"/>
                  <a:cs typeface="Arial" panose="020B0604020202020204" pitchFamily="34" charset="-120"/>
                </a:rPr>
                <a:t>管理患者信息与住院记录</a:t>
              </a:r>
              <a:endParaRPr lang="en-US" sz="700" dirty="0"/>
            </a:p>
          </p:txBody>
        </p:sp>
        <p:sp>
          <p:nvSpPr>
            <p:cNvPr id="48" name="矩形 47"/>
            <p:cNvSpPr/>
            <p:nvPr/>
          </p:nvSpPr>
          <p:spPr>
            <a:xfrm>
              <a:off x="178594" y="1546622"/>
              <a:ext cx="1220130" cy="144661"/>
            </a:xfrm>
            <a:prstGeom prst="rect">
              <a:avLst/>
            </a:prstGeom>
            <a:noFill/>
          </p:spPr>
          <p:txBody>
            <a:bodyPr wrap="none" lIns="132588"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维护个人排班计划</a:t>
              </a:r>
              <a:endParaRPr lang="en-US" sz="700" dirty="0"/>
            </a:p>
          </p:txBody>
        </p:sp>
        <p:sp>
          <p:nvSpPr>
            <p:cNvPr id="50" name="矩形 49"/>
            <p:cNvSpPr/>
            <p:nvPr/>
          </p:nvSpPr>
          <p:spPr>
            <a:xfrm>
              <a:off x="178594" y="1748433"/>
              <a:ext cx="1220130" cy="144661"/>
            </a:xfrm>
            <a:prstGeom prst="rect">
              <a:avLst/>
            </a:prstGeom>
            <a:noFill/>
          </p:spPr>
          <p:txBody>
            <a:bodyPr wrap="none" lIns="132588" tIns="0" rIns="0" bIns="0" rtlCol="0" anchor="t"/>
            <a:lstStyle/>
            <a:p>
              <a:pPr marL="0" indent="0">
                <a:lnSpc>
                  <a:spcPct val="150000"/>
                </a:lnSpc>
                <a:buNone/>
              </a:pPr>
              <a:r>
                <a:rPr lang="en-US" sz="700" dirty="0">
                  <a:solidFill>
                    <a:srgbClr val="1F2A37"/>
                  </a:solidFill>
                  <a:latin typeface="Arial" panose="020B0604020202020204" pitchFamily="34" charset="0"/>
                  <a:ea typeface="Arial" panose="020B0604020202020204" pitchFamily="34" charset="-122"/>
                  <a:cs typeface="Arial" panose="020B0604020202020204" pitchFamily="34" charset="-120"/>
                </a:rPr>
                <a:t>检索查看私有文档权限</a:t>
              </a:r>
              <a:endParaRPr lang="en-US" sz="700" dirty="0"/>
            </a:p>
          </p:txBody>
        </p:sp>
      </p:grpSp>
      <p:sp>
        <p:nvSpPr>
          <p:cNvPr id="45" name="Shape 42"/>
          <p:cNvSpPr/>
          <p:nvPr/>
        </p:nvSpPr>
        <p:spPr>
          <a:xfrm>
            <a:off x="3961879" y="2697435"/>
            <a:ext cx="42863" cy="42863"/>
          </a:xfrm>
          <a:prstGeom prst="ellipse">
            <a:avLst/>
          </a:prstGeom>
          <a:solidFill>
            <a:srgbClr val="5B9DFF"/>
          </a:solidFill>
        </p:spPr>
      </p:sp>
      <p:sp>
        <p:nvSpPr>
          <p:cNvPr id="47" name="Shape 44"/>
          <p:cNvSpPr/>
          <p:nvPr/>
        </p:nvSpPr>
        <p:spPr>
          <a:xfrm>
            <a:off x="3961879" y="2899246"/>
            <a:ext cx="42863" cy="42863"/>
          </a:xfrm>
          <a:prstGeom prst="ellipse">
            <a:avLst/>
          </a:prstGeom>
          <a:solidFill>
            <a:srgbClr val="5B9DFF"/>
          </a:solidFill>
        </p:spPr>
      </p:sp>
      <p:sp>
        <p:nvSpPr>
          <p:cNvPr id="49" name="Shape 46"/>
          <p:cNvSpPr/>
          <p:nvPr/>
        </p:nvSpPr>
        <p:spPr>
          <a:xfrm>
            <a:off x="3961879" y="3101057"/>
            <a:ext cx="42863" cy="42863"/>
          </a:xfrm>
          <a:prstGeom prst="ellipse">
            <a:avLst/>
          </a:prstGeom>
          <a:solidFill>
            <a:srgbClr val="5B9DFF"/>
          </a:solidFill>
        </p:spPr>
      </p:sp>
      <p:sp>
        <p:nvSpPr>
          <p:cNvPr id="51" name="Shape 48"/>
          <p:cNvSpPr/>
          <p:nvPr/>
        </p:nvSpPr>
        <p:spPr>
          <a:xfrm>
            <a:off x="3961879" y="3302868"/>
            <a:ext cx="42863" cy="42863"/>
          </a:xfrm>
          <a:prstGeom prst="ellipse">
            <a:avLst/>
          </a:prstGeom>
          <a:solidFill>
            <a:srgbClr val="5B9DFF"/>
          </a:solidFill>
        </p:spPr>
      </p:sp>
      <p:grpSp>
        <p:nvGrpSpPr>
          <p:cNvPr id="88" name="h2p-grp-h2p-animroot-4"/>
          <p:cNvGrpSpPr/>
          <p:nvPr/>
        </p:nvGrpSpPr>
        <p:grpSpPr>
          <a:xfrm>
            <a:off x="5503478" y="1497285"/>
            <a:ext cx="1577318" cy="3303315"/>
            <a:chOff x="0" y="0"/>
            <a:chExt cx="1577318" cy="3303315"/>
          </a:xfrm>
        </p:grpSpPr>
        <p:sp>
          <p:nvSpPr>
            <p:cNvPr id="52" name="圆角矩形 51"/>
            <p:cNvSpPr/>
            <p:nvPr/>
          </p:nvSpPr>
          <p:spPr>
            <a:xfrm>
              <a:off x="0" y="0"/>
              <a:ext cx="1577318" cy="3303315"/>
            </a:xfrm>
            <a:prstGeom prst="roundRect">
              <a:avLst>
                <a:gd name="adj" fmla="val 5435"/>
              </a:avLst>
            </a:prstGeom>
            <a:solidFill>
              <a:srgbClr val="FFFFFF"/>
            </a:solidFill>
            <a:ln w="6350">
              <a:solidFill>
                <a:srgbClr val="DCEAF5"/>
              </a:solidFill>
              <a:prstDash val="solid"/>
            </a:ln>
          </p:spPr>
        </p:sp>
        <p:sp>
          <p:nvSpPr>
            <p:cNvPr id="53" name="圆角矩形 52"/>
            <p:cNvSpPr/>
            <p:nvPr/>
          </p:nvSpPr>
          <p:spPr>
            <a:xfrm>
              <a:off x="178594" y="178594"/>
              <a:ext cx="342900" cy="342900"/>
            </a:xfrm>
            <a:prstGeom prst="roundRect">
              <a:avLst>
                <a:gd name="adj" fmla="val 20833"/>
              </a:avLst>
            </a:prstGeom>
            <a:solidFill>
              <a:srgbClr val="EAF5FF"/>
            </a:solidFill>
          </p:spPr>
        </p:sp>
        <p:sp>
          <p:nvSpPr>
            <p:cNvPr id="54" name="任意多边形 53"/>
            <p:cNvSpPr/>
            <p:nvPr/>
          </p:nvSpPr>
          <p:spPr>
            <a:xfrm>
              <a:off x="278606" y="278607"/>
              <a:ext cx="157163" cy="142875"/>
            </a:xfrm>
            <a:custGeom>
              <a:avLst/>
              <a:gdLst/>
              <a:ahLst/>
              <a:cxnLst/>
              <a:pathLst>
                <a:path w="21600" h="21600">
                  <a:moveTo>
                    <a:pt x="8836" y="0"/>
                  </a:moveTo>
                  <a:lnTo>
                    <a:pt x="7664" y="85"/>
                  </a:lnTo>
                  <a:lnTo>
                    <a:pt x="6512" y="340"/>
                  </a:lnTo>
                  <a:lnTo>
                    <a:pt x="5402" y="762"/>
                  </a:lnTo>
                  <a:lnTo>
                    <a:pt x="4352" y="1343"/>
                  </a:lnTo>
                  <a:lnTo>
                    <a:pt x="3382" y="2072"/>
                  </a:lnTo>
                  <a:lnTo>
                    <a:pt x="2509" y="2936"/>
                  </a:lnTo>
                  <a:lnTo>
                    <a:pt x="1746" y="3919"/>
                  </a:lnTo>
                  <a:lnTo>
                    <a:pt x="1108" y="5004"/>
                  </a:lnTo>
                  <a:lnTo>
                    <a:pt x="607" y="6173"/>
                  </a:lnTo>
                  <a:lnTo>
                    <a:pt x="252" y="7405"/>
                  </a:lnTo>
                  <a:lnTo>
                    <a:pt x="50" y="8678"/>
                  </a:lnTo>
                  <a:lnTo>
                    <a:pt x="0" y="9969"/>
                  </a:lnTo>
                  <a:lnTo>
                    <a:pt x="0" y="11262"/>
                  </a:lnTo>
                  <a:lnTo>
                    <a:pt x="0" y="12556"/>
                  </a:lnTo>
                  <a:lnTo>
                    <a:pt x="0" y="13849"/>
                  </a:lnTo>
                  <a:lnTo>
                    <a:pt x="0" y="15142"/>
                  </a:lnTo>
                  <a:lnTo>
                    <a:pt x="0" y="16436"/>
                  </a:lnTo>
                  <a:lnTo>
                    <a:pt x="0" y="17729"/>
                  </a:lnTo>
                  <a:lnTo>
                    <a:pt x="0" y="19022"/>
                  </a:lnTo>
                  <a:lnTo>
                    <a:pt x="0" y="20315"/>
                  </a:lnTo>
                  <a:lnTo>
                    <a:pt x="8" y="21598"/>
                  </a:lnTo>
                  <a:lnTo>
                    <a:pt x="1164" y="21367"/>
                  </a:lnTo>
                  <a:lnTo>
                    <a:pt x="2321" y="21136"/>
                  </a:lnTo>
                  <a:lnTo>
                    <a:pt x="3478" y="20904"/>
                  </a:lnTo>
                  <a:lnTo>
                    <a:pt x="4635" y="20673"/>
                  </a:lnTo>
                  <a:lnTo>
                    <a:pt x="5791" y="20442"/>
                  </a:lnTo>
                  <a:lnTo>
                    <a:pt x="6948" y="20210"/>
                  </a:lnTo>
                  <a:lnTo>
                    <a:pt x="8105" y="19979"/>
                  </a:lnTo>
                  <a:lnTo>
                    <a:pt x="9262" y="19748"/>
                  </a:lnTo>
                  <a:lnTo>
                    <a:pt x="10418" y="19516"/>
                  </a:lnTo>
                  <a:lnTo>
                    <a:pt x="11575" y="19595"/>
                  </a:lnTo>
                  <a:lnTo>
                    <a:pt x="12732" y="19826"/>
                  </a:lnTo>
                  <a:lnTo>
                    <a:pt x="13889" y="20058"/>
                  </a:lnTo>
                  <a:lnTo>
                    <a:pt x="15045" y="20289"/>
                  </a:lnTo>
                  <a:lnTo>
                    <a:pt x="16202" y="20520"/>
                  </a:lnTo>
                  <a:lnTo>
                    <a:pt x="17359" y="20752"/>
                  </a:lnTo>
                  <a:lnTo>
                    <a:pt x="18516" y="20983"/>
                  </a:lnTo>
                  <a:lnTo>
                    <a:pt x="19672" y="21214"/>
                  </a:lnTo>
                  <a:lnTo>
                    <a:pt x="20829" y="21446"/>
                  </a:lnTo>
                  <a:lnTo>
                    <a:pt x="21600" y="21169"/>
                  </a:lnTo>
                  <a:lnTo>
                    <a:pt x="21600" y="19875"/>
                  </a:lnTo>
                  <a:lnTo>
                    <a:pt x="21600" y="18582"/>
                  </a:lnTo>
                  <a:lnTo>
                    <a:pt x="21600" y="17289"/>
                  </a:lnTo>
                  <a:lnTo>
                    <a:pt x="21600" y="15995"/>
                  </a:lnTo>
                  <a:lnTo>
                    <a:pt x="21600" y="14702"/>
                  </a:lnTo>
                  <a:lnTo>
                    <a:pt x="21600" y="13409"/>
                  </a:lnTo>
                  <a:lnTo>
                    <a:pt x="21600" y="12116"/>
                  </a:lnTo>
                  <a:lnTo>
                    <a:pt x="21600" y="10822"/>
                  </a:lnTo>
                  <a:lnTo>
                    <a:pt x="21598" y="9529"/>
                  </a:lnTo>
                  <a:lnTo>
                    <a:pt x="21498" y="8241"/>
                  </a:lnTo>
                  <a:lnTo>
                    <a:pt x="21244" y="6980"/>
                  </a:lnTo>
                  <a:lnTo>
                    <a:pt x="20839" y="5767"/>
                  </a:lnTo>
                  <a:lnTo>
                    <a:pt x="20290" y="4624"/>
                  </a:lnTo>
                  <a:lnTo>
                    <a:pt x="19608" y="3572"/>
                  </a:lnTo>
                  <a:lnTo>
                    <a:pt x="18806" y="2627"/>
                  </a:lnTo>
                  <a:lnTo>
                    <a:pt x="17897" y="1808"/>
                  </a:lnTo>
                  <a:lnTo>
                    <a:pt x="16898" y="1128"/>
                  </a:lnTo>
                  <a:lnTo>
                    <a:pt x="15826" y="600"/>
                  </a:lnTo>
                  <a:lnTo>
                    <a:pt x="14699" y="234"/>
                  </a:lnTo>
                  <a:lnTo>
                    <a:pt x="13538" y="37"/>
                  </a:lnTo>
                  <a:lnTo>
                    <a:pt x="12364" y="0"/>
                  </a:lnTo>
                  <a:lnTo>
                    <a:pt x="11188" y="0"/>
                  </a:lnTo>
                  <a:lnTo>
                    <a:pt x="10012" y="0"/>
                  </a:lnTo>
                  <a:lnTo>
                    <a:pt x="8836" y="0"/>
                  </a:lnTo>
                </a:path>
              </a:pathLst>
            </a:custGeom>
            <a:ln w="12700">
              <a:solidFill>
                <a:srgbClr val="2563EB"/>
              </a:solidFill>
              <a:prstDash val="solid"/>
            </a:ln>
          </p:spPr>
        </p:sp>
        <p:sp>
          <p:nvSpPr>
            <p:cNvPr id="55" name="直接连接符 54"/>
            <p:cNvSpPr/>
            <p:nvPr/>
          </p:nvSpPr>
          <p:spPr>
            <a:xfrm>
              <a:off x="328613" y="350044"/>
              <a:ext cx="28575" cy="0"/>
            </a:xfrm>
            <a:prstGeom prst="line">
              <a:avLst/>
            </a:prstGeom>
            <a:noFill/>
            <a:ln w="12700">
              <a:solidFill>
                <a:srgbClr val="2563EB"/>
              </a:solidFill>
              <a:prstDash val="solid"/>
            </a:ln>
          </p:spPr>
        </p:sp>
        <p:sp>
          <p:nvSpPr>
            <p:cNvPr id="56" name="直接连接符 55"/>
            <p:cNvSpPr/>
            <p:nvPr/>
          </p:nvSpPr>
          <p:spPr>
            <a:xfrm>
              <a:off x="342900" y="335757"/>
              <a:ext cx="0" cy="28575"/>
            </a:xfrm>
            <a:prstGeom prst="line">
              <a:avLst/>
            </a:prstGeom>
            <a:noFill/>
            <a:ln w="12700">
              <a:solidFill>
                <a:srgbClr val="2563EB"/>
              </a:solidFill>
              <a:prstDash val="solid"/>
            </a:ln>
          </p:spPr>
        </p:sp>
        <p:sp>
          <p:nvSpPr>
            <p:cNvPr id="57" name="矩形 56"/>
            <p:cNvSpPr/>
            <p:nvPr/>
          </p:nvSpPr>
          <p:spPr>
            <a:xfrm>
              <a:off x="178594" y="664369"/>
              <a:ext cx="285750" cy="157163"/>
            </a:xfrm>
            <a:prstGeom prst="rect">
              <a:avLst/>
            </a:prstGeom>
            <a:noFill/>
          </p:spPr>
          <p:txBody>
            <a:bodyPr wrap="none" lIns="0" tIns="0" rIns="0" bIns="0" rtlCol="0" anchor="ctr"/>
            <a:lstStyle/>
            <a:p>
              <a:pPr marL="0" indent="0">
                <a:lnSpc>
                  <a:spcPct val="150000"/>
                </a:lnSpc>
                <a:buNone/>
              </a:pPr>
              <a:r>
                <a:rPr lang="zh-CN" sz="1100" b="1" dirty="0">
                  <a:solidFill>
                    <a:srgbClr val="2E6EA6"/>
                  </a:solidFill>
                  <a:latin typeface="Arial" panose="020B0604020202020204" pitchFamily="34" charset="0"/>
                  <a:ea typeface="微软雅黑" panose="020B0503020204020204" pitchFamily="34" charset="-122"/>
                </a:rPr>
                <a:t>护士</a:t>
              </a:r>
              <a:endParaRPr lang="en-US" sz="1100" dirty="0"/>
            </a:p>
          </p:txBody>
        </p:sp>
        <p:sp>
          <p:nvSpPr>
            <p:cNvPr id="58" name="圆角矩形 57"/>
            <p:cNvSpPr/>
            <p:nvPr/>
          </p:nvSpPr>
          <p:spPr>
            <a:xfrm>
              <a:off x="521494" y="664369"/>
              <a:ext cx="414449" cy="157163"/>
            </a:xfrm>
            <a:prstGeom prst="roundRect">
              <a:avLst>
                <a:gd name="adj" fmla="val 18182"/>
              </a:avLst>
            </a:prstGeom>
            <a:solidFill>
              <a:srgbClr val="5B9DFF">
                <a:alpha val="10000"/>
              </a:srgbClr>
            </a:solidFill>
          </p:spPr>
        </p:sp>
        <p:sp>
          <p:nvSpPr>
            <p:cNvPr id="59" name="矩形 58"/>
            <p:cNvSpPr/>
            <p:nvPr/>
          </p:nvSpPr>
          <p:spPr>
            <a:xfrm>
              <a:off x="521494" y="664369"/>
              <a:ext cx="414449" cy="157163"/>
            </a:xfrm>
            <a:prstGeom prst="rect">
              <a:avLst/>
            </a:prstGeom>
            <a:noFill/>
          </p:spPr>
          <p:txBody>
            <a:bodyPr wrap="none" lIns="58928" tIns="14732" rIns="58928" bIns="14732" rtlCol="0" anchor="t"/>
            <a:lstStyle/>
            <a:p>
              <a:pPr marL="0" indent="0">
                <a:lnSpc>
                  <a:spcPct val="150000"/>
                </a:lnSpc>
                <a:buNone/>
              </a:pPr>
              <a:r>
                <a:rPr lang="en-US" sz="600" b="1" dirty="0">
                  <a:solidFill>
                    <a:srgbClr val="5B9DFF"/>
                  </a:solidFill>
                  <a:latin typeface="Arial" panose="020B0604020202020204" pitchFamily="34" charset="0"/>
                </a:rPr>
                <a:t>NURSE</a:t>
              </a:r>
              <a:endParaRPr lang="en-US" sz="600" dirty="0"/>
            </a:p>
          </p:txBody>
        </p:sp>
        <p:sp>
          <p:nvSpPr>
            <p:cNvPr id="60" name="矩形 59"/>
            <p:cNvSpPr/>
            <p:nvPr/>
          </p:nvSpPr>
          <p:spPr>
            <a:xfrm>
              <a:off x="178594" y="907257"/>
              <a:ext cx="1220130" cy="150019"/>
            </a:xfrm>
            <a:prstGeom prst="rect">
              <a:avLst/>
            </a:prstGeom>
            <a:noFill/>
          </p:spPr>
          <p:txBody>
            <a:bodyPr wrap="none" lIns="0"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医疗护理的执行者。</a:t>
              </a:r>
              <a:endParaRPr lang="en-US" sz="700" dirty="0"/>
            </a:p>
          </p:txBody>
        </p:sp>
        <p:sp>
          <p:nvSpPr>
            <p:cNvPr id="61" name="矩形 60"/>
            <p:cNvSpPr/>
            <p:nvPr/>
          </p:nvSpPr>
          <p:spPr>
            <a:xfrm>
              <a:off x="178594" y="1143000"/>
              <a:ext cx="1220130" cy="144661"/>
            </a:xfrm>
            <a:prstGeom prst="rect">
              <a:avLst/>
            </a:prstGeom>
            <a:noFill/>
          </p:spPr>
          <p:txBody>
            <a:bodyPr wrap="none" lIns="132588"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查看患者信息与记录护理</a:t>
              </a:r>
              <a:endParaRPr lang="en-US" sz="700" dirty="0"/>
            </a:p>
          </p:txBody>
        </p:sp>
        <p:sp>
          <p:nvSpPr>
            <p:cNvPr id="63" name="矩形 62"/>
            <p:cNvSpPr/>
            <p:nvPr/>
          </p:nvSpPr>
          <p:spPr>
            <a:xfrm>
              <a:off x="178594" y="1344811"/>
              <a:ext cx="1220130" cy="144661"/>
            </a:xfrm>
            <a:prstGeom prst="rect">
              <a:avLst/>
            </a:prstGeom>
            <a:noFill/>
          </p:spPr>
          <p:txBody>
            <a:bodyPr wrap="none" lIns="132588" tIns="0" rIns="0" bIns="0" rtlCol="0" anchor="t"/>
            <a:lstStyle/>
            <a:p>
              <a:pPr marL="0" indent="0">
                <a:lnSpc>
                  <a:spcPct val="150000"/>
                </a:lnSpc>
                <a:buNone/>
              </a:pPr>
              <a:r>
                <a:rPr lang="en-US" sz="700" dirty="0">
                  <a:solidFill>
                    <a:srgbClr val="1F2A37"/>
                  </a:solidFill>
                  <a:latin typeface="Arial" panose="020B0604020202020204" pitchFamily="34" charset="0"/>
                  <a:ea typeface="Arial" panose="020B0604020202020204" pitchFamily="34" charset="-122"/>
                  <a:cs typeface="Arial" panose="020B0604020202020204" pitchFamily="34" charset="-120"/>
                </a:rPr>
                <a:t>查看个人排班</a:t>
              </a:r>
              <a:endParaRPr lang="en-US" sz="700" dirty="0"/>
            </a:p>
          </p:txBody>
        </p:sp>
        <p:sp>
          <p:nvSpPr>
            <p:cNvPr id="65" name="矩形 64"/>
            <p:cNvSpPr/>
            <p:nvPr/>
          </p:nvSpPr>
          <p:spPr>
            <a:xfrm>
              <a:off x="178594" y="1546622"/>
              <a:ext cx="1220130" cy="289322"/>
            </a:xfrm>
            <a:prstGeom prst="rect">
              <a:avLst/>
            </a:prstGeom>
            <a:noFill/>
          </p:spPr>
          <p:txBody>
            <a:bodyPr wrap="square" lIns="132588"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智能咨询受限于公开知识库</a:t>
              </a:r>
              <a:endParaRPr lang="en-US" sz="700" dirty="0"/>
            </a:p>
          </p:txBody>
        </p:sp>
      </p:grpSp>
      <p:sp>
        <p:nvSpPr>
          <p:cNvPr id="62" name="Shape 59"/>
          <p:cNvSpPr/>
          <p:nvPr/>
        </p:nvSpPr>
        <p:spPr>
          <a:xfrm>
            <a:off x="5682072" y="2697435"/>
            <a:ext cx="42863" cy="42863"/>
          </a:xfrm>
          <a:prstGeom prst="ellipse">
            <a:avLst/>
          </a:prstGeom>
          <a:solidFill>
            <a:srgbClr val="5B9DFF"/>
          </a:solidFill>
        </p:spPr>
      </p:sp>
      <p:sp>
        <p:nvSpPr>
          <p:cNvPr id="64" name="Shape 61"/>
          <p:cNvSpPr/>
          <p:nvPr/>
        </p:nvSpPr>
        <p:spPr>
          <a:xfrm>
            <a:off x="5682072" y="2899246"/>
            <a:ext cx="42863" cy="42863"/>
          </a:xfrm>
          <a:prstGeom prst="ellipse">
            <a:avLst/>
          </a:prstGeom>
          <a:solidFill>
            <a:srgbClr val="5B9DFF"/>
          </a:solidFill>
        </p:spPr>
      </p:sp>
      <p:sp>
        <p:nvSpPr>
          <p:cNvPr id="66" name="Shape 63"/>
          <p:cNvSpPr/>
          <p:nvPr/>
        </p:nvSpPr>
        <p:spPr>
          <a:xfrm>
            <a:off x="5682072" y="3101057"/>
            <a:ext cx="42863" cy="42863"/>
          </a:xfrm>
          <a:prstGeom prst="ellipse">
            <a:avLst/>
          </a:prstGeom>
          <a:solidFill>
            <a:srgbClr val="5B9DFF"/>
          </a:solidFill>
        </p:spPr>
      </p:sp>
      <p:grpSp>
        <p:nvGrpSpPr>
          <p:cNvPr id="89" name="h2p-grp-h2p-animroot-5"/>
          <p:cNvGrpSpPr/>
          <p:nvPr/>
        </p:nvGrpSpPr>
        <p:grpSpPr>
          <a:xfrm>
            <a:off x="7223671" y="1497285"/>
            <a:ext cx="1577429" cy="3303315"/>
            <a:chOff x="0" y="0"/>
            <a:chExt cx="1577429" cy="3303315"/>
          </a:xfrm>
        </p:grpSpPr>
        <p:sp>
          <p:nvSpPr>
            <p:cNvPr id="67" name="圆角矩形 66"/>
            <p:cNvSpPr/>
            <p:nvPr/>
          </p:nvSpPr>
          <p:spPr>
            <a:xfrm>
              <a:off x="0" y="0"/>
              <a:ext cx="1577429" cy="3303315"/>
            </a:xfrm>
            <a:prstGeom prst="roundRect">
              <a:avLst>
                <a:gd name="adj" fmla="val 5434"/>
              </a:avLst>
            </a:prstGeom>
            <a:solidFill>
              <a:srgbClr val="FFFFFF"/>
            </a:solidFill>
            <a:ln w="6350">
              <a:solidFill>
                <a:srgbClr val="DCEAF5"/>
              </a:solidFill>
              <a:prstDash val="solid"/>
            </a:ln>
          </p:spPr>
        </p:sp>
        <p:sp>
          <p:nvSpPr>
            <p:cNvPr id="68" name="圆角矩形 67"/>
            <p:cNvSpPr/>
            <p:nvPr/>
          </p:nvSpPr>
          <p:spPr>
            <a:xfrm>
              <a:off x="178593" y="178594"/>
              <a:ext cx="342900" cy="342900"/>
            </a:xfrm>
            <a:prstGeom prst="roundRect">
              <a:avLst>
                <a:gd name="adj" fmla="val 20833"/>
              </a:avLst>
            </a:prstGeom>
            <a:solidFill>
              <a:srgbClr val="EAF5FF"/>
            </a:solidFill>
          </p:spPr>
        </p:sp>
        <p:sp>
          <p:nvSpPr>
            <p:cNvPr id="69" name="圆角矩形 68"/>
            <p:cNvSpPr/>
            <p:nvPr/>
          </p:nvSpPr>
          <p:spPr>
            <a:xfrm>
              <a:off x="285750" y="342900"/>
              <a:ext cx="128588" cy="71438"/>
            </a:xfrm>
            <a:prstGeom prst="roundRect">
              <a:avLst>
                <a:gd name="adj" fmla="val 20000"/>
              </a:avLst>
            </a:prstGeom>
            <a:noFill/>
            <a:ln w="12700">
              <a:solidFill>
                <a:srgbClr val="2563EB"/>
              </a:solidFill>
              <a:prstDash val="solid"/>
            </a:ln>
          </p:spPr>
        </p:sp>
        <p:sp>
          <p:nvSpPr>
            <p:cNvPr id="70" name="椭圆 69"/>
            <p:cNvSpPr/>
            <p:nvPr/>
          </p:nvSpPr>
          <p:spPr>
            <a:xfrm>
              <a:off x="335756" y="285750"/>
              <a:ext cx="28575" cy="28575"/>
            </a:xfrm>
            <a:prstGeom prst="ellipse">
              <a:avLst/>
            </a:prstGeom>
            <a:noFill/>
            <a:ln w="12700">
              <a:solidFill>
                <a:srgbClr val="2563EB"/>
              </a:solidFill>
              <a:prstDash val="solid"/>
            </a:ln>
          </p:spPr>
        </p:sp>
        <p:sp>
          <p:nvSpPr>
            <p:cNvPr id="71" name="直接连接符 70"/>
            <p:cNvSpPr/>
            <p:nvPr/>
          </p:nvSpPr>
          <p:spPr>
            <a:xfrm>
              <a:off x="350043" y="314325"/>
              <a:ext cx="0" cy="28575"/>
            </a:xfrm>
            <a:prstGeom prst="line">
              <a:avLst/>
            </a:prstGeom>
            <a:noFill/>
            <a:ln w="12700">
              <a:solidFill>
                <a:srgbClr val="2563EB"/>
              </a:solidFill>
              <a:prstDash val="solid"/>
            </a:ln>
          </p:spPr>
        </p:sp>
        <p:sp>
          <p:nvSpPr>
            <p:cNvPr id="72" name="直接连接符 71"/>
            <p:cNvSpPr/>
            <p:nvPr/>
          </p:nvSpPr>
          <p:spPr>
            <a:xfrm>
              <a:off x="321468" y="378619"/>
              <a:ext cx="0" cy="0"/>
            </a:xfrm>
            <a:prstGeom prst="line">
              <a:avLst/>
            </a:prstGeom>
            <a:noFill/>
            <a:ln w="12700">
              <a:solidFill>
                <a:srgbClr val="2563EB"/>
              </a:solidFill>
              <a:prstDash val="solid"/>
            </a:ln>
          </p:spPr>
        </p:sp>
        <p:sp>
          <p:nvSpPr>
            <p:cNvPr id="73" name="直接连接符 72"/>
            <p:cNvSpPr/>
            <p:nvPr/>
          </p:nvSpPr>
          <p:spPr>
            <a:xfrm>
              <a:off x="350043" y="378619"/>
              <a:ext cx="0" cy="0"/>
            </a:xfrm>
            <a:prstGeom prst="line">
              <a:avLst/>
            </a:prstGeom>
            <a:noFill/>
            <a:ln w="12700">
              <a:solidFill>
                <a:srgbClr val="2563EB"/>
              </a:solidFill>
              <a:prstDash val="solid"/>
            </a:ln>
          </p:spPr>
        </p:sp>
        <p:sp>
          <p:nvSpPr>
            <p:cNvPr id="74" name="直接连接符 73"/>
            <p:cNvSpPr/>
            <p:nvPr/>
          </p:nvSpPr>
          <p:spPr>
            <a:xfrm>
              <a:off x="378618" y="378619"/>
              <a:ext cx="0" cy="0"/>
            </a:xfrm>
            <a:prstGeom prst="line">
              <a:avLst/>
            </a:prstGeom>
            <a:noFill/>
            <a:ln w="12700">
              <a:solidFill>
                <a:srgbClr val="2563EB"/>
              </a:solidFill>
              <a:prstDash val="solid"/>
            </a:ln>
          </p:spPr>
        </p:sp>
        <p:sp>
          <p:nvSpPr>
            <p:cNvPr id="75" name="矩形 74"/>
            <p:cNvSpPr/>
            <p:nvPr/>
          </p:nvSpPr>
          <p:spPr>
            <a:xfrm>
              <a:off x="178593" y="664369"/>
              <a:ext cx="428625" cy="157163"/>
            </a:xfrm>
            <a:prstGeom prst="rect">
              <a:avLst/>
            </a:prstGeom>
            <a:noFill/>
          </p:spPr>
          <p:txBody>
            <a:bodyPr wrap="none" lIns="0" tIns="0" rIns="0" bIns="0" rtlCol="0" anchor="ctr"/>
            <a:lstStyle/>
            <a:p>
              <a:pPr marL="0" indent="0">
                <a:lnSpc>
                  <a:spcPct val="150000"/>
                </a:lnSpc>
                <a:buNone/>
              </a:pPr>
              <a:r>
                <a:rPr lang="zh-CN" sz="1100" b="1" dirty="0">
                  <a:solidFill>
                    <a:srgbClr val="2E6EA6"/>
                  </a:solidFill>
                  <a:latin typeface="Arial" panose="020B0604020202020204" pitchFamily="34" charset="0"/>
                  <a:ea typeface="微软雅黑" panose="020B0503020204020204" pitchFamily="34" charset="-122"/>
                </a:rPr>
                <a:t>管理员</a:t>
              </a:r>
              <a:endParaRPr lang="en-US" sz="1100" dirty="0"/>
            </a:p>
          </p:txBody>
        </p:sp>
        <p:sp>
          <p:nvSpPr>
            <p:cNvPr id="76" name="圆角矩形 75"/>
            <p:cNvSpPr/>
            <p:nvPr/>
          </p:nvSpPr>
          <p:spPr>
            <a:xfrm>
              <a:off x="664368" y="664369"/>
              <a:ext cx="395250" cy="157163"/>
            </a:xfrm>
            <a:prstGeom prst="roundRect">
              <a:avLst>
                <a:gd name="adj" fmla="val 18182"/>
              </a:avLst>
            </a:prstGeom>
            <a:solidFill>
              <a:srgbClr val="5B9DFF">
                <a:alpha val="10000"/>
              </a:srgbClr>
            </a:solidFill>
          </p:spPr>
        </p:sp>
        <p:sp>
          <p:nvSpPr>
            <p:cNvPr id="77" name="矩形 76"/>
            <p:cNvSpPr/>
            <p:nvPr/>
          </p:nvSpPr>
          <p:spPr>
            <a:xfrm>
              <a:off x="664368" y="664369"/>
              <a:ext cx="395250" cy="157163"/>
            </a:xfrm>
            <a:prstGeom prst="rect">
              <a:avLst/>
            </a:prstGeom>
            <a:noFill/>
          </p:spPr>
          <p:txBody>
            <a:bodyPr wrap="none" lIns="58928" tIns="14732" rIns="58928" bIns="14732" rtlCol="0" anchor="t"/>
            <a:lstStyle/>
            <a:p>
              <a:pPr marL="0" indent="0">
                <a:lnSpc>
                  <a:spcPct val="150000"/>
                </a:lnSpc>
                <a:buNone/>
              </a:pPr>
              <a:r>
                <a:rPr lang="en-US" sz="600" b="1" dirty="0">
                  <a:solidFill>
                    <a:srgbClr val="5B9DFF"/>
                  </a:solidFill>
                  <a:latin typeface="Arial" panose="020B0604020202020204" pitchFamily="34" charset="0"/>
                </a:rPr>
                <a:t>ADMIN</a:t>
              </a:r>
              <a:endParaRPr lang="en-US" sz="600" dirty="0"/>
            </a:p>
          </p:txBody>
        </p:sp>
        <p:sp>
          <p:nvSpPr>
            <p:cNvPr id="78" name="矩形 77"/>
            <p:cNvSpPr/>
            <p:nvPr/>
          </p:nvSpPr>
          <p:spPr>
            <a:xfrm>
              <a:off x="178593" y="907257"/>
              <a:ext cx="1220242" cy="150019"/>
            </a:xfrm>
            <a:prstGeom prst="rect">
              <a:avLst/>
            </a:prstGeom>
            <a:noFill/>
          </p:spPr>
          <p:txBody>
            <a:bodyPr wrap="none" lIns="0"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系统最高权限维护者。</a:t>
              </a:r>
              <a:endParaRPr lang="en-US" sz="700" dirty="0"/>
            </a:p>
          </p:txBody>
        </p:sp>
        <p:sp>
          <p:nvSpPr>
            <p:cNvPr id="79" name="矩形 78"/>
            <p:cNvSpPr/>
            <p:nvPr/>
          </p:nvSpPr>
          <p:spPr>
            <a:xfrm>
              <a:off x="178593" y="1143000"/>
              <a:ext cx="1220242" cy="144661"/>
            </a:xfrm>
            <a:prstGeom prst="rect">
              <a:avLst/>
            </a:prstGeom>
            <a:noFill/>
          </p:spPr>
          <p:txBody>
            <a:bodyPr wrap="none" lIns="132588"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管理系统所有用户角色</a:t>
              </a:r>
              <a:endParaRPr lang="en-US" sz="700" dirty="0"/>
            </a:p>
          </p:txBody>
        </p:sp>
        <p:sp>
          <p:nvSpPr>
            <p:cNvPr id="81" name="矩形 80"/>
            <p:cNvSpPr/>
            <p:nvPr/>
          </p:nvSpPr>
          <p:spPr>
            <a:xfrm>
              <a:off x="178593" y="1344811"/>
              <a:ext cx="1220242" cy="144661"/>
            </a:xfrm>
            <a:prstGeom prst="rect">
              <a:avLst/>
            </a:prstGeom>
            <a:noFill/>
          </p:spPr>
          <p:txBody>
            <a:bodyPr wrap="none" lIns="132588" tIns="0" rIns="0" bIns="0" rtlCol="0" anchor="t"/>
            <a:lstStyle/>
            <a:p>
              <a:pPr marL="0" indent="0">
                <a:lnSpc>
                  <a:spcPct val="150000"/>
                </a:lnSpc>
                <a:buNone/>
              </a:pPr>
              <a:r>
                <a:rPr lang="en-US" sz="700" dirty="0">
                  <a:solidFill>
                    <a:srgbClr val="1F2A37"/>
                  </a:solidFill>
                  <a:latin typeface="Arial" panose="020B0604020202020204" pitchFamily="34" charset="0"/>
                  <a:ea typeface="Arial" panose="020B0604020202020204" pitchFamily="34" charset="-122"/>
                  <a:cs typeface="Arial" panose="020B0604020202020204" pitchFamily="34" charset="-120"/>
                </a:rPr>
                <a:t>维护全部公开</a:t>
              </a:r>
              <a:r>
                <a:rPr lang="en-US" sz="700" dirty="0">
                  <a:solidFill>
                    <a:srgbClr val="1F2A37"/>
                  </a:solidFill>
                  <a:latin typeface="Arial" panose="020B0604020202020204" pitchFamily="34" charset="0"/>
                  <a:ea typeface="Arial" panose="020B0604020202020204" pitchFamily="34" charset="-122"/>
                  <a:cs typeface="Arial" panose="020B0604020202020204" pitchFamily="34" charset="-120"/>
                </a:rPr>
                <a:t>/</a:t>
              </a:r>
              <a:r>
                <a:rPr lang="en-US" sz="700" dirty="0">
                  <a:solidFill>
                    <a:srgbClr val="1F2A37"/>
                  </a:solidFill>
                  <a:latin typeface="Arial" panose="020B0604020202020204" pitchFamily="34" charset="0"/>
                  <a:ea typeface="Arial" panose="020B0604020202020204" pitchFamily="34" charset="-122"/>
                  <a:cs typeface="Arial" panose="020B0604020202020204" pitchFamily="34" charset="-120"/>
                </a:rPr>
                <a:t>私有知识库</a:t>
              </a:r>
              <a:endParaRPr lang="en-US" sz="700" dirty="0"/>
            </a:p>
          </p:txBody>
        </p:sp>
        <p:sp>
          <p:nvSpPr>
            <p:cNvPr id="83" name="矩形 82"/>
            <p:cNvSpPr/>
            <p:nvPr/>
          </p:nvSpPr>
          <p:spPr>
            <a:xfrm>
              <a:off x="178593" y="1546622"/>
              <a:ext cx="1220242" cy="144661"/>
            </a:xfrm>
            <a:prstGeom prst="rect">
              <a:avLst/>
            </a:prstGeom>
            <a:noFill/>
          </p:spPr>
          <p:txBody>
            <a:bodyPr wrap="none" lIns="132588"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监控全系统整体数据看板</a:t>
              </a:r>
              <a:endParaRPr lang="en-US" sz="700" dirty="0"/>
            </a:p>
          </p:txBody>
        </p:sp>
      </p:grpSp>
      <p:sp>
        <p:nvSpPr>
          <p:cNvPr id="80" name="Shape 77"/>
          <p:cNvSpPr/>
          <p:nvPr/>
        </p:nvSpPr>
        <p:spPr>
          <a:xfrm>
            <a:off x="7402264" y="2697435"/>
            <a:ext cx="42863" cy="42863"/>
          </a:xfrm>
          <a:prstGeom prst="ellipse">
            <a:avLst/>
          </a:prstGeom>
          <a:solidFill>
            <a:srgbClr val="5B9DFF"/>
          </a:solidFill>
        </p:spPr>
      </p:sp>
      <p:sp>
        <p:nvSpPr>
          <p:cNvPr id="82" name="Shape 79"/>
          <p:cNvSpPr/>
          <p:nvPr/>
        </p:nvSpPr>
        <p:spPr>
          <a:xfrm>
            <a:off x="7402264" y="2899246"/>
            <a:ext cx="42863" cy="42863"/>
          </a:xfrm>
          <a:prstGeom prst="ellipse">
            <a:avLst/>
          </a:prstGeom>
          <a:solidFill>
            <a:srgbClr val="5B9DFF"/>
          </a:solidFill>
        </p:spPr>
      </p:sp>
      <p:sp>
        <p:nvSpPr>
          <p:cNvPr id="84" name="Shape 81"/>
          <p:cNvSpPr/>
          <p:nvPr/>
        </p:nvSpPr>
        <p:spPr>
          <a:xfrm>
            <a:off x="7402264" y="3101057"/>
            <a:ext cx="42863" cy="42863"/>
          </a:xfrm>
          <a:prstGeom prst="ellipse">
            <a:avLst/>
          </a:prstGeom>
          <a:solidFill>
            <a:srgbClr val="5B9DFF"/>
          </a:solidFill>
        </p:spPr>
      </p:sp>
    </p:spTree>
  </p:cSld>
  <p:clrMapOvr>
    <a:overrideClrMapping bg1="lt1" tx1="dk1" bg2="lt2" tx2="dk2" accent1="accent1" accent2="accent2" accent3="accent3" accent4="accent4" accent5="accent5" accent6="accent6" hlink="hlink" folHlink="folHlink"/>
  </p:clrMapOvr>
  <p:transition spd="med">
    <p:dissolv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
                                  </p:stCondLst>
                                  <p:childTnLst>
                                    <p:set>
                                      <p:cBhvr>
                                        <p:cTn id="6" dur="1" fill="hold">
                                          <p:stCondLst>
                                            <p:cond delay="0"/>
                                          </p:stCondLst>
                                        </p:cTn>
                                        <p:tgtEl>
                                          <p:spTgt spid="85"/>
                                        </p:tgtEl>
                                        <p:attrNameLst>
                                          <p:attrName>style.visibility</p:attrName>
                                        </p:attrNameLst>
                                      </p:cBhvr>
                                      <p:to>
                                        <p:strVal val="visible"/>
                                      </p:to>
                                    </p:set>
                                    <p:animEffect transition="in" filter="fade">
                                      <p:cBhvr>
                                        <p:cTn id="7" dur="600"/>
                                        <p:tgtEl>
                                          <p:spTgt spid="85"/>
                                        </p:tgtEl>
                                      </p:cBhvr>
                                    </p:animEffect>
                                  </p:childTnLst>
                                </p:cTn>
                              </p:par>
                              <p:par>
                                <p:cTn id="8" presetID="2" presetClass="entr" presetSubtype="4" fill="hold" grpId="0" nodeType="withEffect">
                                  <p:stCondLst>
                                    <p:cond delay="100"/>
                                  </p:stCondLst>
                                  <p:childTnLst>
                                    <p:set>
                                      <p:cBhvr>
                                        <p:cTn id="9" dur="1" fill="hold">
                                          <p:stCondLst>
                                            <p:cond delay="0"/>
                                          </p:stCondLst>
                                        </p:cTn>
                                        <p:tgtEl>
                                          <p:spTgt spid="85"/>
                                        </p:tgtEl>
                                        <p:attrNameLst>
                                          <p:attrName>style.visibility</p:attrName>
                                        </p:attrNameLst>
                                      </p:cBhvr>
                                      <p:to>
                                        <p:strVal val="visible"/>
                                      </p:to>
                                    </p:set>
                                    <p:anim calcmode="lin" valueType="num">
                                      <p:cBhvr additive="base">
                                        <p:cTn id="10" dur="600" fill="hold"/>
                                        <p:tgtEl>
                                          <p:spTgt spid="85"/>
                                        </p:tgtEl>
                                        <p:attrNameLst>
                                          <p:attrName>ppt_x</p:attrName>
                                        </p:attrNameLst>
                                      </p:cBhvr>
                                      <p:tavLst>
                                        <p:tav tm="0">
                                          <p:val>
                                            <p:strVal val="#ppt_x"/>
                                          </p:val>
                                        </p:tav>
                                        <p:tav tm="100000">
                                          <p:val>
                                            <p:strVal val="#ppt_x"/>
                                          </p:val>
                                        </p:tav>
                                      </p:tavLst>
                                    </p:anim>
                                    <p:anim calcmode="lin" valueType="num">
                                      <p:cBhvr additive="base">
                                        <p:cTn id="11" dur="600" fill="hold"/>
                                        <p:tgtEl>
                                          <p:spTgt spid="85"/>
                                        </p:tgtEl>
                                        <p:attrNameLst>
                                          <p:attrName>ppt_y</p:attrName>
                                        </p:attrNameLst>
                                      </p:cBhvr>
                                      <p:tavLst>
                                        <p:tav tm="0">
                                          <p:val>
                                            <p:strVal val="1+#ppt_h/2"/>
                                          </p:val>
                                        </p:tav>
                                        <p:tav tm="100000">
                                          <p:val>
                                            <p:strVal val="#ppt_y"/>
                                          </p:val>
                                        </p:tav>
                                      </p:tavLst>
                                    </p:anim>
                                  </p:childTnLst>
                                </p:cTn>
                              </p:par>
                            </p:childTnLst>
                          </p:cTn>
                        </p:par>
                        <p:par>
                          <p:cTn id="12" fill="hold">
                            <p:stCondLst>
                              <p:cond delay="1100"/>
                            </p:stCondLst>
                            <p:childTnLst>
                              <p:par>
                                <p:cTn id="13" presetID="10" presetClass="entr" presetSubtype="0" fill="hold" grpId="0" nodeType="afterEffect">
                                  <p:stCondLst>
                                    <p:cond delay="200"/>
                                  </p:stCondLst>
                                  <p:childTnLst>
                                    <p:set>
                                      <p:cBhvr>
                                        <p:cTn id="14" dur="1" fill="hold">
                                          <p:stCondLst>
                                            <p:cond delay="0"/>
                                          </p:stCondLst>
                                        </p:cTn>
                                        <p:tgtEl>
                                          <p:spTgt spid="86"/>
                                        </p:tgtEl>
                                        <p:attrNameLst>
                                          <p:attrName>style.visibility</p:attrName>
                                        </p:attrNameLst>
                                      </p:cBhvr>
                                      <p:to>
                                        <p:strVal val="visible"/>
                                      </p:to>
                                    </p:set>
                                    <p:animEffect transition="in" filter="fade">
                                      <p:cBhvr>
                                        <p:cTn id="15" dur="600"/>
                                        <p:tgtEl>
                                          <p:spTgt spid="86"/>
                                        </p:tgtEl>
                                      </p:cBhvr>
                                    </p:animEffect>
                                  </p:childTnLst>
                                </p:cTn>
                              </p:par>
                              <p:par>
                                <p:cTn id="16" presetID="2" presetClass="entr" presetSubtype="4" fill="hold" grpId="0" nodeType="withEffect">
                                  <p:stCondLst>
                                    <p:cond delay="200"/>
                                  </p:stCondLst>
                                  <p:childTnLst>
                                    <p:set>
                                      <p:cBhvr>
                                        <p:cTn id="17" dur="1" fill="hold">
                                          <p:stCondLst>
                                            <p:cond delay="0"/>
                                          </p:stCondLst>
                                        </p:cTn>
                                        <p:tgtEl>
                                          <p:spTgt spid="86"/>
                                        </p:tgtEl>
                                        <p:attrNameLst>
                                          <p:attrName>style.visibility</p:attrName>
                                        </p:attrNameLst>
                                      </p:cBhvr>
                                      <p:to>
                                        <p:strVal val="visible"/>
                                      </p:to>
                                    </p:set>
                                    <p:anim calcmode="lin" valueType="num">
                                      <p:cBhvr additive="base">
                                        <p:cTn id="18" dur="600" fill="hold"/>
                                        <p:tgtEl>
                                          <p:spTgt spid="86"/>
                                        </p:tgtEl>
                                        <p:attrNameLst>
                                          <p:attrName>ppt_x</p:attrName>
                                        </p:attrNameLst>
                                      </p:cBhvr>
                                      <p:tavLst>
                                        <p:tav tm="0">
                                          <p:val>
                                            <p:strVal val="#ppt_x"/>
                                          </p:val>
                                        </p:tav>
                                        <p:tav tm="100000">
                                          <p:val>
                                            <p:strVal val="#ppt_x"/>
                                          </p:val>
                                        </p:tav>
                                      </p:tavLst>
                                    </p:anim>
                                    <p:anim calcmode="lin" valueType="num">
                                      <p:cBhvr additive="base">
                                        <p:cTn id="19" dur="600" fill="hold"/>
                                        <p:tgtEl>
                                          <p:spTgt spid="86"/>
                                        </p:tgtEl>
                                        <p:attrNameLst>
                                          <p:attrName>ppt_y</p:attrName>
                                        </p:attrNameLst>
                                      </p:cBhvr>
                                      <p:tavLst>
                                        <p:tav tm="0">
                                          <p:val>
                                            <p:strVal val="1+#ppt_h/2"/>
                                          </p:val>
                                        </p:tav>
                                        <p:tav tm="100000">
                                          <p:val>
                                            <p:strVal val="#ppt_y"/>
                                          </p:val>
                                        </p:tav>
                                      </p:tavLst>
                                    </p:anim>
                                  </p:childTnLst>
                                </p:cTn>
                              </p:par>
                            </p:childTnLst>
                          </p:cTn>
                        </p:par>
                        <p:par>
                          <p:cTn id="20" fill="hold">
                            <p:stCondLst>
                              <p:cond delay="2300"/>
                            </p:stCondLst>
                            <p:childTnLst>
                              <p:par>
                                <p:cTn id="21" presetID="10" presetClass="entr" presetSubtype="0" fill="hold" grpId="0" nodeType="afterEffect">
                                  <p:stCondLst>
                                    <p:cond delay="300"/>
                                  </p:stCondLst>
                                  <p:childTnLst>
                                    <p:set>
                                      <p:cBhvr>
                                        <p:cTn id="22" dur="1" fill="hold">
                                          <p:stCondLst>
                                            <p:cond delay="0"/>
                                          </p:stCondLst>
                                        </p:cTn>
                                        <p:tgtEl>
                                          <p:spTgt spid="87"/>
                                        </p:tgtEl>
                                        <p:attrNameLst>
                                          <p:attrName>style.visibility</p:attrName>
                                        </p:attrNameLst>
                                      </p:cBhvr>
                                      <p:to>
                                        <p:strVal val="visible"/>
                                      </p:to>
                                    </p:set>
                                    <p:animEffect transition="in" filter="fade">
                                      <p:cBhvr>
                                        <p:cTn id="23" dur="600"/>
                                        <p:tgtEl>
                                          <p:spTgt spid="87"/>
                                        </p:tgtEl>
                                      </p:cBhvr>
                                    </p:animEffect>
                                  </p:childTnLst>
                                </p:cTn>
                              </p:par>
                              <p:par>
                                <p:cTn id="24" presetID="2" presetClass="entr" presetSubtype="4" fill="hold" grpId="0" nodeType="withEffect">
                                  <p:stCondLst>
                                    <p:cond delay="300"/>
                                  </p:stCondLst>
                                  <p:childTnLst>
                                    <p:set>
                                      <p:cBhvr>
                                        <p:cTn id="25" dur="1" fill="hold">
                                          <p:stCondLst>
                                            <p:cond delay="0"/>
                                          </p:stCondLst>
                                        </p:cTn>
                                        <p:tgtEl>
                                          <p:spTgt spid="87"/>
                                        </p:tgtEl>
                                        <p:attrNameLst>
                                          <p:attrName>style.visibility</p:attrName>
                                        </p:attrNameLst>
                                      </p:cBhvr>
                                      <p:to>
                                        <p:strVal val="visible"/>
                                      </p:to>
                                    </p:set>
                                    <p:anim calcmode="lin" valueType="num">
                                      <p:cBhvr additive="base">
                                        <p:cTn id="26" dur="600" fill="hold"/>
                                        <p:tgtEl>
                                          <p:spTgt spid="87"/>
                                        </p:tgtEl>
                                        <p:attrNameLst>
                                          <p:attrName>ppt_x</p:attrName>
                                        </p:attrNameLst>
                                      </p:cBhvr>
                                      <p:tavLst>
                                        <p:tav tm="0">
                                          <p:val>
                                            <p:strVal val="#ppt_x"/>
                                          </p:val>
                                        </p:tav>
                                        <p:tav tm="100000">
                                          <p:val>
                                            <p:strVal val="#ppt_x"/>
                                          </p:val>
                                        </p:tav>
                                      </p:tavLst>
                                    </p:anim>
                                    <p:anim calcmode="lin" valueType="num">
                                      <p:cBhvr additive="base">
                                        <p:cTn id="27" dur="600" fill="hold"/>
                                        <p:tgtEl>
                                          <p:spTgt spid="87"/>
                                        </p:tgtEl>
                                        <p:attrNameLst>
                                          <p:attrName>ppt_y</p:attrName>
                                        </p:attrNameLst>
                                      </p:cBhvr>
                                      <p:tavLst>
                                        <p:tav tm="0">
                                          <p:val>
                                            <p:strVal val="1+#ppt_h/2"/>
                                          </p:val>
                                        </p:tav>
                                        <p:tav tm="100000">
                                          <p:val>
                                            <p:strVal val="#ppt_y"/>
                                          </p:val>
                                        </p:tav>
                                      </p:tavLst>
                                    </p:anim>
                                  </p:childTnLst>
                                </p:cTn>
                              </p:par>
                            </p:childTnLst>
                          </p:cTn>
                        </p:par>
                        <p:par>
                          <p:cTn id="28" fill="hold">
                            <p:stCondLst>
                              <p:cond delay="3600"/>
                            </p:stCondLst>
                            <p:childTnLst>
                              <p:par>
                                <p:cTn id="29" presetID="10" presetClass="entr" presetSubtype="0" fill="hold" grpId="0" nodeType="afterEffect">
                                  <p:stCondLst>
                                    <p:cond delay="400"/>
                                  </p:stCondLst>
                                  <p:childTnLst>
                                    <p:set>
                                      <p:cBhvr>
                                        <p:cTn id="30" dur="1" fill="hold">
                                          <p:stCondLst>
                                            <p:cond delay="0"/>
                                          </p:stCondLst>
                                        </p:cTn>
                                        <p:tgtEl>
                                          <p:spTgt spid="88"/>
                                        </p:tgtEl>
                                        <p:attrNameLst>
                                          <p:attrName>style.visibility</p:attrName>
                                        </p:attrNameLst>
                                      </p:cBhvr>
                                      <p:to>
                                        <p:strVal val="visible"/>
                                      </p:to>
                                    </p:set>
                                    <p:animEffect transition="in" filter="fade">
                                      <p:cBhvr>
                                        <p:cTn id="31" dur="600"/>
                                        <p:tgtEl>
                                          <p:spTgt spid="88"/>
                                        </p:tgtEl>
                                      </p:cBhvr>
                                    </p:animEffect>
                                  </p:childTnLst>
                                </p:cTn>
                              </p:par>
                              <p:par>
                                <p:cTn id="32" presetID="2" presetClass="entr" presetSubtype="4" fill="hold" grpId="0" nodeType="withEffect">
                                  <p:stCondLst>
                                    <p:cond delay="400"/>
                                  </p:stCondLst>
                                  <p:childTnLst>
                                    <p:set>
                                      <p:cBhvr>
                                        <p:cTn id="33" dur="1" fill="hold">
                                          <p:stCondLst>
                                            <p:cond delay="0"/>
                                          </p:stCondLst>
                                        </p:cTn>
                                        <p:tgtEl>
                                          <p:spTgt spid="88"/>
                                        </p:tgtEl>
                                        <p:attrNameLst>
                                          <p:attrName>style.visibility</p:attrName>
                                        </p:attrNameLst>
                                      </p:cBhvr>
                                      <p:to>
                                        <p:strVal val="visible"/>
                                      </p:to>
                                    </p:set>
                                    <p:anim calcmode="lin" valueType="num">
                                      <p:cBhvr additive="base">
                                        <p:cTn id="34" dur="600" fill="hold"/>
                                        <p:tgtEl>
                                          <p:spTgt spid="88"/>
                                        </p:tgtEl>
                                        <p:attrNameLst>
                                          <p:attrName>ppt_x</p:attrName>
                                        </p:attrNameLst>
                                      </p:cBhvr>
                                      <p:tavLst>
                                        <p:tav tm="0">
                                          <p:val>
                                            <p:strVal val="#ppt_x"/>
                                          </p:val>
                                        </p:tav>
                                        <p:tav tm="100000">
                                          <p:val>
                                            <p:strVal val="#ppt_x"/>
                                          </p:val>
                                        </p:tav>
                                      </p:tavLst>
                                    </p:anim>
                                    <p:anim calcmode="lin" valueType="num">
                                      <p:cBhvr additive="base">
                                        <p:cTn id="35" dur="600" fill="hold"/>
                                        <p:tgtEl>
                                          <p:spTgt spid="88"/>
                                        </p:tgtEl>
                                        <p:attrNameLst>
                                          <p:attrName>ppt_y</p:attrName>
                                        </p:attrNameLst>
                                      </p:cBhvr>
                                      <p:tavLst>
                                        <p:tav tm="0">
                                          <p:val>
                                            <p:strVal val="1+#ppt_h/2"/>
                                          </p:val>
                                        </p:tav>
                                        <p:tav tm="100000">
                                          <p:val>
                                            <p:strVal val="#ppt_y"/>
                                          </p:val>
                                        </p:tav>
                                      </p:tavLst>
                                    </p:anim>
                                  </p:childTnLst>
                                </p:cTn>
                              </p:par>
                            </p:childTnLst>
                          </p:cTn>
                        </p:par>
                        <p:par>
                          <p:cTn id="36" fill="hold">
                            <p:stCondLst>
                              <p:cond delay="5000"/>
                            </p:stCondLst>
                            <p:childTnLst>
                              <p:par>
                                <p:cTn id="37" presetID="10" presetClass="entr" presetSubtype="0" fill="hold" grpId="0" nodeType="afterEffect">
                                  <p:stCondLst>
                                    <p:cond delay="500"/>
                                  </p:stCondLst>
                                  <p:childTnLst>
                                    <p:set>
                                      <p:cBhvr>
                                        <p:cTn id="38" dur="1" fill="hold">
                                          <p:stCondLst>
                                            <p:cond delay="0"/>
                                          </p:stCondLst>
                                        </p:cTn>
                                        <p:tgtEl>
                                          <p:spTgt spid="89"/>
                                        </p:tgtEl>
                                        <p:attrNameLst>
                                          <p:attrName>style.visibility</p:attrName>
                                        </p:attrNameLst>
                                      </p:cBhvr>
                                      <p:to>
                                        <p:strVal val="visible"/>
                                      </p:to>
                                    </p:set>
                                    <p:animEffect transition="in" filter="fade">
                                      <p:cBhvr>
                                        <p:cTn id="39" dur="600"/>
                                        <p:tgtEl>
                                          <p:spTgt spid="89"/>
                                        </p:tgtEl>
                                      </p:cBhvr>
                                    </p:animEffect>
                                  </p:childTnLst>
                                </p:cTn>
                              </p:par>
                              <p:par>
                                <p:cTn id="40" presetID="2" presetClass="entr" presetSubtype="4" fill="hold" grpId="0" nodeType="withEffect">
                                  <p:stCondLst>
                                    <p:cond delay="500"/>
                                  </p:stCondLst>
                                  <p:childTnLst>
                                    <p:set>
                                      <p:cBhvr>
                                        <p:cTn id="41" dur="1" fill="hold">
                                          <p:stCondLst>
                                            <p:cond delay="0"/>
                                          </p:stCondLst>
                                        </p:cTn>
                                        <p:tgtEl>
                                          <p:spTgt spid="89"/>
                                        </p:tgtEl>
                                        <p:attrNameLst>
                                          <p:attrName>style.visibility</p:attrName>
                                        </p:attrNameLst>
                                      </p:cBhvr>
                                      <p:to>
                                        <p:strVal val="visible"/>
                                      </p:to>
                                    </p:set>
                                    <p:anim calcmode="lin" valueType="num">
                                      <p:cBhvr additive="base">
                                        <p:cTn id="42" dur="600" fill="hold"/>
                                        <p:tgtEl>
                                          <p:spTgt spid="89"/>
                                        </p:tgtEl>
                                        <p:attrNameLst>
                                          <p:attrName>ppt_x</p:attrName>
                                        </p:attrNameLst>
                                      </p:cBhvr>
                                      <p:tavLst>
                                        <p:tav tm="0">
                                          <p:val>
                                            <p:strVal val="#ppt_x"/>
                                          </p:val>
                                        </p:tav>
                                        <p:tav tm="100000">
                                          <p:val>
                                            <p:strVal val="#ppt_x"/>
                                          </p:val>
                                        </p:tav>
                                      </p:tavLst>
                                    </p:anim>
                                    <p:anim calcmode="lin" valueType="num">
                                      <p:cBhvr additive="base">
                                        <p:cTn id="43" dur="600" fill="hold"/>
                                        <p:tgtEl>
                                          <p:spTgt spid="8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animBg="1"/>
      <p:bldP spid="86" grpId="0" animBg="1"/>
      <p:bldP spid="87" grpId="0" animBg="1"/>
      <p:bldP spid="88" grpId="0" animBg="1"/>
      <p:bldP spid="8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285750" y="285750"/>
            <a:ext cx="8572500" cy="274253"/>
          </a:xfrm>
          <a:prstGeom prst="rect">
            <a:avLst/>
          </a:prstGeom>
          <a:noFill/>
        </p:spPr>
        <p:txBody>
          <a:bodyPr wrap="none" lIns="0" tIns="0" rIns="0" bIns="0" rtlCol="0" anchor="t"/>
          <a:lstStyle/>
          <a:p>
            <a:pPr marL="0" indent="0">
              <a:lnSpc>
                <a:spcPct val="120000"/>
              </a:lnSpc>
              <a:buNone/>
            </a:pPr>
            <a:r>
              <a:rPr lang="zh-CN" sz="1700" b="1" dirty="0">
                <a:solidFill>
                  <a:srgbClr val="1F2A37"/>
                </a:solidFill>
                <a:latin typeface="Arial" panose="020B0604020202020204" pitchFamily="34" charset="0"/>
                <a:ea typeface="微软雅黑" panose="020B0503020204020204" pitchFamily="34" charset="-122"/>
              </a:rPr>
              <a:t>核心功能与 </a:t>
            </a:r>
            <a:r>
              <a:rPr lang="en-US" sz="1700" b="1" dirty="0">
                <a:solidFill>
                  <a:srgbClr val="1F2A37"/>
                </a:solidFill>
                <a:latin typeface="Arial" panose="020B0604020202020204" pitchFamily="34" charset="0"/>
              </a:rPr>
              <a:t>RAG </a:t>
            </a:r>
            <a:r>
              <a:rPr lang="zh-CN" sz="1700" b="1" dirty="0">
                <a:solidFill>
                  <a:srgbClr val="1F2A37"/>
                </a:solidFill>
                <a:latin typeface="Arial" panose="020B0604020202020204" pitchFamily="34" charset="0"/>
                <a:ea typeface="微软雅黑" panose="020B0503020204020204" pitchFamily="34" charset="-122"/>
              </a:rPr>
              <a:t>智能咨询机制</a:t>
            </a:r>
            <a:endParaRPr lang="en-US" sz="1700" dirty="0"/>
          </a:p>
        </p:txBody>
      </p:sp>
      <p:sp>
        <p:nvSpPr>
          <p:cNvPr id="4" name="Text 1"/>
          <p:cNvSpPr/>
          <p:nvPr/>
        </p:nvSpPr>
        <p:spPr>
          <a:xfrm>
            <a:off x="285750" y="617153"/>
            <a:ext cx="6400800" cy="171450"/>
          </a:xfrm>
          <a:prstGeom prst="rect">
            <a:avLst/>
          </a:prstGeom>
          <a:noFill/>
        </p:spPr>
        <p:txBody>
          <a:bodyPr wrap="none" lIns="0" tIns="0" rIns="0" bIns="0" rtlCol="0" anchor="t"/>
          <a:lstStyle/>
          <a:p>
            <a:pPr marL="0" indent="0">
              <a:lnSpc>
                <a:spcPct val="150000"/>
              </a:lnSpc>
              <a:buNone/>
            </a:pPr>
            <a:r>
              <a:rPr lang="zh-CN" sz="900" dirty="0">
                <a:solidFill>
                  <a:srgbClr val="64748B"/>
                </a:solidFill>
                <a:latin typeface="Arial" panose="020B0604020202020204" pitchFamily="34" charset="0"/>
                <a:ea typeface="微软雅黑" panose="020B0503020204020204" pitchFamily="34" charset="-122"/>
              </a:rPr>
              <a:t>系统将现代 </a:t>
            </a:r>
            <a:r>
              <a:rPr lang="en-US" sz="900" dirty="0">
                <a:solidFill>
                  <a:srgbClr val="64748B"/>
                </a:solidFill>
                <a:latin typeface="Arial" panose="020B0604020202020204" pitchFamily="34" charset="0"/>
              </a:rPr>
              <a:t>AI </a:t>
            </a:r>
            <a:r>
              <a:rPr lang="zh-CN" sz="900" dirty="0">
                <a:solidFill>
                  <a:srgbClr val="64748B"/>
                </a:solidFill>
                <a:latin typeface="Arial" panose="020B0604020202020204" pitchFamily="34" charset="0"/>
                <a:ea typeface="微软雅黑" panose="020B0503020204020204" pitchFamily="34" charset="-122"/>
              </a:rPr>
              <a:t>大模型能力与传统 </a:t>
            </a:r>
            <a:r>
              <a:rPr lang="en-US" sz="900" dirty="0">
                <a:solidFill>
                  <a:srgbClr val="64748B"/>
                </a:solidFill>
                <a:latin typeface="Arial" panose="020B0604020202020204" pitchFamily="34" charset="0"/>
              </a:rPr>
              <a:t>HIS </a:t>
            </a:r>
            <a:r>
              <a:rPr lang="zh-CN" sz="900" dirty="0">
                <a:solidFill>
                  <a:srgbClr val="64748B"/>
                </a:solidFill>
                <a:latin typeface="Arial" panose="020B0604020202020204" pitchFamily="34" charset="0"/>
                <a:ea typeface="微软雅黑" panose="020B0503020204020204" pitchFamily="34" charset="-122"/>
              </a:rPr>
              <a:t>业务逻辑深度融合，提供了一套智能化、可追溯的医疗咨询与业务处理方案。</a:t>
            </a:r>
            <a:endParaRPr lang="en-US" sz="900" dirty="0"/>
          </a:p>
        </p:txBody>
      </p:sp>
      <p:sp>
        <p:nvSpPr>
          <p:cNvPr id="5" name="Text 2"/>
          <p:cNvSpPr/>
          <p:nvPr/>
        </p:nvSpPr>
        <p:spPr>
          <a:xfrm>
            <a:off x="455414" y="1045778"/>
            <a:ext cx="1028700" cy="192881"/>
          </a:xfrm>
          <a:prstGeom prst="rect">
            <a:avLst/>
          </a:prstGeom>
          <a:noFill/>
        </p:spPr>
        <p:txBody>
          <a:bodyPr wrap="none" lIns="0" tIns="0" rIns="0" bIns="0" rtlCol="0" anchor="ctr"/>
          <a:lstStyle/>
          <a:p>
            <a:pPr marL="0" indent="0">
              <a:lnSpc>
                <a:spcPct val="150000"/>
              </a:lnSpc>
              <a:buNone/>
            </a:pPr>
            <a:r>
              <a:rPr lang="zh-CN" sz="1300" b="1" dirty="0">
                <a:solidFill>
                  <a:srgbClr val="2E6EA6"/>
                </a:solidFill>
                <a:latin typeface="Arial" panose="020B0604020202020204" pitchFamily="34" charset="0"/>
                <a:ea typeface="微软雅黑" panose="020B0503020204020204" pitchFamily="34" charset="-122"/>
              </a:rPr>
              <a:t>核心功能板块</a:t>
            </a:r>
            <a:endParaRPr lang="en-US" sz="1300" dirty="0"/>
          </a:p>
        </p:txBody>
      </p:sp>
      <p:sp>
        <p:nvSpPr>
          <p:cNvPr id="6" name="Text 3"/>
          <p:cNvSpPr/>
          <p:nvPr/>
        </p:nvSpPr>
        <p:spPr>
          <a:xfrm>
            <a:off x="285750" y="1074353"/>
            <a:ext cx="112514" cy="142875"/>
          </a:xfrm>
          <a:prstGeom prst="rect">
            <a:avLst/>
          </a:prstGeom>
          <a:noFill/>
        </p:spPr>
        <p:txBody>
          <a:bodyPr wrap="none" lIns="0" tIns="0" rIns="0" bIns="0" rtlCol="0" anchor="t"/>
          <a:lstStyle/>
          <a:p>
            <a:pPr marL="0" indent="0">
              <a:lnSpc>
                <a:spcPct val="143000"/>
              </a:lnSpc>
              <a:buNone/>
            </a:pPr>
            <a:r>
              <a:rPr lang="en-US" sz="700" dirty="0">
                <a:solidFill>
                  <a:srgbClr val="2E6EA6"/>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700" dirty="0"/>
          </a:p>
        </p:txBody>
      </p:sp>
      <p:grpSp>
        <p:nvGrpSpPr>
          <p:cNvPr id="67" name="h2p-grp-h2p-animroot-1"/>
          <p:cNvGrpSpPr/>
          <p:nvPr/>
        </p:nvGrpSpPr>
        <p:grpSpPr>
          <a:xfrm>
            <a:off x="285750" y="1388678"/>
            <a:ext cx="3480457" cy="553641"/>
            <a:chOff x="0" y="0"/>
            <a:chExt cx="3480457" cy="553641"/>
          </a:xfrm>
        </p:grpSpPr>
        <p:sp>
          <p:nvSpPr>
            <p:cNvPr id="7" name="圆角矩形 6"/>
            <p:cNvSpPr/>
            <p:nvPr/>
          </p:nvSpPr>
          <p:spPr>
            <a:xfrm>
              <a:off x="0" y="0"/>
              <a:ext cx="3480457" cy="553641"/>
            </a:xfrm>
            <a:prstGeom prst="roundRect">
              <a:avLst>
                <a:gd name="adj" fmla="val 15484"/>
              </a:avLst>
            </a:prstGeom>
            <a:solidFill>
              <a:srgbClr val="FFFFFF"/>
            </a:solidFill>
            <a:ln w="6350">
              <a:solidFill>
                <a:srgbClr val="2E6EA6">
                  <a:alpha val="14000"/>
                </a:srgbClr>
              </a:solidFill>
              <a:prstDash val="solid"/>
            </a:ln>
          </p:spPr>
        </p:sp>
        <p:sp>
          <p:nvSpPr>
            <p:cNvPr id="8" name="圆角矩形 7"/>
            <p:cNvSpPr/>
            <p:nvPr/>
          </p:nvSpPr>
          <p:spPr>
            <a:xfrm>
              <a:off x="121444" y="121444"/>
              <a:ext cx="285750" cy="285750"/>
            </a:xfrm>
            <a:prstGeom prst="roundRect">
              <a:avLst>
                <a:gd name="adj" fmla="val 20000"/>
              </a:avLst>
            </a:prstGeom>
            <a:solidFill>
              <a:srgbClr val="5B9DFF">
                <a:alpha val="10000"/>
              </a:srgbClr>
            </a:solidFill>
          </p:spPr>
        </p:sp>
        <p:sp>
          <p:nvSpPr>
            <p:cNvPr id="9" name="矩形 8"/>
            <p:cNvSpPr/>
            <p:nvPr/>
          </p:nvSpPr>
          <p:spPr>
            <a:xfrm>
              <a:off x="192881" y="207169"/>
              <a:ext cx="142875" cy="114300"/>
            </a:xfrm>
            <a:prstGeom prst="rect">
              <a:avLst/>
            </a:prstGeom>
            <a:noFill/>
          </p:spPr>
          <p:txBody>
            <a:bodyPr wrap="none" lIns="0" tIns="0" rIns="0" bIns="0" rtlCol="0" anchor="t"/>
            <a:lstStyle/>
            <a:p>
              <a:pPr marL="0" indent="0">
                <a:lnSpc>
                  <a:spcPct val="100000"/>
                </a:lnSpc>
                <a:buNone/>
              </a:pPr>
              <a:r>
                <a:rPr lang="en-US" sz="900" dirty="0">
                  <a:solidFill>
                    <a:srgbClr val="5B9DFF"/>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900" dirty="0"/>
            </a:p>
          </p:txBody>
        </p:sp>
        <p:sp>
          <p:nvSpPr>
            <p:cNvPr id="10" name="矩形 9"/>
            <p:cNvSpPr/>
            <p:nvPr/>
          </p:nvSpPr>
          <p:spPr>
            <a:xfrm>
              <a:off x="492919" y="121444"/>
              <a:ext cx="2828925" cy="142875"/>
            </a:xfrm>
            <a:prstGeom prst="rect">
              <a:avLst/>
            </a:prstGeom>
            <a:noFill/>
          </p:spPr>
          <p:txBody>
            <a:bodyPr wrap="none" lIns="0" tIns="0" rIns="0" bIns="0" rtlCol="0" anchor="t"/>
            <a:lstStyle/>
            <a:p>
              <a:pPr marL="0" indent="0">
                <a:lnSpc>
                  <a:spcPct val="143000"/>
                </a:lnSpc>
                <a:buNone/>
              </a:pPr>
              <a:r>
                <a:rPr lang="zh-CN" sz="700" b="1" dirty="0">
                  <a:solidFill>
                    <a:srgbClr val="1F2A37"/>
                  </a:solidFill>
                  <a:latin typeface="Arial" panose="020B0604020202020204" pitchFamily="34" charset="0"/>
                  <a:ea typeface="微软雅黑" panose="020B0503020204020204" pitchFamily="34" charset="-122"/>
                </a:rPr>
                <a:t>智能医疗咨询 </a:t>
              </a:r>
              <a:r>
                <a:rPr lang="en-US" sz="700" b="1" dirty="0">
                  <a:solidFill>
                    <a:srgbClr val="1F2A37"/>
                  </a:solidFill>
                  <a:latin typeface="Arial" panose="020B0604020202020204" pitchFamily="34" charset="0"/>
                </a:rPr>
                <a:t>(RAG)</a:t>
              </a:r>
              <a:endParaRPr lang="en-US" sz="700" dirty="0"/>
            </a:p>
          </p:txBody>
        </p:sp>
        <p:sp>
          <p:nvSpPr>
            <p:cNvPr id="11" name="矩形 10"/>
            <p:cNvSpPr/>
            <p:nvPr/>
          </p:nvSpPr>
          <p:spPr>
            <a:xfrm>
              <a:off x="492919" y="292894"/>
              <a:ext cx="2828925" cy="139303"/>
            </a:xfrm>
            <a:prstGeom prst="rect">
              <a:avLst/>
            </a:prstGeom>
            <a:noFill/>
          </p:spPr>
          <p:txBody>
            <a:bodyPr wrap="none" lIns="0" tIns="0" rIns="0" bIns="0" rtlCol="0" anchor="t"/>
            <a:lstStyle/>
            <a:p>
              <a:pPr marL="0" indent="0">
                <a:lnSpc>
                  <a:spcPct val="163000"/>
                </a:lnSpc>
                <a:buNone/>
              </a:pPr>
              <a:r>
                <a:rPr lang="zh-CN" sz="600" b="1" dirty="0">
                  <a:solidFill>
                    <a:srgbClr val="2E6EA6"/>
                  </a:solidFill>
                  <a:latin typeface="Arial" panose="020B0604020202020204" pitchFamily="34" charset="0"/>
                  <a:ea typeface="微软雅黑" panose="020B0503020204020204" pitchFamily="34" charset="-122"/>
                </a:rPr>
                <a:t>自然语言提问，自动召回知识库文档并根据角色权限过滤，附带引用来源。</a:t>
              </a:r>
              <a:endParaRPr lang="en-US" sz="600" dirty="0"/>
            </a:p>
          </p:txBody>
        </p:sp>
      </p:grpSp>
      <p:grpSp>
        <p:nvGrpSpPr>
          <p:cNvPr id="68" name="h2p-grp-h2p-animroot-2"/>
          <p:cNvGrpSpPr/>
          <p:nvPr/>
        </p:nvGrpSpPr>
        <p:grpSpPr>
          <a:xfrm>
            <a:off x="285750" y="2056619"/>
            <a:ext cx="3480457" cy="553641"/>
            <a:chOff x="0" y="0"/>
            <a:chExt cx="3480457" cy="553641"/>
          </a:xfrm>
        </p:grpSpPr>
        <p:sp>
          <p:nvSpPr>
            <p:cNvPr id="12" name="圆角矩形 11"/>
            <p:cNvSpPr/>
            <p:nvPr/>
          </p:nvSpPr>
          <p:spPr>
            <a:xfrm>
              <a:off x="0" y="0"/>
              <a:ext cx="3480457" cy="553641"/>
            </a:xfrm>
            <a:prstGeom prst="roundRect">
              <a:avLst>
                <a:gd name="adj" fmla="val 15484"/>
              </a:avLst>
            </a:prstGeom>
            <a:solidFill>
              <a:srgbClr val="FFFFFF"/>
            </a:solidFill>
            <a:ln w="6350">
              <a:solidFill>
                <a:srgbClr val="2E6EA6">
                  <a:alpha val="14000"/>
                </a:srgbClr>
              </a:solidFill>
              <a:prstDash val="solid"/>
            </a:ln>
          </p:spPr>
        </p:sp>
        <p:sp>
          <p:nvSpPr>
            <p:cNvPr id="13" name="圆角矩形 12"/>
            <p:cNvSpPr/>
            <p:nvPr/>
          </p:nvSpPr>
          <p:spPr>
            <a:xfrm>
              <a:off x="121444" y="121443"/>
              <a:ext cx="285750" cy="285750"/>
            </a:xfrm>
            <a:prstGeom prst="roundRect">
              <a:avLst>
                <a:gd name="adj" fmla="val 20000"/>
              </a:avLst>
            </a:prstGeom>
            <a:solidFill>
              <a:srgbClr val="5B9DFF">
                <a:alpha val="10000"/>
              </a:srgbClr>
            </a:solidFill>
          </p:spPr>
        </p:sp>
        <p:sp>
          <p:nvSpPr>
            <p:cNvPr id="14" name="矩形 13"/>
            <p:cNvSpPr/>
            <p:nvPr/>
          </p:nvSpPr>
          <p:spPr>
            <a:xfrm>
              <a:off x="221456" y="207168"/>
              <a:ext cx="85725" cy="114300"/>
            </a:xfrm>
            <a:prstGeom prst="rect">
              <a:avLst/>
            </a:prstGeom>
            <a:noFill/>
          </p:spPr>
          <p:txBody>
            <a:bodyPr wrap="none" lIns="0" tIns="0" rIns="0" bIns="0" rtlCol="0" anchor="t"/>
            <a:lstStyle/>
            <a:p>
              <a:pPr marL="0" indent="0">
                <a:lnSpc>
                  <a:spcPct val="100000"/>
                </a:lnSpc>
                <a:buNone/>
              </a:pPr>
              <a:r>
                <a:rPr lang="en-US" sz="900" dirty="0">
                  <a:solidFill>
                    <a:srgbClr val="5B9DFF"/>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900" dirty="0"/>
            </a:p>
          </p:txBody>
        </p:sp>
        <p:sp>
          <p:nvSpPr>
            <p:cNvPr id="15" name="矩形 14"/>
            <p:cNvSpPr/>
            <p:nvPr/>
          </p:nvSpPr>
          <p:spPr>
            <a:xfrm>
              <a:off x="492919" y="121443"/>
              <a:ext cx="2228850" cy="142875"/>
            </a:xfrm>
            <a:prstGeom prst="rect">
              <a:avLst/>
            </a:prstGeom>
            <a:noFill/>
          </p:spPr>
          <p:txBody>
            <a:bodyPr wrap="none" lIns="0" tIns="0" rIns="0" bIns="0" rtlCol="0" anchor="t"/>
            <a:lstStyle/>
            <a:p>
              <a:pPr marL="0" indent="0">
                <a:lnSpc>
                  <a:spcPct val="143000"/>
                </a:lnSpc>
                <a:buNone/>
              </a:pPr>
              <a:r>
                <a:rPr lang="zh-CN" sz="700" b="1" dirty="0">
                  <a:solidFill>
                    <a:srgbClr val="1F2A37"/>
                  </a:solidFill>
                  <a:latin typeface="Arial" panose="020B0604020202020204" pitchFamily="34" charset="0"/>
                  <a:ea typeface="微软雅黑" panose="020B0503020204020204" pitchFamily="34" charset="-122"/>
                </a:rPr>
                <a:t>患者健康档案</a:t>
              </a:r>
              <a:endParaRPr lang="en-US" sz="700" dirty="0"/>
            </a:p>
          </p:txBody>
        </p:sp>
        <p:sp>
          <p:nvSpPr>
            <p:cNvPr id="16" name="矩形 15"/>
            <p:cNvSpPr/>
            <p:nvPr/>
          </p:nvSpPr>
          <p:spPr>
            <a:xfrm>
              <a:off x="492919" y="292893"/>
              <a:ext cx="2228850" cy="139303"/>
            </a:xfrm>
            <a:prstGeom prst="rect">
              <a:avLst/>
            </a:prstGeom>
            <a:noFill/>
          </p:spPr>
          <p:txBody>
            <a:bodyPr wrap="none" lIns="0" tIns="0" rIns="0" bIns="0" rtlCol="0" anchor="t"/>
            <a:lstStyle/>
            <a:p>
              <a:pPr marL="0" indent="0">
                <a:lnSpc>
                  <a:spcPct val="163000"/>
                </a:lnSpc>
                <a:buNone/>
              </a:pPr>
              <a:r>
                <a:rPr lang="zh-CN" sz="600" b="1" dirty="0">
                  <a:solidFill>
                    <a:srgbClr val="2E6EA6"/>
                  </a:solidFill>
                  <a:latin typeface="Arial" panose="020B0604020202020204" pitchFamily="34" charset="0"/>
                  <a:ea typeface="微软雅黑" panose="020B0503020204020204" pitchFamily="34" charset="-122"/>
                </a:rPr>
                <a:t>提供最近住院信息、消费明细、预约挂号的完整查询链条。</a:t>
              </a:r>
              <a:endParaRPr lang="en-US" sz="600" dirty="0"/>
            </a:p>
          </p:txBody>
        </p:sp>
      </p:grpSp>
      <p:grpSp>
        <p:nvGrpSpPr>
          <p:cNvPr id="69" name="h2p-grp-h2p-animroot-3"/>
          <p:cNvGrpSpPr/>
          <p:nvPr/>
        </p:nvGrpSpPr>
        <p:grpSpPr>
          <a:xfrm>
            <a:off x="285750" y="2724559"/>
            <a:ext cx="3480457" cy="553641"/>
            <a:chOff x="0" y="0"/>
            <a:chExt cx="3480457" cy="553641"/>
          </a:xfrm>
        </p:grpSpPr>
        <p:sp>
          <p:nvSpPr>
            <p:cNvPr id="17" name="圆角矩形 16"/>
            <p:cNvSpPr/>
            <p:nvPr/>
          </p:nvSpPr>
          <p:spPr>
            <a:xfrm>
              <a:off x="0" y="0"/>
              <a:ext cx="3480457" cy="553641"/>
            </a:xfrm>
            <a:prstGeom prst="roundRect">
              <a:avLst>
                <a:gd name="adj" fmla="val 15484"/>
              </a:avLst>
            </a:prstGeom>
            <a:solidFill>
              <a:srgbClr val="FFFFFF"/>
            </a:solidFill>
            <a:ln w="6350">
              <a:solidFill>
                <a:srgbClr val="2E6EA6">
                  <a:alpha val="14000"/>
                </a:srgbClr>
              </a:solidFill>
              <a:prstDash val="solid"/>
            </a:ln>
          </p:spPr>
        </p:sp>
        <p:sp>
          <p:nvSpPr>
            <p:cNvPr id="18" name="圆角矩形 17"/>
            <p:cNvSpPr/>
            <p:nvPr/>
          </p:nvSpPr>
          <p:spPr>
            <a:xfrm>
              <a:off x="121444" y="121444"/>
              <a:ext cx="285750" cy="285750"/>
            </a:xfrm>
            <a:prstGeom prst="roundRect">
              <a:avLst>
                <a:gd name="adj" fmla="val 20000"/>
              </a:avLst>
            </a:prstGeom>
            <a:solidFill>
              <a:srgbClr val="5B9DFF">
                <a:alpha val="10000"/>
              </a:srgbClr>
            </a:solidFill>
          </p:spPr>
        </p:sp>
        <p:sp>
          <p:nvSpPr>
            <p:cNvPr id="19" name="矩形 18"/>
            <p:cNvSpPr/>
            <p:nvPr/>
          </p:nvSpPr>
          <p:spPr>
            <a:xfrm>
              <a:off x="214313" y="207169"/>
              <a:ext cx="100013" cy="114300"/>
            </a:xfrm>
            <a:prstGeom prst="rect">
              <a:avLst/>
            </a:prstGeom>
            <a:noFill/>
          </p:spPr>
          <p:txBody>
            <a:bodyPr wrap="none" lIns="0" tIns="0" rIns="0" bIns="0" rtlCol="0" anchor="t"/>
            <a:lstStyle/>
            <a:p>
              <a:pPr marL="0" indent="0">
                <a:lnSpc>
                  <a:spcPct val="100000"/>
                </a:lnSpc>
                <a:buNone/>
              </a:pPr>
              <a:r>
                <a:rPr lang="en-US" sz="900" dirty="0">
                  <a:solidFill>
                    <a:srgbClr val="5B9DFF"/>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900" dirty="0"/>
            </a:p>
          </p:txBody>
        </p:sp>
        <p:sp>
          <p:nvSpPr>
            <p:cNvPr id="20" name="矩形 19"/>
            <p:cNvSpPr/>
            <p:nvPr/>
          </p:nvSpPr>
          <p:spPr>
            <a:xfrm>
              <a:off x="492919" y="121444"/>
              <a:ext cx="2314575" cy="142875"/>
            </a:xfrm>
            <a:prstGeom prst="rect">
              <a:avLst/>
            </a:prstGeom>
            <a:noFill/>
          </p:spPr>
          <p:txBody>
            <a:bodyPr wrap="none" lIns="0" tIns="0" rIns="0" bIns="0" rtlCol="0" anchor="t"/>
            <a:lstStyle/>
            <a:p>
              <a:pPr marL="0" indent="0">
                <a:lnSpc>
                  <a:spcPct val="143000"/>
                </a:lnSpc>
                <a:buNone/>
              </a:pPr>
              <a:r>
                <a:rPr lang="zh-CN" sz="700" b="1" dirty="0">
                  <a:solidFill>
                    <a:srgbClr val="1F2A37"/>
                  </a:solidFill>
                  <a:latin typeface="Arial" panose="020B0604020202020204" pitchFamily="34" charset="0"/>
                  <a:ea typeface="微软雅黑" panose="020B0503020204020204" pitchFamily="34" charset="-122"/>
                </a:rPr>
                <a:t>医护工作台</a:t>
              </a:r>
              <a:endParaRPr lang="en-US" sz="700" dirty="0"/>
            </a:p>
          </p:txBody>
        </p:sp>
        <p:sp>
          <p:nvSpPr>
            <p:cNvPr id="21" name="矩形 20"/>
            <p:cNvSpPr/>
            <p:nvPr/>
          </p:nvSpPr>
          <p:spPr>
            <a:xfrm>
              <a:off x="492919" y="292894"/>
              <a:ext cx="2314575" cy="139303"/>
            </a:xfrm>
            <a:prstGeom prst="rect">
              <a:avLst/>
            </a:prstGeom>
            <a:noFill/>
          </p:spPr>
          <p:txBody>
            <a:bodyPr wrap="none" lIns="0" tIns="0" rIns="0" bIns="0" rtlCol="0" anchor="t"/>
            <a:lstStyle/>
            <a:p>
              <a:pPr marL="0" indent="0">
                <a:lnSpc>
                  <a:spcPct val="163000"/>
                </a:lnSpc>
                <a:buNone/>
              </a:pPr>
              <a:r>
                <a:rPr lang="zh-CN" sz="600" b="1" dirty="0">
                  <a:solidFill>
                    <a:srgbClr val="2E6EA6"/>
                  </a:solidFill>
                  <a:latin typeface="Arial" panose="020B0604020202020204" pitchFamily="34" charset="0"/>
                  <a:ea typeface="微软雅黑" panose="020B0503020204020204" pitchFamily="34" charset="-122"/>
                </a:rPr>
                <a:t>涵盖患者管理、护理记录更新、排班查询与管理等临床协作。</a:t>
              </a:r>
              <a:endParaRPr lang="en-US" sz="600" dirty="0"/>
            </a:p>
          </p:txBody>
        </p:sp>
      </p:grpSp>
      <p:grpSp>
        <p:nvGrpSpPr>
          <p:cNvPr id="70" name="h2p-grp-h2p-animroot-4"/>
          <p:cNvGrpSpPr/>
          <p:nvPr/>
        </p:nvGrpSpPr>
        <p:grpSpPr>
          <a:xfrm>
            <a:off x="285750" y="3392500"/>
            <a:ext cx="3480457" cy="553641"/>
            <a:chOff x="0" y="0"/>
            <a:chExt cx="3480457" cy="553641"/>
          </a:xfrm>
        </p:grpSpPr>
        <p:sp>
          <p:nvSpPr>
            <p:cNvPr id="22" name="圆角矩形 21"/>
            <p:cNvSpPr/>
            <p:nvPr/>
          </p:nvSpPr>
          <p:spPr>
            <a:xfrm>
              <a:off x="0" y="0"/>
              <a:ext cx="3480457" cy="553641"/>
            </a:xfrm>
            <a:prstGeom prst="roundRect">
              <a:avLst>
                <a:gd name="adj" fmla="val 15484"/>
              </a:avLst>
            </a:prstGeom>
            <a:solidFill>
              <a:srgbClr val="FFFFFF"/>
            </a:solidFill>
            <a:ln w="6350">
              <a:solidFill>
                <a:srgbClr val="2E6EA6">
                  <a:alpha val="14000"/>
                </a:srgbClr>
              </a:solidFill>
              <a:prstDash val="solid"/>
            </a:ln>
          </p:spPr>
        </p:sp>
        <p:sp>
          <p:nvSpPr>
            <p:cNvPr id="23" name="圆角矩形 22"/>
            <p:cNvSpPr/>
            <p:nvPr/>
          </p:nvSpPr>
          <p:spPr>
            <a:xfrm>
              <a:off x="121444" y="121444"/>
              <a:ext cx="285750" cy="285750"/>
            </a:xfrm>
            <a:prstGeom prst="roundRect">
              <a:avLst>
                <a:gd name="adj" fmla="val 20000"/>
              </a:avLst>
            </a:prstGeom>
            <a:solidFill>
              <a:srgbClr val="5B9DFF">
                <a:alpha val="10000"/>
              </a:srgbClr>
            </a:solidFill>
          </p:spPr>
        </p:sp>
        <p:sp>
          <p:nvSpPr>
            <p:cNvPr id="24" name="矩形 23"/>
            <p:cNvSpPr/>
            <p:nvPr/>
          </p:nvSpPr>
          <p:spPr>
            <a:xfrm>
              <a:off x="214313" y="207169"/>
              <a:ext cx="100013" cy="114300"/>
            </a:xfrm>
            <a:prstGeom prst="rect">
              <a:avLst/>
            </a:prstGeom>
            <a:noFill/>
          </p:spPr>
          <p:txBody>
            <a:bodyPr wrap="none" lIns="0" tIns="0" rIns="0" bIns="0" rtlCol="0" anchor="t"/>
            <a:lstStyle/>
            <a:p>
              <a:pPr marL="0" indent="0">
                <a:lnSpc>
                  <a:spcPct val="100000"/>
                </a:lnSpc>
                <a:buNone/>
              </a:pPr>
              <a:r>
                <a:rPr lang="en-US" sz="900" dirty="0">
                  <a:solidFill>
                    <a:srgbClr val="5B9DFF"/>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900" dirty="0"/>
            </a:p>
          </p:txBody>
        </p:sp>
        <p:sp>
          <p:nvSpPr>
            <p:cNvPr id="25" name="矩形 24"/>
            <p:cNvSpPr/>
            <p:nvPr/>
          </p:nvSpPr>
          <p:spPr>
            <a:xfrm>
              <a:off x="492919" y="121444"/>
              <a:ext cx="2347950" cy="142875"/>
            </a:xfrm>
            <a:prstGeom prst="rect">
              <a:avLst/>
            </a:prstGeom>
            <a:noFill/>
          </p:spPr>
          <p:txBody>
            <a:bodyPr wrap="none" lIns="0" tIns="0" rIns="0" bIns="0" rtlCol="0" anchor="t"/>
            <a:lstStyle/>
            <a:p>
              <a:pPr marL="0" indent="0">
                <a:lnSpc>
                  <a:spcPct val="143000"/>
                </a:lnSpc>
                <a:buNone/>
              </a:pPr>
              <a:r>
                <a:rPr lang="zh-CN" sz="700" b="1" dirty="0">
                  <a:solidFill>
                    <a:srgbClr val="1F2A37"/>
                  </a:solidFill>
                  <a:latin typeface="Arial" panose="020B0604020202020204" pitchFamily="34" charset="0"/>
                  <a:ea typeface="微软雅黑" panose="020B0503020204020204" pitchFamily="34" charset="-122"/>
                </a:rPr>
                <a:t>知识库管理</a:t>
              </a:r>
              <a:endParaRPr lang="en-US" sz="700" dirty="0"/>
            </a:p>
          </p:txBody>
        </p:sp>
        <p:sp>
          <p:nvSpPr>
            <p:cNvPr id="26" name="矩形 25"/>
            <p:cNvSpPr/>
            <p:nvPr/>
          </p:nvSpPr>
          <p:spPr>
            <a:xfrm>
              <a:off x="492919" y="292894"/>
              <a:ext cx="2347950" cy="139303"/>
            </a:xfrm>
            <a:prstGeom prst="rect">
              <a:avLst/>
            </a:prstGeom>
            <a:noFill/>
          </p:spPr>
          <p:txBody>
            <a:bodyPr wrap="none" lIns="0" tIns="0" rIns="0" bIns="0" rtlCol="0" anchor="t"/>
            <a:lstStyle/>
            <a:p>
              <a:pPr marL="0" indent="0">
                <a:lnSpc>
                  <a:spcPct val="163000"/>
                </a:lnSpc>
                <a:buNone/>
              </a:pPr>
              <a:r>
                <a:rPr lang="zh-CN" sz="600" b="1" dirty="0">
                  <a:solidFill>
                    <a:srgbClr val="2E6EA6"/>
                  </a:solidFill>
                  <a:latin typeface="Arial" panose="020B0604020202020204" pitchFamily="34" charset="0"/>
                  <a:ea typeface="微软雅黑" panose="020B0503020204020204" pitchFamily="34" charset="-122"/>
                </a:rPr>
                <a:t>支持多格式上传、自动切分、向量化入库与 </a:t>
              </a:r>
              <a:r>
                <a:rPr lang="en-US" sz="600" b="1" dirty="0">
                  <a:solidFill>
                    <a:srgbClr val="2E6EA6"/>
                  </a:solidFill>
                  <a:latin typeface="Arial" panose="020B0604020202020204" pitchFamily="34" charset="0"/>
                </a:rPr>
                <a:t>Milvus </a:t>
              </a:r>
              <a:r>
                <a:rPr lang="zh-CN" sz="600" b="1" dirty="0">
                  <a:solidFill>
                    <a:srgbClr val="2E6EA6"/>
                  </a:solidFill>
                  <a:latin typeface="Arial" panose="020B0604020202020204" pitchFamily="34" charset="0"/>
                  <a:ea typeface="微软雅黑" panose="020B0503020204020204" pitchFamily="34" charset="-122"/>
                </a:rPr>
                <a:t>高效检索。</a:t>
              </a:r>
              <a:endParaRPr lang="en-US" sz="600" dirty="0"/>
            </a:p>
          </p:txBody>
        </p:sp>
      </p:grpSp>
      <p:grpSp>
        <p:nvGrpSpPr>
          <p:cNvPr id="71" name="h2p-grp-h2p-animroot-5"/>
          <p:cNvGrpSpPr/>
          <p:nvPr/>
        </p:nvGrpSpPr>
        <p:grpSpPr>
          <a:xfrm>
            <a:off x="285750" y="4060441"/>
            <a:ext cx="3480457" cy="553641"/>
            <a:chOff x="0" y="0"/>
            <a:chExt cx="3480457" cy="553641"/>
          </a:xfrm>
        </p:grpSpPr>
        <p:sp>
          <p:nvSpPr>
            <p:cNvPr id="27" name="圆角矩形 26"/>
            <p:cNvSpPr/>
            <p:nvPr/>
          </p:nvSpPr>
          <p:spPr>
            <a:xfrm>
              <a:off x="0" y="0"/>
              <a:ext cx="3480457" cy="553641"/>
            </a:xfrm>
            <a:prstGeom prst="roundRect">
              <a:avLst>
                <a:gd name="adj" fmla="val 15484"/>
              </a:avLst>
            </a:prstGeom>
            <a:solidFill>
              <a:srgbClr val="FFFFFF"/>
            </a:solidFill>
            <a:ln w="6350">
              <a:solidFill>
                <a:srgbClr val="2E6EA6">
                  <a:alpha val="14000"/>
                </a:srgbClr>
              </a:solidFill>
              <a:prstDash val="solid"/>
            </a:ln>
          </p:spPr>
        </p:sp>
        <p:sp>
          <p:nvSpPr>
            <p:cNvPr id="28" name="圆角矩形 27"/>
            <p:cNvSpPr/>
            <p:nvPr/>
          </p:nvSpPr>
          <p:spPr>
            <a:xfrm>
              <a:off x="121444" y="121443"/>
              <a:ext cx="285750" cy="285750"/>
            </a:xfrm>
            <a:prstGeom prst="roundRect">
              <a:avLst>
                <a:gd name="adj" fmla="val 20000"/>
              </a:avLst>
            </a:prstGeom>
            <a:solidFill>
              <a:srgbClr val="5B9DFF">
                <a:alpha val="10000"/>
              </a:srgbClr>
            </a:solidFill>
          </p:spPr>
        </p:sp>
        <p:sp>
          <p:nvSpPr>
            <p:cNvPr id="29" name="矩形 28"/>
            <p:cNvSpPr/>
            <p:nvPr/>
          </p:nvSpPr>
          <p:spPr>
            <a:xfrm>
              <a:off x="200025" y="207168"/>
              <a:ext cx="128588" cy="114300"/>
            </a:xfrm>
            <a:prstGeom prst="rect">
              <a:avLst/>
            </a:prstGeom>
            <a:noFill/>
          </p:spPr>
          <p:txBody>
            <a:bodyPr wrap="none" lIns="0" tIns="0" rIns="0" bIns="0" rtlCol="0" anchor="t"/>
            <a:lstStyle/>
            <a:p>
              <a:pPr marL="0" indent="0">
                <a:lnSpc>
                  <a:spcPct val="100000"/>
                </a:lnSpc>
                <a:buNone/>
              </a:pPr>
              <a:r>
                <a:rPr lang="en-US" sz="900" dirty="0">
                  <a:solidFill>
                    <a:srgbClr val="5B9DFF"/>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900" dirty="0"/>
            </a:p>
          </p:txBody>
        </p:sp>
        <p:sp>
          <p:nvSpPr>
            <p:cNvPr id="30" name="矩形 29"/>
            <p:cNvSpPr/>
            <p:nvPr/>
          </p:nvSpPr>
          <p:spPr>
            <a:xfrm>
              <a:off x="492919" y="121443"/>
              <a:ext cx="1971675" cy="142875"/>
            </a:xfrm>
            <a:prstGeom prst="rect">
              <a:avLst/>
            </a:prstGeom>
            <a:noFill/>
          </p:spPr>
          <p:txBody>
            <a:bodyPr wrap="none" lIns="0" tIns="0" rIns="0" bIns="0" rtlCol="0" anchor="t"/>
            <a:lstStyle/>
            <a:p>
              <a:pPr marL="0" indent="0">
                <a:lnSpc>
                  <a:spcPct val="143000"/>
                </a:lnSpc>
                <a:buNone/>
              </a:pPr>
              <a:r>
                <a:rPr lang="zh-CN" sz="700" b="1" dirty="0">
                  <a:solidFill>
                    <a:srgbClr val="1F2A37"/>
                  </a:solidFill>
                  <a:latin typeface="Arial" panose="020B0604020202020204" pitchFamily="34" charset="0"/>
                  <a:ea typeface="微软雅黑" panose="020B0503020204020204" pitchFamily="34" charset="-122"/>
                </a:rPr>
                <a:t>系统管理</a:t>
              </a:r>
              <a:endParaRPr lang="en-US" sz="700" dirty="0"/>
            </a:p>
          </p:txBody>
        </p:sp>
        <p:sp>
          <p:nvSpPr>
            <p:cNvPr id="31" name="矩形 30"/>
            <p:cNvSpPr/>
            <p:nvPr/>
          </p:nvSpPr>
          <p:spPr>
            <a:xfrm>
              <a:off x="492919" y="292893"/>
              <a:ext cx="1971675" cy="139303"/>
            </a:xfrm>
            <a:prstGeom prst="rect">
              <a:avLst/>
            </a:prstGeom>
            <a:noFill/>
          </p:spPr>
          <p:txBody>
            <a:bodyPr wrap="none" lIns="0" tIns="0" rIns="0" bIns="0" rtlCol="0" anchor="t"/>
            <a:lstStyle/>
            <a:p>
              <a:pPr marL="0" indent="0">
                <a:lnSpc>
                  <a:spcPct val="163000"/>
                </a:lnSpc>
                <a:buNone/>
              </a:pPr>
              <a:r>
                <a:rPr lang="zh-CN" sz="600" b="1" dirty="0">
                  <a:solidFill>
                    <a:srgbClr val="2E6EA6"/>
                  </a:solidFill>
                  <a:latin typeface="Arial" panose="020B0604020202020204" pitchFamily="34" charset="0"/>
                  <a:ea typeface="微软雅黑" panose="020B0503020204020204" pitchFamily="34" charset="-122"/>
                </a:rPr>
                <a:t>用户权限管理及全系统运行数据的图形化看板展示。</a:t>
              </a:r>
              <a:endParaRPr lang="en-US" sz="600" dirty="0"/>
            </a:p>
          </p:txBody>
        </p:sp>
      </p:grpSp>
      <p:sp>
        <p:nvSpPr>
          <p:cNvPr id="32" name="Text 29"/>
          <p:cNvSpPr/>
          <p:nvPr/>
        </p:nvSpPr>
        <p:spPr>
          <a:xfrm>
            <a:off x="4221621" y="1045778"/>
            <a:ext cx="2438474" cy="192881"/>
          </a:xfrm>
          <a:prstGeom prst="rect">
            <a:avLst/>
          </a:prstGeom>
          <a:noFill/>
        </p:spPr>
        <p:txBody>
          <a:bodyPr wrap="none" lIns="0" tIns="0" rIns="0" bIns="0" rtlCol="0" anchor="ctr"/>
          <a:lstStyle/>
          <a:p>
            <a:pPr marL="0" indent="0">
              <a:lnSpc>
                <a:spcPct val="150000"/>
              </a:lnSpc>
              <a:buNone/>
            </a:pPr>
            <a:r>
              <a:rPr lang="en-US" sz="1300" b="1" dirty="0">
                <a:solidFill>
                  <a:srgbClr val="2E6EA6"/>
                </a:solidFill>
                <a:latin typeface="Arial" panose="020B0604020202020204" pitchFamily="34" charset="0"/>
              </a:rPr>
              <a:t>RAG</a:t>
            </a:r>
            <a:r>
              <a:rPr lang="zh-CN" sz="1300" b="1" dirty="0">
                <a:solidFill>
                  <a:srgbClr val="2E6EA6"/>
                </a:solidFill>
                <a:latin typeface="Arial" panose="020B0604020202020204" pitchFamily="34" charset="0"/>
                <a:ea typeface="微软雅黑" panose="020B0503020204020204" pitchFamily="34" charset="-122"/>
              </a:rPr>
              <a:t>（检索增强生成）工作流程</a:t>
            </a:r>
            <a:endParaRPr lang="en-US" sz="1300" dirty="0"/>
          </a:p>
        </p:txBody>
      </p:sp>
      <p:sp>
        <p:nvSpPr>
          <p:cNvPr id="33" name="Text 30"/>
          <p:cNvSpPr/>
          <p:nvPr/>
        </p:nvSpPr>
        <p:spPr>
          <a:xfrm>
            <a:off x="4051957" y="1074353"/>
            <a:ext cx="112514" cy="142875"/>
          </a:xfrm>
          <a:prstGeom prst="rect">
            <a:avLst/>
          </a:prstGeom>
          <a:noFill/>
        </p:spPr>
        <p:txBody>
          <a:bodyPr wrap="none" lIns="0" tIns="0" rIns="0" bIns="0" rtlCol="0" anchor="t"/>
          <a:lstStyle/>
          <a:p>
            <a:pPr marL="0" indent="0">
              <a:lnSpc>
                <a:spcPct val="143000"/>
              </a:lnSpc>
              <a:buNone/>
            </a:pPr>
            <a:r>
              <a:rPr lang="en-US" sz="700" dirty="0">
                <a:solidFill>
                  <a:srgbClr val="2E6EA6"/>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700" dirty="0"/>
          </a:p>
        </p:txBody>
      </p:sp>
      <p:grpSp>
        <p:nvGrpSpPr>
          <p:cNvPr id="72" name="h2p-grp-h2p-animroot-6"/>
          <p:cNvGrpSpPr/>
          <p:nvPr/>
        </p:nvGrpSpPr>
        <p:grpSpPr>
          <a:xfrm>
            <a:off x="4051957" y="1388678"/>
            <a:ext cx="4806293" cy="285750"/>
            <a:chOff x="0" y="0"/>
            <a:chExt cx="4806293" cy="285750"/>
          </a:xfrm>
        </p:grpSpPr>
        <p:sp>
          <p:nvSpPr>
            <p:cNvPr id="34" name="任意多边形 33"/>
            <p:cNvSpPr/>
            <p:nvPr/>
          </p:nvSpPr>
          <p:spPr>
            <a:xfrm>
              <a:off x="0" y="0"/>
              <a:ext cx="4806293" cy="285750"/>
            </a:xfrm>
            <a:custGeom>
              <a:avLst/>
              <a:gdLst/>
              <a:ahLst/>
              <a:cxnLst/>
              <a:pathLst>
                <a:path w="21600" h="21600">
                  <a:moveTo>
                    <a:pt x="128" y="0"/>
                  </a:moveTo>
                  <a:lnTo>
                    <a:pt x="21215" y="0"/>
                  </a:lnTo>
                  <a:lnTo>
                    <a:pt x="21290" y="125"/>
                  </a:lnTo>
                  <a:lnTo>
                    <a:pt x="21362" y="493"/>
                  </a:lnTo>
                  <a:lnTo>
                    <a:pt x="21429" y="1092"/>
                  </a:lnTo>
                  <a:lnTo>
                    <a:pt x="21487" y="1898"/>
                  </a:lnTo>
                  <a:lnTo>
                    <a:pt x="21535" y="2880"/>
                  </a:lnTo>
                  <a:lnTo>
                    <a:pt x="21571" y="4000"/>
                  </a:lnTo>
                  <a:lnTo>
                    <a:pt x="21593" y="5216"/>
                  </a:lnTo>
                  <a:lnTo>
                    <a:pt x="21600" y="6480"/>
                  </a:lnTo>
                  <a:lnTo>
                    <a:pt x="21600" y="15120"/>
                  </a:lnTo>
                  <a:lnTo>
                    <a:pt x="21593" y="16384"/>
                  </a:lnTo>
                  <a:lnTo>
                    <a:pt x="21571" y="17600"/>
                  </a:lnTo>
                  <a:lnTo>
                    <a:pt x="21535" y="18720"/>
                  </a:lnTo>
                  <a:lnTo>
                    <a:pt x="21487" y="19702"/>
                  </a:lnTo>
                  <a:lnTo>
                    <a:pt x="21429" y="20508"/>
                  </a:lnTo>
                  <a:lnTo>
                    <a:pt x="21362" y="21107"/>
                  </a:lnTo>
                  <a:lnTo>
                    <a:pt x="21290" y="21475"/>
                  </a:lnTo>
                  <a:lnTo>
                    <a:pt x="21215" y="21600"/>
                  </a:lnTo>
                  <a:lnTo>
                    <a:pt x="128" y="21600"/>
                  </a:lnTo>
                  <a:lnTo>
                    <a:pt x="103" y="21558"/>
                  </a:lnTo>
                  <a:lnTo>
                    <a:pt x="79" y="21436"/>
                  </a:lnTo>
                  <a:lnTo>
                    <a:pt x="57" y="21236"/>
                  </a:lnTo>
                  <a:lnTo>
                    <a:pt x="38" y="20967"/>
                  </a:lnTo>
                  <a:lnTo>
                    <a:pt x="22" y="20640"/>
                  </a:lnTo>
                  <a:lnTo>
                    <a:pt x="10" y="20267"/>
                  </a:lnTo>
                  <a:lnTo>
                    <a:pt x="2" y="19861"/>
                  </a:lnTo>
                  <a:lnTo>
                    <a:pt x="0" y="19440"/>
                  </a:lnTo>
                  <a:lnTo>
                    <a:pt x="0" y="2160"/>
                  </a:lnTo>
                  <a:lnTo>
                    <a:pt x="2" y="1739"/>
                  </a:lnTo>
                  <a:lnTo>
                    <a:pt x="10" y="1333"/>
                  </a:lnTo>
                  <a:lnTo>
                    <a:pt x="22" y="960"/>
                  </a:lnTo>
                  <a:lnTo>
                    <a:pt x="38" y="633"/>
                  </a:lnTo>
                  <a:lnTo>
                    <a:pt x="57" y="364"/>
                  </a:lnTo>
                  <a:lnTo>
                    <a:pt x="79" y="164"/>
                  </a:lnTo>
                  <a:lnTo>
                    <a:pt x="103" y="42"/>
                  </a:lnTo>
                  <a:close/>
                </a:path>
              </a:pathLst>
            </a:custGeom>
            <a:solidFill>
              <a:srgbClr val="FFFFFF"/>
            </a:solidFill>
          </p:spPr>
        </p:sp>
        <p:sp>
          <p:nvSpPr>
            <p:cNvPr id="35" name="任意多边形 34"/>
            <p:cNvSpPr/>
            <p:nvPr/>
          </p:nvSpPr>
          <p:spPr>
            <a:xfrm>
              <a:off x="0" y="0"/>
              <a:ext cx="28575" cy="285750"/>
            </a:xfrm>
            <a:custGeom>
              <a:avLst/>
              <a:gdLst/>
              <a:ahLst/>
              <a:cxnLst/>
              <a:pathLst>
                <a:path w="21600" h="21600">
                  <a:moveTo>
                    <a:pt x="21600" y="0"/>
                  </a:moveTo>
                  <a:lnTo>
                    <a:pt x="0" y="2160"/>
                  </a:lnTo>
                  <a:lnTo>
                    <a:pt x="0" y="19440"/>
                  </a:lnTo>
                  <a:lnTo>
                    <a:pt x="21600" y="21600"/>
                  </a:lnTo>
                  <a:lnTo>
                    <a:pt x="21600" y="19440"/>
                  </a:lnTo>
                  <a:lnTo>
                    <a:pt x="21600" y="2160"/>
                  </a:lnTo>
                  <a:lnTo>
                    <a:pt x="21600" y="0"/>
                  </a:lnTo>
                  <a:close/>
                </a:path>
              </a:pathLst>
            </a:custGeom>
            <a:solidFill>
              <a:srgbClr val="5B9DFF"/>
            </a:solidFill>
          </p:spPr>
        </p:sp>
        <p:sp>
          <p:nvSpPr>
            <p:cNvPr id="36" name="矩形 35"/>
            <p:cNvSpPr/>
            <p:nvPr/>
          </p:nvSpPr>
          <p:spPr>
            <a:xfrm>
              <a:off x="142875" y="85725"/>
              <a:ext cx="128588" cy="114300"/>
            </a:xfrm>
            <a:prstGeom prst="rect">
              <a:avLst/>
            </a:prstGeom>
            <a:noFill/>
          </p:spPr>
          <p:txBody>
            <a:bodyPr wrap="none" lIns="0" tIns="0" rIns="0" bIns="0" rtlCol="0" anchor="t"/>
            <a:lstStyle/>
            <a:p>
              <a:pPr marL="0" indent="0">
                <a:lnSpc>
                  <a:spcPct val="100000"/>
                </a:lnSpc>
                <a:buNone/>
              </a:pPr>
              <a:r>
                <a:rPr lang="en-US" sz="900" dirty="0">
                  <a:solidFill>
                    <a:srgbClr val="94A3B8"/>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900" dirty="0"/>
            </a:p>
          </p:txBody>
        </p:sp>
        <p:sp>
          <p:nvSpPr>
            <p:cNvPr id="37" name="矩形 36"/>
            <p:cNvSpPr/>
            <p:nvPr/>
          </p:nvSpPr>
          <p:spPr>
            <a:xfrm>
              <a:off x="385763" y="71438"/>
              <a:ext cx="1000125" cy="142875"/>
            </a:xfrm>
            <a:prstGeom prst="rect">
              <a:avLst/>
            </a:prstGeom>
            <a:noFill/>
          </p:spPr>
          <p:txBody>
            <a:bodyPr wrap="none" lIns="0" tIns="0" rIns="0" bIns="0" rtlCol="0" anchor="t"/>
            <a:lstStyle/>
            <a:p>
              <a:pPr marL="0" indent="0">
                <a:lnSpc>
                  <a:spcPct val="143000"/>
                </a:lnSpc>
                <a:buNone/>
              </a:pPr>
              <a:r>
                <a:rPr lang="zh-CN" sz="700" b="1" dirty="0">
                  <a:solidFill>
                    <a:srgbClr val="1F2A37"/>
                  </a:solidFill>
                  <a:latin typeface="Arial" panose="020B0604020202020204" pitchFamily="34" charset="0"/>
                  <a:ea typeface="微软雅黑" panose="020B0503020204020204" pitchFamily="34" charset="-122"/>
                </a:rPr>
                <a:t>用户输入自然语言提问</a:t>
              </a:r>
              <a:endParaRPr lang="en-US" sz="700" dirty="0"/>
            </a:p>
          </p:txBody>
        </p:sp>
      </p:grpSp>
      <p:sp>
        <p:nvSpPr>
          <p:cNvPr id="38" name="Text 35"/>
          <p:cNvSpPr/>
          <p:nvPr/>
        </p:nvSpPr>
        <p:spPr>
          <a:xfrm>
            <a:off x="4223407" y="1724434"/>
            <a:ext cx="100013" cy="100013"/>
          </a:xfrm>
          <a:prstGeom prst="rect">
            <a:avLst/>
          </a:prstGeom>
          <a:noFill/>
        </p:spPr>
        <p:txBody>
          <a:bodyPr wrap="none" lIns="0" tIns="0" rIns="0" bIns="0" rtlCol="0" anchor="t"/>
          <a:lstStyle/>
          <a:p>
            <a:pPr marL="0" indent="0">
              <a:lnSpc>
                <a:spcPct val="100000"/>
              </a:lnSpc>
              <a:buNone/>
            </a:pPr>
            <a:r>
              <a:rPr lang="en-US" sz="700" dirty="0">
                <a:solidFill>
                  <a:srgbClr val="5B9DFF"/>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700" dirty="0"/>
          </a:p>
        </p:txBody>
      </p:sp>
      <p:grpSp>
        <p:nvGrpSpPr>
          <p:cNvPr id="73" name="h2p-grp-h2p-animroot-7"/>
          <p:cNvGrpSpPr/>
          <p:nvPr/>
        </p:nvGrpSpPr>
        <p:grpSpPr>
          <a:xfrm>
            <a:off x="4051957" y="1881597"/>
            <a:ext cx="4806293" cy="292894"/>
            <a:chOff x="0" y="0"/>
            <a:chExt cx="4806293" cy="292894"/>
          </a:xfrm>
        </p:grpSpPr>
        <p:sp>
          <p:nvSpPr>
            <p:cNvPr id="39" name="任意多边形 38"/>
            <p:cNvSpPr/>
            <p:nvPr/>
          </p:nvSpPr>
          <p:spPr>
            <a:xfrm>
              <a:off x="0" y="0"/>
              <a:ext cx="4806293" cy="292894"/>
            </a:xfrm>
            <a:custGeom>
              <a:avLst/>
              <a:gdLst/>
              <a:ahLst/>
              <a:cxnLst/>
              <a:pathLst>
                <a:path w="21600" h="21600">
                  <a:moveTo>
                    <a:pt x="128" y="0"/>
                  </a:moveTo>
                  <a:lnTo>
                    <a:pt x="21215" y="0"/>
                  </a:lnTo>
                  <a:lnTo>
                    <a:pt x="21290" y="121"/>
                  </a:lnTo>
                  <a:lnTo>
                    <a:pt x="21362" y="481"/>
                  </a:lnTo>
                  <a:lnTo>
                    <a:pt x="21429" y="1065"/>
                  </a:lnTo>
                  <a:lnTo>
                    <a:pt x="21487" y="1852"/>
                  </a:lnTo>
                  <a:lnTo>
                    <a:pt x="21535" y="2810"/>
                  </a:lnTo>
                  <a:lnTo>
                    <a:pt x="21571" y="3903"/>
                  </a:lnTo>
                  <a:lnTo>
                    <a:pt x="21593" y="5089"/>
                  </a:lnTo>
                  <a:lnTo>
                    <a:pt x="21600" y="6322"/>
                  </a:lnTo>
                  <a:lnTo>
                    <a:pt x="21600" y="15278"/>
                  </a:lnTo>
                  <a:lnTo>
                    <a:pt x="21593" y="16511"/>
                  </a:lnTo>
                  <a:lnTo>
                    <a:pt x="21571" y="17697"/>
                  </a:lnTo>
                  <a:lnTo>
                    <a:pt x="21535" y="18790"/>
                  </a:lnTo>
                  <a:lnTo>
                    <a:pt x="21487" y="19748"/>
                  </a:lnTo>
                  <a:lnTo>
                    <a:pt x="21429" y="20535"/>
                  </a:lnTo>
                  <a:lnTo>
                    <a:pt x="21362" y="21119"/>
                  </a:lnTo>
                  <a:lnTo>
                    <a:pt x="21290" y="21479"/>
                  </a:lnTo>
                  <a:lnTo>
                    <a:pt x="21215" y="21600"/>
                  </a:lnTo>
                  <a:lnTo>
                    <a:pt x="128" y="21600"/>
                  </a:lnTo>
                  <a:lnTo>
                    <a:pt x="103" y="21560"/>
                  </a:lnTo>
                  <a:lnTo>
                    <a:pt x="79" y="21440"/>
                  </a:lnTo>
                  <a:lnTo>
                    <a:pt x="57" y="21245"/>
                  </a:lnTo>
                  <a:lnTo>
                    <a:pt x="38" y="20983"/>
                  </a:lnTo>
                  <a:lnTo>
                    <a:pt x="22" y="20663"/>
                  </a:lnTo>
                  <a:lnTo>
                    <a:pt x="10" y="20299"/>
                  </a:lnTo>
                  <a:lnTo>
                    <a:pt x="2" y="19904"/>
                  </a:lnTo>
                  <a:lnTo>
                    <a:pt x="0" y="19493"/>
                  </a:lnTo>
                  <a:lnTo>
                    <a:pt x="0" y="2107"/>
                  </a:lnTo>
                  <a:lnTo>
                    <a:pt x="2" y="1696"/>
                  </a:lnTo>
                  <a:lnTo>
                    <a:pt x="10" y="1301"/>
                  </a:lnTo>
                  <a:lnTo>
                    <a:pt x="22" y="937"/>
                  </a:lnTo>
                  <a:lnTo>
                    <a:pt x="38" y="617"/>
                  </a:lnTo>
                  <a:lnTo>
                    <a:pt x="57" y="355"/>
                  </a:lnTo>
                  <a:lnTo>
                    <a:pt x="79" y="160"/>
                  </a:lnTo>
                  <a:lnTo>
                    <a:pt x="103" y="40"/>
                  </a:lnTo>
                  <a:close/>
                </a:path>
              </a:pathLst>
            </a:custGeom>
            <a:solidFill>
              <a:srgbClr val="FFFFFF"/>
            </a:solidFill>
          </p:spPr>
        </p:sp>
        <p:sp>
          <p:nvSpPr>
            <p:cNvPr id="40" name="任意多边形 39"/>
            <p:cNvSpPr/>
            <p:nvPr/>
          </p:nvSpPr>
          <p:spPr>
            <a:xfrm>
              <a:off x="0" y="0"/>
              <a:ext cx="28575" cy="292894"/>
            </a:xfrm>
            <a:custGeom>
              <a:avLst/>
              <a:gdLst/>
              <a:ahLst/>
              <a:cxnLst/>
              <a:pathLst>
                <a:path w="21600" h="21600">
                  <a:moveTo>
                    <a:pt x="21600" y="0"/>
                  </a:moveTo>
                  <a:lnTo>
                    <a:pt x="0" y="2107"/>
                  </a:lnTo>
                  <a:lnTo>
                    <a:pt x="0" y="19493"/>
                  </a:lnTo>
                  <a:lnTo>
                    <a:pt x="21600" y="21600"/>
                  </a:lnTo>
                  <a:lnTo>
                    <a:pt x="21600" y="19493"/>
                  </a:lnTo>
                  <a:lnTo>
                    <a:pt x="21600" y="2107"/>
                  </a:lnTo>
                  <a:lnTo>
                    <a:pt x="21600" y="0"/>
                  </a:lnTo>
                  <a:close/>
                </a:path>
              </a:pathLst>
            </a:custGeom>
            <a:solidFill>
              <a:srgbClr val="5B9DFF"/>
            </a:solidFill>
          </p:spPr>
        </p:sp>
        <p:sp>
          <p:nvSpPr>
            <p:cNvPr id="41" name="矩形 40"/>
            <p:cNvSpPr/>
            <p:nvPr/>
          </p:nvSpPr>
          <p:spPr>
            <a:xfrm>
              <a:off x="142875" y="89297"/>
              <a:ext cx="114300" cy="114300"/>
            </a:xfrm>
            <a:prstGeom prst="rect">
              <a:avLst/>
            </a:prstGeom>
            <a:noFill/>
          </p:spPr>
          <p:txBody>
            <a:bodyPr wrap="none" lIns="0" tIns="0" rIns="0" bIns="0" rtlCol="0" anchor="t"/>
            <a:lstStyle/>
            <a:p>
              <a:pPr marL="0" indent="0">
                <a:lnSpc>
                  <a:spcPct val="100000"/>
                </a:lnSpc>
                <a:buNone/>
              </a:pPr>
              <a:r>
                <a:rPr lang="en-US" sz="900" dirty="0">
                  <a:solidFill>
                    <a:srgbClr val="94A3B8"/>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900" dirty="0"/>
            </a:p>
          </p:txBody>
        </p:sp>
        <p:sp>
          <p:nvSpPr>
            <p:cNvPr id="42" name="矩形 41"/>
            <p:cNvSpPr/>
            <p:nvPr/>
          </p:nvSpPr>
          <p:spPr>
            <a:xfrm>
              <a:off x="371475" y="71437"/>
              <a:ext cx="2478546" cy="150019"/>
            </a:xfrm>
            <a:prstGeom prst="rect">
              <a:avLst/>
            </a:prstGeom>
            <a:noFill/>
          </p:spPr>
          <p:txBody>
            <a:bodyPr wrap="none" lIns="0" tIns="0" rIns="0" bIns="0" rtlCol="0" anchor="t"/>
            <a:lstStyle/>
            <a:p>
              <a:pPr marL="0" indent="0">
                <a:lnSpc>
                  <a:spcPct val="143000"/>
                </a:lnSpc>
                <a:buNone/>
              </a:pPr>
              <a:r>
                <a:rPr lang="zh-CN" sz="700" dirty="0">
                  <a:solidFill>
                    <a:srgbClr val="1F2A37"/>
                  </a:solidFill>
                  <a:latin typeface="Arial" panose="020B0604020202020204" pitchFamily="34" charset="0"/>
                  <a:ea typeface="微软雅黑" panose="020B0503020204020204" pitchFamily="34" charset="-122"/>
                </a:rPr>
                <a:t>知识库检索：根据当前用户角色过滤可见文档 </a:t>
              </a:r>
              <a:r>
                <a:rPr lang="en-US" sz="600" b="1" dirty="0">
                  <a:solidFill>
                    <a:srgbClr val="2E6EA6"/>
                  </a:solidFill>
                  <a:highlight>
                    <a:srgbClr val="DCEAF5"/>
                  </a:highlight>
                  <a:latin typeface="Arial" panose="020B0604020202020204" pitchFamily="34" charset="0"/>
                </a:rPr>
                <a:t> </a:t>
              </a:r>
              <a:r>
                <a:rPr lang="zh-CN" sz="600" b="1" dirty="0">
                  <a:solidFill>
                    <a:srgbClr val="2E6EA6"/>
                  </a:solidFill>
                  <a:highlight>
                    <a:srgbClr val="DCEAF5"/>
                  </a:highlight>
                  <a:latin typeface="Arial" panose="020B0604020202020204" pitchFamily="34" charset="0"/>
                  <a:ea typeface="微软雅黑" panose="020B0503020204020204" pitchFamily="34" charset="-122"/>
                </a:rPr>
                <a:t>公开 </a:t>
              </a:r>
              <a:r>
                <a:rPr lang="en-US" sz="600" b="1" dirty="0">
                  <a:solidFill>
                    <a:srgbClr val="2E6EA6"/>
                  </a:solidFill>
                  <a:highlight>
                    <a:srgbClr val="DCEAF5"/>
                  </a:highlight>
                  <a:latin typeface="Arial" panose="020B0604020202020204" pitchFamily="34" charset="0"/>
                </a:rPr>
                <a:t> / </a:t>
              </a:r>
              <a:r>
                <a:rPr lang="en-US" sz="600" b="1" dirty="0">
                  <a:solidFill>
                    <a:srgbClr val="2E6EA6"/>
                  </a:solidFill>
                  <a:highlight>
                    <a:srgbClr val="DCEAF5"/>
                  </a:highlight>
                  <a:latin typeface="Arial" panose="020B0604020202020204" pitchFamily="34" charset="0"/>
                </a:rPr>
                <a:t> </a:t>
              </a:r>
              <a:r>
                <a:rPr lang="zh-CN" sz="600" b="1" dirty="0">
                  <a:solidFill>
                    <a:srgbClr val="2E6EA6"/>
                  </a:solidFill>
                  <a:highlight>
                    <a:srgbClr val="DCEAF5"/>
                  </a:highlight>
                  <a:latin typeface="Arial" panose="020B0604020202020204" pitchFamily="34" charset="0"/>
                  <a:ea typeface="微软雅黑" panose="020B0503020204020204" pitchFamily="34" charset="-122"/>
                </a:rPr>
                <a:t>私有 </a:t>
              </a:r>
              <a:endParaRPr lang="en-US" sz="700" dirty="0"/>
            </a:p>
          </p:txBody>
        </p:sp>
      </p:grpSp>
      <p:sp>
        <p:nvSpPr>
          <p:cNvPr id="43" name="Text 40"/>
          <p:cNvSpPr/>
          <p:nvPr/>
        </p:nvSpPr>
        <p:spPr>
          <a:xfrm>
            <a:off x="4223407" y="2224497"/>
            <a:ext cx="100013" cy="100013"/>
          </a:xfrm>
          <a:prstGeom prst="rect">
            <a:avLst/>
          </a:prstGeom>
          <a:noFill/>
        </p:spPr>
        <p:txBody>
          <a:bodyPr wrap="none" lIns="0" tIns="0" rIns="0" bIns="0" rtlCol="0" anchor="t"/>
          <a:lstStyle/>
          <a:p>
            <a:pPr marL="0" indent="0">
              <a:lnSpc>
                <a:spcPct val="100000"/>
              </a:lnSpc>
              <a:buNone/>
            </a:pPr>
            <a:r>
              <a:rPr lang="en-US" sz="700" dirty="0">
                <a:solidFill>
                  <a:srgbClr val="5B9DFF"/>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700" dirty="0"/>
          </a:p>
        </p:txBody>
      </p:sp>
      <p:grpSp>
        <p:nvGrpSpPr>
          <p:cNvPr id="74" name="h2p-grp-h2p-animroot-8"/>
          <p:cNvGrpSpPr/>
          <p:nvPr/>
        </p:nvGrpSpPr>
        <p:grpSpPr>
          <a:xfrm>
            <a:off x="4051957" y="2381659"/>
            <a:ext cx="4806293" cy="292894"/>
            <a:chOff x="0" y="0"/>
            <a:chExt cx="4806293" cy="292894"/>
          </a:xfrm>
        </p:grpSpPr>
        <p:sp>
          <p:nvSpPr>
            <p:cNvPr id="44" name="任意多边形 43"/>
            <p:cNvSpPr/>
            <p:nvPr/>
          </p:nvSpPr>
          <p:spPr>
            <a:xfrm>
              <a:off x="0" y="0"/>
              <a:ext cx="4806293" cy="292894"/>
            </a:xfrm>
            <a:custGeom>
              <a:avLst/>
              <a:gdLst/>
              <a:ahLst/>
              <a:cxnLst/>
              <a:pathLst>
                <a:path w="21600" h="21600">
                  <a:moveTo>
                    <a:pt x="128" y="0"/>
                  </a:moveTo>
                  <a:lnTo>
                    <a:pt x="21215" y="0"/>
                  </a:lnTo>
                  <a:lnTo>
                    <a:pt x="21290" y="121"/>
                  </a:lnTo>
                  <a:lnTo>
                    <a:pt x="21362" y="481"/>
                  </a:lnTo>
                  <a:lnTo>
                    <a:pt x="21429" y="1065"/>
                  </a:lnTo>
                  <a:lnTo>
                    <a:pt x="21487" y="1852"/>
                  </a:lnTo>
                  <a:lnTo>
                    <a:pt x="21535" y="2810"/>
                  </a:lnTo>
                  <a:lnTo>
                    <a:pt x="21571" y="3903"/>
                  </a:lnTo>
                  <a:lnTo>
                    <a:pt x="21593" y="5089"/>
                  </a:lnTo>
                  <a:lnTo>
                    <a:pt x="21600" y="6322"/>
                  </a:lnTo>
                  <a:lnTo>
                    <a:pt x="21600" y="15278"/>
                  </a:lnTo>
                  <a:lnTo>
                    <a:pt x="21593" y="16511"/>
                  </a:lnTo>
                  <a:lnTo>
                    <a:pt x="21571" y="17697"/>
                  </a:lnTo>
                  <a:lnTo>
                    <a:pt x="21535" y="18790"/>
                  </a:lnTo>
                  <a:lnTo>
                    <a:pt x="21487" y="19748"/>
                  </a:lnTo>
                  <a:lnTo>
                    <a:pt x="21429" y="20535"/>
                  </a:lnTo>
                  <a:lnTo>
                    <a:pt x="21362" y="21119"/>
                  </a:lnTo>
                  <a:lnTo>
                    <a:pt x="21290" y="21479"/>
                  </a:lnTo>
                  <a:lnTo>
                    <a:pt x="21215" y="21600"/>
                  </a:lnTo>
                  <a:lnTo>
                    <a:pt x="128" y="21600"/>
                  </a:lnTo>
                  <a:lnTo>
                    <a:pt x="103" y="21560"/>
                  </a:lnTo>
                  <a:lnTo>
                    <a:pt x="79" y="21440"/>
                  </a:lnTo>
                  <a:lnTo>
                    <a:pt x="57" y="21245"/>
                  </a:lnTo>
                  <a:lnTo>
                    <a:pt x="38" y="20983"/>
                  </a:lnTo>
                  <a:lnTo>
                    <a:pt x="22" y="20663"/>
                  </a:lnTo>
                  <a:lnTo>
                    <a:pt x="10" y="20299"/>
                  </a:lnTo>
                  <a:lnTo>
                    <a:pt x="2" y="19904"/>
                  </a:lnTo>
                  <a:lnTo>
                    <a:pt x="0" y="19493"/>
                  </a:lnTo>
                  <a:lnTo>
                    <a:pt x="0" y="2107"/>
                  </a:lnTo>
                  <a:lnTo>
                    <a:pt x="2" y="1696"/>
                  </a:lnTo>
                  <a:lnTo>
                    <a:pt x="10" y="1301"/>
                  </a:lnTo>
                  <a:lnTo>
                    <a:pt x="22" y="937"/>
                  </a:lnTo>
                  <a:lnTo>
                    <a:pt x="38" y="617"/>
                  </a:lnTo>
                  <a:lnTo>
                    <a:pt x="57" y="355"/>
                  </a:lnTo>
                  <a:lnTo>
                    <a:pt x="79" y="160"/>
                  </a:lnTo>
                  <a:lnTo>
                    <a:pt x="103" y="40"/>
                  </a:lnTo>
                  <a:close/>
                </a:path>
              </a:pathLst>
            </a:custGeom>
            <a:solidFill>
              <a:srgbClr val="FFFFFF"/>
            </a:solidFill>
          </p:spPr>
        </p:sp>
        <p:sp>
          <p:nvSpPr>
            <p:cNvPr id="45" name="任意多边形 44"/>
            <p:cNvSpPr/>
            <p:nvPr/>
          </p:nvSpPr>
          <p:spPr>
            <a:xfrm>
              <a:off x="0" y="0"/>
              <a:ext cx="28575" cy="292894"/>
            </a:xfrm>
            <a:custGeom>
              <a:avLst/>
              <a:gdLst/>
              <a:ahLst/>
              <a:cxnLst/>
              <a:pathLst>
                <a:path w="21600" h="21600">
                  <a:moveTo>
                    <a:pt x="21600" y="0"/>
                  </a:moveTo>
                  <a:lnTo>
                    <a:pt x="0" y="2107"/>
                  </a:lnTo>
                  <a:lnTo>
                    <a:pt x="0" y="19493"/>
                  </a:lnTo>
                  <a:lnTo>
                    <a:pt x="21600" y="21600"/>
                  </a:lnTo>
                  <a:lnTo>
                    <a:pt x="21600" y="19493"/>
                  </a:lnTo>
                  <a:lnTo>
                    <a:pt x="21600" y="2107"/>
                  </a:lnTo>
                  <a:lnTo>
                    <a:pt x="21600" y="0"/>
                  </a:lnTo>
                  <a:close/>
                </a:path>
              </a:pathLst>
            </a:custGeom>
            <a:solidFill>
              <a:srgbClr val="5B9DFF"/>
            </a:solidFill>
          </p:spPr>
        </p:sp>
        <p:sp>
          <p:nvSpPr>
            <p:cNvPr id="46" name="矩形 45"/>
            <p:cNvSpPr/>
            <p:nvPr/>
          </p:nvSpPr>
          <p:spPr>
            <a:xfrm>
              <a:off x="142875" y="89297"/>
              <a:ext cx="100013" cy="114300"/>
            </a:xfrm>
            <a:prstGeom prst="rect">
              <a:avLst/>
            </a:prstGeom>
            <a:noFill/>
          </p:spPr>
          <p:txBody>
            <a:bodyPr wrap="none" lIns="0" tIns="0" rIns="0" bIns="0" rtlCol="0" anchor="t"/>
            <a:lstStyle/>
            <a:p>
              <a:pPr marL="0" indent="0">
                <a:lnSpc>
                  <a:spcPct val="100000"/>
                </a:lnSpc>
                <a:buNone/>
              </a:pPr>
              <a:r>
                <a:rPr lang="en-US" sz="900" dirty="0">
                  <a:solidFill>
                    <a:srgbClr val="94A3B8"/>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900" dirty="0"/>
            </a:p>
          </p:txBody>
        </p:sp>
        <p:sp>
          <p:nvSpPr>
            <p:cNvPr id="47" name="矩形 46"/>
            <p:cNvSpPr/>
            <p:nvPr/>
          </p:nvSpPr>
          <p:spPr>
            <a:xfrm>
              <a:off x="357188" y="71438"/>
              <a:ext cx="1819424" cy="150019"/>
            </a:xfrm>
            <a:prstGeom prst="rect">
              <a:avLst/>
            </a:prstGeom>
            <a:noFill/>
          </p:spPr>
          <p:txBody>
            <a:bodyPr wrap="none" lIns="0" tIns="0" rIns="0" bIns="0" rtlCol="0" anchor="t"/>
            <a:lstStyle/>
            <a:p>
              <a:pPr marL="0" indent="0">
                <a:lnSpc>
                  <a:spcPct val="143000"/>
                </a:lnSpc>
                <a:buNone/>
              </a:pPr>
              <a:r>
                <a:rPr lang="zh-CN" sz="700" dirty="0">
                  <a:solidFill>
                    <a:srgbClr val="1F2A37"/>
                  </a:solidFill>
                  <a:latin typeface="Arial" panose="020B0604020202020204" pitchFamily="34" charset="0"/>
                  <a:ea typeface="微软雅黑" panose="020B0503020204020204" pitchFamily="34" charset="-122"/>
                </a:rPr>
                <a:t>文档切分与向量召回 </a:t>
              </a:r>
              <a:r>
                <a:rPr lang="en-US" sz="600" b="1" dirty="0">
                  <a:solidFill>
                    <a:srgbClr val="2E6EA6"/>
                  </a:solidFill>
                  <a:highlight>
                    <a:srgbClr val="DCEAF5"/>
                  </a:highlight>
                  <a:latin typeface="Arial" panose="020B0604020202020204" pitchFamily="34" charset="0"/>
                </a:rPr>
                <a:t> Milvus / NumpyStore </a:t>
              </a:r>
              <a:endParaRPr lang="en-US" sz="700" dirty="0"/>
            </a:p>
          </p:txBody>
        </p:sp>
      </p:grpSp>
      <p:sp>
        <p:nvSpPr>
          <p:cNvPr id="48" name="Text 45"/>
          <p:cNvSpPr/>
          <p:nvPr/>
        </p:nvSpPr>
        <p:spPr>
          <a:xfrm>
            <a:off x="4223407" y="2724559"/>
            <a:ext cx="100013" cy="100013"/>
          </a:xfrm>
          <a:prstGeom prst="rect">
            <a:avLst/>
          </a:prstGeom>
          <a:noFill/>
        </p:spPr>
        <p:txBody>
          <a:bodyPr wrap="none" lIns="0" tIns="0" rIns="0" bIns="0" rtlCol="0" anchor="t"/>
          <a:lstStyle/>
          <a:p>
            <a:pPr marL="0" indent="0">
              <a:lnSpc>
                <a:spcPct val="100000"/>
              </a:lnSpc>
              <a:buNone/>
            </a:pPr>
            <a:r>
              <a:rPr lang="en-US" sz="700" dirty="0">
                <a:solidFill>
                  <a:srgbClr val="5B9DFF"/>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700" dirty="0"/>
          </a:p>
        </p:txBody>
      </p:sp>
      <p:grpSp>
        <p:nvGrpSpPr>
          <p:cNvPr id="75" name="h2p-grp-h2p-animroot-9"/>
          <p:cNvGrpSpPr/>
          <p:nvPr/>
        </p:nvGrpSpPr>
        <p:grpSpPr>
          <a:xfrm>
            <a:off x="4051957" y="2881722"/>
            <a:ext cx="4806293" cy="292894"/>
            <a:chOff x="0" y="0"/>
            <a:chExt cx="4806293" cy="292894"/>
          </a:xfrm>
        </p:grpSpPr>
        <p:sp>
          <p:nvSpPr>
            <p:cNvPr id="49" name="任意多边形 48"/>
            <p:cNvSpPr/>
            <p:nvPr/>
          </p:nvSpPr>
          <p:spPr>
            <a:xfrm>
              <a:off x="0" y="0"/>
              <a:ext cx="4806293" cy="292894"/>
            </a:xfrm>
            <a:custGeom>
              <a:avLst/>
              <a:gdLst/>
              <a:ahLst/>
              <a:cxnLst/>
              <a:pathLst>
                <a:path w="21600" h="21600">
                  <a:moveTo>
                    <a:pt x="128" y="0"/>
                  </a:moveTo>
                  <a:lnTo>
                    <a:pt x="21215" y="0"/>
                  </a:lnTo>
                  <a:lnTo>
                    <a:pt x="21290" y="121"/>
                  </a:lnTo>
                  <a:lnTo>
                    <a:pt x="21362" y="481"/>
                  </a:lnTo>
                  <a:lnTo>
                    <a:pt x="21429" y="1065"/>
                  </a:lnTo>
                  <a:lnTo>
                    <a:pt x="21487" y="1852"/>
                  </a:lnTo>
                  <a:lnTo>
                    <a:pt x="21535" y="2810"/>
                  </a:lnTo>
                  <a:lnTo>
                    <a:pt x="21571" y="3903"/>
                  </a:lnTo>
                  <a:lnTo>
                    <a:pt x="21593" y="5089"/>
                  </a:lnTo>
                  <a:lnTo>
                    <a:pt x="21600" y="6322"/>
                  </a:lnTo>
                  <a:lnTo>
                    <a:pt x="21600" y="15278"/>
                  </a:lnTo>
                  <a:lnTo>
                    <a:pt x="21593" y="16511"/>
                  </a:lnTo>
                  <a:lnTo>
                    <a:pt x="21571" y="17697"/>
                  </a:lnTo>
                  <a:lnTo>
                    <a:pt x="21535" y="18790"/>
                  </a:lnTo>
                  <a:lnTo>
                    <a:pt x="21487" y="19748"/>
                  </a:lnTo>
                  <a:lnTo>
                    <a:pt x="21429" y="20535"/>
                  </a:lnTo>
                  <a:lnTo>
                    <a:pt x="21362" y="21119"/>
                  </a:lnTo>
                  <a:lnTo>
                    <a:pt x="21290" y="21479"/>
                  </a:lnTo>
                  <a:lnTo>
                    <a:pt x="21215" y="21600"/>
                  </a:lnTo>
                  <a:lnTo>
                    <a:pt x="128" y="21600"/>
                  </a:lnTo>
                  <a:lnTo>
                    <a:pt x="103" y="21560"/>
                  </a:lnTo>
                  <a:lnTo>
                    <a:pt x="79" y="21440"/>
                  </a:lnTo>
                  <a:lnTo>
                    <a:pt x="57" y="21245"/>
                  </a:lnTo>
                  <a:lnTo>
                    <a:pt x="38" y="20983"/>
                  </a:lnTo>
                  <a:lnTo>
                    <a:pt x="22" y="20663"/>
                  </a:lnTo>
                  <a:lnTo>
                    <a:pt x="10" y="20299"/>
                  </a:lnTo>
                  <a:lnTo>
                    <a:pt x="2" y="19904"/>
                  </a:lnTo>
                  <a:lnTo>
                    <a:pt x="0" y="19493"/>
                  </a:lnTo>
                  <a:lnTo>
                    <a:pt x="0" y="2107"/>
                  </a:lnTo>
                  <a:lnTo>
                    <a:pt x="2" y="1696"/>
                  </a:lnTo>
                  <a:lnTo>
                    <a:pt x="10" y="1301"/>
                  </a:lnTo>
                  <a:lnTo>
                    <a:pt x="22" y="937"/>
                  </a:lnTo>
                  <a:lnTo>
                    <a:pt x="38" y="617"/>
                  </a:lnTo>
                  <a:lnTo>
                    <a:pt x="57" y="355"/>
                  </a:lnTo>
                  <a:lnTo>
                    <a:pt x="79" y="160"/>
                  </a:lnTo>
                  <a:lnTo>
                    <a:pt x="103" y="40"/>
                  </a:lnTo>
                  <a:close/>
                </a:path>
              </a:pathLst>
            </a:custGeom>
            <a:solidFill>
              <a:srgbClr val="FFFFFF"/>
            </a:solidFill>
          </p:spPr>
        </p:sp>
        <p:sp>
          <p:nvSpPr>
            <p:cNvPr id="50" name="任意多边形 49"/>
            <p:cNvSpPr/>
            <p:nvPr/>
          </p:nvSpPr>
          <p:spPr>
            <a:xfrm>
              <a:off x="0" y="0"/>
              <a:ext cx="28575" cy="292894"/>
            </a:xfrm>
            <a:custGeom>
              <a:avLst/>
              <a:gdLst/>
              <a:ahLst/>
              <a:cxnLst/>
              <a:pathLst>
                <a:path w="21600" h="21600">
                  <a:moveTo>
                    <a:pt x="21600" y="0"/>
                  </a:moveTo>
                  <a:lnTo>
                    <a:pt x="0" y="2107"/>
                  </a:lnTo>
                  <a:lnTo>
                    <a:pt x="0" y="19493"/>
                  </a:lnTo>
                  <a:lnTo>
                    <a:pt x="21600" y="21600"/>
                  </a:lnTo>
                  <a:lnTo>
                    <a:pt x="21600" y="19493"/>
                  </a:lnTo>
                  <a:lnTo>
                    <a:pt x="21600" y="2107"/>
                  </a:lnTo>
                  <a:lnTo>
                    <a:pt x="21600" y="0"/>
                  </a:lnTo>
                  <a:close/>
                </a:path>
              </a:pathLst>
            </a:custGeom>
            <a:solidFill>
              <a:srgbClr val="5B9DFF"/>
            </a:solidFill>
          </p:spPr>
        </p:sp>
        <p:sp>
          <p:nvSpPr>
            <p:cNvPr id="51" name="矩形 50"/>
            <p:cNvSpPr/>
            <p:nvPr/>
          </p:nvSpPr>
          <p:spPr>
            <a:xfrm>
              <a:off x="142875" y="89297"/>
              <a:ext cx="114300" cy="114300"/>
            </a:xfrm>
            <a:prstGeom prst="rect">
              <a:avLst/>
            </a:prstGeom>
            <a:noFill/>
          </p:spPr>
          <p:txBody>
            <a:bodyPr wrap="none" lIns="0" tIns="0" rIns="0" bIns="0" rtlCol="0" anchor="t"/>
            <a:lstStyle/>
            <a:p>
              <a:pPr marL="0" indent="0">
                <a:lnSpc>
                  <a:spcPct val="100000"/>
                </a:lnSpc>
                <a:buNone/>
              </a:pPr>
              <a:r>
                <a:rPr lang="en-US" sz="900" dirty="0">
                  <a:solidFill>
                    <a:srgbClr val="94A3B8"/>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900" dirty="0"/>
            </a:p>
          </p:txBody>
        </p:sp>
        <p:sp>
          <p:nvSpPr>
            <p:cNvPr id="52" name="矩形 51"/>
            <p:cNvSpPr/>
            <p:nvPr/>
          </p:nvSpPr>
          <p:spPr>
            <a:xfrm>
              <a:off x="371475" y="71437"/>
              <a:ext cx="1577429" cy="150019"/>
            </a:xfrm>
            <a:prstGeom prst="rect">
              <a:avLst/>
            </a:prstGeom>
            <a:noFill/>
          </p:spPr>
          <p:txBody>
            <a:bodyPr wrap="none" lIns="0" tIns="0" rIns="0" bIns="0" rtlCol="0" anchor="t"/>
            <a:lstStyle/>
            <a:p>
              <a:pPr marL="0" indent="0">
                <a:lnSpc>
                  <a:spcPct val="143000"/>
                </a:lnSpc>
                <a:buNone/>
              </a:pPr>
              <a:r>
                <a:rPr lang="zh-CN" sz="700" dirty="0">
                  <a:solidFill>
                    <a:srgbClr val="1F2A37"/>
                  </a:solidFill>
                  <a:latin typeface="Arial" panose="020B0604020202020204" pitchFamily="34" charset="0"/>
                  <a:ea typeface="微软雅黑" panose="020B0503020204020204" pitchFamily="34" charset="-122"/>
                </a:rPr>
                <a:t>构建 </a:t>
              </a:r>
              <a:r>
                <a:rPr lang="en-US" sz="700" dirty="0">
                  <a:solidFill>
                    <a:srgbClr val="1F2A37"/>
                  </a:solidFill>
                  <a:latin typeface="Arial" panose="020B0604020202020204" pitchFamily="34" charset="0"/>
                </a:rPr>
                <a:t>Prompt </a:t>
              </a:r>
              <a:r>
                <a:rPr lang="zh-CN" sz="700" dirty="0">
                  <a:solidFill>
                    <a:srgbClr val="1F2A37"/>
                  </a:solidFill>
                  <a:latin typeface="Arial" panose="020B0604020202020204" pitchFamily="34" charset="0"/>
                  <a:ea typeface="微软雅黑" panose="020B0503020204020204" pitchFamily="34" charset="-122"/>
                </a:rPr>
                <a:t>上下文 </a:t>
              </a:r>
              <a:r>
                <a:rPr lang="en-US" sz="600" b="1" dirty="0">
                  <a:solidFill>
                    <a:srgbClr val="2E6EA6"/>
                  </a:solidFill>
                  <a:highlight>
                    <a:srgbClr val="DCEAF5"/>
                  </a:highlight>
                  <a:latin typeface="Arial" panose="020B0604020202020204" pitchFamily="34" charset="0"/>
                </a:rPr>
                <a:t> Top-K </a:t>
              </a:r>
              <a:r>
                <a:rPr lang="en-US" sz="600" b="1" dirty="0">
                  <a:solidFill>
                    <a:srgbClr val="2E6EA6"/>
                  </a:solidFill>
                  <a:highlight>
                    <a:srgbClr val="DCEAF5"/>
                  </a:highlight>
                  <a:latin typeface="Arial" panose="020B0604020202020204" pitchFamily="34" charset="0"/>
                </a:rPr>
                <a:t> </a:t>
              </a:r>
              <a:r>
                <a:rPr lang="zh-CN" sz="600" b="1" dirty="0">
                  <a:solidFill>
                    <a:srgbClr val="2E6EA6"/>
                  </a:solidFill>
                  <a:highlight>
                    <a:srgbClr val="DCEAF5"/>
                  </a:highlight>
                  <a:latin typeface="Arial" panose="020B0604020202020204" pitchFamily="34" charset="0"/>
                  <a:ea typeface="微软雅黑" panose="020B0503020204020204" pitchFamily="34" charset="-122"/>
                </a:rPr>
                <a:t>相似片段 </a:t>
              </a:r>
              <a:endParaRPr lang="en-US" sz="700" dirty="0"/>
            </a:p>
          </p:txBody>
        </p:sp>
      </p:grpSp>
      <p:sp>
        <p:nvSpPr>
          <p:cNvPr id="53" name="Text 50"/>
          <p:cNvSpPr/>
          <p:nvPr/>
        </p:nvSpPr>
        <p:spPr>
          <a:xfrm>
            <a:off x="4223407" y="3224622"/>
            <a:ext cx="100013" cy="100013"/>
          </a:xfrm>
          <a:prstGeom prst="rect">
            <a:avLst/>
          </a:prstGeom>
          <a:noFill/>
        </p:spPr>
        <p:txBody>
          <a:bodyPr wrap="none" lIns="0" tIns="0" rIns="0" bIns="0" rtlCol="0" anchor="t"/>
          <a:lstStyle/>
          <a:p>
            <a:pPr marL="0" indent="0">
              <a:lnSpc>
                <a:spcPct val="100000"/>
              </a:lnSpc>
              <a:buNone/>
            </a:pPr>
            <a:r>
              <a:rPr lang="en-US" sz="700" dirty="0">
                <a:solidFill>
                  <a:srgbClr val="5B9DFF"/>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700" dirty="0"/>
          </a:p>
        </p:txBody>
      </p:sp>
      <p:grpSp>
        <p:nvGrpSpPr>
          <p:cNvPr id="76" name="h2p-grp-h2p-animroot-10"/>
          <p:cNvGrpSpPr/>
          <p:nvPr/>
        </p:nvGrpSpPr>
        <p:grpSpPr>
          <a:xfrm>
            <a:off x="4051957" y="3381784"/>
            <a:ext cx="4806293" cy="292894"/>
            <a:chOff x="0" y="0"/>
            <a:chExt cx="4806293" cy="292894"/>
          </a:xfrm>
        </p:grpSpPr>
        <p:sp>
          <p:nvSpPr>
            <p:cNvPr id="54" name="任意多边形 53"/>
            <p:cNvSpPr/>
            <p:nvPr/>
          </p:nvSpPr>
          <p:spPr>
            <a:xfrm>
              <a:off x="0" y="0"/>
              <a:ext cx="4806293" cy="292894"/>
            </a:xfrm>
            <a:custGeom>
              <a:avLst/>
              <a:gdLst/>
              <a:ahLst/>
              <a:cxnLst/>
              <a:pathLst>
                <a:path w="21600" h="21600">
                  <a:moveTo>
                    <a:pt x="128" y="0"/>
                  </a:moveTo>
                  <a:lnTo>
                    <a:pt x="21215" y="0"/>
                  </a:lnTo>
                  <a:lnTo>
                    <a:pt x="21290" y="121"/>
                  </a:lnTo>
                  <a:lnTo>
                    <a:pt x="21362" y="481"/>
                  </a:lnTo>
                  <a:lnTo>
                    <a:pt x="21429" y="1065"/>
                  </a:lnTo>
                  <a:lnTo>
                    <a:pt x="21487" y="1852"/>
                  </a:lnTo>
                  <a:lnTo>
                    <a:pt x="21535" y="2810"/>
                  </a:lnTo>
                  <a:lnTo>
                    <a:pt x="21571" y="3903"/>
                  </a:lnTo>
                  <a:lnTo>
                    <a:pt x="21593" y="5089"/>
                  </a:lnTo>
                  <a:lnTo>
                    <a:pt x="21600" y="6322"/>
                  </a:lnTo>
                  <a:lnTo>
                    <a:pt x="21600" y="15278"/>
                  </a:lnTo>
                  <a:lnTo>
                    <a:pt x="21593" y="16511"/>
                  </a:lnTo>
                  <a:lnTo>
                    <a:pt x="21571" y="17697"/>
                  </a:lnTo>
                  <a:lnTo>
                    <a:pt x="21535" y="18790"/>
                  </a:lnTo>
                  <a:lnTo>
                    <a:pt x="21487" y="19748"/>
                  </a:lnTo>
                  <a:lnTo>
                    <a:pt x="21429" y="20535"/>
                  </a:lnTo>
                  <a:lnTo>
                    <a:pt x="21362" y="21119"/>
                  </a:lnTo>
                  <a:lnTo>
                    <a:pt x="21290" y="21479"/>
                  </a:lnTo>
                  <a:lnTo>
                    <a:pt x="21215" y="21600"/>
                  </a:lnTo>
                  <a:lnTo>
                    <a:pt x="128" y="21600"/>
                  </a:lnTo>
                  <a:lnTo>
                    <a:pt x="103" y="21560"/>
                  </a:lnTo>
                  <a:lnTo>
                    <a:pt x="79" y="21440"/>
                  </a:lnTo>
                  <a:lnTo>
                    <a:pt x="57" y="21245"/>
                  </a:lnTo>
                  <a:lnTo>
                    <a:pt x="38" y="20983"/>
                  </a:lnTo>
                  <a:lnTo>
                    <a:pt x="22" y="20663"/>
                  </a:lnTo>
                  <a:lnTo>
                    <a:pt x="10" y="20299"/>
                  </a:lnTo>
                  <a:lnTo>
                    <a:pt x="2" y="19904"/>
                  </a:lnTo>
                  <a:lnTo>
                    <a:pt x="0" y="19493"/>
                  </a:lnTo>
                  <a:lnTo>
                    <a:pt x="0" y="2107"/>
                  </a:lnTo>
                  <a:lnTo>
                    <a:pt x="2" y="1696"/>
                  </a:lnTo>
                  <a:lnTo>
                    <a:pt x="10" y="1301"/>
                  </a:lnTo>
                  <a:lnTo>
                    <a:pt x="22" y="937"/>
                  </a:lnTo>
                  <a:lnTo>
                    <a:pt x="38" y="617"/>
                  </a:lnTo>
                  <a:lnTo>
                    <a:pt x="57" y="355"/>
                  </a:lnTo>
                  <a:lnTo>
                    <a:pt x="79" y="160"/>
                  </a:lnTo>
                  <a:lnTo>
                    <a:pt x="103" y="40"/>
                  </a:lnTo>
                  <a:close/>
                </a:path>
              </a:pathLst>
            </a:custGeom>
            <a:solidFill>
              <a:srgbClr val="FFFFFF"/>
            </a:solidFill>
          </p:spPr>
        </p:sp>
        <p:sp>
          <p:nvSpPr>
            <p:cNvPr id="55" name="任意多边形 54"/>
            <p:cNvSpPr/>
            <p:nvPr/>
          </p:nvSpPr>
          <p:spPr>
            <a:xfrm>
              <a:off x="0" y="0"/>
              <a:ext cx="28575" cy="292894"/>
            </a:xfrm>
            <a:custGeom>
              <a:avLst/>
              <a:gdLst/>
              <a:ahLst/>
              <a:cxnLst/>
              <a:pathLst>
                <a:path w="21600" h="21600">
                  <a:moveTo>
                    <a:pt x="21600" y="0"/>
                  </a:moveTo>
                  <a:lnTo>
                    <a:pt x="0" y="2107"/>
                  </a:lnTo>
                  <a:lnTo>
                    <a:pt x="0" y="19493"/>
                  </a:lnTo>
                  <a:lnTo>
                    <a:pt x="21600" y="21600"/>
                  </a:lnTo>
                  <a:lnTo>
                    <a:pt x="21600" y="19493"/>
                  </a:lnTo>
                  <a:lnTo>
                    <a:pt x="21600" y="2107"/>
                  </a:lnTo>
                  <a:lnTo>
                    <a:pt x="21600" y="0"/>
                  </a:lnTo>
                  <a:close/>
                </a:path>
              </a:pathLst>
            </a:custGeom>
            <a:solidFill>
              <a:srgbClr val="5B9DFF"/>
            </a:solidFill>
          </p:spPr>
        </p:sp>
        <p:sp>
          <p:nvSpPr>
            <p:cNvPr id="56" name="矩形 55"/>
            <p:cNvSpPr/>
            <p:nvPr/>
          </p:nvSpPr>
          <p:spPr>
            <a:xfrm>
              <a:off x="142875" y="89297"/>
              <a:ext cx="114300" cy="114300"/>
            </a:xfrm>
            <a:prstGeom prst="rect">
              <a:avLst/>
            </a:prstGeom>
            <a:noFill/>
          </p:spPr>
          <p:txBody>
            <a:bodyPr wrap="none" lIns="0" tIns="0" rIns="0" bIns="0" rtlCol="0" anchor="t"/>
            <a:lstStyle/>
            <a:p>
              <a:pPr marL="0" indent="0">
                <a:lnSpc>
                  <a:spcPct val="100000"/>
                </a:lnSpc>
                <a:buNone/>
              </a:pPr>
              <a:r>
                <a:rPr lang="en-US" sz="900" dirty="0">
                  <a:solidFill>
                    <a:srgbClr val="94A3B8"/>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900" dirty="0"/>
            </a:p>
          </p:txBody>
        </p:sp>
        <p:sp>
          <p:nvSpPr>
            <p:cNvPr id="57" name="矩形 56"/>
            <p:cNvSpPr/>
            <p:nvPr/>
          </p:nvSpPr>
          <p:spPr>
            <a:xfrm>
              <a:off x="371475" y="71438"/>
              <a:ext cx="1464134" cy="150019"/>
            </a:xfrm>
            <a:prstGeom prst="rect">
              <a:avLst/>
            </a:prstGeom>
            <a:noFill/>
          </p:spPr>
          <p:txBody>
            <a:bodyPr wrap="none" lIns="0" tIns="0" rIns="0" bIns="0" rtlCol="0" anchor="t"/>
            <a:lstStyle/>
            <a:p>
              <a:pPr marL="0" indent="0">
                <a:lnSpc>
                  <a:spcPct val="143000"/>
                </a:lnSpc>
                <a:buNone/>
              </a:pPr>
              <a:r>
                <a:rPr lang="en-US" sz="700" dirty="0">
                  <a:solidFill>
                    <a:srgbClr val="1F2A37"/>
                  </a:solidFill>
                  <a:latin typeface="Arial" panose="020B0604020202020204" pitchFamily="34" charset="0"/>
                </a:rPr>
                <a:t>LLM </a:t>
              </a:r>
              <a:r>
                <a:rPr lang="zh-CN" sz="700" dirty="0">
                  <a:solidFill>
                    <a:srgbClr val="1F2A37"/>
                  </a:solidFill>
                  <a:latin typeface="Arial" panose="020B0604020202020204" pitchFamily="34" charset="0"/>
                  <a:ea typeface="微软雅黑" panose="020B0503020204020204" pitchFamily="34" charset="-122"/>
                </a:rPr>
                <a:t>处理 </a:t>
              </a:r>
              <a:r>
                <a:rPr lang="en-US" sz="600" b="1" dirty="0">
                  <a:solidFill>
                    <a:srgbClr val="2E6EA6"/>
                  </a:solidFill>
                  <a:highlight>
                    <a:srgbClr val="DCEAF5"/>
                  </a:highlight>
                  <a:latin typeface="Arial" panose="020B0604020202020204" pitchFamily="34" charset="0"/>
                </a:rPr>
                <a:t> OpenAI / DeepSeek </a:t>
              </a:r>
              <a:r>
                <a:rPr lang="en-US" sz="600" b="1" dirty="0">
                  <a:solidFill>
                    <a:srgbClr val="2E6EA6"/>
                  </a:solidFill>
                  <a:highlight>
                    <a:srgbClr val="DCEAF5"/>
                  </a:highlight>
                  <a:latin typeface="Arial" panose="020B0604020202020204" pitchFamily="34" charset="0"/>
                </a:rPr>
                <a:t> </a:t>
              </a:r>
              <a:r>
                <a:rPr lang="zh-CN" sz="600" b="1" dirty="0">
                  <a:solidFill>
                    <a:srgbClr val="2E6EA6"/>
                  </a:solidFill>
                  <a:highlight>
                    <a:srgbClr val="DCEAF5"/>
                  </a:highlight>
                  <a:latin typeface="Arial" panose="020B0604020202020204" pitchFamily="34" charset="0"/>
                  <a:ea typeface="微软雅黑" panose="020B0503020204020204" pitchFamily="34" charset="-122"/>
                </a:rPr>
                <a:t>接口 </a:t>
              </a:r>
              <a:endParaRPr lang="en-US" sz="700" dirty="0"/>
            </a:p>
          </p:txBody>
        </p:sp>
      </p:grpSp>
      <p:sp>
        <p:nvSpPr>
          <p:cNvPr id="58" name="Text 55"/>
          <p:cNvSpPr/>
          <p:nvPr/>
        </p:nvSpPr>
        <p:spPr>
          <a:xfrm>
            <a:off x="4223407" y="3724684"/>
            <a:ext cx="100013" cy="100013"/>
          </a:xfrm>
          <a:prstGeom prst="rect">
            <a:avLst/>
          </a:prstGeom>
          <a:noFill/>
        </p:spPr>
        <p:txBody>
          <a:bodyPr wrap="none" lIns="0" tIns="0" rIns="0" bIns="0" rtlCol="0" anchor="t"/>
          <a:lstStyle/>
          <a:p>
            <a:pPr marL="0" indent="0">
              <a:lnSpc>
                <a:spcPct val="100000"/>
              </a:lnSpc>
              <a:buNone/>
            </a:pPr>
            <a:r>
              <a:rPr lang="en-US" sz="700" dirty="0">
                <a:solidFill>
                  <a:srgbClr val="5B9DFF"/>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700" dirty="0"/>
          </a:p>
        </p:txBody>
      </p:sp>
      <p:grpSp>
        <p:nvGrpSpPr>
          <p:cNvPr id="77" name="h2p-grp-h2p-animroot-11"/>
          <p:cNvGrpSpPr/>
          <p:nvPr/>
        </p:nvGrpSpPr>
        <p:grpSpPr>
          <a:xfrm>
            <a:off x="4051957" y="3881847"/>
            <a:ext cx="4806293" cy="285750"/>
            <a:chOff x="0" y="0"/>
            <a:chExt cx="4806293" cy="285750"/>
          </a:xfrm>
        </p:grpSpPr>
        <p:sp>
          <p:nvSpPr>
            <p:cNvPr id="59" name="任意多边形 58"/>
            <p:cNvSpPr/>
            <p:nvPr/>
          </p:nvSpPr>
          <p:spPr>
            <a:xfrm>
              <a:off x="0" y="0"/>
              <a:ext cx="4806293" cy="285750"/>
            </a:xfrm>
            <a:custGeom>
              <a:avLst/>
              <a:gdLst/>
              <a:ahLst/>
              <a:cxnLst/>
              <a:pathLst>
                <a:path w="21600" h="21600">
                  <a:moveTo>
                    <a:pt x="128" y="0"/>
                  </a:moveTo>
                  <a:lnTo>
                    <a:pt x="21215" y="0"/>
                  </a:lnTo>
                  <a:lnTo>
                    <a:pt x="21290" y="125"/>
                  </a:lnTo>
                  <a:lnTo>
                    <a:pt x="21362" y="493"/>
                  </a:lnTo>
                  <a:lnTo>
                    <a:pt x="21429" y="1092"/>
                  </a:lnTo>
                  <a:lnTo>
                    <a:pt x="21487" y="1898"/>
                  </a:lnTo>
                  <a:lnTo>
                    <a:pt x="21535" y="2880"/>
                  </a:lnTo>
                  <a:lnTo>
                    <a:pt x="21571" y="4000"/>
                  </a:lnTo>
                  <a:lnTo>
                    <a:pt x="21593" y="5216"/>
                  </a:lnTo>
                  <a:lnTo>
                    <a:pt x="21600" y="6480"/>
                  </a:lnTo>
                  <a:lnTo>
                    <a:pt x="21600" y="15120"/>
                  </a:lnTo>
                  <a:lnTo>
                    <a:pt x="21593" y="16384"/>
                  </a:lnTo>
                  <a:lnTo>
                    <a:pt x="21571" y="17600"/>
                  </a:lnTo>
                  <a:lnTo>
                    <a:pt x="21535" y="18720"/>
                  </a:lnTo>
                  <a:lnTo>
                    <a:pt x="21487" y="19702"/>
                  </a:lnTo>
                  <a:lnTo>
                    <a:pt x="21429" y="20508"/>
                  </a:lnTo>
                  <a:lnTo>
                    <a:pt x="21362" y="21107"/>
                  </a:lnTo>
                  <a:lnTo>
                    <a:pt x="21290" y="21475"/>
                  </a:lnTo>
                  <a:lnTo>
                    <a:pt x="21215" y="21600"/>
                  </a:lnTo>
                  <a:lnTo>
                    <a:pt x="128" y="21600"/>
                  </a:lnTo>
                  <a:lnTo>
                    <a:pt x="103" y="21558"/>
                  </a:lnTo>
                  <a:lnTo>
                    <a:pt x="79" y="21436"/>
                  </a:lnTo>
                  <a:lnTo>
                    <a:pt x="57" y="21236"/>
                  </a:lnTo>
                  <a:lnTo>
                    <a:pt x="38" y="20967"/>
                  </a:lnTo>
                  <a:lnTo>
                    <a:pt x="22" y="20640"/>
                  </a:lnTo>
                  <a:lnTo>
                    <a:pt x="10" y="20267"/>
                  </a:lnTo>
                  <a:lnTo>
                    <a:pt x="2" y="19861"/>
                  </a:lnTo>
                  <a:lnTo>
                    <a:pt x="0" y="19440"/>
                  </a:lnTo>
                  <a:lnTo>
                    <a:pt x="0" y="2160"/>
                  </a:lnTo>
                  <a:lnTo>
                    <a:pt x="2" y="1739"/>
                  </a:lnTo>
                  <a:lnTo>
                    <a:pt x="10" y="1333"/>
                  </a:lnTo>
                  <a:lnTo>
                    <a:pt x="22" y="960"/>
                  </a:lnTo>
                  <a:lnTo>
                    <a:pt x="38" y="633"/>
                  </a:lnTo>
                  <a:lnTo>
                    <a:pt x="57" y="364"/>
                  </a:lnTo>
                  <a:lnTo>
                    <a:pt x="79" y="164"/>
                  </a:lnTo>
                  <a:lnTo>
                    <a:pt x="103" y="42"/>
                  </a:lnTo>
                  <a:close/>
                </a:path>
              </a:pathLst>
            </a:custGeom>
            <a:solidFill>
              <a:srgbClr val="FFFFFF"/>
            </a:solidFill>
          </p:spPr>
        </p:sp>
        <p:sp>
          <p:nvSpPr>
            <p:cNvPr id="60" name="任意多边形 59"/>
            <p:cNvSpPr/>
            <p:nvPr/>
          </p:nvSpPr>
          <p:spPr>
            <a:xfrm>
              <a:off x="0" y="0"/>
              <a:ext cx="28575" cy="285750"/>
            </a:xfrm>
            <a:custGeom>
              <a:avLst/>
              <a:gdLst/>
              <a:ahLst/>
              <a:cxnLst/>
              <a:pathLst>
                <a:path w="21600" h="21600">
                  <a:moveTo>
                    <a:pt x="21600" y="0"/>
                  </a:moveTo>
                  <a:lnTo>
                    <a:pt x="0" y="2160"/>
                  </a:lnTo>
                  <a:lnTo>
                    <a:pt x="0" y="19440"/>
                  </a:lnTo>
                  <a:lnTo>
                    <a:pt x="21600" y="21600"/>
                  </a:lnTo>
                  <a:lnTo>
                    <a:pt x="21600" y="19440"/>
                  </a:lnTo>
                  <a:lnTo>
                    <a:pt x="21600" y="2160"/>
                  </a:lnTo>
                  <a:lnTo>
                    <a:pt x="21600" y="0"/>
                  </a:lnTo>
                  <a:close/>
                </a:path>
              </a:pathLst>
            </a:custGeom>
            <a:solidFill>
              <a:srgbClr val="5B9DFF"/>
            </a:solidFill>
          </p:spPr>
        </p:sp>
        <p:sp>
          <p:nvSpPr>
            <p:cNvPr id="61" name="矩形 60"/>
            <p:cNvSpPr/>
            <p:nvPr/>
          </p:nvSpPr>
          <p:spPr>
            <a:xfrm>
              <a:off x="142875" y="85725"/>
              <a:ext cx="100013" cy="114300"/>
            </a:xfrm>
            <a:prstGeom prst="rect">
              <a:avLst/>
            </a:prstGeom>
            <a:noFill/>
          </p:spPr>
          <p:txBody>
            <a:bodyPr wrap="none" lIns="0" tIns="0" rIns="0" bIns="0" rtlCol="0" anchor="t"/>
            <a:lstStyle/>
            <a:p>
              <a:pPr marL="0" indent="0">
                <a:lnSpc>
                  <a:spcPct val="100000"/>
                </a:lnSpc>
                <a:buNone/>
              </a:pPr>
              <a:r>
                <a:rPr lang="en-US" sz="900" dirty="0">
                  <a:solidFill>
                    <a:srgbClr val="94A3B8"/>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900" dirty="0"/>
            </a:p>
          </p:txBody>
        </p:sp>
        <p:sp>
          <p:nvSpPr>
            <p:cNvPr id="62" name="矩形 61"/>
            <p:cNvSpPr/>
            <p:nvPr/>
          </p:nvSpPr>
          <p:spPr>
            <a:xfrm>
              <a:off x="357188" y="71437"/>
              <a:ext cx="2089658" cy="142875"/>
            </a:xfrm>
            <a:prstGeom prst="rect">
              <a:avLst/>
            </a:prstGeom>
            <a:noFill/>
          </p:spPr>
          <p:txBody>
            <a:bodyPr wrap="none" lIns="0" tIns="0" rIns="0" bIns="0" rtlCol="0" anchor="t"/>
            <a:lstStyle/>
            <a:p>
              <a:pPr marL="0" indent="0">
                <a:lnSpc>
                  <a:spcPct val="143000"/>
                </a:lnSpc>
                <a:buNone/>
              </a:pPr>
              <a:r>
                <a:rPr lang="en-US" sz="700" dirty="0">
                  <a:solidFill>
                    <a:srgbClr val="1F2A37"/>
                  </a:solidFill>
                  <a:latin typeface="Arial" panose="020B0604020202020204" pitchFamily="34" charset="0"/>
                </a:rPr>
                <a:t>SSE (Server-Sent Events) </a:t>
              </a:r>
              <a:r>
                <a:rPr lang="zh-CN" sz="700" dirty="0">
                  <a:solidFill>
                    <a:srgbClr val="1F2A37"/>
                  </a:solidFill>
                  <a:latin typeface="Arial" panose="020B0604020202020204" pitchFamily="34" charset="0"/>
                  <a:ea typeface="微软雅黑" panose="020B0503020204020204" pitchFamily="34" charset="-122"/>
                </a:rPr>
                <a:t>流式响应与前端渲染</a:t>
              </a:r>
              <a:endParaRPr lang="en-US" sz="700" dirty="0"/>
            </a:p>
          </p:txBody>
        </p:sp>
      </p:grpSp>
      <p:grpSp>
        <p:nvGrpSpPr>
          <p:cNvPr id="78" name="h2p-grp-h2p-animroot-12"/>
          <p:cNvGrpSpPr/>
          <p:nvPr/>
        </p:nvGrpSpPr>
        <p:grpSpPr>
          <a:xfrm>
            <a:off x="4051957" y="4310472"/>
            <a:ext cx="4806293" cy="585788"/>
            <a:chOff x="0" y="0"/>
            <a:chExt cx="4806293" cy="585788"/>
          </a:xfrm>
        </p:grpSpPr>
        <p:sp>
          <p:nvSpPr>
            <p:cNvPr id="63" name="圆角矩形 62"/>
            <p:cNvSpPr/>
            <p:nvPr/>
          </p:nvSpPr>
          <p:spPr>
            <a:xfrm>
              <a:off x="0" y="0"/>
              <a:ext cx="4806293" cy="585788"/>
            </a:xfrm>
            <a:prstGeom prst="roundRect">
              <a:avLst>
                <a:gd name="adj" fmla="val 14634"/>
              </a:avLst>
            </a:prstGeom>
            <a:solidFill>
              <a:srgbClr val="DCEAF5">
                <a:alpha val="30000"/>
              </a:srgbClr>
            </a:solidFill>
            <a:ln w="6350">
              <a:solidFill>
                <a:srgbClr val="2E6EA6"/>
              </a:solidFill>
              <a:prstDash val="dash"/>
            </a:ln>
          </p:spPr>
        </p:sp>
        <p:sp>
          <p:nvSpPr>
            <p:cNvPr id="64" name="矩形 63"/>
            <p:cNvSpPr/>
            <p:nvPr/>
          </p:nvSpPr>
          <p:spPr>
            <a:xfrm>
              <a:off x="92869" y="92869"/>
              <a:ext cx="85725" cy="114300"/>
            </a:xfrm>
            <a:prstGeom prst="rect">
              <a:avLst/>
            </a:prstGeom>
            <a:noFill/>
          </p:spPr>
          <p:txBody>
            <a:bodyPr wrap="none" lIns="0" tIns="0" rIns="0" bIns="0" rtlCol="0" anchor="t"/>
            <a:lstStyle/>
            <a:p>
              <a:pPr marL="0" indent="0">
                <a:lnSpc>
                  <a:spcPct val="133000"/>
                </a:lnSpc>
                <a:buNone/>
              </a:pPr>
              <a:r>
                <a:rPr lang="en-US" sz="600" dirty="0">
                  <a:solidFill>
                    <a:srgbClr val="3B82F6"/>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600" dirty="0"/>
            </a:p>
          </p:txBody>
        </p:sp>
        <p:sp>
          <p:nvSpPr>
            <p:cNvPr id="65" name="矩形 64"/>
            <p:cNvSpPr/>
            <p:nvPr/>
          </p:nvSpPr>
          <p:spPr>
            <a:xfrm>
              <a:off x="235744" y="92869"/>
              <a:ext cx="630101" cy="114300"/>
            </a:xfrm>
            <a:prstGeom prst="rect">
              <a:avLst/>
            </a:prstGeom>
            <a:noFill/>
          </p:spPr>
          <p:txBody>
            <a:bodyPr wrap="none" lIns="0" tIns="0" rIns="0" bIns="0" rtlCol="0" anchor="t"/>
            <a:lstStyle/>
            <a:p>
              <a:pPr marL="0" indent="0">
                <a:lnSpc>
                  <a:spcPct val="133000"/>
                </a:lnSpc>
                <a:buNone/>
              </a:pPr>
              <a:r>
                <a:rPr lang="zh-CN" sz="600" b="1" dirty="0">
                  <a:solidFill>
                    <a:srgbClr val="1F2A37"/>
                  </a:solidFill>
                  <a:latin typeface="Arial" panose="020B0604020202020204" pitchFamily="34" charset="0"/>
                  <a:ea typeface="微软雅黑" panose="020B0503020204020204" pitchFamily="34" charset="-122"/>
                </a:rPr>
                <a:t>高可用检索机制</a:t>
              </a:r>
              <a:endParaRPr lang="en-US" sz="600" dirty="0"/>
            </a:p>
          </p:txBody>
        </p:sp>
        <p:sp>
          <p:nvSpPr>
            <p:cNvPr id="66" name="矩形 65"/>
            <p:cNvSpPr/>
            <p:nvPr/>
          </p:nvSpPr>
          <p:spPr>
            <a:xfrm>
              <a:off x="92869" y="235744"/>
              <a:ext cx="4620555" cy="257175"/>
            </a:xfrm>
            <a:prstGeom prst="rect">
              <a:avLst/>
            </a:prstGeom>
            <a:noFill/>
          </p:spPr>
          <p:txBody>
            <a:bodyPr wrap="square" lIns="0" tIns="0" rIns="0" bIns="0" rtlCol="0" anchor="t"/>
            <a:lstStyle/>
            <a:p>
              <a:pPr marL="0" indent="0">
                <a:lnSpc>
                  <a:spcPct val="150000"/>
                </a:lnSpc>
                <a:buNone/>
              </a:pPr>
              <a:r>
                <a:rPr lang="zh-CN" sz="600" dirty="0">
                  <a:solidFill>
                    <a:srgbClr val="1F2A37"/>
                  </a:solidFill>
                  <a:latin typeface="Arial" panose="020B0604020202020204" pitchFamily="34" charset="0"/>
                  <a:ea typeface="微软雅黑" panose="020B0503020204020204" pitchFamily="34" charset="-122"/>
                </a:rPr>
                <a:t>系统设有最低相似度阈值 </a:t>
              </a:r>
              <a:r>
                <a:rPr lang="en-US" sz="600" dirty="0">
                  <a:solidFill>
                    <a:srgbClr val="1F2A37"/>
                  </a:solidFill>
                  <a:latin typeface="Arial" panose="020B0604020202020204" pitchFamily="34" charset="0"/>
                </a:rPr>
                <a:t>(</a:t>
              </a:r>
              <a:r>
                <a:rPr lang="en-US" sz="600" dirty="0">
                  <a:solidFill>
                    <a:srgbClr val="2563EB"/>
                  </a:solidFill>
                  <a:latin typeface="Arial" panose="020B0604020202020204" pitchFamily="34" charset="0"/>
                </a:rPr>
                <a:t>MIN_SIMILARITY</a:t>
              </a:r>
              <a:r>
                <a:rPr lang="en-US" sz="600" dirty="0">
                  <a:solidFill>
                    <a:srgbClr val="1F2A37"/>
                  </a:solidFill>
                  <a:latin typeface="Arial" panose="020B0604020202020204" pitchFamily="34" charset="0"/>
                </a:rPr>
                <a:t>)</a:t>
              </a:r>
              <a:r>
                <a:rPr lang="zh-CN" sz="600" dirty="0">
                  <a:solidFill>
                    <a:srgbClr val="1F2A37"/>
                  </a:solidFill>
                  <a:latin typeface="Arial" panose="020B0604020202020204" pitchFamily="34" charset="0"/>
                  <a:ea typeface="微软雅黑" panose="020B0503020204020204" pitchFamily="34" charset="-122"/>
                </a:rPr>
                <a:t>。当接口调用失败或未配置 </a:t>
              </a:r>
              <a:r>
                <a:rPr lang="en-US" sz="600" dirty="0">
                  <a:solidFill>
                    <a:srgbClr val="1F2A37"/>
                  </a:solidFill>
                  <a:latin typeface="Arial" panose="020B0604020202020204" pitchFamily="34" charset="0"/>
                </a:rPr>
                <a:t>Key </a:t>
              </a:r>
              <a:r>
                <a:rPr lang="zh-CN" sz="600" dirty="0">
                  <a:solidFill>
                    <a:srgbClr val="1F2A37"/>
                  </a:solidFill>
                  <a:latin typeface="Arial" panose="020B0604020202020204" pitchFamily="34" charset="0"/>
                  <a:ea typeface="微软雅黑" panose="020B0503020204020204" pitchFamily="34" charset="-122"/>
                </a:rPr>
                <a:t>时，系统将自动 </a:t>
              </a:r>
              <a:r>
                <a:rPr lang="zh-CN" sz="600" b="1" dirty="0">
                  <a:solidFill>
                    <a:srgbClr val="2563EB"/>
                  </a:solidFill>
                  <a:latin typeface="Arial" panose="020B0604020202020204" pitchFamily="34" charset="0"/>
                  <a:ea typeface="微软雅黑" panose="020B0503020204020204" pitchFamily="34" charset="-122"/>
                </a:rPr>
                <a:t>降级为离线本地合成回答</a:t>
              </a:r>
              <a:r>
                <a:rPr lang="zh-CN" sz="600" dirty="0">
                  <a:solidFill>
                    <a:srgbClr val="1F2A37"/>
                  </a:solidFill>
                  <a:latin typeface="Arial" panose="020B0604020202020204" pitchFamily="34" charset="0"/>
                  <a:ea typeface="微软雅黑" panose="020B0503020204020204" pitchFamily="34" charset="-122"/>
                </a:rPr>
                <a:t>，确保业务连续性。</a:t>
              </a:r>
              <a:endParaRPr lang="en-US" sz="600" dirty="0"/>
            </a:p>
          </p:txBody>
        </p:sp>
      </p:gr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ripple dir="ru"/>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
                                  </p:stCondLst>
                                  <p:childTnLst>
                                    <p:set>
                                      <p:cBhvr>
                                        <p:cTn id="6" dur="1" fill="hold">
                                          <p:stCondLst>
                                            <p:cond delay="0"/>
                                          </p:stCondLst>
                                        </p:cTn>
                                        <p:tgtEl>
                                          <p:spTgt spid="67"/>
                                        </p:tgtEl>
                                        <p:attrNameLst>
                                          <p:attrName>style.visibility</p:attrName>
                                        </p:attrNameLst>
                                      </p:cBhvr>
                                      <p:to>
                                        <p:strVal val="visible"/>
                                      </p:to>
                                    </p:set>
                                    <p:animEffect transition="in" filter="fade">
                                      <p:cBhvr>
                                        <p:cTn id="7" dur="500"/>
                                        <p:tgtEl>
                                          <p:spTgt spid="67"/>
                                        </p:tgtEl>
                                      </p:cBhvr>
                                    </p:animEffect>
                                  </p:childTnLst>
                                </p:cTn>
                              </p:par>
                              <p:par>
                                <p:cTn id="8" presetID="2" presetClass="entr" presetSubtype="4" fill="hold" grpId="0" nodeType="withEffect">
                                  <p:stCondLst>
                                    <p:cond delay="100"/>
                                  </p:stCondLst>
                                  <p:childTnLst>
                                    <p:set>
                                      <p:cBhvr>
                                        <p:cTn id="9" dur="1" fill="hold">
                                          <p:stCondLst>
                                            <p:cond delay="0"/>
                                          </p:stCondLst>
                                        </p:cTn>
                                        <p:tgtEl>
                                          <p:spTgt spid="67"/>
                                        </p:tgtEl>
                                        <p:attrNameLst>
                                          <p:attrName>style.visibility</p:attrName>
                                        </p:attrNameLst>
                                      </p:cBhvr>
                                      <p:to>
                                        <p:strVal val="visible"/>
                                      </p:to>
                                    </p:set>
                                    <p:anim calcmode="lin" valueType="num">
                                      <p:cBhvr additive="base">
                                        <p:cTn id="10" dur="500" fill="hold"/>
                                        <p:tgtEl>
                                          <p:spTgt spid="67"/>
                                        </p:tgtEl>
                                        <p:attrNameLst>
                                          <p:attrName>ppt_x</p:attrName>
                                        </p:attrNameLst>
                                      </p:cBhvr>
                                      <p:tavLst>
                                        <p:tav tm="0">
                                          <p:val>
                                            <p:strVal val="#ppt_x"/>
                                          </p:val>
                                        </p:tav>
                                        <p:tav tm="100000">
                                          <p:val>
                                            <p:strVal val="#ppt_x"/>
                                          </p:val>
                                        </p:tav>
                                      </p:tavLst>
                                    </p:anim>
                                    <p:anim calcmode="lin" valueType="num">
                                      <p:cBhvr additive="base">
                                        <p:cTn id="11" dur="500" fill="hold"/>
                                        <p:tgtEl>
                                          <p:spTgt spid="67"/>
                                        </p:tgtEl>
                                        <p:attrNameLst>
                                          <p:attrName>ppt_y</p:attrName>
                                        </p:attrNameLst>
                                      </p:cBhvr>
                                      <p:tavLst>
                                        <p:tav tm="0">
                                          <p:val>
                                            <p:strVal val="1+#ppt_h/2"/>
                                          </p:val>
                                        </p:tav>
                                        <p:tav tm="100000">
                                          <p:val>
                                            <p:strVal val="#ppt_y"/>
                                          </p:val>
                                        </p:tav>
                                      </p:tavLst>
                                    </p:anim>
                                  </p:childTnLst>
                                </p:cTn>
                              </p:par>
                            </p:childTnLst>
                          </p:cTn>
                        </p:par>
                        <p:par>
                          <p:cTn id="12" fill="hold">
                            <p:stCondLst>
                              <p:cond delay="600"/>
                            </p:stCondLst>
                            <p:childTnLst>
                              <p:par>
                                <p:cTn id="13" presetID="10" presetClass="entr" presetSubtype="0" fill="hold" grpId="0" nodeType="afterEffect">
                                  <p:stCondLst>
                                    <p:cond delay="200"/>
                                  </p:stCondLst>
                                  <p:childTnLst>
                                    <p:set>
                                      <p:cBhvr>
                                        <p:cTn id="14" dur="1" fill="hold">
                                          <p:stCondLst>
                                            <p:cond delay="0"/>
                                          </p:stCondLst>
                                        </p:cTn>
                                        <p:tgtEl>
                                          <p:spTgt spid="68"/>
                                        </p:tgtEl>
                                        <p:attrNameLst>
                                          <p:attrName>style.visibility</p:attrName>
                                        </p:attrNameLst>
                                      </p:cBhvr>
                                      <p:to>
                                        <p:strVal val="visible"/>
                                      </p:to>
                                    </p:set>
                                    <p:animEffect transition="in" filter="fade">
                                      <p:cBhvr>
                                        <p:cTn id="15" dur="500"/>
                                        <p:tgtEl>
                                          <p:spTgt spid="68"/>
                                        </p:tgtEl>
                                      </p:cBhvr>
                                    </p:animEffect>
                                  </p:childTnLst>
                                </p:cTn>
                              </p:par>
                              <p:par>
                                <p:cTn id="16" presetID="2" presetClass="entr" presetSubtype="4" fill="hold" grpId="0" nodeType="withEffect">
                                  <p:stCondLst>
                                    <p:cond delay="200"/>
                                  </p:stCondLst>
                                  <p:childTnLst>
                                    <p:set>
                                      <p:cBhvr>
                                        <p:cTn id="17" dur="1" fill="hold">
                                          <p:stCondLst>
                                            <p:cond delay="0"/>
                                          </p:stCondLst>
                                        </p:cTn>
                                        <p:tgtEl>
                                          <p:spTgt spid="68"/>
                                        </p:tgtEl>
                                        <p:attrNameLst>
                                          <p:attrName>style.visibility</p:attrName>
                                        </p:attrNameLst>
                                      </p:cBhvr>
                                      <p:to>
                                        <p:strVal val="visible"/>
                                      </p:to>
                                    </p:set>
                                    <p:anim calcmode="lin" valueType="num">
                                      <p:cBhvr additive="base">
                                        <p:cTn id="18" dur="500" fill="hold"/>
                                        <p:tgtEl>
                                          <p:spTgt spid="68"/>
                                        </p:tgtEl>
                                        <p:attrNameLst>
                                          <p:attrName>ppt_x</p:attrName>
                                        </p:attrNameLst>
                                      </p:cBhvr>
                                      <p:tavLst>
                                        <p:tav tm="0">
                                          <p:val>
                                            <p:strVal val="#ppt_x"/>
                                          </p:val>
                                        </p:tav>
                                        <p:tav tm="100000">
                                          <p:val>
                                            <p:strVal val="#ppt_x"/>
                                          </p:val>
                                        </p:tav>
                                      </p:tavLst>
                                    </p:anim>
                                    <p:anim calcmode="lin" valueType="num">
                                      <p:cBhvr additive="base">
                                        <p:cTn id="19" dur="500" fill="hold"/>
                                        <p:tgtEl>
                                          <p:spTgt spid="68"/>
                                        </p:tgtEl>
                                        <p:attrNameLst>
                                          <p:attrName>ppt_y</p:attrName>
                                        </p:attrNameLst>
                                      </p:cBhvr>
                                      <p:tavLst>
                                        <p:tav tm="0">
                                          <p:val>
                                            <p:strVal val="1+#ppt_h/2"/>
                                          </p:val>
                                        </p:tav>
                                        <p:tav tm="100000">
                                          <p:val>
                                            <p:strVal val="#ppt_y"/>
                                          </p:val>
                                        </p:tav>
                                      </p:tavLst>
                                    </p:anim>
                                  </p:childTnLst>
                                </p:cTn>
                              </p:par>
                            </p:childTnLst>
                          </p:cTn>
                        </p:par>
                        <p:par>
                          <p:cTn id="20" fill="hold">
                            <p:stCondLst>
                              <p:cond delay="1300"/>
                            </p:stCondLst>
                            <p:childTnLst>
                              <p:par>
                                <p:cTn id="21" presetID="10" presetClass="entr" presetSubtype="0" fill="hold" grpId="0" nodeType="afterEffect">
                                  <p:stCondLst>
                                    <p:cond delay="300"/>
                                  </p:stCondLst>
                                  <p:childTnLst>
                                    <p:set>
                                      <p:cBhvr>
                                        <p:cTn id="22" dur="1" fill="hold">
                                          <p:stCondLst>
                                            <p:cond delay="0"/>
                                          </p:stCondLst>
                                        </p:cTn>
                                        <p:tgtEl>
                                          <p:spTgt spid="69"/>
                                        </p:tgtEl>
                                        <p:attrNameLst>
                                          <p:attrName>style.visibility</p:attrName>
                                        </p:attrNameLst>
                                      </p:cBhvr>
                                      <p:to>
                                        <p:strVal val="visible"/>
                                      </p:to>
                                    </p:set>
                                    <p:animEffect transition="in" filter="fade">
                                      <p:cBhvr>
                                        <p:cTn id="23" dur="500"/>
                                        <p:tgtEl>
                                          <p:spTgt spid="69"/>
                                        </p:tgtEl>
                                      </p:cBhvr>
                                    </p:animEffect>
                                  </p:childTnLst>
                                </p:cTn>
                              </p:par>
                              <p:par>
                                <p:cTn id="24" presetID="2" presetClass="entr" presetSubtype="4" fill="hold" grpId="0" nodeType="withEffect">
                                  <p:stCondLst>
                                    <p:cond delay="300"/>
                                  </p:stCondLst>
                                  <p:childTnLst>
                                    <p:set>
                                      <p:cBhvr>
                                        <p:cTn id="25" dur="1" fill="hold">
                                          <p:stCondLst>
                                            <p:cond delay="0"/>
                                          </p:stCondLst>
                                        </p:cTn>
                                        <p:tgtEl>
                                          <p:spTgt spid="69"/>
                                        </p:tgtEl>
                                        <p:attrNameLst>
                                          <p:attrName>style.visibility</p:attrName>
                                        </p:attrNameLst>
                                      </p:cBhvr>
                                      <p:to>
                                        <p:strVal val="visible"/>
                                      </p:to>
                                    </p:set>
                                    <p:anim calcmode="lin" valueType="num">
                                      <p:cBhvr additive="base">
                                        <p:cTn id="26" dur="500" fill="hold"/>
                                        <p:tgtEl>
                                          <p:spTgt spid="69"/>
                                        </p:tgtEl>
                                        <p:attrNameLst>
                                          <p:attrName>ppt_x</p:attrName>
                                        </p:attrNameLst>
                                      </p:cBhvr>
                                      <p:tavLst>
                                        <p:tav tm="0">
                                          <p:val>
                                            <p:strVal val="#ppt_x"/>
                                          </p:val>
                                        </p:tav>
                                        <p:tav tm="100000">
                                          <p:val>
                                            <p:strVal val="#ppt_x"/>
                                          </p:val>
                                        </p:tav>
                                      </p:tavLst>
                                    </p:anim>
                                    <p:anim calcmode="lin" valueType="num">
                                      <p:cBhvr additive="base">
                                        <p:cTn id="27" dur="500" fill="hold"/>
                                        <p:tgtEl>
                                          <p:spTgt spid="69"/>
                                        </p:tgtEl>
                                        <p:attrNameLst>
                                          <p:attrName>ppt_y</p:attrName>
                                        </p:attrNameLst>
                                      </p:cBhvr>
                                      <p:tavLst>
                                        <p:tav tm="0">
                                          <p:val>
                                            <p:strVal val="1+#ppt_h/2"/>
                                          </p:val>
                                        </p:tav>
                                        <p:tav tm="100000">
                                          <p:val>
                                            <p:strVal val="#ppt_y"/>
                                          </p:val>
                                        </p:tav>
                                      </p:tavLst>
                                    </p:anim>
                                  </p:childTnLst>
                                </p:cTn>
                              </p:par>
                            </p:childTnLst>
                          </p:cTn>
                        </p:par>
                        <p:par>
                          <p:cTn id="28" fill="hold">
                            <p:stCondLst>
                              <p:cond delay="2100"/>
                            </p:stCondLst>
                            <p:childTnLst>
                              <p:par>
                                <p:cTn id="29" presetID="10" presetClass="entr" presetSubtype="0" fill="hold" grpId="0" nodeType="afterEffect">
                                  <p:stCondLst>
                                    <p:cond delay="400"/>
                                  </p:stCondLst>
                                  <p:childTnLst>
                                    <p:set>
                                      <p:cBhvr>
                                        <p:cTn id="30" dur="1" fill="hold">
                                          <p:stCondLst>
                                            <p:cond delay="0"/>
                                          </p:stCondLst>
                                        </p:cTn>
                                        <p:tgtEl>
                                          <p:spTgt spid="70"/>
                                        </p:tgtEl>
                                        <p:attrNameLst>
                                          <p:attrName>style.visibility</p:attrName>
                                        </p:attrNameLst>
                                      </p:cBhvr>
                                      <p:to>
                                        <p:strVal val="visible"/>
                                      </p:to>
                                    </p:set>
                                    <p:animEffect transition="in" filter="fade">
                                      <p:cBhvr>
                                        <p:cTn id="31" dur="500"/>
                                        <p:tgtEl>
                                          <p:spTgt spid="70"/>
                                        </p:tgtEl>
                                      </p:cBhvr>
                                    </p:animEffect>
                                  </p:childTnLst>
                                </p:cTn>
                              </p:par>
                              <p:par>
                                <p:cTn id="32" presetID="2" presetClass="entr" presetSubtype="4" fill="hold" grpId="0" nodeType="withEffect">
                                  <p:stCondLst>
                                    <p:cond delay="400"/>
                                  </p:stCondLst>
                                  <p:childTnLst>
                                    <p:set>
                                      <p:cBhvr>
                                        <p:cTn id="33" dur="1" fill="hold">
                                          <p:stCondLst>
                                            <p:cond delay="0"/>
                                          </p:stCondLst>
                                        </p:cTn>
                                        <p:tgtEl>
                                          <p:spTgt spid="70"/>
                                        </p:tgtEl>
                                        <p:attrNameLst>
                                          <p:attrName>style.visibility</p:attrName>
                                        </p:attrNameLst>
                                      </p:cBhvr>
                                      <p:to>
                                        <p:strVal val="visible"/>
                                      </p:to>
                                    </p:set>
                                    <p:anim calcmode="lin" valueType="num">
                                      <p:cBhvr additive="base">
                                        <p:cTn id="34" dur="500" fill="hold"/>
                                        <p:tgtEl>
                                          <p:spTgt spid="70"/>
                                        </p:tgtEl>
                                        <p:attrNameLst>
                                          <p:attrName>ppt_x</p:attrName>
                                        </p:attrNameLst>
                                      </p:cBhvr>
                                      <p:tavLst>
                                        <p:tav tm="0">
                                          <p:val>
                                            <p:strVal val="#ppt_x"/>
                                          </p:val>
                                        </p:tav>
                                        <p:tav tm="100000">
                                          <p:val>
                                            <p:strVal val="#ppt_x"/>
                                          </p:val>
                                        </p:tav>
                                      </p:tavLst>
                                    </p:anim>
                                    <p:anim calcmode="lin" valueType="num">
                                      <p:cBhvr additive="base">
                                        <p:cTn id="35" dur="500" fill="hold"/>
                                        <p:tgtEl>
                                          <p:spTgt spid="70"/>
                                        </p:tgtEl>
                                        <p:attrNameLst>
                                          <p:attrName>ppt_y</p:attrName>
                                        </p:attrNameLst>
                                      </p:cBhvr>
                                      <p:tavLst>
                                        <p:tav tm="0">
                                          <p:val>
                                            <p:strVal val="1+#ppt_h/2"/>
                                          </p:val>
                                        </p:tav>
                                        <p:tav tm="100000">
                                          <p:val>
                                            <p:strVal val="#ppt_y"/>
                                          </p:val>
                                        </p:tav>
                                      </p:tavLst>
                                    </p:anim>
                                  </p:childTnLst>
                                </p:cTn>
                              </p:par>
                            </p:childTnLst>
                          </p:cTn>
                        </p:par>
                        <p:par>
                          <p:cTn id="36" fill="hold">
                            <p:stCondLst>
                              <p:cond delay="3000"/>
                            </p:stCondLst>
                            <p:childTnLst>
                              <p:par>
                                <p:cTn id="37" presetID="10" presetClass="entr" presetSubtype="0" fill="hold" grpId="0" nodeType="afterEffect">
                                  <p:stCondLst>
                                    <p:cond delay="500"/>
                                  </p:stCondLst>
                                  <p:childTnLst>
                                    <p:set>
                                      <p:cBhvr>
                                        <p:cTn id="38" dur="1" fill="hold">
                                          <p:stCondLst>
                                            <p:cond delay="0"/>
                                          </p:stCondLst>
                                        </p:cTn>
                                        <p:tgtEl>
                                          <p:spTgt spid="71"/>
                                        </p:tgtEl>
                                        <p:attrNameLst>
                                          <p:attrName>style.visibility</p:attrName>
                                        </p:attrNameLst>
                                      </p:cBhvr>
                                      <p:to>
                                        <p:strVal val="visible"/>
                                      </p:to>
                                    </p:set>
                                    <p:animEffect transition="in" filter="fade">
                                      <p:cBhvr>
                                        <p:cTn id="39" dur="500"/>
                                        <p:tgtEl>
                                          <p:spTgt spid="71"/>
                                        </p:tgtEl>
                                      </p:cBhvr>
                                    </p:animEffect>
                                  </p:childTnLst>
                                </p:cTn>
                              </p:par>
                              <p:par>
                                <p:cTn id="40" presetID="2" presetClass="entr" presetSubtype="4" fill="hold" grpId="0" nodeType="withEffect">
                                  <p:stCondLst>
                                    <p:cond delay="500"/>
                                  </p:stCondLst>
                                  <p:childTnLst>
                                    <p:set>
                                      <p:cBhvr>
                                        <p:cTn id="41" dur="1" fill="hold">
                                          <p:stCondLst>
                                            <p:cond delay="0"/>
                                          </p:stCondLst>
                                        </p:cTn>
                                        <p:tgtEl>
                                          <p:spTgt spid="71"/>
                                        </p:tgtEl>
                                        <p:attrNameLst>
                                          <p:attrName>style.visibility</p:attrName>
                                        </p:attrNameLst>
                                      </p:cBhvr>
                                      <p:to>
                                        <p:strVal val="visible"/>
                                      </p:to>
                                    </p:set>
                                    <p:anim calcmode="lin" valueType="num">
                                      <p:cBhvr additive="base">
                                        <p:cTn id="42" dur="500" fill="hold"/>
                                        <p:tgtEl>
                                          <p:spTgt spid="71"/>
                                        </p:tgtEl>
                                        <p:attrNameLst>
                                          <p:attrName>ppt_x</p:attrName>
                                        </p:attrNameLst>
                                      </p:cBhvr>
                                      <p:tavLst>
                                        <p:tav tm="0">
                                          <p:val>
                                            <p:strVal val="#ppt_x"/>
                                          </p:val>
                                        </p:tav>
                                        <p:tav tm="100000">
                                          <p:val>
                                            <p:strVal val="#ppt_x"/>
                                          </p:val>
                                        </p:tav>
                                      </p:tavLst>
                                    </p:anim>
                                    <p:anim calcmode="lin" valueType="num">
                                      <p:cBhvr additive="base">
                                        <p:cTn id="43" dur="500" fill="hold"/>
                                        <p:tgtEl>
                                          <p:spTgt spid="71"/>
                                        </p:tgtEl>
                                        <p:attrNameLst>
                                          <p:attrName>ppt_y</p:attrName>
                                        </p:attrNameLst>
                                      </p:cBhvr>
                                      <p:tavLst>
                                        <p:tav tm="0">
                                          <p:val>
                                            <p:strVal val="1+#ppt_h/2"/>
                                          </p:val>
                                        </p:tav>
                                        <p:tav tm="100000">
                                          <p:val>
                                            <p:strVal val="#ppt_y"/>
                                          </p:val>
                                        </p:tav>
                                      </p:tavLst>
                                    </p:anim>
                                  </p:childTnLst>
                                </p:cTn>
                              </p:par>
                            </p:childTnLst>
                          </p:cTn>
                        </p:par>
                        <p:par>
                          <p:cTn id="44" fill="hold">
                            <p:stCondLst>
                              <p:cond delay="4000"/>
                            </p:stCondLst>
                            <p:childTnLst>
                              <p:par>
                                <p:cTn id="45" presetID="10" presetClass="entr" presetSubtype="0" fill="hold" grpId="0" nodeType="afterEffect">
                                  <p:stCondLst>
                                    <p:cond delay="100"/>
                                  </p:stCondLst>
                                  <p:childTnLst>
                                    <p:set>
                                      <p:cBhvr>
                                        <p:cTn id="46" dur="1" fill="hold">
                                          <p:stCondLst>
                                            <p:cond delay="0"/>
                                          </p:stCondLst>
                                        </p:cTn>
                                        <p:tgtEl>
                                          <p:spTgt spid="72"/>
                                        </p:tgtEl>
                                        <p:attrNameLst>
                                          <p:attrName>style.visibility</p:attrName>
                                        </p:attrNameLst>
                                      </p:cBhvr>
                                      <p:to>
                                        <p:strVal val="visible"/>
                                      </p:to>
                                    </p:set>
                                    <p:animEffect transition="in" filter="fade">
                                      <p:cBhvr>
                                        <p:cTn id="47" dur="500"/>
                                        <p:tgtEl>
                                          <p:spTgt spid="72"/>
                                        </p:tgtEl>
                                      </p:cBhvr>
                                    </p:animEffect>
                                  </p:childTnLst>
                                </p:cTn>
                              </p:par>
                              <p:par>
                                <p:cTn id="48" presetID="2" presetClass="entr" presetSubtype="4" fill="hold" grpId="0" nodeType="withEffect">
                                  <p:stCondLst>
                                    <p:cond delay="100"/>
                                  </p:stCondLst>
                                  <p:childTnLst>
                                    <p:set>
                                      <p:cBhvr>
                                        <p:cTn id="49" dur="1" fill="hold">
                                          <p:stCondLst>
                                            <p:cond delay="0"/>
                                          </p:stCondLst>
                                        </p:cTn>
                                        <p:tgtEl>
                                          <p:spTgt spid="72"/>
                                        </p:tgtEl>
                                        <p:attrNameLst>
                                          <p:attrName>style.visibility</p:attrName>
                                        </p:attrNameLst>
                                      </p:cBhvr>
                                      <p:to>
                                        <p:strVal val="visible"/>
                                      </p:to>
                                    </p:set>
                                    <p:anim calcmode="lin" valueType="num">
                                      <p:cBhvr additive="base">
                                        <p:cTn id="50" dur="500" fill="hold"/>
                                        <p:tgtEl>
                                          <p:spTgt spid="72"/>
                                        </p:tgtEl>
                                        <p:attrNameLst>
                                          <p:attrName>ppt_x</p:attrName>
                                        </p:attrNameLst>
                                      </p:cBhvr>
                                      <p:tavLst>
                                        <p:tav tm="0">
                                          <p:val>
                                            <p:strVal val="#ppt_x"/>
                                          </p:val>
                                        </p:tav>
                                        <p:tav tm="100000">
                                          <p:val>
                                            <p:strVal val="#ppt_x"/>
                                          </p:val>
                                        </p:tav>
                                      </p:tavLst>
                                    </p:anim>
                                    <p:anim calcmode="lin" valueType="num">
                                      <p:cBhvr additive="base">
                                        <p:cTn id="51" dur="500" fill="hold"/>
                                        <p:tgtEl>
                                          <p:spTgt spid="72"/>
                                        </p:tgtEl>
                                        <p:attrNameLst>
                                          <p:attrName>ppt_y</p:attrName>
                                        </p:attrNameLst>
                                      </p:cBhvr>
                                      <p:tavLst>
                                        <p:tav tm="0">
                                          <p:val>
                                            <p:strVal val="1+#ppt_h/2"/>
                                          </p:val>
                                        </p:tav>
                                        <p:tav tm="100000">
                                          <p:val>
                                            <p:strVal val="#ppt_y"/>
                                          </p:val>
                                        </p:tav>
                                      </p:tavLst>
                                    </p:anim>
                                  </p:childTnLst>
                                </p:cTn>
                              </p:par>
                            </p:childTnLst>
                          </p:cTn>
                        </p:par>
                        <p:par>
                          <p:cTn id="52" fill="hold">
                            <p:stCondLst>
                              <p:cond delay="4600"/>
                            </p:stCondLst>
                            <p:childTnLst>
                              <p:par>
                                <p:cTn id="53" presetID="10" presetClass="entr" presetSubtype="0" fill="hold" grpId="0" nodeType="afterEffect">
                                  <p:stCondLst>
                                    <p:cond delay="200"/>
                                  </p:stCondLst>
                                  <p:childTnLst>
                                    <p:set>
                                      <p:cBhvr>
                                        <p:cTn id="54" dur="1" fill="hold">
                                          <p:stCondLst>
                                            <p:cond delay="0"/>
                                          </p:stCondLst>
                                        </p:cTn>
                                        <p:tgtEl>
                                          <p:spTgt spid="73"/>
                                        </p:tgtEl>
                                        <p:attrNameLst>
                                          <p:attrName>style.visibility</p:attrName>
                                        </p:attrNameLst>
                                      </p:cBhvr>
                                      <p:to>
                                        <p:strVal val="visible"/>
                                      </p:to>
                                    </p:set>
                                    <p:animEffect transition="in" filter="fade">
                                      <p:cBhvr>
                                        <p:cTn id="55" dur="500"/>
                                        <p:tgtEl>
                                          <p:spTgt spid="73"/>
                                        </p:tgtEl>
                                      </p:cBhvr>
                                    </p:animEffect>
                                  </p:childTnLst>
                                </p:cTn>
                              </p:par>
                              <p:par>
                                <p:cTn id="56" presetID="2" presetClass="entr" presetSubtype="4" fill="hold" grpId="0" nodeType="withEffect">
                                  <p:stCondLst>
                                    <p:cond delay="200"/>
                                  </p:stCondLst>
                                  <p:childTnLst>
                                    <p:set>
                                      <p:cBhvr>
                                        <p:cTn id="57" dur="1" fill="hold">
                                          <p:stCondLst>
                                            <p:cond delay="0"/>
                                          </p:stCondLst>
                                        </p:cTn>
                                        <p:tgtEl>
                                          <p:spTgt spid="73"/>
                                        </p:tgtEl>
                                        <p:attrNameLst>
                                          <p:attrName>style.visibility</p:attrName>
                                        </p:attrNameLst>
                                      </p:cBhvr>
                                      <p:to>
                                        <p:strVal val="visible"/>
                                      </p:to>
                                    </p:set>
                                    <p:anim calcmode="lin" valueType="num">
                                      <p:cBhvr additive="base">
                                        <p:cTn id="58" dur="500" fill="hold"/>
                                        <p:tgtEl>
                                          <p:spTgt spid="73"/>
                                        </p:tgtEl>
                                        <p:attrNameLst>
                                          <p:attrName>ppt_x</p:attrName>
                                        </p:attrNameLst>
                                      </p:cBhvr>
                                      <p:tavLst>
                                        <p:tav tm="0">
                                          <p:val>
                                            <p:strVal val="#ppt_x"/>
                                          </p:val>
                                        </p:tav>
                                        <p:tav tm="100000">
                                          <p:val>
                                            <p:strVal val="#ppt_x"/>
                                          </p:val>
                                        </p:tav>
                                      </p:tavLst>
                                    </p:anim>
                                    <p:anim calcmode="lin" valueType="num">
                                      <p:cBhvr additive="base">
                                        <p:cTn id="59" dur="500" fill="hold"/>
                                        <p:tgtEl>
                                          <p:spTgt spid="73"/>
                                        </p:tgtEl>
                                        <p:attrNameLst>
                                          <p:attrName>ppt_y</p:attrName>
                                        </p:attrNameLst>
                                      </p:cBhvr>
                                      <p:tavLst>
                                        <p:tav tm="0">
                                          <p:val>
                                            <p:strVal val="1+#ppt_h/2"/>
                                          </p:val>
                                        </p:tav>
                                        <p:tav tm="100000">
                                          <p:val>
                                            <p:strVal val="#ppt_y"/>
                                          </p:val>
                                        </p:tav>
                                      </p:tavLst>
                                    </p:anim>
                                  </p:childTnLst>
                                </p:cTn>
                              </p:par>
                            </p:childTnLst>
                          </p:cTn>
                        </p:par>
                        <p:par>
                          <p:cTn id="60" fill="hold">
                            <p:stCondLst>
                              <p:cond delay="5300"/>
                            </p:stCondLst>
                            <p:childTnLst>
                              <p:par>
                                <p:cTn id="61" presetID="10" presetClass="entr" presetSubtype="0" fill="hold" grpId="0" nodeType="afterEffect">
                                  <p:stCondLst>
                                    <p:cond delay="300"/>
                                  </p:stCondLst>
                                  <p:childTnLst>
                                    <p:set>
                                      <p:cBhvr>
                                        <p:cTn id="62" dur="1" fill="hold">
                                          <p:stCondLst>
                                            <p:cond delay="0"/>
                                          </p:stCondLst>
                                        </p:cTn>
                                        <p:tgtEl>
                                          <p:spTgt spid="74"/>
                                        </p:tgtEl>
                                        <p:attrNameLst>
                                          <p:attrName>style.visibility</p:attrName>
                                        </p:attrNameLst>
                                      </p:cBhvr>
                                      <p:to>
                                        <p:strVal val="visible"/>
                                      </p:to>
                                    </p:set>
                                    <p:animEffect transition="in" filter="fade">
                                      <p:cBhvr>
                                        <p:cTn id="63" dur="500"/>
                                        <p:tgtEl>
                                          <p:spTgt spid="74"/>
                                        </p:tgtEl>
                                      </p:cBhvr>
                                    </p:animEffect>
                                  </p:childTnLst>
                                </p:cTn>
                              </p:par>
                              <p:par>
                                <p:cTn id="64" presetID="2" presetClass="entr" presetSubtype="4" fill="hold" grpId="0" nodeType="withEffect">
                                  <p:stCondLst>
                                    <p:cond delay="300"/>
                                  </p:stCondLst>
                                  <p:childTnLst>
                                    <p:set>
                                      <p:cBhvr>
                                        <p:cTn id="65" dur="1" fill="hold">
                                          <p:stCondLst>
                                            <p:cond delay="0"/>
                                          </p:stCondLst>
                                        </p:cTn>
                                        <p:tgtEl>
                                          <p:spTgt spid="74"/>
                                        </p:tgtEl>
                                        <p:attrNameLst>
                                          <p:attrName>style.visibility</p:attrName>
                                        </p:attrNameLst>
                                      </p:cBhvr>
                                      <p:to>
                                        <p:strVal val="visible"/>
                                      </p:to>
                                    </p:set>
                                    <p:anim calcmode="lin" valueType="num">
                                      <p:cBhvr additive="base">
                                        <p:cTn id="66" dur="500" fill="hold"/>
                                        <p:tgtEl>
                                          <p:spTgt spid="74"/>
                                        </p:tgtEl>
                                        <p:attrNameLst>
                                          <p:attrName>ppt_x</p:attrName>
                                        </p:attrNameLst>
                                      </p:cBhvr>
                                      <p:tavLst>
                                        <p:tav tm="0">
                                          <p:val>
                                            <p:strVal val="#ppt_x"/>
                                          </p:val>
                                        </p:tav>
                                        <p:tav tm="100000">
                                          <p:val>
                                            <p:strVal val="#ppt_x"/>
                                          </p:val>
                                        </p:tav>
                                      </p:tavLst>
                                    </p:anim>
                                    <p:anim calcmode="lin" valueType="num">
                                      <p:cBhvr additive="base">
                                        <p:cTn id="67" dur="500" fill="hold"/>
                                        <p:tgtEl>
                                          <p:spTgt spid="74"/>
                                        </p:tgtEl>
                                        <p:attrNameLst>
                                          <p:attrName>ppt_y</p:attrName>
                                        </p:attrNameLst>
                                      </p:cBhvr>
                                      <p:tavLst>
                                        <p:tav tm="0">
                                          <p:val>
                                            <p:strVal val="1+#ppt_h/2"/>
                                          </p:val>
                                        </p:tav>
                                        <p:tav tm="100000">
                                          <p:val>
                                            <p:strVal val="#ppt_y"/>
                                          </p:val>
                                        </p:tav>
                                      </p:tavLst>
                                    </p:anim>
                                  </p:childTnLst>
                                </p:cTn>
                              </p:par>
                            </p:childTnLst>
                          </p:cTn>
                        </p:par>
                        <p:par>
                          <p:cTn id="68" fill="hold">
                            <p:stCondLst>
                              <p:cond delay="6100"/>
                            </p:stCondLst>
                            <p:childTnLst>
                              <p:par>
                                <p:cTn id="69" presetID="10" presetClass="entr" presetSubtype="0" fill="hold" grpId="0" nodeType="afterEffect">
                                  <p:stCondLst>
                                    <p:cond delay="400"/>
                                  </p:stCondLst>
                                  <p:childTnLst>
                                    <p:set>
                                      <p:cBhvr>
                                        <p:cTn id="70" dur="1" fill="hold">
                                          <p:stCondLst>
                                            <p:cond delay="0"/>
                                          </p:stCondLst>
                                        </p:cTn>
                                        <p:tgtEl>
                                          <p:spTgt spid="75"/>
                                        </p:tgtEl>
                                        <p:attrNameLst>
                                          <p:attrName>style.visibility</p:attrName>
                                        </p:attrNameLst>
                                      </p:cBhvr>
                                      <p:to>
                                        <p:strVal val="visible"/>
                                      </p:to>
                                    </p:set>
                                    <p:animEffect transition="in" filter="fade">
                                      <p:cBhvr>
                                        <p:cTn id="71" dur="500"/>
                                        <p:tgtEl>
                                          <p:spTgt spid="75"/>
                                        </p:tgtEl>
                                      </p:cBhvr>
                                    </p:animEffect>
                                  </p:childTnLst>
                                </p:cTn>
                              </p:par>
                              <p:par>
                                <p:cTn id="72" presetID="2" presetClass="entr" presetSubtype="4" fill="hold" grpId="0" nodeType="withEffect">
                                  <p:stCondLst>
                                    <p:cond delay="400"/>
                                  </p:stCondLst>
                                  <p:childTnLst>
                                    <p:set>
                                      <p:cBhvr>
                                        <p:cTn id="73" dur="1" fill="hold">
                                          <p:stCondLst>
                                            <p:cond delay="0"/>
                                          </p:stCondLst>
                                        </p:cTn>
                                        <p:tgtEl>
                                          <p:spTgt spid="75"/>
                                        </p:tgtEl>
                                        <p:attrNameLst>
                                          <p:attrName>style.visibility</p:attrName>
                                        </p:attrNameLst>
                                      </p:cBhvr>
                                      <p:to>
                                        <p:strVal val="visible"/>
                                      </p:to>
                                    </p:set>
                                    <p:anim calcmode="lin" valueType="num">
                                      <p:cBhvr additive="base">
                                        <p:cTn id="74" dur="500" fill="hold"/>
                                        <p:tgtEl>
                                          <p:spTgt spid="75"/>
                                        </p:tgtEl>
                                        <p:attrNameLst>
                                          <p:attrName>ppt_x</p:attrName>
                                        </p:attrNameLst>
                                      </p:cBhvr>
                                      <p:tavLst>
                                        <p:tav tm="0">
                                          <p:val>
                                            <p:strVal val="#ppt_x"/>
                                          </p:val>
                                        </p:tav>
                                        <p:tav tm="100000">
                                          <p:val>
                                            <p:strVal val="#ppt_x"/>
                                          </p:val>
                                        </p:tav>
                                      </p:tavLst>
                                    </p:anim>
                                    <p:anim calcmode="lin" valueType="num">
                                      <p:cBhvr additive="base">
                                        <p:cTn id="75" dur="500" fill="hold"/>
                                        <p:tgtEl>
                                          <p:spTgt spid="75"/>
                                        </p:tgtEl>
                                        <p:attrNameLst>
                                          <p:attrName>ppt_y</p:attrName>
                                        </p:attrNameLst>
                                      </p:cBhvr>
                                      <p:tavLst>
                                        <p:tav tm="0">
                                          <p:val>
                                            <p:strVal val="1+#ppt_h/2"/>
                                          </p:val>
                                        </p:tav>
                                        <p:tav tm="100000">
                                          <p:val>
                                            <p:strVal val="#ppt_y"/>
                                          </p:val>
                                        </p:tav>
                                      </p:tavLst>
                                    </p:anim>
                                  </p:childTnLst>
                                </p:cTn>
                              </p:par>
                            </p:childTnLst>
                          </p:cTn>
                        </p:par>
                        <p:par>
                          <p:cTn id="76" fill="hold">
                            <p:stCondLst>
                              <p:cond delay="7000"/>
                            </p:stCondLst>
                            <p:childTnLst>
                              <p:par>
                                <p:cTn id="77" presetID="10" presetClass="entr" presetSubtype="0" fill="hold" grpId="0" nodeType="afterEffect">
                                  <p:stCondLst>
                                    <p:cond delay="500"/>
                                  </p:stCondLst>
                                  <p:childTnLst>
                                    <p:set>
                                      <p:cBhvr>
                                        <p:cTn id="78" dur="1" fill="hold">
                                          <p:stCondLst>
                                            <p:cond delay="0"/>
                                          </p:stCondLst>
                                        </p:cTn>
                                        <p:tgtEl>
                                          <p:spTgt spid="76"/>
                                        </p:tgtEl>
                                        <p:attrNameLst>
                                          <p:attrName>style.visibility</p:attrName>
                                        </p:attrNameLst>
                                      </p:cBhvr>
                                      <p:to>
                                        <p:strVal val="visible"/>
                                      </p:to>
                                    </p:set>
                                    <p:animEffect transition="in" filter="fade">
                                      <p:cBhvr>
                                        <p:cTn id="79" dur="500"/>
                                        <p:tgtEl>
                                          <p:spTgt spid="76"/>
                                        </p:tgtEl>
                                      </p:cBhvr>
                                    </p:animEffect>
                                  </p:childTnLst>
                                </p:cTn>
                              </p:par>
                              <p:par>
                                <p:cTn id="80" presetID="2" presetClass="entr" presetSubtype="4" fill="hold" grpId="0" nodeType="withEffect">
                                  <p:stCondLst>
                                    <p:cond delay="500"/>
                                  </p:stCondLst>
                                  <p:childTnLst>
                                    <p:set>
                                      <p:cBhvr>
                                        <p:cTn id="81" dur="1" fill="hold">
                                          <p:stCondLst>
                                            <p:cond delay="0"/>
                                          </p:stCondLst>
                                        </p:cTn>
                                        <p:tgtEl>
                                          <p:spTgt spid="76"/>
                                        </p:tgtEl>
                                        <p:attrNameLst>
                                          <p:attrName>style.visibility</p:attrName>
                                        </p:attrNameLst>
                                      </p:cBhvr>
                                      <p:to>
                                        <p:strVal val="visible"/>
                                      </p:to>
                                    </p:set>
                                    <p:anim calcmode="lin" valueType="num">
                                      <p:cBhvr additive="base">
                                        <p:cTn id="82" dur="500" fill="hold"/>
                                        <p:tgtEl>
                                          <p:spTgt spid="76"/>
                                        </p:tgtEl>
                                        <p:attrNameLst>
                                          <p:attrName>ppt_x</p:attrName>
                                        </p:attrNameLst>
                                      </p:cBhvr>
                                      <p:tavLst>
                                        <p:tav tm="0">
                                          <p:val>
                                            <p:strVal val="#ppt_x"/>
                                          </p:val>
                                        </p:tav>
                                        <p:tav tm="100000">
                                          <p:val>
                                            <p:strVal val="#ppt_x"/>
                                          </p:val>
                                        </p:tav>
                                      </p:tavLst>
                                    </p:anim>
                                    <p:anim calcmode="lin" valueType="num">
                                      <p:cBhvr additive="base">
                                        <p:cTn id="83" dur="500" fill="hold"/>
                                        <p:tgtEl>
                                          <p:spTgt spid="76"/>
                                        </p:tgtEl>
                                        <p:attrNameLst>
                                          <p:attrName>ppt_y</p:attrName>
                                        </p:attrNameLst>
                                      </p:cBhvr>
                                      <p:tavLst>
                                        <p:tav tm="0">
                                          <p:val>
                                            <p:strVal val="1+#ppt_h/2"/>
                                          </p:val>
                                        </p:tav>
                                        <p:tav tm="100000">
                                          <p:val>
                                            <p:strVal val="#ppt_y"/>
                                          </p:val>
                                        </p:tav>
                                      </p:tavLst>
                                    </p:anim>
                                  </p:childTnLst>
                                </p:cTn>
                              </p:par>
                            </p:childTnLst>
                          </p:cTn>
                        </p:par>
                        <p:par>
                          <p:cTn id="84" fill="hold">
                            <p:stCondLst>
                              <p:cond delay="8000"/>
                            </p:stCondLst>
                            <p:childTnLst>
                              <p:par>
                                <p:cTn id="85" presetID="10" presetClass="entr" presetSubtype="0" fill="hold" grpId="0" nodeType="afterEffect">
                                  <p:stCondLst>
                                    <p:cond delay="600"/>
                                  </p:stCondLst>
                                  <p:childTnLst>
                                    <p:set>
                                      <p:cBhvr>
                                        <p:cTn id="86" dur="1" fill="hold">
                                          <p:stCondLst>
                                            <p:cond delay="0"/>
                                          </p:stCondLst>
                                        </p:cTn>
                                        <p:tgtEl>
                                          <p:spTgt spid="77"/>
                                        </p:tgtEl>
                                        <p:attrNameLst>
                                          <p:attrName>style.visibility</p:attrName>
                                        </p:attrNameLst>
                                      </p:cBhvr>
                                      <p:to>
                                        <p:strVal val="visible"/>
                                      </p:to>
                                    </p:set>
                                    <p:animEffect transition="in" filter="fade">
                                      <p:cBhvr>
                                        <p:cTn id="87" dur="500"/>
                                        <p:tgtEl>
                                          <p:spTgt spid="77"/>
                                        </p:tgtEl>
                                      </p:cBhvr>
                                    </p:animEffect>
                                  </p:childTnLst>
                                </p:cTn>
                              </p:par>
                              <p:par>
                                <p:cTn id="88" presetID="2" presetClass="entr" presetSubtype="4" fill="hold" grpId="0" nodeType="withEffect">
                                  <p:stCondLst>
                                    <p:cond delay="600"/>
                                  </p:stCondLst>
                                  <p:childTnLst>
                                    <p:set>
                                      <p:cBhvr>
                                        <p:cTn id="89" dur="1" fill="hold">
                                          <p:stCondLst>
                                            <p:cond delay="0"/>
                                          </p:stCondLst>
                                        </p:cTn>
                                        <p:tgtEl>
                                          <p:spTgt spid="77"/>
                                        </p:tgtEl>
                                        <p:attrNameLst>
                                          <p:attrName>style.visibility</p:attrName>
                                        </p:attrNameLst>
                                      </p:cBhvr>
                                      <p:to>
                                        <p:strVal val="visible"/>
                                      </p:to>
                                    </p:set>
                                    <p:anim calcmode="lin" valueType="num">
                                      <p:cBhvr additive="base">
                                        <p:cTn id="90" dur="500" fill="hold"/>
                                        <p:tgtEl>
                                          <p:spTgt spid="77"/>
                                        </p:tgtEl>
                                        <p:attrNameLst>
                                          <p:attrName>ppt_x</p:attrName>
                                        </p:attrNameLst>
                                      </p:cBhvr>
                                      <p:tavLst>
                                        <p:tav tm="0">
                                          <p:val>
                                            <p:strVal val="#ppt_x"/>
                                          </p:val>
                                        </p:tav>
                                        <p:tav tm="100000">
                                          <p:val>
                                            <p:strVal val="#ppt_x"/>
                                          </p:val>
                                        </p:tav>
                                      </p:tavLst>
                                    </p:anim>
                                    <p:anim calcmode="lin" valueType="num">
                                      <p:cBhvr additive="base">
                                        <p:cTn id="91" dur="500" fill="hold"/>
                                        <p:tgtEl>
                                          <p:spTgt spid="77"/>
                                        </p:tgtEl>
                                        <p:attrNameLst>
                                          <p:attrName>ppt_y</p:attrName>
                                        </p:attrNameLst>
                                      </p:cBhvr>
                                      <p:tavLst>
                                        <p:tav tm="0">
                                          <p:val>
                                            <p:strVal val="1+#ppt_h/2"/>
                                          </p:val>
                                        </p:tav>
                                        <p:tav tm="100000">
                                          <p:val>
                                            <p:strVal val="#ppt_y"/>
                                          </p:val>
                                        </p:tav>
                                      </p:tavLst>
                                    </p:anim>
                                  </p:childTnLst>
                                </p:cTn>
                              </p:par>
                            </p:childTnLst>
                          </p:cTn>
                        </p:par>
                        <p:par>
                          <p:cTn id="92" fill="hold">
                            <p:stCondLst>
                              <p:cond delay="9100"/>
                            </p:stCondLst>
                            <p:childTnLst>
                              <p:par>
                                <p:cTn id="93" presetID="10" presetClass="entr" presetSubtype="0" fill="hold" grpId="0" nodeType="afterEffect">
                                  <p:stCondLst>
                                    <p:cond delay="700"/>
                                  </p:stCondLst>
                                  <p:childTnLst>
                                    <p:set>
                                      <p:cBhvr>
                                        <p:cTn id="94" dur="1" fill="hold">
                                          <p:stCondLst>
                                            <p:cond delay="0"/>
                                          </p:stCondLst>
                                        </p:cTn>
                                        <p:tgtEl>
                                          <p:spTgt spid="78"/>
                                        </p:tgtEl>
                                        <p:attrNameLst>
                                          <p:attrName>style.visibility</p:attrName>
                                        </p:attrNameLst>
                                      </p:cBhvr>
                                      <p:to>
                                        <p:strVal val="visible"/>
                                      </p:to>
                                    </p:set>
                                    <p:animEffect transition="in" filter="fade">
                                      <p:cBhvr>
                                        <p:cTn id="95" dur="500"/>
                                        <p:tgtEl>
                                          <p:spTgt spid="78"/>
                                        </p:tgtEl>
                                      </p:cBhvr>
                                    </p:animEffect>
                                  </p:childTnLst>
                                </p:cTn>
                              </p:par>
                              <p:par>
                                <p:cTn id="96" presetID="2" presetClass="entr" presetSubtype="4" fill="hold" grpId="0" nodeType="withEffect">
                                  <p:stCondLst>
                                    <p:cond delay="700"/>
                                  </p:stCondLst>
                                  <p:childTnLst>
                                    <p:set>
                                      <p:cBhvr>
                                        <p:cTn id="97" dur="1" fill="hold">
                                          <p:stCondLst>
                                            <p:cond delay="0"/>
                                          </p:stCondLst>
                                        </p:cTn>
                                        <p:tgtEl>
                                          <p:spTgt spid="78"/>
                                        </p:tgtEl>
                                        <p:attrNameLst>
                                          <p:attrName>style.visibility</p:attrName>
                                        </p:attrNameLst>
                                      </p:cBhvr>
                                      <p:to>
                                        <p:strVal val="visible"/>
                                      </p:to>
                                    </p:set>
                                    <p:anim calcmode="lin" valueType="num">
                                      <p:cBhvr additive="base">
                                        <p:cTn id="98" dur="500" fill="hold"/>
                                        <p:tgtEl>
                                          <p:spTgt spid="78"/>
                                        </p:tgtEl>
                                        <p:attrNameLst>
                                          <p:attrName>ppt_x</p:attrName>
                                        </p:attrNameLst>
                                      </p:cBhvr>
                                      <p:tavLst>
                                        <p:tav tm="0">
                                          <p:val>
                                            <p:strVal val="#ppt_x"/>
                                          </p:val>
                                        </p:tav>
                                        <p:tav tm="100000">
                                          <p:val>
                                            <p:strVal val="#ppt_x"/>
                                          </p:val>
                                        </p:tav>
                                      </p:tavLst>
                                    </p:anim>
                                    <p:anim calcmode="lin" valueType="num">
                                      <p:cBhvr additive="base">
                                        <p:cTn id="99" dur="500" fill="hold"/>
                                        <p:tgtEl>
                                          <p:spTgt spid="7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285750" y="285750"/>
            <a:ext cx="8572500" cy="474278"/>
          </a:xfrm>
          <a:prstGeom prst="rect">
            <a:avLst/>
          </a:prstGeom>
          <a:noFill/>
        </p:spPr>
      </p:sp>
      <p:sp>
        <p:nvSpPr>
          <p:cNvPr id="4" name="Shape 1"/>
          <p:cNvSpPr/>
          <p:nvPr/>
        </p:nvSpPr>
        <p:spPr>
          <a:xfrm>
            <a:off x="285750" y="285750"/>
            <a:ext cx="35719" cy="474278"/>
          </a:xfrm>
          <a:prstGeom prst="rect">
            <a:avLst/>
          </a:prstGeom>
          <a:solidFill>
            <a:srgbClr val="5B9DFF"/>
          </a:solidFill>
        </p:spPr>
      </p:sp>
      <p:sp>
        <p:nvSpPr>
          <p:cNvPr id="5" name="Text 2"/>
          <p:cNvSpPr/>
          <p:nvPr/>
        </p:nvSpPr>
        <p:spPr>
          <a:xfrm>
            <a:off x="464344" y="285750"/>
            <a:ext cx="8393906" cy="274253"/>
          </a:xfrm>
          <a:prstGeom prst="rect">
            <a:avLst/>
          </a:prstGeom>
          <a:noFill/>
        </p:spPr>
        <p:txBody>
          <a:bodyPr wrap="none" lIns="0" tIns="0" rIns="0" bIns="0" rtlCol="0" anchor="t"/>
          <a:lstStyle/>
          <a:p>
            <a:pPr marL="0" indent="0">
              <a:lnSpc>
                <a:spcPct val="120000"/>
              </a:lnSpc>
              <a:buNone/>
            </a:pPr>
            <a:r>
              <a:rPr lang="en-US" sz="1700" b="1" dirty="0">
                <a:solidFill>
                  <a:srgbClr val="1F2A37"/>
                </a:solidFill>
                <a:latin typeface="Arial" panose="020B0604020202020204" pitchFamily="34" charset="0"/>
              </a:rPr>
              <a:t>12</a:t>
            </a:r>
            <a:r>
              <a:rPr lang="zh-CN" sz="1700" b="1" dirty="0">
                <a:solidFill>
                  <a:srgbClr val="1F2A37"/>
                </a:solidFill>
                <a:latin typeface="Arial" panose="020B0604020202020204" pitchFamily="34" charset="0"/>
                <a:ea typeface="微软雅黑" panose="020B0503020204020204" pitchFamily="34" charset="-122"/>
              </a:rPr>
              <a:t>大疾病知识库与权限隔离模型</a:t>
            </a:r>
            <a:endParaRPr lang="en-US" sz="1700" dirty="0"/>
          </a:p>
        </p:txBody>
      </p:sp>
      <p:sp>
        <p:nvSpPr>
          <p:cNvPr id="6" name="Text 3"/>
          <p:cNvSpPr/>
          <p:nvPr/>
        </p:nvSpPr>
        <p:spPr>
          <a:xfrm>
            <a:off x="464344" y="588578"/>
            <a:ext cx="8393906" cy="171450"/>
          </a:xfrm>
          <a:prstGeom prst="rect">
            <a:avLst/>
          </a:prstGeom>
          <a:noFill/>
        </p:spPr>
        <p:txBody>
          <a:bodyPr wrap="none" lIns="0" tIns="0" rIns="0" bIns="0" rtlCol="0" anchor="t"/>
          <a:lstStyle/>
          <a:p>
            <a:pPr marL="0" indent="0">
              <a:lnSpc>
                <a:spcPct val="150000"/>
              </a:lnSpc>
              <a:buNone/>
            </a:pPr>
            <a:r>
              <a:rPr lang="zh-CN" sz="900" b="1" dirty="0">
                <a:solidFill>
                  <a:srgbClr val="2E6EA6"/>
                </a:solidFill>
                <a:latin typeface="Arial" panose="020B0604020202020204" pitchFamily="34" charset="0"/>
                <a:ea typeface="微软雅黑" panose="020B0503020204020204" pitchFamily="34" charset="-122"/>
              </a:rPr>
              <a:t>系统内置 </a:t>
            </a:r>
            <a:r>
              <a:rPr lang="en-US" sz="900" b="1" dirty="0">
                <a:solidFill>
                  <a:srgbClr val="2E6EA6"/>
                </a:solidFill>
                <a:latin typeface="Arial" panose="020B0604020202020204" pitchFamily="34" charset="0"/>
              </a:rPr>
              <a:t>12 </a:t>
            </a:r>
            <a:r>
              <a:rPr lang="zh-CN" sz="900" b="1" dirty="0">
                <a:solidFill>
                  <a:srgbClr val="2E6EA6"/>
                </a:solidFill>
                <a:latin typeface="Arial" panose="020B0604020202020204" pitchFamily="34" charset="0"/>
                <a:ea typeface="微软雅黑" panose="020B0503020204020204" pitchFamily="34" charset="-122"/>
              </a:rPr>
              <a:t>个疾病领域专业知识库 </a:t>
            </a:r>
            <a:r>
              <a:rPr lang="en-US" sz="900" b="1" dirty="0">
                <a:solidFill>
                  <a:srgbClr val="2E6EA6"/>
                </a:solidFill>
                <a:latin typeface="Arial" panose="020B0604020202020204" pitchFamily="34" charset="0"/>
              </a:rPr>
              <a:t>· </a:t>
            </a:r>
            <a:r>
              <a:rPr lang="zh-CN" sz="900" b="1" dirty="0">
                <a:solidFill>
                  <a:srgbClr val="2E6EA6"/>
                </a:solidFill>
                <a:latin typeface="Arial" panose="020B0604020202020204" pitchFamily="34" charset="0"/>
                <a:ea typeface="微软雅黑" panose="020B0503020204020204" pitchFamily="34" charset="-122"/>
              </a:rPr>
              <a:t>全系统共计 </a:t>
            </a:r>
            <a:r>
              <a:rPr lang="en-US" sz="900" b="1" dirty="0">
                <a:solidFill>
                  <a:srgbClr val="2E6EA6"/>
                </a:solidFill>
                <a:latin typeface="Arial" panose="020B0604020202020204" pitchFamily="34" charset="0"/>
              </a:rPr>
              <a:t>240 </a:t>
            </a:r>
            <a:r>
              <a:rPr lang="zh-CN" sz="900" b="1" dirty="0">
                <a:solidFill>
                  <a:srgbClr val="2E6EA6"/>
                </a:solidFill>
                <a:latin typeface="Arial" panose="020B0604020202020204" pitchFamily="34" charset="0"/>
                <a:ea typeface="微软雅黑" panose="020B0503020204020204" pitchFamily="34" charset="-122"/>
              </a:rPr>
              <a:t>篇专业医学文档</a:t>
            </a:r>
            <a:endParaRPr lang="en-US" sz="900" dirty="0"/>
          </a:p>
        </p:txBody>
      </p:sp>
      <p:grpSp>
        <p:nvGrpSpPr>
          <p:cNvPr id="110" name="h2p-grp-h2p-animroot-1"/>
          <p:cNvGrpSpPr/>
          <p:nvPr/>
        </p:nvGrpSpPr>
        <p:grpSpPr>
          <a:xfrm>
            <a:off x="285750" y="931478"/>
            <a:ext cx="1885950" cy="917191"/>
            <a:chOff x="0" y="0"/>
            <a:chExt cx="1885950" cy="917191"/>
          </a:xfrm>
        </p:grpSpPr>
        <p:sp>
          <p:nvSpPr>
            <p:cNvPr id="7" name="圆角矩形 6"/>
            <p:cNvSpPr/>
            <p:nvPr/>
          </p:nvSpPr>
          <p:spPr>
            <a:xfrm>
              <a:off x="0" y="0"/>
              <a:ext cx="1885950" cy="917191"/>
            </a:xfrm>
            <a:prstGeom prst="roundRect">
              <a:avLst>
                <a:gd name="adj" fmla="val 9346"/>
              </a:avLst>
            </a:prstGeom>
            <a:solidFill>
              <a:srgbClr val="FFFFFF"/>
            </a:solidFill>
            <a:ln w="6350">
              <a:solidFill>
                <a:srgbClr val="DCEAF5"/>
              </a:solidFill>
              <a:prstDash val="solid"/>
            </a:ln>
          </p:spPr>
        </p:sp>
        <p:sp>
          <p:nvSpPr>
            <p:cNvPr id="8" name="圆角矩形 7"/>
            <p:cNvSpPr/>
            <p:nvPr/>
          </p:nvSpPr>
          <p:spPr>
            <a:xfrm>
              <a:off x="92869" y="92869"/>
              <a:ext cx="171450" cy="171450"/>
            </a:xfrm>
            <a:prstGeom prst="roundRect">
              <a:avLst>
                <a:gd name="adj" fmla="val 25000"/>
              </a:avLst>
            </a:prstGeom>
            <a:solidFill>
              <a:srgbClr val="EAF5FF"/>
            </a:solidFill>
          </p:spPr>
        </p:sp>
        <p:sp>
          <p:nvSpPr>
            <p:cNvPr id="9" name="矩形 8"/>
            <p:cNvSpPr/>
            <p:nvPr/>
          </p:nvSpPr>
          <p:spPr>
            <a:xfrm>
              <a:off x="116086" y="128588"/>
              <a:ext cx="125016" cy="100013"/>
            </a:xfrm>
            <a:prstGeom prst="rect">
              <a:avLst/>
            </a:prstGeom>
            <a:noFill/>
          </p:spPr>
          <p:txBody>
            <a:bodyPr wrap="none" lIns="0" tIns="0" rIns="0" bIns="0" rtlCol="0" anchor="t"/>
            <a:lstStyle/>
            <a:p>
              <a:pPr marL="0" indent="0">
                <a:lnSpc>
                  <a:spcPct val="100000"/>
                </a:lnSpc>
                <a:buNone/>
              </a:pPr>
              <a:r>
                <a:rPr lang="en-US" sz="700" dirty="0">
                  <a:solidFill>
                    <a:srgbClr val="5B9DFF"/>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700" dirty="0"/>
            </a:p>
          </p:txBody>
        </p:sp>
        <p:sp>
          <p:nvSpPr>
            <p:cNvPr id="10" name="矩形 9"/>
            <p:cNvSpPr/>
            <p:nvPr/>
          </p:nvSpPr>
          <p:spPr>
            <a:xfrm>
              <a:off x="321469" y="103584"/>
              <a:ext cx="600075" cy="150019"/>
            </a:xfrm>
            <a:prstGeom prst="rect">
              <a:avLst/>
            </a:prstGeom>
            <a:noFill/>
          </p:spPr>
          <p:txBody>
            <a:bodyPr wrap="none" lIns="0" tIns="0" rIns="0" bIns="0" rtlCol="0" anchor="t"/>
            <a:lstStyle/>
            <a:p>
              <a:pPr marL="0" indent="0">
                <a:lnSpc>
                  <a:spcPct val="150000"/>
                </a:lnSpc>
                <a:buNone/>
              </a:pPr>
              <a:r>
                <a:rPr lang="zh-CN" sz="700" b="1" dirty="0">
                  <a:solidFill>
                    <a:srgbClr val="1F2A37"/>
                  </a:solidFill>
                  <a:latin typeface="Arial" panose="020B0604020202020204" pitchFamily="34" charset="0"/>
                  <a:ea typeface="微软雅黑" panose="020B0503020204020204" pitchFamily="34" charset="-122"/>
                </a:rPr>
                <a:t>呼吸系统疾病</a:t>
              </a:r>
              <a:endParaRPr lang="en-US" sz="700" dirty="0"/>
            </a:p>
          </p:txBody>
        </p:sp>
        <p:sp>
          <p:nvSpPr>
            <p:cNvPr id="11" name="矩形 10"/>
            <p:cNvSpPr/>
            <p:nvPr/>
          </p:nvSpPr>
          <p:spPr>
            <a:xfrm>
              <a:off x="321469" y="328613"/>
              <a:ext cx="707231" cy="85725"/>
            </a:xfrm>
            <a:prstGeom prst="rect">
              <a:avLst/>
            </a:prstGeom>
            <a:noFill/>
          </p:spPr>
          <p:txBody>
            <a:bodyPr wrap="none" lIns="0" tIns="0" rIns="0" bIns="0" rtlCol="0" anchor="t"/>
            <a:lstStyle/>
            <a:p>
              <a:pPr marL="0" indent="0">
                <a:lnSpc>
                  <a:spcPct val="140000"/>
                </a:lnSpc>
                <a:buNone/>
              </a:pPr>
              <a:r>
                <a:rPr lang="zh-CN" sz="600" dirty="0">
                  <a:solidFill>
                    <a:srgbClr val="1F2A37"/>
                  </a:solidFill>
                  <a:latin typeface="Arial" panose="020B0604020202020204" pitchFamily="34" charset="0"/>
                  <a:ea typeface="微软雅黑" panose="020B0503020204020204" pitchFamily="34" charset="-122"/>
                </a:rPr>
                <a:t>感冒、哮喘、慢阻肺</a:t>
              </a:r>
              <a:endParaRPr lang="en-US" sz="600" dirty="0"/>
            </a:p>
          </p:txBody>
        </p:sp>
        <p:sp>
          <p:nvSpPr>
            <p:cNvPr id="12" name="圆角矩形 11"/>
            <p:cNvSpPr/>
            <p:nvPr/>
          </p:nvSpPr>
          <p:spPr>
            <a:xfrm>
              <a:off x="92869" y="328613"/>
              <a:ext cx="200025" cy="92869"/>
            </a:xfrm>
            <a:prstGeom prst="roundRect">
              <a:avLst>
                <a:gd name="adj" fmla="val 23077"/>
              </a:avLst>
            </a:prstGeom>
            <a:solidFill>
              <a:srgbClr val="E1F0FF"/>
            </a:solidFill>
          </p:spPr>
          <p:txBody>
            <a:bodyPr wrap="none" lIns="28575" tIns="7144" rIns="28575" bIns="7144" rtlCol="0" anchor="t"/>
            <a:lstStyle/>
            <a:p>
              <a:pPr marL="0" indent="0">
                <a:lnSpc>
                  <a:spcPct val="140000"/>
                </a:lnSpc>
                <a:buNone/>
              </a:pPr>
              <a:r>
                <a:rPr lang="zh-CN" sz="600" b="1" dirty="0">
                  <a:solidFill>
                    <a:srgbClr val="2563EB"/>
                  </a:solidFill>
                  <a:latin typeface="Arial" panose="020B0604020202020204" pitchFamily="34" charset="0"/>
                  <a:ea typeface="微软雅黑" panose="020B0503020204020204" pitchFamily="34" charset="-122"/>
                </a:rPr>
                <a:t>公开</a:t>
              </a:r>
              <a:endParaRPr lang="en-US" sz="600" dirty="0"/>
            </a:p>
          </p:txBody>
        </p:sp>
        <p:sp>
          <p:nvSpPr>
            <p:cNvPr id="13" name="矩形 12"/>
            <p:cNvSpPr/>
            <p:nvPr/>
          </p:nvSpPr>
          <p:spPr>
            <a:xfrm>
              <a:off x="321469" y="467134"/>
              <a:ext cx="785813" cy="85725"/>
            </a:xfrm>
            <a:prstGeom prst="rect">
              <a:avLst/>
            </a:prstGeom>
            <a:noFill/>
          </p:spPr>
          <p:txBody>
            <a:bodyPr wrap="none" lIns="0" tIns="0" rIns="0" bIns="0" rtlCol="0" anchor="t"/>
            <a:lstStyle/>
            <a:p>
              <a:pPr marL="0" indent="0">
                <a:lnSpc>
                  <a:spcPct val="140000"/>
                </a:lnSpc>
                <a:buNone/>
              </a:pPr>
              <a:r>
                <a:rPr lang="zh-CN" sz="600" dirty="0">
                  <a:solidFill>
                    <a:srgbClr val="1F2A37"/>
                  </a:solidFill>
                  <a:latin typeface="Arial" panose="020B0604020202020204" pitchFamily="34" charset="0"/>
                  <a:ea typeface="微软雅黑" panose="020B0503020204020204" pitchFamily="34" charset="-122"/>
                </a:rPr>
                <a:t>咳嗽鉴别、呼吸机规范</a:t>
              </a:r>
              <a:endParaRPr lang="en-US" sz="600" dirty="0"/>
            </a:p>
          </p:txBody>
        </p:sp>
        <p:sp>
          <p:nvSpPr>
            <p:cNvPr id="14" name="圆角矩形 13"/>
            <p:cNvSpPr/>
            <p:nvPr/>
          </p:nvSpPr>
          <p:spPr>
            <a:xfrm>
              <a:off x="92869" y="467134"/>
              <a:ext cx="200025" cy="92869"/>
            </a:xfrm>
            <a:prstGeom prst="roundRect">
              <a:avLst>
                <a:gd name="adj" fmla="val 23077"/>
              </a:avLst>
            </a:prstGeom>
            <a:solidFill>
              <a:srgbClr val="FFF4E5"/>
            </a:solidFill>
          </p:spPr>
          <p:txBody>
            <a:bodyPr wrap="none" lIns="28575" tIns="7144" rIns="28575" bIns="7144" rtlCol="0" anchor="t"/>
            <a:lstStyle/>
            <a:p>
              <a:pPr marL="0" indent="0">
                <a:lnSpc>
                  <a:spcPct val="140000"/>
                </a:lnSpc>
                <a:buNone/>
              </a:pPr>
              <a:r>
                <a:rPr lang="zh-CN" sz="600" b="1" dirty="0">
                  <a:solidFill>
                    <a:srgbClr val="B45309"/>
                  </a:solidFill>
                  <a:latin typeface="Arial" panose="020B0604020202020204" pitchFamily="34" charset="0"/>
                  <a:ea typeface="微软雅黑" panose="020B0503020204020204" pitchFamily="34" charset="-122"/>
                </a:rPr>
                <a:t>私有</a:t>
              </a:r>
              <a:endParaRPr lang="en-US" sz="600" dirty="0"/>
            </a:p>
          </p:txBody>
        </p:sp>
      </p:grpSp>
      <p:grpSp>
        <p:nvGrpSpPr>
          <p:cNvPr id="111" name="h2p-grp-h2p-animroot-2"/>
          <p:cNvGrpSpPr/>
          <p:nvPr/>
        </p:nvGrpSpPr>
        <p:grpSpPr>
          <a:xfrm>
            <a:off x="2257425" y="931478"/>
            <a:ext cx="1885950" cy="917191"/>
            <a:chOff x="0" y="0"/>
            <a:chExt cx="1885950" cy="917191"/>
          </a:xfrm>
        </p:grpSpPr>
        <p:sp>
          <p:nvSpPr>
            <p:cNvPr id="15" name="圆角矩形 14"/>
            <p:cNvSpPr/>
            <p:nvPr/>
          </p:nvSpPr>
          <p:spPr>
            <a:xfrm>
              <a:off x="0" y="0"/>
              <a:ext cx="1885950" cy="917191"/>
            </a:xfrm>
            <a:prstGeom prst="roundRect">
              <a:avLst>
                <a:gd name="adj" fmla="val 9346"/>
              </a:avLst>
            </a:prstGeom>
            <a:solidFill>
              <a:srgbClr val="FFFFFF"/>
            </a:solidFill>
            <a:ln w="6350">
              <a:solidFill>
                <a:srgbClr val="DCEAF5"/>
              </a:solidFill>
              <a:prstDash val="solid"/>
            </a:ln>
          </p:spPr>
        </p:sp>
        <p:sp>
          <p:nvSpPr>
            <p:cNvPr id="16" name="圆角矩形 15"/>
            <p:cNvSpPr/>
            <p:nvPr/>
          </p:nvSpPr>
          <p:spPr>
            <a:xfrm>
              <a:off x="92869" y="92869"/>
              <a:ext cx="171450" cy="171450"/>
            </a:xfrm>
            <a:prstGeom prst="roundRect">
              <a:avLst>
                <a:gd name="adj" fmla="val 25000"/>
              </a:avLst>
            </a:prstGeom>
            <a:solidFill>
              <a:srgbClr val="EAF5FF"/>
            </a:solidFill>
          </p:spPr>
        </p:sp>
        <p:sp>
          <p:nvSpPr>
            <p:cNvPr id="17" name="矩形 16"/>
            <p:cNvSpPr/>
            <p:nvPr/>
          </p:nvSpPr>
          <p:spPr>
            <a:xfrm>
              <a:off x="128588" y="128588"/>
              <a:ext cx="100013" cy="100013"/>
            </a:xfrm>
            <a:prstGeom prst="rect">
              <a:avLst/>
            </a:prstGeom>
            <a:noFill/>
          </p:spPr>
          <p:txBody>
            <a:bodyPr wrap="none" lIns="0" tIns="0" rIns="0" bIns="0" rtlCol="0" anchor="t"/>
            <a:lstStyle/>
            <a:p>
              <a:pPr marL="0" indent="0">
                <a:lnSpc>
                  <a:spcPct val="100000"/>
                </a:lnSpc>
                <a:buNone/>
              </a:pPr>
              <a:r>
                <a:rPr lang="en-US" sz="700" dirty="0">
                  <a:solidFill>
                    <a:srgbClr val="5B9DFF"/>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700" dirty="0"/>
            </a:p>
          </p:txBody>
        </p:sp>
        <p:sp>
          <p:nvSpPr>
            <p:cNvPr id="18" name="矩形 17"/>
            <p:cNvSpPr/>
            <p:nvPr/>
          </p:nvSpPr>
          <p:spPr>
            <a:xfrm>
              <a:off x="321469" y="103584"/>
              <a:ext cx="500063" cy="150019"/>
            </a:xfrm>
            <a:prstGeom prst="rect">
              <a:avLst/>
            </a:prstGeom>
            <a:noFill/>
          </p:spPr>
          <p:txBody>
            <a:bodyPr wrap="none" lIns="0" tIns="0" rIns="0" bIns="0" rtlCol="0" anchor="t"/>
            <a:lstStyle/>
            <a:p>
              <a:pPr marL="0" indent="0">
                <a:lnSpc>
                  <a:spcPct val="150000"/>
                </a:lnSpc>
                <a:buNone/>
              </a:pPr>
              <a:r>
                <a:rPr lang="zh-CN" sz="700" b="1" dirty="0">
                  <a:solidFill>
                    <a:srgbClr val="1F2A37"/>
                  </a:solidFill>
                  <a:latin typeface="Arial" panose="020B0604020202020204" pitchFamily="34" charset="0"/>
                  <a:ea typeface="微软雅黑" panose="020B0503020204020204" pitchFamily="34" charset="-122"/>
                </a:rPr>
                <a:t>心血管疾病</a:t>
              </a:r>
              <a:endParaRPr lang="en-US" sz="700" dirty="0"/>
            </a:p>
          </p:txBody>
        </p:sp>
        <p:sp>
          <p:nvSpPr>
            <p:cNvPr id="19" name="矩形 18"/>
            <p:cNvSpPr/>
            <p:nvPr/>
          </p:nvSpPr>
          <p:spPr>
            <a:xfrm>
              <a:off x="321469" y="328613"/>
              <a:ext cx="785813" cy="85725"/>
            </a:xfrm>
            <a:prstGeom prst="rect">
              <a:avLst/>
            </a:prstGeom>
            <a:noFill/>
          </p:spPr>
          <p:txBody>
            <a:bodyPr wrap="none" lIns="0" tIns="0" rIns="0" bIns="0" rtlCol="0" anchor="t"/>
            <a:lstStyle/>
            <a:p>
              <a:pPr marL="0" indent="0">
                <a:lnSpc>
                  <a:spcPct val="140000"/>
                </a:lnSpc>
                <a:buNone/>
              </a:pPr>
              <a:r>
                <a:rPr lang="zh-CN" sz="600" dirty="0">
                  <a:solidFill>
                    <a:srgbClr val="1F2A37"/>
                  </a:solidFill>
                  <a:latin typeface="Arial" panose="020B0604020202020204" pitchFamily="34" charset="0"/>
                  <a:ea typeface="微软雅黑" panose="020B0503020204020204" pitchFamily="34" charset="-122"/>
                </a:rPr>
                <a:t>高血压、冠心病、心衰</a:t>
              </a:r>
              <a:endParaRPr lang="en-US" sz="600" dirty="0"/>
            </a:p>
          </p:txBody>
        </p:sp>
        <p:sp>
          <p:nvSpPr>
            <p:cNvPr id="20" name="圆角矩形 19"/>
            <p:cNvSpPr/>
            <p:nvPr/>
          </p:nvSpPr>
          <p:spPr>
            <a:xfrm>
              <a:off x="92869" y="328613"/>
              <a:ext cx="200025" cy="92869"/>
            </a:xfrm>
            <a:prstGeom prst="roundRect">
              <a:avLst>
                <a:gd name="adj" fmla="val 23077"/>
              </a:avLst>
            </a:prstGeom>
            <a:solidFill>
              <a:srgbClr val="E1F0FF"/>
            </a:solidFill>
          </p:spPr>
          <p:txBody>
            <a:bodyPr wrap="none" lIns="28575" tIns="7144" rIns="28575" bIns="7144" rtlCol="0" anchor="t"/>
            <a:lstStyle/>
            <a:p>
              <a:pPr marL="0" indent="0">
                <a:lnSpc>
                  <a:spcPct val="140000"/>
                </a:lnSpc>
                <a:buNone/>
              </a:pPr>
              <a:r>
                <a:rPr lang="zh-CN" sz="600" b="1" dirty="0">
                  <a:solidFill>
                    <a:srgbClr val="2563EB"/>
                  </a:solidFill>
                  <a:latin typeface="Arial" panose="020B0604020202020204" pitchFamily="34" charset="0"/>
                  <a:ea typeface="微软雅黑" panose="020B0503020204020204" pitchFamily="34" charset="-122"/>
                </a:rPr>
                <a:t>公开</a:t>
              </a:r>
              <a:endParaRPr lang="en-US" sz="600" dirty="0"/>
            </a:p>
          </p:txBody>
        </p:sp>
        <p:sp>
          <p:nvSpPr>
            <p:cNvPr id="21" name="矩形 20"/>
            <p:cNvSpPr/>
            <p:nvPr/>
          </p:nvSpPr>
          <p:spPr>
            <a:xfrm>
              <a:off x="321469" y="467134"/>
              <a:ext cx="707231" cy="85725"/>
            </a:xfrm>
            <a:prstGeom prst="rect">
              <a:avLst/>
            </a:prstGeom>
            <a:noFill/>
          </p:spPr>
          <p:txBody>
            <a:bodyPr wrap="none" lIns="0" tIns="0" rIns="0" bIns="0" rtlCol="0" anchor="t"/>
            <a:lstStyle/>
            <a:p>
              <a:pPr marL="0" indent="0">
                <a:lnSpc>
                  <a:spcPct val="140000"/>
                </a:lnSpc>
                <a:buNone/>
              </a:pPr>
              <a:r>
                <a:rPr lang="zh-CN" sz="600" dirty="0">
                  <a:solidFill>
                    <a:srgbClr val="1F2A37"/>
                  </a:solidFill>
                  <a:latin typeface="Arial" panose="020B0604020202020204" pitchFamily="34" charset="0"/>
                  <a:ea typeface="微软雅黑" panose="020B0503020204020204" pitchFamily="34" charset="-122"/>
                </a:rPr>
                <a:t>房颤抗凝、心脏康复</a:t>
              </a:r>
              <a:endParaRPr lang="en-US" sz="600" dirty="0"/>
            </a:p>
          </p:txBody>
        </p:sp>
        <p:sp>
          <p:nvSpPr>
            <p:cNvPr id="22" name="圆角矩形 21"/>
            <p:cNvSpPr/>
            <p:nvPr/>
          </p:nvSpPr>
          <p:spPr>
            <a:xfrm>
              <a:off x="92869" y="467134"/>
              <a:ext cx="200025" cy="92869"/>
            </a:xfrm>
            <a:prstGeom prst="roundRect">
              <a:avLst>
                <a:gd name="adj" fmla="val 23077"/>
              </a:avLst>
            </a:prstGeom>
            <a:solidFill>
              <a:srgbClr val="FFF4E5"/>
            </a:solidFill>
          </p:spPr>
          <p:txBody>
            <a:bodyPr wrap="none" lIns="28575" tIns="7144" rIns="28575" bIns="7144" rtlCol="0" anchor="t"/>
            <a:lstStyle/>
            <a:p>
              <a:pPr marL="0" indent="0">
                <a:lnSpc>
                  <a:spcPct val="140000"/>
                </a:lnSpc>
                <a:buNone/>
              </a:pPr>
              <a:r>
                <a:rPr lang="zh-CN" sz="600" b="1" dirty="0">
                  <a:solidFill>
                    <a:srgbClr val="B45309"/>
                  </a:solidFill>
                  <a:latin typeface="Arial" panose="020B0604020202020204" pitchFamily="34" charset="0"/>
                  <a:ea typeface="微软雅黑" panose="020B0503020204020204" pitchFamily="34" charset="-122"/>
                </a:rPr>
                <a:t>私有</a:t>
              </a:r>
              <a:endParaRPr lang="en-US" sz="600" dirty="0"/>
            </a:p>
          </p:txBody>
        </p:sp>
      </p:grpSp>
      <p:grpSp>
        <p:nvGrpSpPr>
          <p:cNvPr id="112" name="h2p-grp-h2p-animroot-3"/>
          <p:cNvGrpSpPr/>
          <p:nvPr/>
        </p:nvGrpSpPr>
        <p:grpSpPr>
          <a:xfrm>
            <a:off x="4229100" y="931478"/>
            <a:ext cx="1885950" cy="917191"/>
            <a:chOff x="0" y="0"/>
            <a:chExt cx="1885950" cy="917191"/>
          </a:xfrm>
        </p:grpSpPr>
        <p:sp>
          <p:nvSpPr>
            <p:cNvPr id="23" name="圆角矩形 22"/>
            <p:cNvSpPr/>
            <p:nvPr/>
          </p:nvSpPr>
          <p:spPr>
            <a:xfrm>
              <a:off x="0" y="0"/>
              <a:ext cx="1885950" cy="917191"/>
            </a:xfrm>
            <a:prstGeom prst="roundRect">
              <a:avLst>
                <a:gd name="adj" fmla="val 9346"/>
              </a:avLst>
            </a:prstGeom>
            <a:solidFill>
              <a:srgbClr val="FFFFFF"/>
            </a:solidFill>
            <a:ln w="6350">
              <a:solidFill>
                <a:srgbClr val="DCEAF5"/>
              </a:solidFill>
              <a:prstDash val="solid"/>
            </a:ln>
          </p:spPr>
        </p:sp>
        <p:sp>
          <p:nvSpPr>
            <p:cNvPr id="24" name="圆角矩形 23"/>
            <p:cNvSpPr/>
            <p:nvPr/>
          </p:nvSpPr>
          <p:spPr>
            <a:xfrm>
              <a:off x="92869" y="92869"/>
              <a:ext cx="171450" cy="171450"/>
            </a:xfrm>
            <a:prstGeom prst="roundRect">
              <a:avLst>
                <a:gd name="adj" fmla="val 25000"/>
              </a:avLst>
            </a:prstGeom>
            <a:solidFill>
              <a:srgbClr val="EAF5FF"/>
            </a:solidFill>
          </p:spPr>
        </p:sp>
        <p:sp>
          <p:nvSpPr>
            <p:cNvPr id="25" name="矩形 24"/>
            <p:cNvSpPr/>
            <p:nvPr/>
          </p:nvSpPr>
          <p:spPr>
            <a:xfrm>
              <a:off x="321469" y="103584"/>
              <a:ext cx="600075" cy="150019"/>
            </a:xfrm>
            <a:prstGeom prst="rect">
              <a:avLst/>
            </a:prstGeom>
            <a:noFill/>
          </p:spPr>
          <p:txBody>
            <a:bodyPr wrap="none" lIns="0" tIns="0" rIns="0" bIns="0" rtlCol="0" anchor="t"/>
            <a:lstStyle/>
            <a:p>
              <a:pPr marL="0" indent="0">
                <a:lnSpc>
                  <a:spcPct val="150000"/>
                </a:lnSpc>
                <a:buNone/>
              </a:pPr>
              <a:r>
                <a:rPr lang="zh-CN" sz="700" b="1" dirty="0">
                  <a:solidFill>
                    <a:srgbClr val="1F2A37"/>
                  </a:solidFill>
                  <a:latin typeface="Arial" panose="020B0604020202020204" pitchFamily="34" charset="0"/>
                  <a:ea typeface="微软雅黑" panose="020B0503020204020204" pitchFamily="34" charset="-122"/>
                </a:rPr>
                <a:t>消化系统疾病</a:t>
              </a:r>
              <a:endParaRPr lang="en-US" sz="700" dirty="0"/>
            </a:p>
          </p:txBody>
        </p:sp>
        <p:sp>
          <p:nvSpPr>
            <p:cNvPr id="26" name="矩形 25"/>
            <p:cNvSpPr/>
            <p:nvPr/>
          </p:nvSpPr>
          <p:spPr>
            <a:xfrm>
              <a:off x="321469" y="328613"/>
              <a:ext cx="785813" cy="85725"/>
            </a:xfrm>
            <a:prstGeom prst="rect">
              <a:avLst/>
            </a:prstGeom>
            <a:noFill/>
          </p:spPr>
          <p:txBody>
            <a:bodyPr wrap="none" lIns="0" tIns="0" rIns="0" bIns="0" rtlCol="0" anchor="t"/>
            <a:lstStyle/>
            <a:p>
              <a:pPr marL="0" indent="0">
                <a:lnSpc>
                  <a:spcPct val="140000"/>
                </a:lnSpc>
                <a:buNone/>
              </a:pPr>
              <a:r>
                <a:rPr lang="zh-CN" sz="600" dirty="0">
                  <a:solidFill>
                    <a:srgbClr val="1F2A37"/>
                  </a:solidFill>
                  <a:latin typeface="Arial" panose="020B0604020202020204" pitchFamily="34" charset="0"/>
                  <a:ea typeface="微软雅黑" panose="020B0503020204020204" pitchFamily="34" charset="-122"/>
                </a:rPr>
                <a:t>慢性胃炎、消化性溃疡</a:t>
              </a:r>
              <a:endParaRPr lang="en-US" sz="600" dirty="0"/>
            </a:p>
          </p:txBody>
        </p:sp>
        <p:sp>
          <p:nvSpPr>
            <p:cNvPr id="27" name="圆角矩形 26"/>
            <p:cNvSpPr/>
            <p:nvPr/>
          </p:nvSpPr>
          <p:spPr>
            <a:xfrm>
              <a:off x="92869" y="328613"/>
              <a:ext cx="200025" cy="92869"/>
            </a:xfrm>
            <a:prstGeom prst="roundRect">
              <a:avLst>
                <a:gd name="adj" fmla="val 23077"/>
              </a:avLst>
            </a:prstGeom>
            <a:solidFill>
              <a:srgbClr val="E1F0FF"/>
            </a:solidFill>
          </p:spPr>
          <p:txBody>
            <a:bodyPr wrap="none" lIns="28575" tIns="7144" rIns="28575" bIns="7144" rtlCol="0" anchor="t"/>
            <a:lstStyle/>
            <a:p>
              <a:pPr marL="0" indent="0">
                <a:lnSpc>
                  <a:spcPct val="140000"/>
                </a:lnSpc>
                <a:buNone/>
              </a:pPr>
              <a:r>
                <a:rPr lang="zh-CN" sz="600" b="1" dirty="0">
                  <a:solidFill>
                    <a:srgbClr val="2563EB"/>
                  </a:solidFill>
                  <a:latin typeface="Arial" panose="020B0604020202020204" pitchFamily="34" charset="0"/>
                  <a:ea typeface="微软雅黑" panose="020B0503020204020204" pitchFamily="34" charset="-122"/>
                </a:rPr>
                <a:t>公开</a:t>
              </a:r>
              <a:endParaRPr lang="en-US" sz="600" dirty="0"/>
            </a:p>
          </p:txBody>
        </p:sp>
        <p:sp>
          <p:nvSpPr>
            <p:cNvPr id="28" name="矩形 27"/>
            <p:cNvSpPr/>
            <p:nvPr/>
          </p:nvSpPr>
          <p:spPr>
            <a:xfrm>
              <a:off x="321469" y="467134"/>
              <a:ext cx="816397" cy="85725"/>
            </a:xfrm>
            <a:prstGeom prst="rect">
              <a:avLst/>
            </a:prstGeom>
            <a:noFill/>
          </p:spPr>
          <p:txBody>
            <a:bodyPr wrap="none" lIns="0" tIns="0" rIns="0" bIns="0" rtlCol="0" anchor="t"/>
            <a:lstStyle/>
            <a:p>
              <a:pPr marL="0" indent="0">
                <a:lnSpc>
                  <a:spcPct val="140000"/>
                </a:lnSpc>
                <a:buNone/>
              </a:pPr>
              <a:r>
                <a:rPr lang="en-US" sz="600" dirty="0">
                  <a:solidFill>
                    <a:srgbClr val="1F2A37"/>
                  </a:solidFill>
                  <a:latin typeface="Arial" panose="020B0604020202020204" pitchFamily="34" charset="0"/>
                </a:rPr>
                <a:t>HP</a:t>
              </a:r>
              <a:r>
                <a:rPr lang="zh-CN" sz="600" dirty="0">
                  <a:solidFill>
                    <a:srgbClr val="1F2A37"/>
                  </a:solidFill>
                  <a:latin typeface="Arial" panose="020B0604020202020204" pitchFamily="34" charset="0"/>
                  <a:ea typeface="微软雅黑" panose="020B0503020204020204" pitchFamily="34" charset="-122"/>
                </a:rPr>
                <a:t>根除、上消化道出血</a:t>
              </a:r>
              <a:endParaRPr lang="en-US" sz="600" dirty="0"/>
            </a:p>
          </p:txBody>
        </p:sp>
        <p:sp>
          <p:nvSpPr>
            <p:cNvPr id="29" name="圆角矩形 28"/>
            <p:cNvSpPr/>
            <p:nvPr/>
          </p:nvSpPr>
          <p:spPr>
            <a:xfrm>
              <a:off x="92869" y="467134"/>
              <a:ext cx="200025" cy="92869"/>
            </a:xfrm>
            <a:prstGeom prst="roundRect">
              <a:avLst>
                <a:gd name="adj" fmla="val 23077"/>
              </a:avLst>
            </a:prstGeom>
            <a:solidFill>
              <a:srgbClr val="FFF4E5"/>
            </a:solidFill>
          </p:spPr>
          <p:txBody>
            <a:bodyPr wrap="none" lIns="28575" tIns="7144" rIns="28575" bIns="7144" rtlCol="0" anchor="t"/>
            <a:lstStyle/>
            <a:p>
              <a:pPr marL="0" indent="0">
                <a:lnSpc>
                  <a:spcPct val="140000"/>
                </a:lnSpc>
                <a:buNone/>
              </a:pPr>
              <a:r>
                <a:rPr lang="zh-CN" sz="600" b="1" dirty="0">
                  <a:solidFill>
                    <a:srgbClr val="B45309"/>
                  </a:solidFill>
                  <a:latin typeface="Arial" panose="020B0604020202020204" pitchFamily="34" charset="0"/>
                  <a:ea typeface="微软雅黑" panose="020B0503020204020204" pitchFamily="34" charset="-122"/>
                </a:rPr>
                <a:t>私有</a:t>
              </a:r>
              <a:endParaRPr lang="en-US" sz="600" dirty="0"/>
            </a:p>
          </p:txBody>
        </p:sp>
      </p:grpSp>
      <p:grpSp>
        <p:nvGrpSpPr>
          <p:cNvPr id="113" name="h2p-grp-h2p-animroot-4"/>
          <p:cNvGrpSpPr/>
          <p:nvPr/>
        </p:nvGrpSpPr>
        <p:grpSpPr>
          <a:xfrm>
            <a:off x="285750" y="1934394"/>
            <a:ext cx="1885950" cy="917302"/>
            <a:chOff x="0" y="0"/>
            <a:chExt cx="1885950" cy="917302"/>
          </a:xfrm>
        </p:grpSpPr>
        <p:sp>
          <p:nvSpPr>
            <p:cNvPr id="30" name="圆角矩形 29"/>
            <p:cNvSpPr/>
            <p:nvPr/>
          </p:nvSpPr>
          <p:spPr>
            <a:xfrm>
              <a:off x="0" y="0"/>
              <a:ext cx="1885950" cy="917302"/>
            </a:xfrm>
            <a:prstGeom prst="roundRect">
              <a:avLst>
                <a:gd name="adj" fmla="val 9345"/>
              </a:avLst>
            </a:prstGeom>
            <a:solidFill>
              <a:srgbClr val="FFFFFF"/>
            </a:solidFill>
            <a:ln w="6350">
              <a:solidFill>
                <a:srgbClr val="DCEAF5"/>
              </a:solidFill>
              <a:prstDash val="solid"/>
            </a:ln>
          </p:spPr>
        </p:sp>
        <p:sp>
          <p:nvSpPr>
            <p:cNvPr id="31" name="圆角矩形 30"/>
            <p:cNvSpPr/>
            <p:nvPr/>
          </p:nvSpPr>
          <p:spPr>
            <a:xfrm>
              <a:off x="92869" y="92868"/>
              <a:ext cx="171450" cy="171450"/>
            </a:xfrm>
            <a:prstGeom prst="roundRect">
              <a:avLst>
                <a:gd name="adj" fmla="val 25000"/>
              </a:avLst>
            </a:prstGeom>
            <a:solidFill>
              <a:srgbClr val="EAF5FF"/>
            </a:solidFill>
          </p:spPr>
        </p:sp>
        <p:sp>
          <p:nvSpPr>
            <p:cNvPr id="32" name="矩形 31"/>
            <p:cNvSpPr/>
            <p:nvPr/>
          </p:nvSpPr>
          <p:spPr>
            <a:xfrm>
              <a:off x="128588" y="128587"/>
              <a:ext cx="100013" cy="100013"/>
            </a:xfrm>
            <a:prstGeom prst="rect">
              <a:avLst/>
            </a:prstGeom>
            <a:noFill/>
          </p:spPr>
          <p:txBody>
            <a:bodyPr wrap="none" lIns="0" tIns="0" rIns="0" bIns="0" rtlCol="0" anchor="t"/>
            <a:lstStyle/>
            <a:p>
              <a:pPr marL="0" indent="0">
                <a:lnSpc>
                  <a:spcPct val="100000"/>
                </a:lnSpc>
                <a:buNone/>
              </a:pPr>
              <a:r>
                <a:rPr lang="en-US" sz="700" dirty="0">
                  <a:solidFill>
                    <a:srgbClr val="5B9DFF"/>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700" dirty="0"/>
            </a:p>
          </p:txBody>
        </p:sp>
        <p:sp>
          <p:nvSpPr>
            <p:cNvPr id="33" name="矩形 32"/>
            <p:cNvSpPr/>
            <p:nvPr/>
          </p:nvSpPr>
          <p:spPr>
            <a:xfrm>
              <a:off x="321469" y="103584"/>
              <a:ext cx="600075" cy="150019"/>
            </a:xfrm>
            <a:prstGeom prst="rect">
              <a:avLst/>
            </a:prstGeom>
            <a:noFill/>
          </p:spPr>
          <p:txBody>
            <a:bodyPr wrap="none" lIns="0" tIns="0" rIns="0" bIns="0" rtlCol="0" anchor="t"/>
            <a:lstStyle/>
            <a:p>
              <a:pPr marL="0" indent="0">
                <a:lnSpc>
                  <a:spcPct val="150000"/>
                </a:lnSpc>
                <a:buNone/>
              </a:pPr>
              <a:r>
                <a:rPr lang="zh-CN" sz="700" b="1" dirty="0">
                  <a:solidFill>
                    <a:srgbClr val="1F2A37"/>
                  </a:solidFill>
                  <a:latin typeface="Arial" panose="020B0604020202020204" pitchFamily="34" charset="0"/>
                  <a:ea typeface="微软雅黑" panose="020B0503020204020204" pitchFamily="34" charset="-122"/>
                </a:rPr>
                <a:t>神经系统疾病</a:t>
              </a:r>
              <a:endParaRPr lang="en-US" sz="700" dirty="0"/>
            </a:p>
          </p:txBody>
        </p:sp>
        <p:sp>
          <p:nvSpPr>
            <p:cNvPr id="34" name="矩形 33"/>
            <p:cNvSpPr/>
            <p:nvPr/>
          </p:nvSpPr>
          <p:spPr>
            <a:xfrm>
              <a:off x="321469" y="328612"/>
              <a:ext cx="785813" cy="85725"/>
            </a:xfrm>
            <a:prstGeom prst="rect">
              <a:avLst/>
            </a:prstGeom>
            <a:noFill/>
          </p:spPr>
          <p:txBody>
            <a:bodyPr wrap="none" lIns="0" tIns="0" rIns="0" bIns="0" rtlCol="0" anchor="t"/>
            <a:lstStyle/>
            <a:p>
              <a:pPr marL="0" indent="0">
                <a:lnSpc>
                  <a:spcPct val="140000"/>
                </a:lnSpc>
                <a:buNone/>
              </a:pPr>
              <a:r>
                <a:rPr lang="zh-CN" sz="600" dirty="0">
                  <a:solidFill>
                    <a:srgbClr val="1F2A37"/>
                  </a:solidFill>
                  <a:latin typeface="Arial" panose="020B0604020202020204" pitchFamily="34" charset="0"/>
                  <a:ea typeface="微软雅黑" panose="020B0503020204020204" pitchFamily="34" charset="-122"/>
                </a:rPr>
                <a:t>脑卒中、偏头痛、癫痫</a:t>
              </a:r>
              <a:endParaRPr lang="en-US" sz="600" dirty="0"/>
            </a:p>
          </p:txBody>
        </p:sp>
        <p:sp>
          <p:nvSpPr>
            <p:cNvPr id="35" name="圆角矩形 34"/>
            <p:cNvSpPr/>
            <p:nvPr/>
          </p:nvSpPr>
          <p:spPr>
            <a:xfrm>
              <a:off x="92869" y="328612"/>
              <a:ext cx="200025" cy="92869"/>
            </a:xfrm>
            <a:prstGeom prst="roundRect">
              <a:avLst>
                <a:gd name="adj" fmla="val 23077"/>
              </a:avLst>
            </a:prstGeom>
            <a:solidFill>
              <a:srgbClr val="E1F0FF"/>
            </a:solidFill>
          </p:spPr>
          <p:txBody>
            <a:bodyPr wrap="none" lIns="28575" tIns="7144" rIns="28575" bIns="7144" rtlCol="0" anchor="t"/>
            <a:lstStyle/>
            <a:p>
              <a:pPr marL="0" indent="0">
                <a:lnSpc>
                  <a:spcPct val="140000"/>
                </a:lnSpc>
                <a:buNone/>
              </a:pPr>
              <a:r>
                <a:rPr lang="zh-CN" sz="600" b="1" dirty="0">
                  <a:solidFill>
                    <a:srgbClr val="2563EB"/>
                  </a:solidFill>
                  <a:latin typeface="Arial" panose="020B0604020202020204" pitchFamily="34" charset="0"/>
                  <a:ea typeface="微软雅黑" panose="020B0503020204020204" pitchFamily="34" charset="-122"/>
                </a:rPr>
                <a:t>公开</a:t>
              </a:r>
              <a:endParaRPr lang="en-US" sz="600" dirty="0"/>
            </a:p>
          </p:txBody>
        </p:sp>
        <p:sp>
          <p:nvSpPr>
            <p:cNvPr id="36" name="矩形 35"/>
            <p:cNvSpPr/>
            <p:nvPr/>
          </p:nvSpPr>
          <p:spPr>
            <a:xfrm>
              <a:off x="321469" y="467134"/>
              <a:ext cx="707231" cy="85725"/>
            </a:xfrm>
            <a:prstGeom prst="rect">
              <a:avLst/>
            </a:prstGeom>
            <a:noFill/>
          </p:spPr>
          <p:txBody>
            <a:bodyPr wrap="none" lIns="0" tIns="0" rIns="0" bIns="0" rtlCol="0" anchor="t"/>
            <a:lstStyle/>
            <a:p>
              <a:pPr marL="0" indent="0">
                <a:lnSpc>
                  <a:spcPct val="140000"/>
                </a:lnSpc>
                <a:buNone/>
              </a:pPr>
              <a:r>
                <a:rPr lang="zh-CN" sz="600" dirty="0">
                  <a:solidFill>
                    <a:srgbClr val="1F2A37"/>
                  </a:solidFill>
                  <a:latin typeface="Arial" panose="020B0604020202020204" pitchFamily="34" charset="0"/>
                  <a:ea typeface="微软雅黑" panose="020B0503020204020204" pitchFamily="34" charset="-122"/>
                </a:rPr>
                <a:t>静脉溶栓、神经重症</a:t>
              </a:r>
              <a:endParaRPr lang="en-US" sz="600" dirty="0"/>
            </a:p>
          </p:txBody>
        </p:sp>
        <p:sp>
          <p:nvSpPr>
            <p:cNvPr id="37" name="圆角矩形 36"/>
            <p:cNvSpPr/>
            <p:nvPr/>
          </p:nvSpPr>
          <p:spPr>
            <a:xfrm>
              <a:off x="92869" y="467134"/>
              <a:ext cx="200025" cy="92869"/>
            </a:xfrm>
            <a:prstGeom prst="roundRect">
              <a:avLst>
                <a:gd name="adj" fmla="val 23077"/>
              </a:avLst>
            </a:prstGeom>
            <a:solidFill>
              <a:srgbClr val="FFF4E5"/>
            </a:solidFill>
          </p:spPr>
          <p:txBody>
            <a:bodyPr wrap="none" lIns="28575" tIns="7144" rIns="28575" bIns="7144" rtlCol="0" anchor="t"/>
            <a:lstStyle/>
            <a:p>
              <a:pPr marL="0" indent="0">
                <a:lnSpc>
                  <a:spcPct val="140000"/>
                </a:lnSpc>
                <a:buNone/>
              </a:pPr>
              <a:r>
                <a:rPr lang="zh-CN" sz="600" b="1" dirty="0">
                  <a:solidFill>
                    <a:srgbClr val="B45309"/>
                  </a:solidFill>
                  <a:latin typeface="Arial" panose="020B0604020202020204" pitchFamily="34" charset="0"/>
                  <a:ea typeface="微软雅黑" panose="020B0503020204020204" pitchFamily="34" charset="-122"/>
                </a:rPr>
                <a:t>私有</a:t>
              </a:r>
              <a:endParaRPr lang="en-US" sz="600" dirty="0"/>
            </a:p>
          </p:txBody>
        </p:sp>
      </p:grpSp>
      <p:grpSp>
        <p:nvGrpSpPr>
          <p:cNvPr id="114" name="h2p-grp-h2p-animroot-5"/>
          <p:cNvGrpSpPr/>
          <p:nvPr/>
        </p:nvGrpSpPr>
        <p:grpSpPr>
          <a:xfrm>
            <a:off x="2257425" y="1934394"/>
            <a:ext cx="1885950" cy="917302"/>
            <a:chOff x="0" y="0"/>
            <a:chExt cx="1885950" cy="917302"/>
          </a:xfrm>
        </p:grpSpPr>
        <p:sp>
          <p:nvSpPr>
            <p:cNvPr id="38" name="圆角矩形 37"/>
            <p:cNvSpPr/>
            <p:nvPr/>
          </p:nvSpPr>
          <p:spPr>
            <a:xfrm>
              <a:off x="0" y="0"/>
              <a:ext cx="1885950" cy="917302"/>
            </a:xfrm>
            <a:prstGeom prst="roundRect">
              <a:avLst>
                <a:gd name="adj" fmla="val 9345"/>
              </a:avLst>
            </a:prstGeom>
            <a:solidFill>
              <a:srgbClr val="FFFFFF"/>
            </a:solidFill>
            <a:ln w="6350">
              <a:solidFill>
                <a:srgbClr val="DCEAF5"/>
              </a:solidFill>
              <a:prstDash val="solid"/>
            </a:ln>
          </p:spPr>
        </p:sp>
        <p:sp>
          <p:nvSpPr>
            <p:cNvPr id="39" name="圆角矩形 38"/>
            <p:cNvSpPr/>
            <p:nvPr/>
          </p:nvSpPr>
          <p:spPr>
            <a:xfrm>
              <a:off x="92869" y="92868"/>
              <a:ext cx="171450" cy="171450"/>
            </a:xfrm>
            <a:prstGeom prst="roundRect">
              <a:avLst>
                <a:gd name="adj" fmla="val 25000"/>
              </a:avLst>
            </a:prstGeom>
            <a:solidFill>
              <a:srgbClr val="EAF5FF"/>
            </a:solidFill>
          </p:spPr>
        </p:sp>
        <p:sp>
          <p:nvSpPr>
            <p:cNvPr id="40" name="矩形 39"/>
            <p:cNvSpPr/>
            <p:nvPr/>
          </p:nvSpPr>
          <p:spPr>
            <a:xfrm>
              <a:off x="141089" y="128587"/>
              <a:ext cx="75009" cy="100013"/>
            </a:xfrm>
            <a:prstGeom prst="rect">
              <a:avLst/>
            </a:prstGeom>
            <a:noFill/>
          </p:spPr>
          <p:txBody>
            <a:bodyPr wrap="none" lIns="0" tIns="0" rIns="0" bIns="0" rtlCol="0" anchor="t"/>
            <a:lstStyle/>
            <a:p>
              <a:pPr marL="0" indent="0">
                <a:lnSpc>
                  <a:spcPct val="100000"/>
                </a:lnSpc>
                <a:buNone/>
              </a:pPr>
              <a:r>
                <a:rPr lang="en-US" sz="700" dirty="0">
                  <a:solidFill>
                    <a:srgbClr val="5B9DFF"/>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700" dirty="0"/>
            </a:p>
          </p:txBody>
        </p:sp>
        <p:sp>
          <p:nvSpPr>
            <p:cNvPr id="41" name="矩形 40"/>
            <p:cNvSpPr/>
            <p:nvPr/>
          </p:nvSpPr>
          <p:spPr>
            <a:xfrm>
              <a:off x="321469" y="103584"/>
              <a:ext cx="500063" cy="150019"/>
            </a:xfrm>
            <a:prstGeom prst="rect">
              <a:avLst/>
            </a:prstGeom>
            <a:noFill/>
          </p:spPr>
          <p:txBody>
            <a:bodyPr wrap="none" lIns="0" tIns="0" rIns="0" bIns="0" rtlCol="0" anchor="t"/>
            <a:lstStyle/>
            <a:p>
              <a:pPr marL="0" indent="0">
                <a:lnSpc>
                  <a:spcPct val="150000"/>
                </a:lnSpc>
                <a:buNone/>
              </a:pPr>
              <a:r>
                <a:rPr lang="zh-CN" sz="700" b="1" dirty="0">
                  <a:solidFill>
                    <a:srgbClr val="1F2A37"/>
                  </a:solidFill>
                  <a:latin typeface="Arial" panose="020B0604020202020204" pitchFamily="34" charset="0"/>
                  <a:ea typeface="微软雅黑" panose="020B0503020204020204" pitchFamily="34" charset="-122"/>
                </a:rPr>
                <a:t>内分泌代谢</a:t>
              </a:r>
              <a:endParaRPr lang="en-US" sz="700" dirty="0"/>
            </a:p>
          </p:txBody>
        </p:sp>
        <p:sp>
          <p:nvSpPr>
            <p:cNvPr id="42" name="矩形 41"/>
            <p:cNvSpPr/>
            <p:nvPr/>
          </p:nvSpPr>
          <p:spPr>
            <a:xfrm>
              <a:off x="321469" y="328612"/>
              <a:ext cx="707231" cy="85725"/>
            </a:xfrm>
            <a:prstGeom prst="rect">
              <a:avLst/>
            </a:prstGeom>
            <a:noFill/>
          </p:spPr>
          <p:txBody>
            <a:bodyPr wrap="none" lIns="0" tIns="0" rIns="0" bIns="0" rtlCol="0" anchor="t"/>
            <a:lstStyle/>
            <a:p>
              <a:pPr marL="0" indent="0">
                <a:lnSpc>
                  <a:spcPct val="140000"/>
                </a:lnSpc>
                <a:buNone/>
              </a:pPr>
              <a:r>
                <a:rPr lang="zh-CN" sz="600" dirty="0">
                  <a:solidFill>
                    <a:srgbClr val="1F2A37"/>
                  </a:solidFill>
                  <a:latin typeface="Arial" panose="020B0604020202020204" pitchFamily="34" charset="0"/>
                  <a:ea typeface="微软雅黑" panose="020B0503020204020204" pitchFamily="34" charset="-122"/>
                </a:rPr>
                <a:t>糖尿病、甲亢、痛风</a:t>
              </a:r>
              <a:endParaRPr lang="en-US" sz="600" dirty="0"/>
            </a:p>
          </p:txBody>
        </p:sp>
        <p:sp>
          <p:nvSpPr>
            <p:cNvPr id="43" name="圆角矩形 42"/>
            <p:cNvSpPr/>
            <p:nvPr/>
          </p:nvSpPr>
          <p:spPr>
            <a:xfrm>
              <a:off x="92869" y="328612"/>
              <a:ext cx="200025" cy="92869"/>
            </a:xfrm>
            <a:prstGeom prst="roundRect">
              <a:avLst>
                <a:gd name="adj" fmla="val 23077"/>
              </a:avLst>
            </a:prstGeom>
            <a:solidFill>
              <a:srgbClr val="E1F0FF"/>
            </a:solidFill>
          </p:spPr>
          <p:txBody>
            <a:bodyPr wrap="none" lIns="28575" tIns="7144" rIns="28575" bIns="7144" rtlCol="0" anchor="t"/>
            <a:lstStyle/>
            <a:p>
              <a:pPr marL="0" indent="0">
                <a:lnSpc>
                  <a:spcPct val="140000"/>
                </a:lnSpc>
                <a:buNone/>
              </a:pPr>
              <a:r>
                <a:rPr lang="zh-CN" sz="600" b="1" dirty="0">
                  <a:solidFill>
                    <a:srgbClr val="2563EB"/>
                  </a:solidFill>
                  <a:latin typeface="Arial" panose="020B0604020202020204" pitchFamily="34" charset="0"/>
                  <a:ea typeface="微软雅黑" panose="020B0503020204020204" pitchFamily="34" charset="-122"/>
                </a:rPr>
                <a:t>公开</a:t>
              </a:r>
              <a:endParaRPr lang="en-US" sz="600" dirty="0"/>
            </a:p>
          </p:txBody>
        </p:sp>
        <p:sp>
          <p:nvSpPr>
            <p:cNvPr id="44" name="矩形 43"/>
            <p:cNvSpPr/>
            <p:nvPr/>
          </p:nvSpPr>
          <p:spPr>
            <a:xfrm>
              <a:off x="321469" y="467134"/>
              <a:ext cx="785813" cy="85725"/>
            </a:xfrm>
            <a:prstGeom prst="rect">
              <a:avLst/>
            </a:prstGeom>
            <a:noFill/>
          </p:spPr>
          <p:txBody>
            <a:bodyPr wrap="none" lIns="0" tIns="0" rIns="0" bIns="0" rtlCol="0" anchor="t"/>
            <a:lstStyle/>
            <a:p>
              <a:pPr marL="0" indent="0">
                <a:lnSpc>
                  <a:spcPct val="140000"/>
                </a:lnSpc>
                <a:buNone/>
              </a:pPr>
              <a:r>
                <a:rPr lang="zh-CN" sz="600" dirty="0">
                  <a:solidFill>
                    <a:srgbClr val="1F2A37"/>
                  </a:solidFill>
                  <a:latin typeface="Arial" panose="020B0604020202020204" pitchFamily="34" charset="0"/>
                  <a:ea typeface="微软雅黑" panose="020B0503020204020204" pitchFamily="34" charset="-122"/>
                </a:rPr>
                <a:t>降糖方案、甲状腺危象</a:t>
              </a:r>
              <a:endParaRPr lang="en-US" sz="600" dirty="0"/>
            </a:p>
          </p:txBody>
        </p:sp>
        <p:sp>
          <p:nvSpPr>
            <p:cNvPr id="45" name="圆角矩形 44"/>
            <p:cNvSpPr/>
            <p:nvPr/>
          </p:nvSpPr>
          <p:spPr>
            <a:xfrm>
              <a:off x="92869" y="467134"/>
              <a:ext cx="200025" cy="92869"/>
            </a:xfrm>
            <a:prstGeom prst="roundRect">
              <a:avLst>
                <a:gd name="adj" fmla="val 23077"/>
              </a:avLst>
            </a:prstGeom>
            <a:solidFill>
              <a:srgbClr val="FFF4E5"/>
            </a:solidFill>
          </p:spPr>
          <p:txBody>
            <a:bodyPr wrap="none" lIns="28575" tIns="7144" rIns="28575" bIns="7144" rtlCol="0" anchor="t"/>
            <a:lstStyle/>
            <a:p>
              <a:pPr marL="0" indent="0">
                <a:lnSpc>
                  <a:spcPct val="140000"/>
                </a:lnSpc>
                <a:buNone/>
              </a:pPr>
              <a:r>
                <a:rPr lang="zh-CN" sz="600" b="1" dirty="0">
                  <a:solidFill>
                    <a:srgbClr val="B45309"/>
                  </a:solidFill>
                  <a:latin typeface="Arial" panose="020B0604020202020204" pitchFamily="34" charset="0"/>
                  <a:ea typeface="微软雅黑" panose="020B0503020204020204" pitchFamily="34" charset="-122"/>
                </a:rPr>
                <a:t>私有</a:t>
              </a:r>
              <a:endParaRPr lang="en-US" sz="600" dirty="0"/>
            </a:p>
          </p:txBody>
        </p:sp>
      </p:grpSp>
      <p:grpSp>
        <p:nvGrpSpPr>
          <p:cNvPr id="115" name="h2p-grp-h2p-animroot-6"/>
          <p:cNvGrpSpPr/>
          <p:nvPr/>
        </p:nvGrpSpPr>
        <p:grpSpPr>
          <a:xfrm>
            <a:off x="4229100" y="1934394"/>
            <a:ext cx="1885950" cy="917302"/>
            <a:chOff x="0" y="0"/>
            <a:chExt cx="1885950" cy="917302"/>
          </a:xfrm>
        </p:grpSpPr>
        <p:sp>
          <p:nvSpPr>
            <p:cNvPr id="46" name="圆角矩形 45"/>
            <p:cNvSpPr/>
            <p:nvPr/>
          </p:nvSpPr>
          <p:spPr>
            <a:xfrm>
              <a:off x="0" y="0"/>
              <a:ext cx="1885950" cy="917302"/>
            </a:xfrm>
            <a:prstGeom prst="roundRect">
              <a:avLst>
                <a:gd name="adj" fmla="val 9345"/>
              </a:avLst>
            </a:prstGeom>
            <a:solidFill>
              <a:srgbClr val="FFFFFF"/>
            </a:solidFill>
            <a:ln w="6350">
              <a:solidFill>
                <a:srgbClr val="DCEAF5"/>
              </a:solidFill>
              <a:prstDash val="solid"/>
            </a:ln>
          </p:spPr>
        </p:sp>
        <p:sp>
          <p:nvSpPr>
            <p:cNvPr id="47" name="圆角矩形 46"/>
            <p:cNvSpPr/>
            <p:nvPr/>
          </p:nvSpPr>
          <p:spPr>
            <a:xfrm>
              <a:off x="92869" y="92868"/>
              <a:ext cx="171450" cy="171450"/>
            </a:xfrm>
            <a:prstGeom prst="roundRect">
              <a:avLst>
                <a:gd name="adj" fmla="val 25000"/>
              </a:avLst>
            </a:prstGeom>
            <a:solidFill>
              <a:srgbClr val="EAF5FF"/>
            </a:solidFill>
          </p:spPr>
        </p:sp>
        <p:sp>
          <p:nvSpPr>
            <p:cNvPr id="48" name="矩形 47"/>
            <p:cNvSpPr/>
            <p:nvPr/>
          </p:nvSpPr>
          <p:spPr>
            <a:xfrm>
              <a:off x="321469" y="103584"/>
              <a:ext cx="600075" cy="150019"/>
            </a:xfrm>
            <a:prstGeom prst="rect">
              <a:avLst/>
            </a:prstGeom>
            <a:noFill/>
          </p:spPr>
          <p:txBody>
            <a:bodyPr wrap="none" lIns="0" tIns="0" rIns="0" bIns="0" rtlCol="0" anchor="t"/>
            <a:lstStyle/>
            <a:p>
              <a:pPr marL="0" indent="0">
                <a:lnSpc>
                  <a:spcPct val="150000"/>
                </a:lnSpc>
                <a:buNone/>
              </a:pPr>
              <a:r>
                <a:rPr lang="zh-CN" sz="700" b="1" dirty="0">
                  <a:solidFill>
                    <a:srgbClr val="1F2A37"/>
                  </a:solidFill>
                  <a:latin typeface="Arial" panose="020B0604020202020204" pitchFamily="34" charset="0"/>
                  <a:ea typeface="微软雅黑" panose="020B0503020204020204" pitchFamily="34" charset="-122"/>
                </a:rPr>
                <a:t>泌尿肾脏疾病</a:t>
              </a:r>
              <a:endParaRPr lang="en-US" sz="700" dirty="0"/>
            </a:p>
          </p:txBody>
        </p:sp>
        <p:sp>
          <p:nvSpPr>
            <p:cNvPr id="49" name="矩形 48"/>
            <p:cNvSpPr/>
            <p:nvPr/>
          </p:nvSpPr>
          <p:spPr>
            <a:xfrm>
              <a:off x="321469" y="328612"/>
              <a:ext cx="707231" cy="85725"/>
            </a:xfrm>
            <a:prstGeom prst="rect">
              <a:avLst/>
            </a:prstGeom>
            <a:noFill/>
          </p:spPr>
          <p:txBody>
            <a:bodyPr wrap="none" lIns="0" tIns="0" rIns="0" bIns="0" rtlCol="0" anchor="t"/>
            <a:lstStyle/>
            <a:p>
              <a:pPr marL="0" indent="0">
                <a:lnSpc>
                  <a:spcPct val="140000"/>
                </a:lnSpc>
                <a:buNone/>
              </a:pPr>
              <a:r>
                <a:rPr lang="zh-CN" sz="600" dirty="0">
                  <a:solidFill>
                    <a:srgbClr val="1F2A37"/>
                  </a:solidFill>
                  <a:latin typeface="Arial" panose="020B0604020202020204" pitchFamily="34" charset="0"/>
                  <a:ea typeface="微软雅黑" panose="020B0503020204020204" pitchFamily="34" charset="-122"/>
                </a:rPr>
                <a:t>肾结石、慢性肾脏病</a:t>
              </a:r>
              <a:endParaRPr lang="en-US" sz="600" dirty="0"/>
            </a:p>
          </p:txBody>
        </p:sp>
        <p:sp>
          <p:nvSpPr>
            <p:cNvPr id="50" name="圆角矩形 49"/>
            <p:cNvSpPr/>
            <p:nvPr/>
          </p:nvSpPr>
          <p:spPr>
            <a:xfrm>
              <a:off x="92869" y="328612"/>
              <a:ext cx="200025" cy="92869"/>
            </a:xfrm>
            <a:prstGeom prst="roundRect">
              <a:avLst>
                <a:gd name="adj" fmla="val 23077"/>
              </a:avLst>
            </a:prstGeom>
            <a:solidFill>
              <a:srgbClr val="E1F0FF"/>
            </a:solidFill>
          </p:spPr>
          <p:txBody>
            <a:bodyPr wrap="none" lIns="28575" tIns="7144" rIns="28575" bIns="7144" rtlCol="0" anchor="t"/>
            <a:lstStyle/>
            <a:p>
              <a:pPr marL="0" indent="0">
                <a:lnSpc>
                  <a:spcPct val="140000"/>
                </a:lnSpc>
                <a:buNone/>
              </a:pPr>
              <a:r>
                <a:rPr lang="zh-CN" sz="600" b="1" dirty="0">
                  <a:solidFill>
                    <a:srgbClr val="2563EB"/>
                  </a:solidFill>
                  <a:latin typeface="Arial" panose="020B0604020202020204" pitchFamily="34" charset="0"/>
                  <a:ea typeface="微软雅黑" panose="020B0503020204020204" pitchFamily="34" charset="-122"/>
                </a:rPr>
                <a:t>公开</a:t>
              </a:r>
              <a:endParaRPr lang="en-US" sz="600" dirty="0"/>
            </a:p>
          </p:txBody>
        </p:sp>
        <p:sp>
          <p:nvSpPr>
            <p:cNvPr id="51" name="矩形 50"/>
            <p:cNvSpPr/>
            <p:nvPr/>
          </p:nvSpPr>
          <p:spPr>
            <a:xfrm>
              <a:off x="321469" y="467134"/>
              <a:ext cx="707343" cy="85725"/>
            </a:xfrm>
            <a:prstGeom prst="rect">
              <a:avLst/>
            </a:prstGeom>
            <a:noFill/>
          </p:spPr>
          <p:txBody>
            <a:bodyPr wrap="none" lIns="0" tIns="0" rIns="0" bIns="0" rtlCol="0" anchor="t"/>
            <a:lstStyle/>
            <a:p>
              <a:pPr marL="0" indent="0">
                <a:lnSpc>
                  <a:spcPct val="140000"/>
                </a:lnSpc>
                <a:buNone/>
              </a:pPr>
              <a:r>
                <a:rPr lang="zh-CN" sz="600" dirty="0">
                  <a:solidFill>
                    <a:srgbClr val="1F2A37"/>
                  </a:solidFill>
                  <a:latin typeface="Arial" panose="020B0604020202020204" pitchFamily="34" charset="0"/>
                  <a:ea typeface="微软雅黑" panose="020B0503020204020204" pitchFamily="34" charset="-122"/>
                </a:rPr>
                <a:t>透析管理、</a:t>
              </a:r>
              <a:r>
                <a:rPr lang="en-US" sz="600" dirty="0">
                  <a:solidFill>
                    <a:srgbClr val="1F2A37"/>
                  </a:solidFill>
                  <a:latin typeface="Arial" panose="020B0604020202020204" pitchFamily="34" charset="0"/>
                </a:rPr>
                <a:t>PSA</a:t>
              </a:r>
              <a:r>
                <a:rPr lang="zh-CN" sz="600" dirty="0">
                  <a:solidFill>
                    <a:srgbClr val="1F2A37"/>
                  </a:solidFill>
                  <a:latin typeface="Arial" panose="020B0604020202020204" pitchFamily="34" charset="0"/>
                  <a:ea typeface="微软雅黑" panose="020B0503020204020204" pitchFamily="34" charset="-122"/>
                </a:rPr>
                <a:t>解读</a:t>
              </a:r>
              <a:endParaRPr lang="en-US" sz="600" dirty="0"/>
            </a:p>
          </p:txBody>
        </p:sp>
        <p:sp>
          <p:nvSpPr>
            <p:cNvPr id="52" name="圆角矩形 51"/>
            <p:cNvSpPr/>
            <p:nvPr/>
          </p:nvSpPr>
          <p:spPr>
            <a:xfrm>
              <a:off x="92869" y="467134"/>
              <a:ext cx="200025" cy="92869"/>
            </a:xfrm>
            <a:prstGeom prst="roundRect">
              <a:avLst>
                <a:gd name="adj" fmla="val 23077"/>
              </a:avLst>
            </a:prstGeom>
            <a:solidFill>
              <a:srgbClr val="FFF4E5"/>
            </a:solidFill>
          </p:spPr>
          <p:txBody>
            <a:bodyPr wrap="none" lIns="28575" tIns="7144" rIns="28575" bIns="7144" rtlCol="0" anchor="t"/>
            <a:lstStyle/>
            <a:p>
              <a:pPr marL="0" indent="0">
                <a:lnSpc>
                  <a:spcPct val="140000"/>
                </a:lnSpc>
                <a:buNone/>
              </a:pPr>
              <a:r>
                <a:rPr lang="zh-CN" sz="600" b="1" dirty="0">
                  <a:solidFill>
                    <a:srgbClr val="B45309"/>
                  </a:solidFill>
                  <a:latin typeface="Arial" panose="020B0604020202020204" pitchFamily="34" charset="0"/>
                  <a:ea typeface="微软雅黑" panose="020B0503020204020204" pitchFamily="34" charset="-122"/>
                </a:rPr>
                <a:t>私有</a:t>
              </a:r>
              <a:endParaRPr lang="en-US" sz="600" dirty="0"/>
            </a:p>
          </p:txBody>
        </p:sp>
      </p:grpSp>
      <p:grpSp>
        <p:nvGrpSpPr>
          <p:cNvPr id="116" name="h2p-grp-h2p-animroot-7"/>
          <p:cNvGrpSpPr/>
          <p:nvPr/>
        </p:nvGrpSpPr>
        <p:grpSpPr>
          <a:xfrm>
            <a:off x="285750" y="2937421"/>
            <a:ext cx="1885950" cy="917302"/>
            <a:chOff x="0" y="0"/>
            <a:chExt cx="1885950" cy="917302"/>
          </a:xfrm>
        </p:grpSpPr>
        <p:sp>
          <p:nvSpPr>
            <p:cNvPr id="53" name="圆角矩形 52"/>
            <p:cNvSpPr/>
            <p:nvPr/>
          </p:nvSpPr>
          <p:spPr>
            <a:xfrm>
              <a:off x="0" y="0"/>
              <a:ext cx="1885950" cy="917302"/>
            </a:xfrm>
            <a:prstGeom prst="roundRect">
              <a:avLst>
                <a:gd name="adj" fmla="val 9345"/>
              </a:avLst>
            </a:prstGeom>
            <a:solidFill>
              <a:srgbClr val="FFFFFF"/>
            </a:solidFill>
            <a:ln w="6350">
              <a:solidFill>
                <a:srgbClr val="DCEAF5"/>
              </a:solidFill>
              <a:prstDash val="solid"/>
            </a:ln>
          </p:spPr>
        </p:sp>
        <p:sp>
          <p:nvSpPr>
            <p:cNvPr id="54" name="圆角矩形 53"/>
            <p:cNvSpPr/>
            <p:nvPr/>
          </p:nvSpPr>
          <p:spPr>
            <a:xfrm>
              <a:off x="92869" y="92868"/>
              <a:ext cx="171450" cy="171450"/>
            </a:xfrm>
            <a:prstGeom prst="roundRect">
              <a:avLst>
                <a:gd name="adj" fmla="val 25000"/>
              </a:avLst>
            </a:prstGeom>
            <a:solidFill>
              <a:srgbClr val="EAF5FF"/>
            </a:solidFill>
          </p:spPr>
        </p:sp>
        <p:sp>
          <p:nvSpPr>
            <p:cNvPr id="55" name="矩形 54"/>
            <p:cNvSpPr/>
            <p:nvPr/>
          </p:nvSpPr>
          <p:spPr>
            <a:xfrm>
              <a:off x="128588" y="128587"/>
              <a:ext cx="100013" cy="100013"/>
            </a:xfrm>
            <a:prstGeom prst="rect">
              <a:avLst/>
            </a:prstGeom>
            <a:noFill/>
          </p:spPr>
          <p:txBody>
            <a:bodyPr wrap="none" lIns="0" tIns="0" rIns="0" bIns="0" rtlCol="0" anchor="t"/>
            <a:lstStyle/>
            <a:p>
              <a:pPr marL="0" indent="0">
                <a:lnSpc>
                  <a:spcPct val="100000"/>
                </a:lnSpc>
                <a:buNone/>
              </a:pPr>
              <a:r>
                <a:rPr lang="en-US" sz="700" dirty="0">
                  <a:solidFill>
                    <a:srgbClr val="5B9DFF"/>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700" dirty="0"/>
            </a:p>
          </p:txBody>
        </p:sp>
        <p:sp>
          <p:nvSpPr>
            <p:cNvPr id="56" name="矩形 55"/>
            <p:cNvSpPr/>
            <p:nvPr/>
          </p:nvSpPr>
          <p:spPr>
            <a:xfrm>
              <a:off x="321469" y="103584"/>
              <a:ext cx="600075" cy="150019"/>
            </a:xfrm>
            <a:prstGeom prst="rect">
              <a:avLst/>
            </a:prstGeom>
            <a:noFill/>
          </p:spPr>
          <p:txBody>
            <a:bodyPr wrap="none" lIns="0" tIns="0" rIns="0" bIns="0" rtlCol="0" anchor="t"/>
            <a:lstStyle/>
            <a:p>
              <a:pPr marL="0" indent="0">
                <a:lnSpc>
                  <a:spcPct val="150000"/>
                </a:lnSpc>
                <a:buNone/>
              </a:pPr>
              <a:r>
                <a:rPr lang="zh-CN" sz="700" b="1" dirty="0">
                  <a:solidFill>
                    <a:srgbClr val="1F2A37"/>
                  </a:solidFill>
                  <a:latin typeface="Arial" panose="020B0604020202020204" pitchFamily="34" charset="0"/>
                  <a:ea typeface="微软雅黑" panose="020B0503020204020204" pitchFamily="34" charset="-122"/>
                </a:rPr>
                <a:t>风湿免疫疾病</a:t>
              </a:r>
              <a:endParaRPr lang="en-US" sz="700" dirty="0"/>
            </a:p>
          </p:txBody>
        </p:sp>
        <p:sp>
          <p:nvSpPr>
            <p:cNvPr id="57" name="矩形 56"/>
            <p:cNvSpPr/>
            <p:nvPr/>
          </p:nvSpPr>
          <p:spPr>
            <a:xfrm>
              <a:off x="321469" y="328612"/>
              <a:ext cx="864394" cy="85725"/>
            </a:xfrm>
            <a:prstGeom prst="rect">
              <a:avLst/>
            </a:prstGeom>
            <a:noFill/>
          </p:spPr>
          <p:txBody>
            <a:bodyPr wrap="none" lIns="0" tIns="0" rIns="0" bIns="0" rtlCol="0" anchor="t"/>
            <a:lstStyle/>
            <a:p>
              <a:pPr marL="0" indent="0">
                <a:lnSpc>
                  <a:spcPct val="140000"/>
                </a:lnSpc>
                <a:buNone/>
              </a:pPr>
              <a:r>
                <a:rPr lang="zh-CN" sz="600" dirty="0">
                  <a:solidFill>
                    <a:srgbClr val="1F2A37"/>
                  </a:solidFill>
                  <a:latin typeface="Arial" panose="020B0604020202020204" pitchFamily="34" charset="0"/>
                  <a:ea typeface="微软雅黑" panose="020B0503020204020204" pitchFamily="34" charset="-122"/>
                </a:rPr>
                <a:t>关节炎、系统性红斑狼疮</a:t>
              </a:r>
              <a:endParaRPr lang="en-US" sz="600" dirty="0"/>
            </a:p>
          </p:txBody>
        </p:sp>
        <p:sp>
          <p:nvSpPr>
            <p:cNvPr id="58" name="圆角矩形 57"/>
            <p:cNvSpPr/>
            <p:nvPr/>
          </p:nvSpPr>
          <p:spPr>
            <a:xfrm>
              <a:off x="92869" y="328612"/>
              <a:ext cx="200025" cy="92869"/>
            </a:xfrm>
            <a:prstGeom prst="roundRect">
              <a:avLst>
                <a:gd name="adj" fmla="val 23077"/>
              </a:avLst>
            </a:prstGeom>
            <a:solidFill>
              <a:srgbClr val="E1F0FF"/>
            </a:solidFill>
          </p:spPr>
          <p:txBody>
            <a:bodyPr wrap="none" lIns="28575" tIns="7144" rIns="28575" bIns="7144" rtlCol="0" anchor="t"/>
            <a:lstStyle/>
            <a:p>
              <a:pPr marL="0" indent="0">
                <a:lnSpc>
                  <a:spcPct val="140000"/>
                </a:lnSpc>
                <a:buNone/>
              </a:pPr>
              <a:r>
                <a:rPr lang="zh-CN" sz="600" b="1" dirty="0">
                  <a:solidFill>
                    <a:srgbClr val="2563EB"/>
                  </a:solidFill>
                  <a:latin typeface="Arial" panose="020B0604020202020204" pitchFamily="34" charset="0"/>
                  <a:ea typeface="微软雅黑" panose="020B0503020204020204" pitchFamily="34" charset="-122"/>
                </a:rPr>
                <a:t>公开</a:t>
              </a:r>
              <a:endParaRPr lang="en-US" sz="600" dirty="0"/>
            </a:p>
          </p:txBody>
        </p:sp>
        <p:sp>
          <p:nvSpPr>
            <p:cNvPr id="59" name="矩形 58"/>
            <p:cNvSpPr/>
            <p:nvPr/>
          </p:nvSpPr>
          <p:spPr>
            <a:xfrm>
              <a:off x="321469" y="467134"/>
              <a:ext cx="707231" cy="85725"/>
            </a:xfrm>
            <a:prstGeom prst="rect">
              <a:avLst/>
            </a:prstGeom>
            <a:noFill/>
          </p:spPr>
          <p:txBody>
            <a:bodyPr wrap="none" lIns="0" tIns="0" rIns="0" bIns="0" rtlCol="0" anchor="t"/>
            <a:lstStyle/>
            <a:p>
              <a:pPr marL="0" indent="0">
                <a:lnSpc>
                  <a:spcPct val="140000"/>
                </a:lnSpc>
                <a:buNone/>
              </a:pPr>
              <a:r>
                <a:rPr lang="zh-CN" sz="600" dirty="0">
                  <a:solidFill>
                    <a:srgbClr val="1F2A37"/>
                  </a:solidFill>
                  <a:latin typeface="Arial" panose="020B0604020202020204" pitchFamily="34" charset="0"/>
                  <a:ea typeface="微软雅黑" panose="020B0503020204020204" pitchFamily="34" charset="-122"/>
                </a:rPr>
                <a:t>抗体解读、生物制剂</a:t>
              </a:r>
              <a:endParaRPr lang="en-US" sz="600" dirty="0"/>
            </a:p>
          </p:txBody>
        </p:sp>
        <p:sp>
          <p:nvSpPr>
            <p:cNvPr id="60" name="圆角矩形 59"/>
            <p:cNvSpPr/>
            <p:nvPr/>
          </p:nvSpPr>
          <p:spPr>
            <a:xfrm>
              <a:off x="92869" y="467134"/>
              <a:ext cx="200025" cy="92869"/>
            </a:xfrm>
            <a:prstGeom prst="roundRect">
              <a:avLst>
                <a:gd name="adj" fmla="val 23077"/>
              </a:avLst>
            </a:prstGeom>
            <a:solidFill>
              <a:srgbClr val="FFF4E5"/>
            </a:solidFill>
          </p:spPr>
          <p:txBody>
            <a:bodyPr wrap="none" lIns="28575" tIns="7144" rIns="28575" bIns="7144" rtlCol="0" anchor="t"/>
            <a:lstStyle/>
            <a:p>
              <a:pPr marL="0" indent="0">
                <a:lnSpc>
                  <a:spcPct val="140000"/>
                </a:lnSpc>
                <a:buNone/>
              </a:pPr>
              <a:r>
                <a:rPr lang="zh-CN" sz="600" b="1" dirty="0">
                  <a:solidFill>
                    <a:srgbClr val="B45309"/>
                  </a:solidFill>
                  <a:latin typeface="Arial" panose="020B0604020202020204" pitchFamily="34" charset="0"/>
                  <a:ea typeface="微软雅黑" panose="020B0503020204020204" pitchFamily="34" charset="-122"/>
                </a:rPr>
                <a:t>私有</a:t>
              </a:r>
              <a:endParaRPr lang="en-US" sz="600" dirty="0"/>
            </a:p>
          </p:txBody>
        </p:sp>
      </p:grpSp>
      <p:grpSp>
        <p:nvGrpSpPr>
          <p:cNvPr id="117" name="h2p-grp-h2p-animroot-8"/>
          <p:cNvGrpSpPr/>
          <p:nvPr/>
        </p:nvGrpSpPr>
        <p:grpSpPr>
          <a:xfrm>
            <a:off x="2257425" y="2937421"/>
            <a:ext cx="1885950" cy="917302"/>
            <a:chOff x="0" y="0"/>
            <a:chExt cx="1885950" cy="917302"/>
          </a:xfrm>
        </p:grpSpPr>
        <p:sp>
          <p:nvSpPr>
            <p:cNvPr id="61" name="圆角矩形 60"/>
            <p:cNvSpPr/>
            <p:nvPr/>
          </p:nvSpPr>
          <p:spPr>
            <a:xfrm>
              <a:off x="0" y="0"/>
              <a:ext cx="1885950" cy="917302"/>
            </a:xfrm>
            <a:prstGeom prst="roundRect">
              <a:avLst>
                <a:gd name="adj" fmla="val 9345"/>
              </a:avLst>
            </a:prstGeom>
            <a:solidFill>
              <a:srgbClr val="FFFFFF"/>
            </a:solidFill>
            <a:ln w="6350">
              <a:solidFill>
                <a:srgbClr val="DCEAF5"/>
              </a:solidFill>
              <a:prstDash val="solid"/>
            </a:ln>
          </p:spPr>
        </p:sp>
        <p:sp>
          <p:nvSpPr>
            <p:cNvPr id="62" name="圆角矩形 61"/>
            <p:cNvSpPr/>
            <p:nvPr/>
          </p:nvSpPr>
          <p:spPr>
            <a:xfrm>
              <a:off x="92869" y="92868"/>
              <a:ext cx="171450" cy="171450"/>
            </a:xfrm>
            <a:prstGeom prst="roundRect">
              <a:avLst>
                <a:gd name="adj" fmla="val 25000"/>
              </a:avLst>
            </a:prstGeom>
            <a:solidFill>
              <a:srgbClr val="EAF5FF"/>
            </a:solidFill>
          </p:spPr>
        </p:sp>
        <p:sp>
          <p:nvSpPr>
            <p:cNvPr id="63" name="矩形 62"/>
            <p:cNvSpPr/>
            <p:nvPr/>
          </p:nvSpPr>
          <p:spPr>
            <a:xfrm>
              <a:off x="128588" y="128587"/>
              <a:ext cx="100013" cy="100013"/>
            </a:xfrm>
            <a:prstGeom prst="rect">
              <a:avLst/>
            </a:prstGeom>
            <a:noFill/>
          </p:spPr>
          <p:txBody>
            <a:bodyPr wrap="none" lIns="0" tIns="0" rIns="0" bIns="0" rtlCol="0" anchor="t"/>
            <a:lstStyle/>
            <a:p>
              <a:pPr marL="0" indent="0">
                <a:lnSpc>
                  <a:spcPct val="100000"/>
                </a:lnSpc>
                <a:buNone/>
              </a:pPr>
              <a:r>
                <a:rPr lang="en-US" sz="700" dirty="0">
                  <a:solidFill>
                    <a:srgbClr val="5B9DFF"/>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700" dirty="0"/>
            </a:p>
          </p:txBody>
        </p:sp>
        <p:sp>
          <p:nvSpPr>
            <p:cNvPr id="64" name="矩形 63"/>
            <p:cNvSpPr/>
            <p:nvPr/>
          </p:nvSpPr>
          <p:spPr>
            <a:xfrm>
              <a:off x="321469" y="103584"/>
              <a:ext cx="500063" cy="150019"/>
            </a:xfrm>
            <a:prstGeom prst="rect">
              <a:avLst/>
            </a:prstGeom>
            <a:noFill/>
          </p:spPr>
          <p:txBody>
            <a:bodyPr wrap="none" lIns="0" tIns="0" rIns="0" bIns="0" rtlCol="0" anchor="t"/>
            <a:lstStyle/>
            <a:p>
              <a:pPr marL="0" indent="0">
                <a:lnSpc>
                  <a:spcPct val="150000"/>
                </a:lnSpc>
                <a:buNone/>
              </a:pPr>
              <a:r>
                <a:rPr lang="zh-CN" sz="700" b="1" dirty="0">
                  <a:solidFill>
                    <a:srgbClr val="1F2A37"/>
                  </a:solidFill>
                  <a:latin typeface="Arial" panose="020B0604020202020204" pitchFamily="34" charset="0"/>
                  <a:ea typeface="微软雅黑" panose="020B0503020204020204" pitchFamily="34" charset="-122"/>
                </a:rPr>
                <a:t>感染性疾病</a:t>
              </a:r>
              <a:endParaRPr lang="en-US" sz="700" dirty="0"/>
            </a:p>
          </p:txBody>
        </p:sp>
        <p:sp>
          <p:nvSpPr>
            <p:cNvPr id="65" name="矩形 64"/>
            <p:cNvSpPr/>
            <p:nvPr/>
          </p:nvSpPr>
          <p:spPr>
            <a:xfrm>
              <a:off x="321469" y="328612"/>
              <a:ext cx="707231" cy="85725"/>
            </a:xfrm>
            <a:prstGeom prst="rect">
              <a:avLst/>
            </a:prstGeom>
            <a:noFill/>
          </p:spPr>
          <p:txBody>
            <a:bodyPr wrap="none" lIns="0" tIns="0" rIns="0" bIns="0" rtlCol="0" anchor="t"/>
            <a:lstStyle/>
            <a:p>
              <a:pPr marL="0" indent="0">
                <a:lnSpc>
                  <a:spcPct val="140000"/>
                </a:lnSpc>
                <a:buNone/>
              </a:pPr>
              <a:r>
                <a:rPr lang="zh-CN" sz="600" dirty="0">
                  <a:solidFill>
                    <a:srgbClr val="1F2A37"/>
                  </a:solidFill>
                  <a:latin typeface="Arial" panose="020B0604020202020204" pitchFamily="34" charset="0"/>
                  <a:ea typeface="微软雅黑" panose="020B0503020204020204" pitchFamily="34" charset="-122"/>
                </a:rPr>
                <a:t>流感、乙肝、肺结核</a:t>
              </a:r>
              <a:endParaRPr lang="en-US" sz="600" dirty="0"/>
            </a:p>
          </p:txBody>
        </p:sp>
        <p:sp>
          <p:nvSpPr>
            <p:cNvPr id="66" name="圆角矩形 65"/>
            <p:cNvSpPr/>
            <p:nvPr/>
          </p:nvSpPr>
          <p:spPr>
            <a:xfrm>
              <a:off x="92869" y="328612"/>
              <a:ext cx="200025" cy="92869"/>
            </a:xfrm>
            <a:prstGeom prst="roundRect">
              <a:avLst>
                <a:gd name="adj" fmla="val 23077"/>
              </a:avLst>
            </a:prstGeom>
            <a:solidFill>
              <a:srgbClr val="E1F0FF"/>
            </a:solidFill>
          </p:spPr>
          <p:txBody>
            <a:bodyPr wrap="none" lIns="28575" tIns="7144" rIns="28575" bIns="7144" rtlCol="0" anchor="t"/>
            <a:lstStyle/>
            <a:p>
              <a:pPr marL="0" indent="0">
                <a:lnSpc>
                  <a:spcPct val="140000"/>
                </a:lnSpc>
                <a:buNone/>
              </a:pPr>
              <a:r>
                <a:rPr lang="zh-CN" sz="600" b="1" dirty="0">
                  <a:solidFill>
                    <a:srgbClr val="2563EB"/>
                  </a:solidFill>
                  <a:latin typeface="Arial" panose="020B0604020202020204" pitchFamily="34" charset="0"/>
                  <a:ea typeface="微软雅黑" panose="020B0503020204020204" pitchFamily="34" charset="-122"/>
                </a:rPr>
                <a:t>公开</a:t>
              </a:r>
              <a:endParaRPr lang="en-US" sz="600" dirty="0"/>
            </a:p>
          </p:txBody>
        </p:sp>
        <p:sp>
          <p:nvSpPr>
            <p:cNvPr id="67" name="矩形 66"/>
            <p:cNvSpPr/>
            <p:nvPr/>
          </p:nvSpPr>
          <p:spPr>
            <a:xfrm>
              <a:off x="321469" y="467134"/>
              <a:ext cx="550069" cy="85725"/>
            </a:xfrm>
            <a:prstGeom prst="rect">
              <a:avLst/>
            </a:prstGeom>
            <a:noFill/>
          </p:spPr>
          <p:txBody>
            <a:bodyPr wrap="none" lIns="0" tIns="0" rIns="0" bIns="0" rtlCol="0" anchor="t"/>
            <a:lstStyle/>
            <a:p>
              <a:pPr marL="0" indent="0">
                <a:lnSpc>
                  <a:spcPct val="140000"/>
                </a:lnSpc>
                <a:buNone/>
              </a:pPr>
              <a:r>
                <a:rPr lang="zh-CN" sz="600" dirty="0">
                  <a:solidFill>
                    <a:srgbClr val="1F2A37"/>
                  </a:solidFill>
                  <a:latin typeface="Arial" panose="020B0604020202020204" pitchFamily="34" charset="0"/>
                  <a:ea typeface="微软雅黑" panose="020B0503020204020204" pitchFamily="34" charset="-122"/>
                </a:rPr>
                <a:t>抗菌药合理使用</a:t>
              </a:r>
              <a:endParaRPr lang="en-US" sz="600" dirty="0"/>
            </a:p>
          </p:txBody>
        </p:sp>
        <p:sp>
          <p:nvSpPr>
            <p:cNvPr id="68" name="圆角矩形 67"/>
            <p:cNvSpPr/>
            <p:nvPr/>
          </p:nvSpPr>
          <p:spPr>
            <a:xfrm>
              <a:off x="92869" y="467134"/>
              <a:ext cx="200025" cy="92869"/>
            </a:xfrm>
            <a:prstGeom prst="roundRect">
              <a:avLst>
                <a:gd name="adj" fmla="val 23077"/>
              </a:avLst>
            </a:prstGeom>
            <a:solidFill>
              <a:srgbClr val="FFF4E5"/>
            </a:solidFill>
          </p:spPr>
          <p:txBody>
            <a:bodyPr wrap="none" lIns="28575" tIns="7144" rIns="28575" bIns="7144" rtlCol="0" anchor="t"/>
            <a:lstStyle/>
            <a:p>
              <a:pPr marL="0" indent="0">
                <a:lnSpc>
                  <a:spcPct val="140000"/>
                </a:lnSpc>
                <a:buNone/>
              </a:pPr>
              <a:r>
                <a:rPr lang="zh-CN" sz="600" b="1" dirty="0">
                  <a:solidFill>
                    <a:srgbClr val="B45309"/>
                  </a:solidFill>
                  <a:latin typeface="Arial" panose="020B0604020202020204" pitchFamily="34" charset="0"/>
                  <a:ea typeface="微软雅黑" panose="020B0503020204020204" pitchFamily="34" charset="-122"/>
                </a:rPr>
                <a:t>私有</a:t>
              </a:r>
              <a:endParaRPr lang="en-US" sz="600" dirty="0"/>
            </a:p>
          </p:txBody>
        </p:sp>
      </p:grpSp>
      <p:grpSp>
        <p:nvGrpSpPr>
          <p:cNvPr id="118" name="h2p-grp-h2p-animroot-9"/>
          <p:cNvGrpSpPr/>
          <p:nvPr/>
        </p:nvGrpSpPr>
        <p:grpSpPr>
          <a:xfrm>
            <a:off x="4229100" y="2937421"/>
            <a:ext cx="1885950" cy="917302"/>
            <a:chOff x="0" y="0"/>
            <a:chExt cx="1885950" cy="917302"/>
          </a:xfrm>
        </p:grpSpPr>
        <p:sp>
          <p:nvSpPr>
            <p:cNvPr id="69" name="圆角矩形 68"/>
            <p:cNvSpPr/>
            <p:nvPr/>
          </p:nvSpPr>
          <p:spPr>
            <a:xfrm>
              <a:off x="0" y="0"/>
              <a:ext cx="1885950" cy="917302"/>
            </a:xfrm>
            <a:prstGeom prst="roundRect">
              <a:avLst>
                <a:gd name="adj" fmla="val 9345"/>
              </a:avLst>
            </a:prstGeom>
            <a:solidFill>
              <a:srgbClr val="FFFFFF"/>
            </a:solidFill>
            <a:ln w="6350">
              <a:solidFill>
                <a:srgbClr val="DCEAF5"/>
              </a:solidFill>
              <a:prstDash val="solid"/>
            </a:ln>
          </p:spPr>
        </p:sp>
        <p:sp>
          <p:nvSpPr>
            <p:cNvPr id="70" name="圆角矩形 69"/>
            <p:cNvSpPr/>
            <p:nvPr/>
          </p:nvSpPr>
          <p:spPr>
            <a:xfrm>
              <a:off x="92869" y="92868"/>
              <a:ext cx="171450" cy="171450"/>
            </a:xfrm>
            <a:prstGeom prst="roundRect">
              <a:avLst>
                <a:gd name="adj" fmla="val 25000"/>
              </a:avLst>
            </a:prstGeom>
            <a:solidFill>
              <a:srgbClr val="EAF5FF"/>
            </a:solidFill>
          </p:spPr>
        </p:sp>
        <p:sp>
          <p:nvSpPr>
            <p:cNvPr id="71" name="矩形 70"/>
            <p:cNvSpPr/>
            <p:nvPr/>
          </p:nvSpPr>
          <p:spPr>
            <a:xfrm>
              <a:off x="116086" y="128587"/>
              <a:ext cx="125016" cy="100013"/>
            </a:xfrm>
            <a:prstGeom prst="rect">
              <a:avLst/>
            </a:prstGeom>
            <a:noFill/>
          </p:spPr>
          <p:txBody>
            <a:bodyPr wrap="none" lIns="0" tIns="0" rIns="0" bIns="0" rtlCol="0" anchor="t"/>
            <a:lstStyle/>
            <a:p>
              <a:pPr marL="0" indent="0">
                <a:lnSpc>
                  <a:spcPct val="100000"/>
                </a:lnSpc>
                <a:buNone/>
              </a:pPr>
              <a:r>
                <a:rPr lang="en-US" sz="700" dirty="0">
                  <a:solidFill>
                    <a:srgbClr val="5B9DFF"/>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700" dirty="0"/>
            </a:p>
          </p:txBody>
        </p:sp>
        <p:sp>
          <p:nvSpPr>
            <p:cNvPr id="72" name="矩形 71"/>
            <p:cNvSpPr/>
            <p:nvPr/>
          </p:nvSpPr>
          <p:spPr>
            <a:xfrm>
              <a:off x="321469" y="103584"/>
              <a:ext cx="400050" cy="150019"/>
            </a:xfrm>
            <a:prstGeom prst="rect">
              <a:avLst/>
            </a:prstGeom>
            <a:noFill/>
          </p:spPr>
          <p:txBody>
            <a:bodyPr wrap="none" lIns="0" tIns="0" rIns="0" bIns="0" rtlCol="0" anchor="t"/>
            <a:lstStyle/>
            <a:p>
              <a:pPr marL="0" indent="0">
                <a:lnSpc>
                  <a:spcPct val="150000"/>
                </a:lnSpc>
                <a:buNone/>
              </a:pPr>
              <a:r>
                <a:rPr lang="zh-CN" sz="700" b="1" dirty="0">
                  <a:solidFill>
                    <a:srgbClr val="1F2A37"/>
                  </a:solidFill>
                  <a:latin typeface="Arial" panose="020B0604020202020204" pitchFamily="34" charset="0"/>
                  <a:ea typeface="微软雅黑" panose="020B0503020204020204" pitchFamily="34" charset="-122"/>
                </a:rPr>
                <a:t>急诊急症</a:t>
              </a:r>
              <a:endParaRPr lang="en-US" sz="700" dirty="0"/>
            </a:p>
          </p:txBody>
        </p:sp>
        <p:sp>
          <p:nvSpPr>
            <p:cNvPr id="73" name="矩形 72"/>
            <p:cNvSpPr/>
            <p:nvPr/>
          </p:nvSpPr>
          <p:spPr>
            <a:xfrm>
              <a:off x="321469" y="328612"/>
              <a:ext cx="707231" cy="85725"/>
            </a:xfrm>
            <a:prstGeom prst="rect">
              <a:avLst/>
            </a:prstGeom>
            <a:noFill/>
          </p:spPr>
          <p:txBody>
            <a:bodyPr wrap="none" lIns="0" tIns="0" rIns="0" bIns="0" rtlCol="0" anchor="t"/>
            <a:lstStyle/>
            <a:p>
              <a:pPr marL="0" indent="0">
                <a:lnSpc>
                  <a:spcPct val="140000"/>
                </a:lnSpc>
                <a:buNone/>
              </a:pPr>
              <a:r>
                <a:rPr lang="zh-CN" sz="600" dirty="0">
                  <a:solidFill>
                    <a:srgbClr val="1F2A37"/>
                  </a:solidFill>
                  <a:latin typeface="Arial" panose="020B0604020202020204" pitchFamily="34" charset="0"/>
                  <a:ea typeface="微软雅黑" panose="020B0503020204020204" pitchFamily="34" charset="-122"/>
                </a:rPr>
                <a:t>急性胸痛、急性腹痛</a:t>
              </a:r>
              <a:endParaRPr lang="en-US" sz="600" dirty="0"/>
            </a:p>
          </p:txBody>
        </p:sp>
        <p:sp>
          <p:nvSpPr>
            <p:cNvPr id="74" name="圆角矩形 73"/>
            <p:cNvSpPr/>
            <p:nvPr/>
          </p:nvSpPr>
          <p:spPr>
            <a:xfrm>
              <a:off x="92869" y="328612"/>
              <a:ext cx="200025" cy="92869"/>
            </a:xfrm>
            <a:prstGeom prst="roundRect">
              <a:avLst>
                <a:gd name="adj" fmla="val 23077"/>
              </a:avLst>
            </a:prstGeom>
            <a:solidFill>
              <a:srgbClr val="E1F0FF"/>
            </a:solidFill>
          </p:spPr>
          <p:txBody>
            <a:bodyPr wrap="none" lIns="28575" tIns="7144" rIns="28575" bIns="7144" rtlCol="0" anchor="t"/>
            <a:lstStyle/>
            <a:p>
              <a:pPr marL="0" indent="0">
                <a:lnSpc>
                  <a:spcPct val="140000"/>
                </a:lnSpc>
                <a:buNone/>
              </a:pPr>
              <a:r>
                <a:rPr lang="zh-CN" sz="600" b="1" dirty="0">
                  <a:solidFill>
                    <a:srgbClr val="2563EB"/>
                  </a:solidFill>
                  <a:latin typeface="Arial" panose="020B0604020202020204" pitchFamily="34" charset="0"/>
                  <a:ea typeface="微软雅黑" panose="020B0503020204020204" pitchFamily="34" charset="-122"/>
                </a:rPr>
                <a:t>公开</a:t>
              </a:r>
              <a:endParaRPr lang="en-US" sz="600" dirty="0"/>
            </a:p>
          </p:txBody>
        </p:sp>
        <p:sp>
          <p:nvSpPr>
            <p:cNvPr id="75" name="矩形 74"/>
            <p:cNvSpPr/>
            <p:nvPr/>
          </p:nvSpPr>
          <p:spPr>
            <a:xfrm>
              <a:off x="321469" y="467134"/>
              <a:ext cx="785813" cy="85725"/>
            </a:xfrm>
            <a:prstGeom prst="rect">
              <a:avLst/>
            </a:prstGeom>
            <a:noFill/>
          </p:spPr>
          <p:txBody>
            <a:bodyPr wrap="none" lIns="0" tIns="0" rIns="0" bIns="0" rtlCol="0" anchor="t"/>
            <a:lstStyle/>
            <a:p>
              <a:pPr marL="0" indent="0">
                <a:lnSpc>
                  <a:spcPct val="140000"/>
                </a:lnSpc>
                <a:buNone/>
              </a:pPr>
              <a:r>
                <a:rPr lang="zh-CN" sz="600" dirty="0">
                  <a:solidFill>
                    <a:srgbClr val="1F2A37"/>
                  </a:solidFill>
                  <a:latin typeface="Arial" panose="020B0604020202020204" pitchFamily="34" charset="0"/>
                  <a:ea typeface="微软雅黑" panose="020B0503020204020204" pitchFamily="34" charset="-122"/>
                </a:rPr>
                <a:t>急诊分诊、多发伤急救</a:t>
              </a:r>
              <a:endParaRPr lang="en-US" sz="600" dirty="0"/>
            </a:p>
          </p:txBody>
        </p:sp>
        <p:sp>
          <p:nvSpPr>
            <p:cNvPr id="76" name="圆角矩形 75"/>
            <p:cNvSpPr/>
            <p:nvPr/>
          </p:nvSpPr>
          <p:spPr>
            <a:xfrm>
              <a:off x="92869" y="467134"/>
              <a:ext cx="200025" cy="92869"/>
            </a:xfrm>
            <a:prstGeom prst="roundRect">
              <a:avLst>
                <a:gd name="adj" fmla="val 23077"/>
              </a:avLst>
            </a:prstGeom>
            <a:solidFill>
              <a:srgbClr val="FFF4E5"/>
            </a:solidFill>
          </p:spPr>
          <p:txBody>
            <a:bodyPr wrap="none" lIns="28575" tIns="7144" rIns="28575" bIns="7144" rtlCol="0" anchor="t"/>
            <a:lstStyle/>
            <a:p>
              <a:pPr marL="0" indent="0">
                <a:lnSpc>
                  <a:spcPct val="140000"/>
                </a:lnSpc>
                <a:buNone/>
              </a:pPr>
              <a:r>
                <a:rPr lang="zh-CN" sz="600" b="1" dirty="0">
                  <a:solidFill>
                    <a:srgbClr val="B45309"/>
                  </a:solidFill>
                  <a:latin typeface="Arial" panose="020B0604020202020204" pitchFamily="34" charset="0"/>
                  <a:ea typeface="微软雅黑" panose="020B0503020204020204" pitchFamily="34" charset="-122"/>
                </a:rPr>
                <a:t>私有</a:t>
              </a:r>
              <a:endParaRPr lang="en-US" sz="600" dirty="0"/>
            </a:p>
          </p:txBody>
        </p:sp>
      </p:grpSp>
      <p:grpSp>
        <p:nvGrpSpPr>
          <p:cNvPr id="119" name="h2p-grp-h2p-animroot-10"/>
          <p:cNvGrpSpPr/>
          <p:nvPr/>
        </p:nvGrpSpPr>
        <p:grpSpPr>
          <a:xfrm>
            <a:off x="285750" y="3940448"/>
            <a:ext cx="1885950" cy="917302"/>
            <a:chOff x="0" y="0"/>
            <a:chExt cx="1885950" cy="917302"/>
          </a:xfrm>
        </p:grpSpPr>
        <p:sp>
          <p:nvSpPr>
            <p:cNvPr id="77" name="圆角矩形 76"/>
            <p:cNvSpPr/>
            <p:nvPr/>
          </p:nvSpPr>
          <p:spPr>
            <a:xfrm>
              <a:off x="0" y="0"/>
              <a:ext cx="1885950" cy="917302"/>
            </a:xfrm>
            <a:prstGeom prst="roundRect">
              <a:avLst>
                <a:gd name="adj" fmla="val 9345"/>
              </a:avLst>
            </a:prstGeom>
            <a:solidFill>
              <a:srgbClr val="FFFFFF"/>
            </a:solidFill>
            <a:ln w="6350">
              <a:solidFill>
                <a:srgbClr val="DCEAF5"/>
              </a:solidFill>
              <a:prstDash val="solid"/>
            </a:ln>
          </p:spPr>
        </p:sp>
        <p:sp>
          <p:nvSpPr>
            <p:cNvPr id="78" name="圆角矩形 77"/>
            <p:cNvSpPr/>
            <p:nvPr/>
          </p:nvSpPr>
          <p:spPr>
            <a:xfrm>
              <a:off x="92869" y="92869"/>
              <a:ext cx="171450" cy="171450"/>
            </a:xfrm>
            <a:prstGeom prst="roundRect">
              <a:avLst>
                <a:gd name="adj" fmla="val 25000"/>
              </a:avLst>
            </a:prstGeom>
            <a:solidFill>
              <a:srgbClr val="EAF5FF"/>
            </a:solidFill>
          </p:spPr>
        </p:sp>
        <p:sp>
          <p:nvSpPr>
            <p:cNvPr id="79" name="矩形 78"/>
            <p:cNvSpPr/>
            <p:nvPr/>
          </p:nvSpPr>
          <p:spPr>
            <a:xfrm>
              <a:off x="122337" y="128587"/>
              <a:ext cx="112514" cy="100013"/>
            </a:xfrm>
            <a:prstGeom prst="rect">
              <a:avLst/>
            </a:prstGeom>
            <a:noFill/>
          </p:spPr>
          <p:txBody>
            <a:bodyPr wrap="none" lIns="0" tIns="0" rIns="0" bIns="0" rtlCol="0" anchor="t"/>
            <a:lstStyle/>
            <a:p>
              <a:pPr marL="0" indent="0">
                <a:lnSpc>
                  <a:spcPct val="100000"/>
                </a:lnSpc>
                <a:buNone/>
              </a:pPr>
              <a:r>
                <a:rPr lang="en-US" sz="700" dirty="0">
                  <a:solidFill>
                    <a:srgbClr val="5B9DFF"/>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700" dirty="0"/>
            </a:p>
          </p:txBody>
        </p:sp>
        <p:sp>
          <p:nvSpPr>
            <p:cNvPr id="80" name="矩形 79"/>
            <p:cNvSpPr/>
            <p:nvPr/>
          </p:nvSpPr>
          <p:spPr>
            <a:xfrm>
              <a:off x="321469" y="103584"/>
              <a:ext cx="600075" cy="150019"/>
            </a:xfrm>
            <a:prstGeom prst="rect">
              <a:avLst/>
            </a:prstGeom>
            <a:noFill/>
          </p:spPr>
          <p:txBody>
            <a:bodyPr wrap="none" lIns="0" tIns="0" rIns="0" bIns="0" rtlCol="0" anchor="t"/>
            <a:lstStyle/>
            <a:p>
              <a:pPr marL="0" indent="0">
                <a:lnSpc>
                  <a:spcPct val="150000"/>
                </a:lnSpc>
                <a:buNone/>
              </a:pPr>
              <a:r>
                <a:rPr lang="zh-CN" sz="700" b="1" dirty="0">
                  <a:solidFill>
                    <a:srgbClr val="1F2A37"/>
                  </a:solidFill>
                  <a:latin typeface="Arial" panose="020B0604020202020204" pitchFamily="34" charset="0"/>
                  <a:ea typeface="微软雅黑" panose="020B0503020204020204" pitchFamily="34" charset="-122"/>
                </a:rPr>
                <a:t>外科骨科疾病</a:t>
              </a:r>
              <a:endParaRPr lang="en-US" sz="700" dirty="0"/>
            </a:p>
          </p:txBody>
        </p:sp>
        <p:sp>
          <p:nvSpPr>
            <p:cNvPr id="81" name="矩形 80"/>
            <p:cNvSpPr/>
            <p:nvPr/>
          </p:nvSpPr>
          <p:spPr>
            <a:xfrm>
              <a:off x="321469" y="328612"/>
              <a:ext cx="707231" cy="85725"/>
            </a:xfrm>
            <a:prstGeom prst="rect">
              <a:avLst/>
            </a:prstGeom>
            <a:noFill/>
          </p:spPr>
          <p:txBody>
            <a:bodyPr wrap="none" lIns="0" tIns="0" rIns="0" bIns="0" rtlCol="0" anchor="t"/>
            <a:lstStyle/>
            <a:p>
              <a:pPr marL="0" indent="0">
                <a:lnSpc>
                  <a:spcPct val="140000"/>
                </a:lnSpc>
                <a:buNone/>
              </a:pPr>
              <a:r>
                <a:rPr lang="zh-CN" sz="600" dirty="0">
                  <a:solidFill>
                    <a:srgbClr val="1F2A37"/>
                  </a:solidFill>
                  <a:latin typeface="Arial" panose="020B0604020202020204" pitchFamily="34" charset="0"/>
                  <a:ea typeface="微软雅黑" panose="020B0503020204020204" pitchFamily="34" charset="-122"/>
                </a:rPr>
                <a:t>骨折、阑尾炎、腰突</a:t>
              </a:r>
              <a:endParaRPr lang="en-US" sz="600" dirty="0"/>
            </a:p>
          </p:txBody>
        </p:sp>
        <p:sp>
          <p:nvSpPr>
            <p:cNvPr id="82" name="圆角矩形 81"/>
            <p:cNvSpPr/>
            <p:nvPr/>
          </p:nvSpPr>
          <p:spPr>
            <a:xfrm>
              <a:off x="92869" y="328612"/>
              <a:ext cx="200025" cy="92869"/>
            </a:xfrm>
            <a:prstGeom prst="roundRect">
              <a:avLst>
                <a:gd name="adj" fmla="val 23077"/>
              </a:avLst>
            </a:prstGeom>
            <a:solidFill>
              <a:srgbClr val="E1F0FF"/>
            </a:solidFill>
          </p:spPr>
          <p:txBody>
            <a:bodyPr wrap="none" lIns="28575" tIns="7144" rIns="28575" bIns="7144" rtlCol="0" anchor="t"/>
            <a:lstStyle/>
            <a:p>
              <a:pPr marL="0" indent="0">
                <a:lnSpc>
                  <a:spcPct val="140000"/>
                </a:lnSpc>
                <a:buNone/>
              </a:pPr>
              <a:r>
                <a:rPr lang="zh-CN" sz="600" b="1" dirty="0">
                  <a:solidFill>
                    <a:srgbClr val="2563EB"/>
                  </a:solidFill>
                  <a:latin typeface="Arial" panose="020B0604020202020204" pitchFamily="34" charset="0"/>
                  <a:ea typeface="微软雅黑" panose="020B0503020204020204" pitchFamily="34" charset="-122"/>
                </a:rPr>
                <a:t>公开</a:t>
              </a:r>
              <a:endParaRPr lang="en-US" sz="600" dirty="0"/>
            </a:p>
          </p:txBody>
        </p:sp>
        <p:sp>
          <p:nvSpPr>
            <p:cNvPr id="83" name="矩形 82"/>
            <p:cNvSpPr/>
            <p:nvPr/>
          </p:nvSpPr>
          <p:spPr>
            <a:xfrm>
              <a:off x="321469" y="467134"/>
              <a:ext cx="707231" cy="85725"/>
            </a:xfrm>
            <a:prstGeom prst="rect">
              <a:avLst/>
            </a:prstGeom>
            <a:noFill/>
          </p:spPr>
          <p:txBody>
            <a:bodyPr wrap="none" lIns="0" tIns="0" rIns="0" bIns="0" rtlCol="0" anchor="t"/>
            <a:lstStyle/>
            <a:p>
              <a:pPr marL="0" indent="0">
                <a:lnSpc>
                  <a:spcPct val="140000"/>
                </a:lnSpc>
                <a:buNone/>
              </a:pPr>
              <a:r>
                <a:rPr lang="zh-CN" sz="600" dirty="0">
                  <a:solidFill>
                    <a:srgbClr val="1F2A37"/>
                  </a:solidFill>
                  <a:latin typeface="Arial" panose="020B0604020202020204" pitchFamily="34" charset="0"/>
                  <a:ea typeface="微软雅黑" panose="020B0503020204020204" pitchFamily="34" charset="-122"/>
                </a:rPr>
                <a:t>围手术期、</a:t>
              </a:r>
              <a:r>
                <a:rPr lang="en-US" sz="600" dirty="0">
                  <a:solidFill>
                    <a:srgbClr val="1F2A37"/>
                  </a:solidFill>
                  <a:latin typeface="Arial" panose="020B0604020202020204" pitchFamily="34" charset="0"/>
                </a:rPr>
                <a:t>DVT</a:t>
              </a:r>
              <a:r>
                <a:rPr lang="zh-CN" sz="600" dirty="0">
                  <a:solidFill>
                    <a:srgbClr val="1F2A37"/>
                  </a:solidFill>
                  <a:latin typeface="Arial" panose="020B0604020202020204" pitchFamily="34" charset="0"/>
                  <a:ea typeface="微软雅黑" panose="020B0503020204020204" pitchFamily="34" charset="-122"/>
                </a:rPr>
                <a:t>预防</a:t>
              </a:r>
              <a:endParaRPr lang="en-US" sz="600" dirty="0"/>
            </a:p>
          </p:txBody>
        </p:sp>
        <p:sp>
          <p:nvSpPr>
            <p:cNvPr id="84" name="圆角矩形 83"/>
            <p:cNvSpPr/>
            <p:nvPr/>
          </p:nvSpPr>
          <p:spPr>
            <a:xfrm>
              <a:off x="92869" y="467134"/>
              <a:ext cx="200025" cy="92869"/>
            </a:xfrm>
            <a:prstGeom prst="roundRect">
              <a:avLst>
                <a:gd name="adj" fmla="val 23077"/>
              </a:avLst>
            </a:prstGeom>
            <a:solidFill>
              <a:srgbClr val="FFF4E5"/>
            </a:solidFill>
          </p:spPr>
          <p:txBody>
            <a:bodyPr wrap="none" lIns="28575" tIns="7144" rIns="28575" bIns="7144" rtlCol="0" anchor="t"/>
            <a:lstStyle/>
            <a:p>
              <a:pPr marL="0" indent="0">
                <a:lnSpc>
                  <a:spcPct val="140000"/>
                </a:lnSpc>
                <a:buNone/>
              </a:pPr>
              <a:r>
                <a:rPr lang="zh-CN" sz="600" b="1" dirty="0">
                  <a:solidFill>
                    <a:srgbClr val="B45309"/>
                  </a:solidFill>
                  <a:latin typeface="Arial" panose="020B0604020202020204" pitchFamily="34" charset="0"/>
                  <a:ea typeface="微软雅黑" panose="020B0503020204020204" pitchFamily="34" charset="-122"/>
                </a:rPr>
                <a:t>私有</a:t>
              </a:r>
              <a:endParaRPr lang="en-US" sz="600" dirty="0"/>
            </a:p>
          </p:txBody>
        </p:sp>
      </p:grpSp>
      <p:grpSp>
        <p:nvGrpSpPr>
          <p:cNvPr id="120" name="h2p-grp-h2p-animroot-11"/>
          <p:cNvGrpSpPr/>
          <p:nvPr/>
        </p:nvGrpSpPr>
        <p:grpSpPr>
          <a:xfrm>
            <a:off x="2257425" y="3940448"/>
            <a:ext cx="1885950" cy="917302"/>
            <a:chOff x="0" y="0"/>
            <a:chExt cx="1885950" cy="917302"/>
          </a:xfrm>
        </p:grpSpPr>
        <p:sp>
          <p:nvSpPr>
            <p:cNvPr id="85" name="圆角矩形 84"/>
            <p:cNvSpPr/>
            <p:nvPr/>
          </p:nvSpPr>
          <p:spPr>
            <a:xfrm>
              <a:off x="0" y="0"/>
              <a:ext cx="1885950" cy="917302"/>
            </a:xfrm>
            <a:prstGeom prst="roundRect">
              <a:avLst>
                <a:gd name="adj" fmla="val 9345"/>
              </a:avLst>
            </a:prstGeom>
            <a:solidFill>
              <a:srgbClr val="FFFFFF"/>
            </a:solidFill>
            <a:ln w="6350">
              <a:solidFill>
                <a:srgbClr val="DCEAF5"/>
              </a:solidFill>
              <a:prstDash val="solid"/>
            </a:ln>
          </p:spPr>
        </p:sp>
        <p:sp>
          <p:nvSpPr>
            <p:cNvPr id="86" name="圆角矩形 85"/>
            <p:cNvSpPr/>
            <p:nvPr/>
          </p:nvSpPr>
          <p:spPr>
            <a:xfrm>
              <a:off x="92869" y="92869"/>
              <a:ext cx="171450" cy="171450"/>
            </a:xfrm>
            <a:prstGeom prst="roundRect">
              <a:avLst>
                <a:gd name="adj" fmla="val 25000"/>
              </a:avLst>
            </a:prstGeom>
            <a:solidFill>
              <a:srgbClr val="EAF5FF"/>
            </a:solidFill>
          </p:spPr>
        </p:sp>
        <p:sp>
          <p:nvSpPr>
            <p:cNvPr id="87" name="矩形 86"/>
            <p:cNvSpPr/>
            <p:nvPr/>
          </p:nvSpPr>
          <p:spPr>
            <a:xfrm>
              <a:off x="128588" y="128587"/>
              <a:ext cx="100013" cy="100013"/>
            </a:xfrm>
            <a:prstGeom prst="rect">
              <a:avLst/>
            </a:prstGeom>
            <a:noFill/>
          </p:spPr>
          <p:txBody>
            <a:bodyPr wrap="none" lIns="0" tIns="0" rIns="0" bIns="0" rtlCol="0" anchor="t"/>
            <a:lstStyle/>
            <a:p>
              <a:pPr marL="0" indent="0">
                <a:lnSpc>
                  <a:spcPct val="100000"/>
                </a:lnSpc>
                <a:buNone/>
              </a:pPr>
              <a:r>
                <a:rPr lang="en-US" sz="700" dirty="0">
                  <a:solidFill>
                    <a:srgbClr val="5B9DFF"/>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700" dirty="0"/>
            </a:p>
          </p:txBody>
        </p:sp>
        <p:sp>
          <p:nvSpPr>
            <p:cNvPr id="88" name="矩形 87"/>
            <p:cNvSpPr/>
            <p:nvPr/>
          </p:nvSpPr>
          <p:spPr>
            <a:xfrm>
              <a:off x="321469" y="103584"/>
              <a:ext cx="500063" cy="150019"/>
            </a:xfrm>
            <a:prstGeom prst="rect">
              <a:avLst/>
            </a:prstGeom>
            <a:noFill/>
          </p:spPr>
          <p:txBody>
            <a:bodyPr wrap="none" lIns="0" tIns="0" rIns="0" bIns="0" rtlCol="0" anchor="t"/>
            <a:lstStyle/>
            <a:p>
              <a:pPr marL="0" indent="0">
                <a:lnSpc>
                  <a:spcPct val="150000"/>
                </a:lnSpc>
                <a:buNone/>
              </a:pPr>
              <a:r>
                <a:rPr lang="zh-CN" sz="700" b="1" dirty="0">
                  <a:solidFill>
                    <a:srgbClr val="1F2A37"/>
                  </a:solidFill>
                  <a:latin typeface="Arial" panose="020B0604020202020204" pitchFamily="34" charset="0"/>
                  <a:ea typeface="微软雅黑" panose="020B0503020204020204" pitchFamily="34" charset="-122"/>
                </a:rPr>
                <a:t>皮肤科疾病</a:t>
              </a:r>
              <a:endParaRPr lang="en-US" sz="700" dirty="0"/>
            </a:p>
          </p:txBody>
        </p:sp>
        <p:sp>
          <p:nvSpPr>
            <p:cNvPr id="89" name="矩形 88"/>
            <p:cNvSpPr/>
            <p:nvPr/>
          </p:nvSpPr>
          <p:spPr>
            <a:xfrm>
              <a:off x="321469" y="328612"/>
              <a:ext cx="707231" cy="85725"/>
            </a:xfrm>
            <a:prstGeom prst="rect">
              <a:avLst/>
            </a:prstGeom>
            <a:noFill/>
          </p:spPr>
          <p:txBody>
            <a:bodyPr wrap="none" lIns="0" tIns="0" rIns="0" bIns="0" rtlCol="0" anchor="t"/>
            <a:lstStyle/>
            <a:p>
              <a:pPr marL="0" indent="0">
                <a:lnSpc>
                  <a:spcPct val="140000"/>
                </a:lnSpc>
                <a:buNone/>
              </a:pPr>
              <a:r>
                <a:rPr lang="zh-CN" sz="600" dirty="0">
                  <a:solidFill>
                    <a:srgbClr val="1F2A37"/>
                  </a:solidFill>
                  <a:latin typeface="Arial" panose="020B0604020202020204" pitchFamily="34" charset="0"/>
                  <a:ea typeface="微软雅黑" panose="020B0503020204020204" pitchFamily="34" charset="-122"/>
                </a:rPr>
                <a:t>湿疹、荨麻疹、痤疮</a:t>
              </a:r>
              <a:endParaRPr lang="en-US" sz="600" dirty="0"/>
            </a:p>
          </p:txBody>
        </p:sp>
        <p:sp>
          <p:nvSpPr>
            <p:cNvPr id="90" name="圆角矩形 89"/>
            <p:cNvSpPr/>
            <p:nvPr/>
          </p:nvSpPr>
          <p:spPr>
            <a:xfrm>
              <a:off x="92869" y="328612"/>
              <a:ext cx="200025" cy="92869"/>
            </a:xfrm>
            <a:prstGeom prst="roundRect">
              <a:avLst>
                <a:gd name="adj" fmla="val 23077"/>
              </a:avLst>
            </a:prstGeom>
            <a:solidFill>
              <a:srgbClr val="E1F0FF"/>
            </a:solidFill>
          </p:spPr>
          <p:txBody>
            <a:bodyPr wrap="none" lIns="28575" tIns="7144" rIns="28575" bIns="7144" rtlCol="0" anchor="t"/>
            <a:lstStyle/>
            <a:p>
              <a:pPr marL="0" indent="0">
                <a:lnSpc>
                  <a:spcPct val="140000"/>
                </a:lnSpc>
                <a:buNone/>
              </a:pPr>
              <a:r>
                <a:rPr lang="zh-CN" sz="600" b="1" dirty="0">
                  <a:solidFill>
                    <a:srgbClr val="2563EB"/>
                  </a:solidFill>
                  <a:latin typeface="Arial" panose="020B0604020202020204" pitchFamily="34" charset="0"/>
                  <a:ea typeface="微软雅黑" panose="020B0503020204020204" pitchFamily="34" charset="-122"/>
                </a:rPr>
                <a:t>公开</a:t>
              </a:r>
              <a:endParaRPr lang="en-US" sz="600" dirty="0"/>
            </a:p>
          </p:txBody>
        </p:sp>
        <p:sp>
          <p:nvSpPr>
            <p:cNvPr id="91" name="矩形 90"/>
            <p:cNvSpPr/>
            <p:nvPr/>
          </p:nvSpPr>
          <p:spPr>
            <a:xfrm>
              <a:off x="321469" y="467134"/>
              <a:ext cx="707231" cy="85725"/>
            </a:xfrm>
            <a:prstGeom prst="rect">
              <a:avLst/>
            </a:prstGeom>
            <a:noFill/>
          </p:spPr>
          <p:txBody>
            <a:bodyPr wrap="none" lIns="0" tIns="0" rIns="0" bIns="0" rtlCol="0" anchor="t"/>
            <a:lstStyle/>
            <a:p>
              <a:pPr marL="0" indent="0">
                <a:lnSpc>
                  <a:spcPct val="140000"/>
                </a:lnSpc>
                <a:buNone/>
              </a:pPr>
              <a:r>
                <a:rPr lang="zh-CN" sz="600" dirty="0">
                  <a:solidFill>
                    <a:srgbClr val="1F2A37"/>
                  </a:solidFill>
                  <a:latin typeface="Arial" panose="020B0604020202020204" pitchFamily="34" charset="0"/>
                  <a:ea typeface="微软雅黑" panose="020B0503020204020204" pitchFamily="34" charset="-122"/>
                </a:rPr>
                <a:t>激素分级、重症药疹</a:t>
              </a:r>
              <a:endParaRPr lang="en-US" sz="600" dirty="0"/>
            </a:p>
          </p:txBody>
        </p:sp>
        <p:sp>
          <p:nvSpPr>
            <p:cNvPr id="92" name="圆角矩形 91"/>
            <p:cNvSpPr/>
            <p:nvPr/>
          </p:nvSpPr>
          <p:spPr>
            <a:xfrm>
              <a:off x="92869" y="467134"/>
              <a:ext cx="200025" cy="92869"/>
            </a:xfrm>
            <a:prstGeom prst="roundRect">
              <a:avLst>
                <a:gd name="adj" fmla="val 23077"/>
              </a:avLst>
            </a:prstGeom>
            <a:solidFill>
              <a:srgbClr val="FFF4E5"/>
            </a:solidFill>
          </p:spPr>
          <p:txBody>
            <a:bodyPr wrap="none" lIns="28575" tIns="7144" rIns="28575" bIns="7144" rtlCol="0" anchor="t"/>
            <a:lstStyle/>
            <a:p>
              <a:pPr marL="0" indent="0">
                <a:lnSpc>
                  <a:spcPct val="140000"/>
                </a:lnSpc>
                <a:buNone/>
              </a:pPr>
              <a:r>
                <a:rPr lang="zh-CN" sz="600" b="1" dirty="0">
                  <a:solidFill>
                    <a:srgbClr val="B45309"/>
                  </a:solidFill>
                  <a:latin typeface="Arial" panose="020B0604020202020204" pitchFamily="34" charset="0"/>
                  <a:ea typeface="微软雅黑" panose="020B0503020204020204" pitchFamily="34" charset="-122"/>
                </a:rPr>
                <a:t>私有</a:t>
              </a:r>
              <a:endParaRPr lang="en-US" sz="600" dirty="0"/>
            </a:p>
          </p:txBody>
        </p:sp>
      </p:grpSp>
      <p:grpSp>
        <p:nvGrpSpPr>
          <p:cNvPr id="121" name="h2p-grp-h2p-animroot-12"/>
          <p:cNvGrpSpPr/>
          <p:nvPr/>
        </p:nvGrpSpPr>
        <p:grpSpPr>
          <a:xfrm>
            <a:off x="4229100" y="3940448"/>
            <a:ext cx="1885950" cy="917302"/>
            <a:chOff x="0" y="0"/>
            <a:chExt cx="1885950" cy="917302"/>
          </a:xfrm>
        </p:grpSpPr>
        <p:sp>
          <p:nvSpPr>
            <p:cNvPr id="93" name="圆角矩形 92"/>
            <p:cNvSpPr/>
            <p:nvPr/>
          </p:nvSpPr>
          <p:spPr>
            <a:xfrm>
              <a:off x="0" y="0"/>
              <a:ext cx="1885950" cy="917302"/>
            </a:xfrm>
            <a:prstGeom prst="roundRect">
              <a:avLst>
                <a:gd name="adj" fmla="val 9345"/>
              </a:avLst>
            </a:prstGeom>
            <a:solidFill>
              <a:srgbClr val="FFFFFF"/>
            </a:solidFill>
            <a:ln w="6350">
              <a:solidFill>
                <a:srgbClr val="DCEAF5"/>
              </a:solidFill>
              <a:prstDash val="solid"/>
            </a:ln>
          </p:spPr>
        </p:sp>
        <p:sp>
          <p:nvSpPr>
            <p:cNvPr id="94" name="圆角矩形 93"/>
            <p:cNvSpPr/>
            <p:nvPr/>
          </p:nvSpPr>
          <p:spPr>
            <a:xfrm>
              <a:off x="92869" y="92869"/>
              <a:ext cx="171450" cy="171450"/>
            </a:xfrm>
            <a:prstGeom prst="roundRect">
              <a:avLst>
                <a:gd name="adj" fmla="val 25000"/>
              </a:avLst>
            </a:prstGeom>
            <a:solidFill>
              <a:srgbClr val="EAF5FF"/>
            </a:solidFill>
          </p:spPr>
        </p:sp>
        <p:sp>
          <p:nvSpPr>
            <p:cNvPr id="95" name="矩形 94"/>
            <p:cNvSpPr/>
            <p:nvPr/>
          </p:nvSpPr>
          <p:spPr>
            <a:xfrm>
              <a:off x="128588" y="128587"/>
              <a:ext cx="100013" cy="100013"/>
            </a:xfrm>
            <a:prstGeom prst="rect">
              <a:avLst/>
            </a:prstGeom>
            <a:noFill/>
          </p:spPr>
          <p:txBody>
            <a:bodyPr wrap="none" lIns="0" tIns="0" rIns="0" bIns="0" rtlCol="0" anchor="t"/>
            <a:lstStyle/>
            <a:p>
              <a:pPr marL="0" indent="0">
                <a:lnSpc>
                  <a:spcPct val="100000"/>
                </a:lnSpc>
                <a:buNone/>
              </a:pPr>
              <a:r>
                <a:rPr lang="en-US" sz="700" dirty="0">
                  <a:solidFill>
                    <a:srgbClr val="5B9DFF"/>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700" dirty="0"/>
            </a:p>
          </p:txBody>
        </p:sp>
        <p:sp>
          <p:nvSpPr>
            <p:cNvPr id="96" name="矩形 95"/>
            <p:cNvSpPr/>
            <p:nvPr/>
          </p:nvSpPr>
          <p:spPr>
            <a:xfrm>
              <a:off x="321469" y="103584"/>
              <a:ext cx="400050" cy="150019"/>
            </a:xfrm>
            <a:prstGeom prst="rect">
              <a:avLst/>
            </a:prstGeom>
            <a:noFill/>
          </p:spPr>
          <p:txBody>
            <a:bodyPr wrap="none" lIns="0" tIns="0" rIns="0" bIns="0" rtlCol="0" anchor="t"/>
            <a:lstStyle/>
            <a:p>
              <a:pPr marL="0" indent="0">
                <a:lnSpc>
                  <a:spcPct val="150000"/>
                </a:lnSpc>
                <a:buNone/>
              </a:pPr>
              <a:r>
                <a:rPr lang="zh-CN" sz="700" b="1" dirty="0">
                  <a:solidFill>
                    <a:srgbClr val="1F2A37"/>
                  </a:solidFill>
                  <a:latin typeface="Arial" panose="020B0604020202020204" pitchFamily="34" charset="0"/>
                  <a:ea typeface="微软雅黑" panose="020B0503020204020204" pitchFamily="34" charset="-122"/>
                </a:rPr>
                <a:t>妇儿疾病</a:t>
              </a:r>
              <a:endParaRPr lang="en-US" sz="700" dirty="0"/>
            </a:p>
          </p:txBody>
        </p:sp>
        <p:sp>
          <p:nvSpPr>
            <p:cNvPr id="97" name="矩形 96"/>
            <p:cNvSpPr/>
            <p:nvPr/>
          </p:nvSpPr>
          <p:spPr>
            <a:xfrm>
              <a:off x="321469" y="328612"/>
              <a:ext cx="785813" cy="85725"/>
            </a:xfrm>
            <a:prstGeom prst="rect">
              <a:avLst/>
            </a:prstGeom>
            <a:noFill/>
          </p:spPr>
          <p:txBody>
            <a:bodyPr wrap="none" lIns="0" tIns="0" rIns="0" bIns="0" rtlCol="0" anchor="t"/>
            <a:lstStyle/>
            <a:p>
              <a:pPr marL="0" indent="0">
                <a:lnSpc>
                  <a:spcPct val="140000"/>
                </a:lnSpc>
                <a:buNone/>
              </a:pPr>
              <a:r>
                <a:rPr lang="zh-CN" sz="600" dirty="0">
                  <a:solidFill>
                    <a:srgbClr val="1F2A37"/>
                  </a:solidFill>
                  <a:latin typeface="Arial" panose="020B0604020202020204" pitchFamily="34" charset="0"/>
                  <a:ea typeface="微软雅黑" panose="020B0503020204020204" pitchFamily="34" charset="-122"/>
                </a:rPr>
                <a:t>小儿肺炎、妊娠期糖病</a:t>
              </a:r>
              <a:endParaRPr lang="en-US" sz="600" dirty="0"/>
            </a:p>
          </p:txBody>
        </p:sp>
        <p:sp>
          <p:nvSpPr>
            <p:cNvPr id="98" name="圆角矩形 97"/>
            <p:cNvSpPr/>
            <p:nvPr/>
          </p:nvSpPr>
          <p:spPr>
            <a:xfrm>
              <a:off x="92869" y="328612"/>
              <a:ext cx="200025" cy="92869"/>
            </a:xfrm>
            <a:prstGeom prst="roundRect">
              <a:avLst>
                <a:gd name="adj" fmla="val 23077"/>
              </a:avLst>
            </a:prstGeom>
            <a:solidFill>
              <a:srgbClr val="E1F0FF"/>
            </a:solidFill>
          </p:spPr>
          <p:txBody>
            <a:bodyPr wrap="none" lIns="28575" tIns="7144" rIns="28575" bIns="7144" rtlCol="0" anchor="t"/>
            <a:lstStyle/>
            <a:p>
              <a:pPr marL="0" indent="0">
                <a:lnSpc>
                  <a:spcPct val="140000"/>
                </a:lnSpc>
                <a:buNone/>
              </a:pPr>
              <a:r>
                <a:rPr lang="zh-CN" sz="600" b="1" dirty="0">
                  <a:solidFill>
                    <a:srgbClr val="2563EB"/>
                  </a:solidFill>
                  <a:latin typeface="Arial" panose="020B0604020202020204" pitchFamily="34" charset="0"/>
                  <a:ea typeface="微软雅黑" panose="020B0503020204020204" pitchFamily="34" charset="-122"/>
                </a:rPr>
                <a:t>公开</a:t>
              </a:r>
              <a:endParaRPr lang="en-US" sz="600" dirty="0"/>
            </a:p>
          </p:txBody>
        </p:sp>
        <p:sp>
          <p:nvSpPr>
            <p:cNvPr id="99" name="矩形 98"/>
            <p:cNvSpPr/>
            <p:nvPr/>
          </p:nvSpPr>
          <p:spPr>
            <a:xfrm>
              <a:off x="321469" y="467134"/>
              <a:ext cx="707231" cy="85725"/>
            </a:xfrm>
            <a:prstGeom prst="rect">
              <a:avLst/>
            </a:prstGeom>
            <a:noFill/>
          </p:spPr>
          <p:txBody>
            <a:bodyPr wrap="none" lIns="0" tIns="0" rIns="0" bIns="0" rtlCol="0" anchor="t"/>
            <a:lstStyle/>
            <a:p>
              <a:pPr marL="0" indent="0">
                <a:lnSpc>
                  <a:spcPct val="140000"/>
                </a:lnSpc>
                <a:buNone/>
              </a:pPr>
              <a:r>
                <a:rPr lang="zh-CN" sz="600" dirty="0">
                  <a:solidFill>
                    <a:srgbClr val="1F2A37"/>
                  </a:solidFill>
                  <a:latin typeface="Arial" panose="020B0604020202020204" pitchFamily="34" charset="0"/>
                  <a:ea typeface="微软雅黑" panose="020B0503020204020204" pitchFamily="34" charset="-122"/>
                </a:rPr>
                <a:t>妊高症、新生儿黄疸</a:t>
              </a:r>
              <a:endParaRPr lang="en-US" sz="600" dirty="0"/>
            </a:p>
          </p:txBody>
        </p:sp>
        <p:sp>
          <p:nvSpPr>
            <p:cNvPr id="100" name="圆角矩形 99"/>
            <p:cNvSpPr/>
            <p:nvPr/>
          </p:nvSpPr>
          <p:spPr>
            <a:xfrm>
              <a:off x="92869" y="467134"/>
              <a:ext cx="200025" cy="92869"/>
            </a:xfrm>
            <a:prstGeom prst="roundRect">
              <a:avLst>
                <a:gd name="adj" fmla="val 23077"/>
              </a:avLst>
            </a:prstGeom>
            <a:solidFill>
              <a:srgbClr val="FFF4E5"/>
            </a:solidFill>
          </p:spPr>
          <p:txBody>
            <a:bodyPr wrap="none" lIns="28575" tIns="7144" rIns="28575" bIns="7144" rtlCol="0" anchor="t"/>
            <a:lstStyle/>
            <a:p>
              <a:pPr marL="0" indent="0">
                <a:lnSpc>
                  <a:spcPct val="140000"/>
                </a:lnSpc>
                <a:buNone/>
              </a:pPr>
              <a:r>
                <a:rPr lang="zh-CN" sz="600" b="1" dirty="0">
                  <a:solidFill>
                    <a:srgbClr val="B45309"/>
                  </a:solidFill>
                  <a:latin typeface="Arial" panose="020B0604020202020204" pitchFamily="34" charset="0"/>
                  <a:ea typeface="微软雅黑" panose="020B0503020204020204" pitchFamily="34" charset="-122"/>
                </a:rPr>
                <a:t>私有</a:t>
              </a:r>
              <a:endParaRPr lang="en-US" sz="600" dirty="0"/>
            </a:p>
          </p:txBody>
        </p:sp>
      </p:grpSp>
      <p:sp>
        <p:nvSpPr>
          <p:cNvPr id="101" name="Shape 98"/>
          <p:cNvSpPr/>
          <p:nvPr/>
        </p:nvSpPr>
        <p:spPr>
          <a:xfrm>
            <a:off x="6286500" y="931478"/>
            <a:ext cx="2571750" cy="3926272"/>
          </a:xfrm>
          <a:prstGeom prst="roundRect">
            <a:avLst>
              <a:gd name="adj" fmla="val 3333"/>
            </a:avLst>
          </a:prstGeom>
          <a:solidFill>
            <a:srgbClr val="FFFFFF"/>
          </a:solidFill>
          <a:ln w="6350">
            <a:solidFill>
              <a:srgbClr val="DCEAF5"/>
            </a:solidFill>
            <a:prstDash val="solid"/>
          </a:ln>
        </p:spPr>
      </p:sp>
      <p:sp>
        <p:nvSpPr>
          <p:cNvPr id="102" name="Shape 99"/>
          <p:cNvSpPr/>
          <p:nvPr/>
        </p:nvSpPr>
        <p:spPr>
          <a:xfrm>
            <a:off x="6436519" y="1081497"/>
            <a:ext cx="2271713" cy="292894"/>
          </a:xfrm>
          <a:prstGeom prst="rect">
            <a:avLst/>
          </a:prstGeom>
          <a:noFill/>
        </p:spPr>
      </p:sp>
      <p:sp>
        <p:nvSpPr>
          <p:cNvPr id="103" name="Shape 100"/>
          <p:cNvSpPr/>
          <p:nvPr/>
        </p:nvSpPr>
        <p:spPr>
          <a:xfrm>
            <a:off x="6436519" y="1367247"/>
            <a:ext cx="2271713" cy="7144"/>
          </a:xfrm>
          <a:prstGeom prst="rect">
            <a:avLst/>
          </a:prstGeom>
          <a:solidFill>
            <a:srgbClr val="DCEAF5"/>
          </a:solidFill>
        </p:spPr>
      </p:sp>
      <p:sp>
        <p:nvSpPr>
          <p:cNvPr id="104" name="Text 101"/>
          <p:cNvSpPr/>
          <p:nvPr/>
        </p:nvSpPr>
        <p:spPr>
          <a:xfrm>
            <a:off x="6436519" y="1081497"/>
            <a:ext cx="142875" cy="200025"/>
          </a:xfrm>
          <a:prstGeom prst="rect">
            <a:avLst/>
          </a:prstGeom>
          <a:noFill/>
        </p:spPr>
        <p:txBody>
          <a:bodyPr wrap="none" lIns="0" tIns="0" rIns="0" bIns="0" rtlCol="0" anchor="t"/>
          <a:lstStyle/>
          <a:p>
            <a:pPr marL="0" indent="0">
              <a:lnSpc>
                <a:spcPct val="140000"/>
              </a:lnSpc>
              <a:buNone/>
            </a:pPr>
            <a:r>
              <a:rPr lang="en-US" sz="1100" dirty="0">
                <a:solidFill>
                  <a:srgbClr val="3B82F6"/>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1100" dirty="0"/>
          </a:p>
        </p:txBody>
      </p:sp>
      <p:sp>
        <p:nvSpPr>
          <p:cNvPr id="105" name="Text 102"/>
          <p:cNvSpPr/>
          <p:nvPr/>
        </p:nvSpPr>
        <p:spPr>
          <a:xfrm>
            <a:off x="6650831" y="1081497"/>
            <a:ext cx="1157288" cy="200025"/>
          </a:xfrm>
          <a:prstGeom prst="rect">
            <a:avLst/>
          </a:prstGeom>
          <a:noFill/>
        </p:spPr>
        <p:txBody>
          <a:bodyPr wrap="none" lIns="0" tIns="0" rIns="0" bIns="0" rtlCol="0" anchor="t"/>
          <a:lstStyle/>
          <a:p>
            <a:pPr marL="0" indent="0">
              <a:lnSpc>
                <a:spcPct val="156000"/>
              </a:lnSpc>
              <a:buNone/>
            </a:pPr>
            <a:r>
              <a:rPr lang="zh-CN" sz="1000" b="1" dirty="0">
                <a:solidFill>
                  <a:srgbClr val="1F2A37"/>
                </a:solidFill>
                <a:latin typeface="Arial" panose="020B0604020202020204" pitchFamily="34" charset="0"/>
                <a:ea typeface="微软雅黑" panose="020B0503020204020204" pitchFamily="34" charset="-122"/>
              </a:rPr>
              <a:t>角色与权限控制矩阵</a:t>
            </a:r>
            <a:endParaRPr lang="en-US" sz="1000" dirty="0"/>
          </a:p>
        </p:txBody>
      </p:sp>
      <p:graphicFrame>
        <p:nvGraphicFramePr>
          <p:cNvPr id="106" name="Table 0"/>
          <p:cNvGraphicFramePr>
            <a:graphicFrameLocks noGrp="1"/>
          </p:cNvGraphicFramePr>
          <p:nvPr/>
        </p:nvGraphicFramePr>
        <p:xfrm>
          <a:off x="6436519" y="1488691"/>
          <a:ext cx="2271713" cy="1621631"/>
        </p:xfrm>
        <a:graphic>
          <a:graphicData uri="http://schemas.openxmlformats.org/drawingml/2006/table">
            <a:tbl>
              <a:tblPr/>
              <a:tblGrid>
                <a:gridCol w="681447"/>
                <a:gridCol w="291108"/>
                <a:gridCol w="291108"/>
                <a:gridCol w="291108"/>
                <a:gridCol w="291108"/>
                <a:gridCol w="425834"/>
              </a:tblGrid>
              <a:tr h="192881">
                <a:tc>
                  <a:txBody>
                    <a:bodyPr/>
                    <a:lstStyle/>
                    <a:p>
                      <a:pPr marL="0" indent="0" algn="ctr">
                        <a:buNone/>
                      </a:pPr>
                      <a:r>
                        <a:rPr lang="en-US" sz="600" b="1" dirty="0">
                          <a:solidFill>
                            <a:srgbClr val="2E6EA6"/>
                          </a:solidFill>
                          <a:latin typeface="Arial" panose="020B0604020202020204" pitchFamily="34" charset="0"/>
                          <a:ea typeface="Arial" panose="020B0604020202020204" pitchFamily="34" charset="-122"/>
                          <a:cs typeface="Arial" panose="020B0604020202020204" pitchFamily="34" charset="-120"/>
                        </a:rPr>
                        <a:t>业务功能</a:t>
                      </a:r>
                      <a:endParaRPr lang="en-US" sz="600" dirty="0">
                        <a:latin typeface="Arial" panose="020B0604020202020204" pitchFamily="34" charset="0"/>
                        <a:ea typeface="Arial" panose="020B0604020202020204" pitchFamily="34" charset="0"/>
                        <a:cs typeface="Arial" panose="020B0604020202020204" pitchFamily="34" charset="0"/>
                      </a:endParaRPr>
                    </a:p>
                  </a:txBody>
                  <a:tcPr marL="0" marR="0" marT="0" marB="0" anchor="t">
                    <a:lnL w="0" cap="flat" cmpd="sng" algn="ctr">
                      <a:noFill/>
                    </a:lnL>
                    <a:lnR w="0" cap="flat" cmpd="sng" algn="ctr">
                      <a:noFill/>
                    </a:lnR>
                    <a:lnT w="0" cap="flat" cmpd="sng" algn="ctr">
                      <a:noFill/>
                    </a:lnT>
                    <a:lnB w="0" cap="flat" cmpd="sng" algn="ctr">
                      <a:noFill/>
                    </a:lnB>
                  </a:tcPr>
                </a:tc>
                <a:tc>
                  <a:txBody>
                    <a:bodyPr/>
                    <a:lstStyle/>
                    <a:p>
                      <a:pPr marL="0" indent="0" algn="ctr">
                        <a:buNone/>
                      </a:pPr>
                      <a:r>
                        <a:rPr lang="en-US" sz="600" b="1" dirty="0">
                          <a:solidFill>
                            <a:srgbClr val="2E6EA6"/>
                          </a:solidFill>
                          <a:latin typeface="Arial" panose="020B0604020202020204" pitchFamily="34" charset="0"/>
                          <a:ea typeface="Arial" panose="020B0604020202020204" pitchFamily="34" charset="-122"/>
                          <a:cs typeface="Arial" panose="020B0604020202020204" pitchFamily="34" charset="-120"/>
                        </a:rPr>
                        <a:t>患者</a:t>
                      </a:r>
                      <a:endParaRPr lang="en-US" sz="600" dirty="0">
                        <a:latin typeface="Arial" panose="020B0604020202020204" pitchFamily="34" charset="0"/>
                        <a:ea typeface="Arial" panose="020B0604020202020204" pitchFamily="34" charset="0"/>
                        <a:cs typeface="Arial" panose="020B0604020202020204" pitchFamily="34" charset="0"/>
                      </a:endParaRPr>
                    </a:p>
                  </a:txBody>
                  <a:tcPr marL="0" marR="0" marT="0" marB="0" anchor="t">
                    <a:lnL w="0" cap="flat" cmpd="sng" algn="ctr">
                      <a:noFill/>
                    </a:lnL>
                    <a:lnR w="0" cap="flat" cmpd="sng" algn="ctr">
                      <a:noFill/>
                    </a:lnR>
                    <a:lnT w="0" cap="flat" cmpd="sng" algn="ctr">
                      <a:noFill/>
                    </a:lnT>
                    <a:lnB w="0" cap="flat" cmpd="sng" algn="ctr">
                      <a:noFill/>
                    </a:lnB>
                  </a:tcPr>
                </a:tc>
                <a:tc>
                  <a:txBody>
                    <a:bodyPr/>
                    <a:lstStyle/>
                    <a:p>
                      <a:pPr marL="0" indent="0" algn="ctr">
                        <a:buNone/>
                      </a:pPr>
                      <a:r>
                        <a:rPr lang="en-US" sz="600" b="1" dirty="0">
                          <a:solidFill>
                            <a:srgbClr val="2E6EA6"/>
                          </a:solidFill>
                          <a:latin typeface="Arial" panose="020B0604020202020204" pitchFamily="34" charset="0"/>
                          <a:ea typeface="Arial" panose="020B0604020202020204" pitchFamily="34" charset="-122"/>
                          <a:cs typeface="Arial" panose="020B0604020202020204" pitchFamily="34" charset="-120"/>
                        </a:rPr>
                        <a:t>医生</a:t>
                      </a:r>
                      <a:endParaRPr lang="en-US" sz="600" dirty="0">
                        <a:latin typeface="Arial" panose="020B0604020202020204" pitchFamily="34" charset="0"/>
                        <a:ea typeface="Arial" panose="020B0604020202020204" pitchFamily="34" charset="0"/>
                        <a:cs typeface="Arial" panose="020B0604020202020204" pitchFamily="34" charset="0"/>
                      </a:endParaRPr>
                    </a:p>
                  </a:txBody>
                  <a:tcPr marL="0" marR="0" marT="0" marB="0" anchor="t">
                    <a:lnL w="0" cap="flat" cmpd="sng" algn="ctr">
                      <a:noFill/>
                    </a:lnL>
                    <a:lnR w="0" cap="flat" cmpd="sng" algn="ctr">
                      <a:noFill/>
                    </a:lnR>
                    <a:lnT w="0" cap="flat" cmpd="sng" algn="ctr">
                      <a:noFill/>
                    </a:lnT>
                    <a:lnB w="0" cap="flat" cmpd="sng" algn="ctr">
                      <a:noFill/>
                    </a:lnB>
                  </a:tcPr>
                </a:tc>
                <a:tc>
                  <a:txBody>
                    <a:bodyPr/>
                    <a:lstStyle/>
                    <a:p>
                      <a:pPr marL="0" indent="0" algn="ctr">
                        <a:buNone/>
                      </a:pPr>
                      <a:r>
                        <a:rPr lang="en-US" sz="600" b="1" dirty="0">
                          <a:solidFill>
                            <a:srgbClr val="2E6EA6"/>
                          </a:solidFill>
                          <a:latin typeface="Arial" panose="020B0604020202020204" pitchFamily="34" charset="0"/>
                          <a:ea typeface="Arial" panose="020B0604020202020204" pitchFamily="34" charset="-122"/>
                          <a:cs typeface="Arial" panose="020B0604020202020204" pitchFamily="34" charset="-120"/>
                        </a:rPr>
                        <a:t>护士</a:t>
                      </a:r>
                      <a:endParaRPr lang="en-US" sz="600" dirty="0">
                        <a:latin typeface="Arial" panose="020B0604020202020204" pitchFamily="34" charset="0"/>
                        <a:ea typeface="Arial" panose="020B0604020202020204" pitchFamily="34" charset="0"/>
                        <a:cs typeface="Arial" panose="020B0604020202020204" pitchFamily="34" charset="0"/>
                      </a:endParaRPr>
                    </a:p>
                  </a:txBody>
                  <a:tcPr marL="0" marR="0" marT="0" marB="0" anchor="t">
                    <a:lnL w="0" cap="flat" cmpd="sng" algn="ctr">
                      <a:noFill/>
                    </a:lnL>
                    <a:lnR w="0" cap="flat" cmpd="sng" algn="ctr">
                      <a:noFill/>
                    </a:lnR>
                    <a:lnT w="0" cap="flat" cmpd="sng" algn="ctr">
                      <a:noFill/>
                    </a:lnT>
                    <a:lnB w="0" cap="flat" cmpd="sng" algn="ctr">
                      <a:noFill/>
                    </a:lnB>
                  </a:tcPr>
                </a:tc>
                <a:tc>
                  <a:txBody>
                    <a:bodyPr/>
                    <a:lstStyle/>
                    <a:p>
                      <a:pPr marL="0" indent="0" algn="ctr">
                        <a:buNone/>
                      </a:pPr>
                      <a:r>
                        <a:rPr lang="en-US" sz="600" b="1" dirty="0">
                          <a:solidFill>
                            <a:srgbClr val="2E6EA6"/>
                          </a:solidFill>
                          <a:latin typeface="Arial" panose="020B0604020202020204" pitchFamily="34" charset="0"/>
                          <a:ea typeface="Arial" panose="020B0604020202020204" pitchFamily="34" charset="-122"/>
                          <a:cs typeface="Arial" panose="020B0604020202020204" pitchFamily="34" charset="-120"/>
                        </a:rPr>
                        <a:t>群众</a:t>
                      </a:r>
                      <a:endParaRPr lang="en-US" sz="600" dirty="0">
                        <a:latin typeface="Arial" panose="020B0604020202020204" pitchFamily="34" charset="0"/>
                        <a:ea typeface="Arial" panose="020B0604020202020204" pitchFamily="34" charset="0"/>
                        <a:cs typeface="Arial" panose="020B0604020202020204" pitchFamily="34" charset="0"/>
                      </a:endParaRPr>
                    </a:p>
                  </a:txBody>
                  <a:tcPr marL="0" marR="0" marT="0" marB="0" anchor="t">
                    <a:lnL w="0" cap="flat" cmpd="sng" algn="ctr">
                      <a:noFill/>
                    </a:lnL>
                    <a:lnR w="0" cap="flat" cmpd="sng" algn="ctr">
                      <a:noFill/>
                    </a:lnR>
                    <a:lnT w="0" cap="flat" cmpd="sng" algn="ctr">
                      <a:noFill/>
                    </a:lnT>
                    <a:lnB w="0" cap="flat" cmpd="sng" algn="ctr">
                      <a:noFill/>
                    </a:lnB>
                  </a:tcPr>
                </a:tc>
                <a:tc>
                  <a:txBody>
                    <a:bodyPr/>
                    <a:lstStyle/>
                    <a:p>
                      <a:pPr marL="0" indent="0" algn="ctr">
                        <a:buNone/>
                      </a:pPr>
                      <a:r>
                        <a:rPr lang="en-US" sz="600" b="1" dirty="0">
                          <a:solidFill>
                            <a:srgbClr val="2E6EA6"/>
                          </a:solidFill>
                          <a:latin typeface="Arial" panose="020B0604020202020204" pitchFamily="34" charset="0"/>
                          <a:ea typeface="Arial" panose="020B0604020202020204" pitchFamily="34" charset="-122"/>
                          <a:cs typeface="Arial" panose="020B0604020202020204" pitchFamily="34" charset="-120"/>
                        </a:rPr>
                        <a:t>管理员</a:t>
                      </a:r>
                      <a:endParaRPr lang="en-US" sz="600" dirty="0">
                        <a:latin typeface="Arial" panose="020B0604020202020204" pitchFamily="34" charset="0"/>
                        <a:ea typeface="Arial" panose="020B0604020202020204" pitchFamily="34" charset="0"/>
                        <a:cs typeface="Arial" panose="020B0604020202020204" pitchFamily="34" charset="0"/>
                      </a:endParaRPr>
                    </a:p>
                  </a:txBody>
                  <a:tcPr marL="0" marR="0" marT="0" marB="0" anchor="t">
                    <a:lnL w="0" cap="flat" cmpd="sng" algn="ctr">
                      <a:noFill/>
                    </a:lnL>
                    <a:lnR w="0" cap="flat" cmpd="sng" algn="ctr">
                      <a:noFill/>
                    </a:lnR>
                    <a:lnT w="0" cap="flat" cmpd="sng" algn="ctr">
                      <a:noFill/>
                    </a:lnT>
                    <a:lnB w="0" cap="flat" cmpd="sng" algn="ctr">
                      <a:noFill/>
                    </a:lnB>
                  </a:tcPr>
                </a:tc>
              </a:tr>
              <a:tr h="271463">
                <a:tc>
                  <a:txBody>
                    <a:bodyPr/>
                    <a:lstStyle/>
                    <a:p>
                      <a:pPr marL="0" indent="0" algn="l">
                        <a:buNone/>
                      </a:pPr>
                      <a:r>
                        <a:rPr lang="en-US" sz="600" b="1" dirty="0">
                          <a:solidFill>
                            <a:srgbClr val="1F2A37"/>
                          </a:solidFill>
                          <a:latin typeface="Arial" panose="020B0604020202020204" pitchFamily="34" charset="0"/>
                          <a:ea typeface="Arial" panose="020B0604020202020204" pitchFamily="34" charset="-122"/>
                          <a:cs typeface="Arial" panose="020B0604020202020204" pitchFamily="34" charset="-120"/>
                        </a:rPr>
                        <a:t>智能咨询</a:t>
                      </a:r>
                      <a:endParaRPr lang="en-US" sz="600" dirty="0">
                        <a:latin typeface="Arial" panose="020B0604020202020204" pitchFamily="34" charset="0"/>
                        <a:ea typeface="Arial" panose="020B0604020202020204" pitchFamily="34" charset="0"/>
                        <a:cs typeface="Arial" panose="020B0604020202020204" pitchFamily="34" charset="0"/>
                      </a:endParaRPr>
                    </a:p>
                  </a:txBody>
                  <a:tcPr marL="0" marR="0" marT="0" marB="0" anchor="t">
                    <a:lnL w="0" cap="flat" cmpd="sng" algn="ctr">
                      <a:noFill/>
                    </a:lnL>
                    <a:lnR w="0" cap="flat" cmpd="sng" algn="ctr">
                      <a:noFill/>
                    </a:lnR>
                    <a:lnT w="0" cap="flat" cmpd="sng" algn="ctr">
                      <a:noFill/>
                    </a:lnT>
                    <a:lnB w="0" cap="flat" cmpd="sng" algn="ctr">
                      <a:noFill/>
                    </a:lnB>
                  </a:tcPr>
                </a:tc>
                <a:tc>
                  <a:txBody>
                    <a:bodyPr/>
                    <a:lstStyle/>
                    <a:p>
                      <a:pPr marL="0" indent="0" algn="ctr">
                        <a:buNone/>
                      </a:pPr>
                      <a:endParaRPr lang="en-US" sz="600" dirty="0">
                        <a:latin typeface="Arial" panose="020B0604020202020204" pitchFamily="34" charset="0"/>
                        <a:ea typeface="Arial" panose="020B0604020202020204" pitchFamily="34" charset="0"/>
                        <a:cs typeface="Arial" panose="020B0604020202020204" pitchFamily="34" charset="0"/>
                      </a:endParaRPr>
                    </a:p>
                  </a:txBody>
                  <a:tcPr marL="0" marR="0" marT="0" marB="0" anchor="t">
                    <a:lnL w="0" cap="flat" cmpd="sng" algn="ctr">
                      <a:noFill/>
                    </a:lnL>
                    <a:lnR w="0" cap="flat" cmpd="sng" algn="ctr">
                      <a:noFill/>
                    </a:lnR>
                    <a:lnT w="0" cap="flat" cmpd="sng" algn="ctr">
                      <a:noFill/>
                    </a:lnT>
                    <a:lnB w="0" cap="flat" cmpd="sng" algn="ctr">
                      <a:noFill/>
                    </a:lnB>
                    <a:solidFill>
                      <a:srgbClr val="EAF5FF"/>
                    </a:solidFill>
                  </a:tcPr>
                </a:tc>
                <a:tc>
                  <a:txBody>
                    <a:bodyPr/>
                    <a:lstStyle/>
                    <a:p>
                      <a:pPr marL="0" indent="0" algn="ctr">
                        <a:buNone/>
                      </a:pPr>
                      <a:endParaRPr lang="en-US" sz="600" dirty="0">
                        <a:latin typeface="Arial" panose="020B0604020202020204" pitchFamily="34" charset="0"/>
                        <a:ea typeface="Arial" panose="020B0604020202020204" pitchFamily="34" charset="0"/>
                        <a:cs typeface="Arial" panose="020B0604020202020204" pitchFamily="34" charset="0"/>
                      </a:endParaRPr>
                    </a:p>
                  </a:txBody>
                  <a:tcPr marL="0" marR="0" marT="0" marB="0" anchor="t">
                    <a:lnL w="0" cap="flat" cmpd="sng" algn="ctr">
                      <a:noFill/>
                    </a:lnL>
                    <a:lnR w="0" cap="flat" cmpd="sng" algn="ctr">
                      <a:noFill/>
                    </a:lnR>
                    <a:lnT w="0" cap="flat" cmpd="sng" algn="ctr">
                      <a:noFill/>
                    </a:lnT>
                    <a:lnB w="0" cap="flat" cmpd="sng" algn="ctr">
                      <a:noFill/>
                    </a:lnB>
                    <a:solidFill>
                      <a:srgbClr val="EAF5FF"/>
                    </a:solidFill>
                  </a:tcPr>
                </a:tc>
                <a:tc>
                  <a:txBody>
                    <a:bodyPr/>
                    <a:lstStyle/>
                    <a:p>
                      <a:pPr marL="0" indent="0" algn="ctr">
                        <a:buNone/>
                      </a:pPr>
                      <a:endParaRPr lang="en-US" sz="600" dirty="0">
                        <a:latin typeface="Arial" panose="020B0604020202020204" pitchFamily="34" charset="0"/>
                        <a:ea typeface="Arial" panose="020B0604020202020204" pitchFamily="34" charset="0"/>
                        <a:cs typeface="Arial" panose="020B0604020202020204" pitchFamily="34" charset="0"/>
                      </a:endParaRPr>
                    </a:p>
                  </a:txBody>
                  <a:tcPr marL="0" marR="0" marT="0" marB="0" anchor="t">
                    <a:lnL w="0" cap="flat" cmpd="sng" algn="ctr">
                      <a:noFill/>
                    </a:lnL>
                    <a:lnR w="0" cap="flat" cmpd="sng" algn="ctr">
                      <a:noFill/>
                    </a:lnR>
                    <a:lnT w="0" cap="flat" cmpd="sng" algn="ctr">
                      <a:noFill/>
                    </a:lnT>
                    <a:lnB w="0" cap="flat" cmpd="sng" algn="ctr">
                      <a:noFill/>
                    </a:lnB>
                    <a:solidFill>
                      <a:srgbClr val="EAF5FF"/>
                    </a:solidFill>
                  </a:tcPr>
                </a:tc>
                <a:tc>
                  <a:txBody>
                    <a:bodyPr/>
                    <a:lstStyle/>
                    <a:p>
                      <a:pPr marL="0" indent="0" algn="ctr">
                        <a:buNone/>
                      </a:pPr>
                      <a:endParaRPr lang="en-US" sz="600" dirty="0">
                        <a:latin typeface="Arial" panose="020B0604020202020204" pitchFamily="34" charset="0"/>
                        <a:ea typeface="Arial" panose="020B0604020202020204" pitchFamily="34" charset="0"/>
                        <a:cs typeface="Arial" panose="020B0604020202020204" pitchFamily="34" charset="0"/>
                      </a:endParaRPr>
                    </a:p>
                  </a:txBody>
                  <a:tcPr marL="0" marR="0" marT="0" marB="0" anchor="t">
                    <a:lnL w="0" cap="flat" cmpd="sng" algn="ctr">
                      <a:noFill/>
                    </a:lnL>
                    <a:lnR w="0" cap="flat" cmpd="sng" algn="ctr">
                      <a:noFill/>
                    </a:lnR>
                    <a:lnT w="0" cap="flat" cmpd="sng" algn="ctr">
                      <a:noFill/>
                    </a:lnT>
                    <a:lnB w="0" cap="flat" cmpd="sng" algn="ctr">
                      <a:noFill/>
                    </a:lnB>
                    <a:solidFill>
                      <a:srgbClr val="EAF5FF"/>
                    </a:solidFill>
                  </a:tcPr>
                </a:tc>
                <a:tc>
                  <a:txBody>
                    <a:bodyPr/>
                    <a:lstStyle/>
                    <a:p>
                      <a:pPr marL="0" indent="0" algn="ctr">
                        <a:buNone/>
                      </a:pPr>
                      <a:endParaRPr lang="en-US" sz="600" dirty="0">
                        <a:latin typeface="Arial" panose="020B0604020202020204" pitchFamily="34" charset="0"/>
                        <a:ea typeface="Arial" panose="020B0604020202020204" pitchFamily="34" charset="0"/>
                        <a:cs typeface="Arial" panose="020B0604020202020204" pitchFamily="34" charset="0"/>
                      </a:endParaRPr>
                    </a:p>
                  </a:txBody>
                  <a:tcPr marL="0" marR="0" marT="0" marB="0" anchor="t">
                    <a:lnL w="0" cap="flat" cmpd="sng" algn="ctr">
                      <a:noFill/>
                    </a:lnL>
                    <a:lnR w="0" cap="flat" cmpd="sng" algn="ctr">
                      <a:noFill/>
                    </a:lnR>
                    <a:lnT w="0" cap="flat" cmpd="sng" algn="ctr">
                      <a:noFill/>
                    </a:lnT>
                    <a:lnB w="0" cap="flat" cmpd="sng" algn="ctr">
                      <a:noFill/>
                    </a:lnB>
                    <a:solidFill>
                      <a:srgbClr val="EAF5FF"/>
                    </a:solidFill>
                  </a:tcPr>
                </a:tc>
              </a:tr>
              <a:tr h="271463">
                <a:tc>
                  <a:txBody>
                    <a:bodyPr/>
                    <a:lstStyle/>
                    <a:p>
                      <a:pPr marL="0" indent="0" algn="l">
                        <a:buNone/>
                      </a:pPr>
                      <a:r>
                        <a:rPr lang="en-US" sz="600" b="1" dirty="0">
                          <a:solidFill>
                            <a:srgbClr val="1F2A37"/>
                          </a:solidFill>
                          <a:latin typeface="Arial" panose="020B0604020202020204" pitchFamily="34" charset="0"/>
                          <a:ea typeface="Arial" panose="020B0604020202020204" pitchFamily="34" charset="-122"/>
                          <a:cs typeface="Arial" panose="020B0604020202020204" pitchFamily="34" charset="-120"/>
                        </a:rPr>
                        <a:t>统计看板</a:t>
                      </a:r>
                      <a:endParaRPr lang="en-US" sz="600" dirty="0">
                        <a:latin typeface="Arial" panose="020B0604020202020204" pitchFamily="34" charset="0"/>
                        <a:ea typeface="Arial" panose="020B0604020202020204" pitchFamily="34" charset="0"/>
                        <a:cs typeface="Arial" panose="020B0604020202020204" pitchFamily="34" charset="0"/>
                      </a:endParaRPr>
                    </a:p>
                  </a:txBody>
                  <a:tcPr marL="0" marR="0" marT="0" marB="0" anchor="t">
                    <a:lnL w="0" cap="flat" cmpd="sng" algn="ctr">
                      <a:noFill/>
                    </a:lnL>
                    <a:lnR w="0" cap="flat" cmpd="sng" algn="ctr">
                      <a:noFill/>
                    </a:lnR>
                    <a:lnT w="0" cap="flat" cmpd="sng" algn="ctr">
                      <a:noFill/>
                    </a:lnT>
                    <a:lnB w="0" cap="flat" cmpd="sng" algn="ctr">
                      <a:noFill/>
                    </a:lnB>
                  </a:tcPr>
                </a:tc>
                <a:tc>
                  <a:txBody>
                    <a:bodyPr/>
                    <a:lstStyle/>
                    <a:p>
                      <a:pPr marL="0" indent="0" algn="ctr">
                        <a:buNone/>
                      </a:pPr>
                      <a:endParaRPr lang="en-US" sz="600" dirty="0">
                        <a:latin typeface="Arial" panose="020B0604020202020204" pitchFamily="34" charset="0"/>
                        <a:ea typeface="Arial" panose="020B0604020202020204" pitchFamily="34" charset="0"/>
                        <a:cs typeface="Arial" panose="020B0604020202020204" pitchFamily="34" charset="0"/>
                      </a:endParaRPr>
                    </a:p>
                  </a:txBody>
                  <a:tcPr marL="0" marR="0" marT="0" marB="0" anchor="t">
                    <a:lnL w="0" cap="flat" cmpd="sng" algn="ctr">
                      <a:noFill/>
                    </a:lnL>
                    <a:lnR w="0" cap="flat" cmpd="sng" algn="ctr">
                      <a:noFill/>
                    </a:lnR>
                    <a:lnT w="0" cap="flat" cmpd="sng" algn="ctr">
                      <a:noFill/>
                    </a:lnT>
                    <a:lnB w="0" cap="flat" cmpd="sng" algn="ctr">
                      <a:noFill/>
                    </a:lnB>
                    <a:solidFill>
                      <a:srgbClr val="EAF5FF"/>
                    </a:solidFill>
                  </a:tcPr>
                </a:tc>
                <a:tc>
                  <a:txBody>
                    <a:bodyPr/>
                    <a:lstStyle/>
                    <a:p>
                      <a:pPr marL="0" indent="0" algn="ctr">
                        <a:buNone/>
                      </a:pPr>
                      <a:endParaRPr lang="en-US" sz="600" dirty="0">
                        <a:latin typeface="Arial" panose="020B0604020202020204" pitchFamily="34" charset="0"/>
                        <a:ea typeface="Arial" panose="020B0604020202020204" pitchFamily="34" charset="0"/>
                        <a:cs typeface="Arial" panose="020B0604020202020204" pitchFamily="34" charset="0"/>
                      </a:endParaRPr>
                    </a:p>
                  </a:txBody>
                  <a:tcPr marL="0" marR="0" marT="0" marB="0" anchor="t">
                    <a:lnL w="0" cap="flat" cmpd="sng" algn="ctr">
                      <a:noFill/>
                    </a:lnL>
                    <a:lnR w="0" cap="flat" cmpd="sng" algn="ctr">
                      <a:noFill/>
                    </a:lnR>
                    <a:lnT w="0" cap="flat" cmpd="sng" algn="ctr">
                      <a:noFill/>
                    </a:lnT>
                    <a:lnB w="0" cap="flat" cmpd="sng" algn="ctr">
                      <a:noFill/>
                    </a:lnB>
                    <a:solidFill>
                      <a:srgbClr val="EAF5FF"/>
                    </a:solidFill>
                  </a:tcPr>
                </a:tc>
                <a:tc>
                  <a:txBody>
                    <a:bodyPr/>
                    <a:lstStyle/>
                    <a:p>
                      <a:pPr marL="0" indent="0" algn="ctr">
                        <a:buNone/>
                      </a:pPr>
                      <a:endParaRPr lang="en-US" sz="600" dirty="0">
                        <a:latin typeface="Arial" panose="020B0604020202020204" pitchFamily="34" charset="0"/>
                        <a:ea typeface="Arial" panose="020B0604020202020204" pitchFamily="34" charset="0"/>
                        <a:cs typeface="Arial" panose="020B0604020202020204" pitchFamily="34" charset="0"/>
                      </a:endParaRPr>
                    </a:p>
                  </a:txBody>
                  <a:tcPr marL="0" marR="0" marT="0" marB="0" anchor="t">
                    <a:lnL w="0" cap="flat" cmpd="sng" algn="ctr">
                      <a:noFill/>
                    </a:lnL>
                    <a:lnR w="0" cap="flat" cmpd="sng" algn="ctr">
                      <a:noFill/>
                    </a:lnR>
                    <a:lnT w="0" cap="flat" cmpd="sng" algn="ctr">
                      <a:noFill/>
                    </a:lnT>
                    <a:lnB w="0" cap="flat" cmpd="sng" algn="ctr">
                      <a:noFill/>
                    </a:lnB>
                    <a:solidFill>
                      <a:srgbClr val="EAF5FF"/>
                    </a:solidFill>
                  </a:tcPr>
                </a:tc>
                <a:tc>
                  <a:txBody>
                    <a:bodyPr/>
                    <a:lstStyle/>
                    <a:p>
                      <a:pPr marL="0" indent="0" algn="ctr">
                        <a:buNone/>
                      </a:pPr>
                      <a:endParaRPr lang="en-US" sz="600" dirty="0">
                        <a:latin typeface="Arial" panose="020B0604020202020204" pitchFamily="34" charset="0"/>
                        <a:ea typeface="Arial" panose="020B0604020202020204" pitchFamily="34" charset="0"/>
                        <a:cs typeface="Arial" panose="020B0604020202020204" pitchFamily="34" charset="0"/>
                      </a:endParaRPr>
                    </a:p>
                  </a:txBody>
                  <a:tcPr marL="0" marR="0" marT="0" marB="0" anchor="t">
                    <a:lnL w="0" cap="flat" cmpd="sng" algn="ctr">
                      <a:noFill/>
                    </a:lnL>
                    <a:lnR w="0" cap="flat" cmpd="sng" algn="ctr">
                      <a:noFill/>
                    </a:lnR>
                    <a:lnT w="0" cap="flat" cmpd="sng" algn="ctr">
                      <a:noFill/>
                    </a:lnT>
                    <a:lnB w="0" cap="flat" cmpd="sng" algn="ctr">
                      <a:noFill/>
                    </a:lnB>
                    <a:solidFill>
                      <a:srgbClr val="EAF5FF"/>
                    </a:solidFill>
                  </a:tcPr>
                </a:tc>
                <a:tc>
                  <a:txBody>
                    <a:bodyPr/>
                    <a:lstStyle/>
                    <a:p>
                      <a:pPr marL="0" indent="0" algn="ctr">
                        <a:buNone/>
                      </a:pPr>
                      <a:endParaRPr lang="en-US" sz="600" dirty="0">
                        <a:latin typeface="Arial" panose="020B0604020202020204" pitchFamily="34" charset="0"/>
                        <a:ea typeface="Arial" panose="020B0604020202020204" pitchFamily="34" charset="0"/>
                        <a:cs typeface="Arial" panose="020B0604020202020204" pitchFamily="34" charset="0"/>
                      </a:endParaRPr>
                    </a:p>
                  </a:txBody>
                  <a:tcPr marL="0" marR="0" marT="0" marB="0" anchor="t">
                    <a:lnL w="0" cap="flat" cmpd="sng" algn="ctr">
                      <a:noFill/>
                    </a:lnL>
                    <a:lnR w="0" cap="flat" cmpd="sng" algn="ctr">
                      <a:noFill/>
                    </a:lnR>
                    <a:lnT w="0" cap="flat" cmpd="sng" algn="ctr">
                      <a:noFill/>
                    </a:lnT>
                    <a:lnB w="0" cap="flat" cmpd="sng" algn="ctr">
                      <a:noFill/>
                    </a:lnB>
                    <a:solidFill>
                      <a:srgbClr val="EAF5FF"/>
                    </a:solidFill>
                  </a:tcPr>
                </a:tc>
              </a:tr>
              <a:tr h="271463">
                <a:tc>
                  <a:txBody>
                    <a:bodyPr/>
                    <a:lstStyle/>
                    <a:p>
                      <a:pPr marL="0" indent="0" algn="l">
                        <a:buNone/>
                      </a:pPr>
                      <a:r>
                        <a:rPr lang="en-US" sz="600" b="1" dirty="0">
                          <a:solidFill>
                            <a:srgbClr val="1F2A37"/>
                          </a:solidFill>
                          <a:latin typeface="Arial" panose="020B0604020202020204" pitchFamily="34" charset="0"/>
                          <a:ea typeface="Arial" panose="020B0604020202020204" pitchFamily="34" charset="-122"/>
                          <a:cs typeface="Arial" panose="020B0604020202020204" pitchFamily="34" charset="-120"/>
                        </a:rPr>
                        <a:t>公开库查询</a:t>
                      </a:r>
                      <a:endParaRPr lang="en-US" sz="600" dirty="0">
                        <a:latin typeface="Arial" panose="020B0604020202020204" pitchFamily="34" charset="0"/>
                        <a:ea typeface="Arial" panose="020B0604020202020204" pitchFamily="34" charset="0"/>
                        <a:cs typeface="Arial" panose="020B0604020202020204" pitchFamily="34" charset="0"/>
                      </a:endParaRPr>
                    </a:p>
                  </a:txBody>
                  <a:tcPr marL="0" marR="0" marT="0" marB="0" anchor="t">
                    <a:lnL w="0" cap="flat" cmpd="sng" algn="ctr">
                      <a:noFill/>
                    </a:lnL>
                    <a:lnR w="0" cap="flat" cmpd="sng" algn="ctr">
                      <a:noFill/>
                    </a:lnR>
                    <a:lnT w="0" cap="flat" cmpd="sng" algn="ctr">
                      <a:noFill/>
                    </a:lnT>
                    <a:lnB w="0" cap="flat" cmpd="sng" algn="ctr">
                      <a:noFill/>
                    </a:lnB>
                  </a:tcPr>
                </a:tc>
                <a:tc>
                  <a:txBody>
                    <a:bodyPr/>
                    <a:lstStyle/>
                    <a:p>
                      <a:pPr marL="0" indent="0" algn="ctr">
                        <a:buNone/>
                      </a:pPr>
                      <a:endParaRPr lang="en-US" sz="600" dirty="0">
                        <a:latin typeface="Arial" panose="020B0604020202020204" pitchFamily="34" charset="0"/>
                        <a:ea typeface="Arial" panose="020B0604020202020204" pitchFamily="34" charset="0"/>
                        <a:cs typeface="Arial" panose="020B0604020202020204" pitchFamily="34" charset="0"/>
                      </a:endParaRPr>
                    </a:p>
                  </a:txBody>
                  <a:tcPr marL="0" marR="0" marT="0" marB="0" anchor="t">
                    <a:lnL w="0" cap="flat" cmpd="sng" algn="ctr">
                      <a:noFill/>
                    </a:lnL>
                    <a:lnR w="0" cap="flat" cmpd="sng" algn="ctr">
                      <a:noFill/>
                    </a:lnR>
                    <a:lnT w="0" cap="flat" cmpd="sng" algn="ctr">
                      <a:noFill/>
                    </a:lnT>
                    <a:lnB w="0" cap="flat" cmpd="sng" algn="ctr">
                      <a:noFill/>
                    </a:lnB>
                    <a:solidFill>
                      <a:srgbClr val="EAF5FF"/>
                    </a:solidFill>
                  </a:tcPr>
                </a:tc>
                <a:tc>
                  <a:txBody>
                    <a:bodyPr/>
                    <a:lstStyle/>
                    <a:p>
                      <a:pPr marL="0" indent="0" algn="ctr">
                        <a:buNone/>
                      </a:pPr>
                      <a:endParaRPr lang="en-US" sz="600" dirty="0">
                        <a:latin typeface="Arial" panose="020B0604020202020204" pitchFamily="34" charset="0"/>
                        <a:ea typeface="Arial" panose="020B0604020202020204" pitchFamily="34" charset="0"/>
                        <a:cs typeface="Arial" panose="020B0604020202020204" pitchFamily="34" charset="0"/>
                      </a:endParaRPr>
                    </a:p>
                  </a:txBody>
                  <a:tcPr marL="0" marR="0" marT="0" marB="0" anchor="t">
                    <a:lnL w="0" cap="flat" cmpd="sng" algn="ctr">
                      <a:noFill/>
                    </a:lnL>
                    <a:lnR w="0" cap="flat" cmpd="sng" algn="ctr">
                      <a:noFill/>
                    </a:lnR>
                    <a:lnT w="0" cap="flat" cmpd="sng" algn="ctr">
                      <a:noFill/>
                    </a:lnT>
                    <a:lnB w="0" cap="flat" cmpd="sng" algn="ctr">
                      <a:noFill/>
                    </a:lnB>
                    <a:solidFill>
                      <a:srgbClr val="EAF5FF"/>
                    </a:solidFill>
                  </a:tcPr>
                </a:tc>
                <a:tc>
                  <a:txBody>
                    <a:bodyPr/>
                    <a:lstStyle/>
                    <a:p>
                      <a:pPr marL="0" indent="0" algn="ctr">
                        <a:buNone/>
                      </a:pPr>
                      <a:endParaRPr lang="en-US" sz="600" dirty="0">
                        <a:latin typeface="Arial" panose="020B0604020202020204" pitchFamily="34" charset="0"/>
                        <a:ea typeface="Arial" panose="020B0604020202020204" pitchFamily="34" charset="0"/>
                        <a:cs typeface="Arial" panose="020B0604020202020204" pitchFamily="34" charset="0"/>
                      </a:endParaRPr>
                    </a:p>
                  </a:txBody>
                  <a:tcPr marL="0" marR="0" marT="0" marB="0" anchor="t">
                    <a:lnL w="0" cap="flat" cmpd="sng" algn="ctr">
                      <a:noFill/>
                    </a:lnL>
                    <a:lnR w="0" cap="flat" cmpd="sng" algn="ctr">
                      <a:noFill/>
                    </a:lnR>
                    <a:lnT w="0" cap="flat" cmpd="sng" algn="ctr">
                      <a:noFill/>
                    </a:lnT>
                    <a:lnB w="0" cap="flat" cmpd="sng" algn="ctr">
                      <a:noFill/>
                    </a:lnB>
                    <a:solidFill>
                      <a:srgbClr val="EAF5FF"/>
                    </a:solidFill>
                  </a:tcPr>
                </a:tc>
                <a:tc>
                  <a:txBody>
                    <a:bodyPr/>
                    <a:lstStyle/>
                    <a:p>
                      <a:pPr marL="0" indent="0" algn="ctr">
                        <a:buNone/>
                      </a:pPr>
                      <a:endParaRPr lang="en-US" sz="600" dirty="0">
                        <a:latin typeface="Arial" panose="020B0604020202020204" pitchFamily="34" charset="0"/>
                        <a:ea typeface="Arial" panose="020B0604020202020204" pitchFamily="34" charset="0"/>
                        <a:cs typeface="Arial" panose="020B0604020202020204" pitchFamily="34" charset="0"/>
                      </a:endParaRPr>
                    </a:p>
                  </a:txBody>
                  <a:tcPr marL="0" marR="0" marT="0" marB="0" anchor="t">
                    <a:lnL w="0" cap="flat" cmpd="sng" algn="ctr">
                      <a:noFill/>
                    </a:lnL>
                    <a:lnR w="0" cap="flat" cmpd="sng" algn="ctr">
                      <a:noFill/>
                    </a:lnR>
                    <a:lnT w="0" cap="flat" cmpd="sng" algn="ctr">
                      <a:noFill/>
                    </a:lnT>
                    <a:lnB w="0" cap="flat" cmpd="sng" algn="ctr">
                      <a:noFill/>
                    </a:lnB>
                    <a:solidFill>
                      <a:srgbClr val="EAF5FF"/>
                    </a:solidFill>
                  </a:tcPr>
                </a:tc>
                <a:tc>
                  <a:txBody>
                    <a:bodyPr/>
                    <a:lstStyle/>
                    <a:p>
                      <a:pPr marL="0" indent="0" algn="ctr">
                        <a:buNone/>
                      </a:pPr>
                      <a:endParaRPr lang="en-US" sz="600" dirty="0">
                        <a:latin typeface="Arial" panose="020B0604020202020204" pitchFamily="34" charset="0"/>
                        <a:ea typeface="Arial" panose="020B0604020202020204" pitchFamily="34" charset="0"/>
                        <a:cs typeface="Arial" panose="020B0604020202020204" pitchFamily="34" charset="0"/>
                      </a:endParaRPr>
                    </a:p>
                  </a:txBody>
                  <a:tcPr marL="0" marR="0" marT="0" marB="0" anchor="t">
                    <a:lnL w="0" cap="flat" cmpd="sng" algn="ctr">
                      <a:noFill/>
                    </a:lnL>
                    <a:lnR w="0" cap="flat" cmpd="sng" algn="ctr">
                      <a:noFill/>
                    </a:lnR>
                    <a:lnT w="0" cap="flat" cmpd="sng" algn="ctr">
                      <a:noFill/>
                    </a:lnT>
                    <a:lnB w="0" cap="flat" cmpd="sng" algn="ctr">
                      <a:noFill/>
                    </a:lnB>
                    <a:solidFill>
                      <a:srgbClr val="EAF5FF"/>
                    </a:solidFill>
                  </a:tcPr>
                </a:tc>
              </a:tr>
              <a:tr h="271463">
                <a:tc>
                  <a:txBody>
                    <a:bodyPr/>
                    <a:lstStyle/>
                    <a:p>
                      <a:pPr marL="0" indent="0" algn="l">
                        <a:buNone/>
                      </a:pPr>
                      <a:r>
                        <a:rPr lang="en-US" sz="600" b="1" dirty="0">
                          <a:solidFill>
                            <a:srgbClr val="1F2A37"/>
                          </a:solidFill>
                          <a:latin typeface="Arial" panose="020B0604020202020204" pitchFamily="34" charset="0"/>
                          <a:ea typeface="Arial" panose="020B0604020202020204" pitchFamily="34" charset="-122"/>
                          <a:cs typeface="Arial" panose="020B0604020202020204" pitchFamily="34" charset="-120"/>
                        </a:rPr>
                        <a:t>私有文档查询</a:t>
                      </a:r>
                      <a:endParaRPr lang="en-US" sz="600" dirty="0">
                        <a:latin typeface="Arial" panose="020B0604020202020204" pitchFamily="34" charset="0"/>
                        <a:ea typeface="Arial" panose="020B0604020202020204" pitchFamily="34" charset="0"/>
                        <a:cs typeface="Arial" panose="020B0604020202020204" pitchFamily="34" charset="0"/>
                      </a:endParaRPr>
                    </a:p>
                  </a:txBody>
                  <a:tcPr marL="0" marR="0" marT="0" marB="0" anchor="t">
                    <a:lnL w="0" cap="flat" cmpd="sng" algn="ctr">
                      <a:noFill/>
                    </a:lnL>
                    <a:lnR w="0" cap="flat" cmpd="sng" algn="ctr">
                      <a:noFill/>
                    </a:lnR>
                    <a:lnT w="0" cap="flat" cmpd="sng" algn="ctr">
                      <a:noFill/>
                    </a:lnT>
                    <a:lnB w="0" cap="flat" cmpd="sng" algn="ctr">
                      <a:noFill/>
                    </a:lnB>
                  </a:tcPr>
                </a:tc>
                <a:tc>
                  <a:txBody>
                    <a:bodyPr/>
                    <a:lstStyle/>
                    <a:p>
                      <a:pPr marL="0" indent="0" algn="ctr">
                        <a:buNone/>
                      </a:pPr>
                      <a:endParaRPr lang="en-US" sz="600" dirty="0">
                        <a:latin typeface="Arial" panose="020B0604020202020204" pitchFamily="34" charset="0"/>
                        <a:ea typeface="Arial" panose="020B0604020202020204" pitchFamily="34" charset="0"/>
                        <a:cs typeface="Arial" panose="020B0604020202020204" pitchFamily="34" charset="0"/>
                      </a:endParaRPr>
                    </a:p>
                  </a:txBody>
                  <a:tcPr marL="0" marR="0" marT="0" marB="0" anchor="t">
                    <a:lnL w="0" cap="flat" cmpd="sng" algn="ctr">
                      <a:noFill/>
                    </a:lnL>
                    <a:lnR w="0" cap="flat" cmpd="sng" algn="ctr">
                      <a:noFill/>
                    </a:lnR>
                    <a:lnT w="0" cap="flat" cmpd="sng" algn="ctr">
                      <a:noFill/>
                    </a:lnT>
                    <a:lnB w="0" cap="flat" cmpd="sng" algn="ctr">
                      <a:noFill/>
                    </a:lnB>
                    <a:solidFill>
                      <a:srgbClr val="EAF5FF"/>
                    </a:solidFill>
                  </a:tcPr>
                </a:tc>
                <a:tc>
                  <a:txBody>
                    <a:bodyPr/>
                    <a:lstStyle/>
                    <a:p>
                      <a:pPr marL="0" indent="0" algn="ctr">
                        <a:buNone/>
                      </a:pPr>
                      <a:endParaRPr lang="en-US" sz="600" dirty="0">
                        <a:latin typeface="Arial" panose="020B0604020202020204" pitchFamily="34" charset="0"/>
                        <a:ea typeface="Arial" panose="020B0604020202020204" pitchFamily="34" charset="0"/>
                        <a:cs typeface="Arial" panose="020B0604020202020204" pitchFamily="34" charset="0"/>
                      </a:endParaRPr>
                    </a:p>
                  </a:txBody>
                  <a:tcPr marL="0" marR="0" marT="0" marB="0" anchor="t">
                    <a:lnL w="0" cap="flat" cmpd="sng" algn="ctr">
                      <a:noFill/>
                    </a:lnL>
                    <a:lnR w="0" cap="flat" cmpd="sng" algn="ctr">
                      <a:noFill/>
                    </a:lnR>
                    <a:lnT w="0" cap="flat" cmpd="sng" algn="ctr">
                      <a:noFill/>
                    </a:lnT>
                    <a:lnB w="0" cap="flat" cmpd="sng" algn="ctr">
                      <a:noFill/>
                    </a:lnB>
                    <a:solidFill>
                      <a:srgbClr val="EAF5FF"/>
                    </a:solidFill>
                  </a:tcPr>
                </a:tc>
                <a:tc>
                  <a:txBody>
                    <a:bodyPr/>
                    <a:lstStyle/>
                    <a:p>
                      <a:pPr marL="0" indent="0" algn="ctr">
                        <a:buNone/>
                      </a:pPr>
                      <a:endParaRPr lang="en-US" sz="600" dirty="0">
                        <a:latin typeface="Arial" panose="020B0604020202020204" pitchFamily="34" charset="0"/>
                        <a:ea typeface="Arial" panose="020B0604020202020204" pitchFamily="34" charset="0"/>
                        <a:cs typeface="Arial" panose="020B0604020202020204" pitchFamily="34" charset="0"/>
                      </a:endParaRPr>
                    </a:p>
                  </a:txBody>
                  <a:tcPr marL="0" marR="0" marT="0" marB="0" anchor="t">
                    <a:lnL w="0" cap="flat" cmpd="sng" algn="ctr">
                      <a:noFill/>
                    </a:lnL>
                    <a:lnR w="0" cap="flat" cmpd="sng" algn="ctr">
                      <a:noFill/>
                    </a:lnR>
                    <a:lnT w="0" cap="flat" cmpd="sng" algn="ctr">
                      <a:noFill/>
                    </a:lnT>
                    <a:lnB w="0" cap="flat" cmpd="sng" algn="ctr">
                      <a:noFill/>
                    </a:lnB>
                    <a:solidFill>
                      <a:srgbClr val="EAF5FF"/>
                    </a:solidFill>
                  </a:tcPr>
                </a:tc>
                <a:tc>
                  <a:txBody>
                    <a:bodyPr/>
                    <a:lstStyle/>
                    <a:p>
                      <a:pPr marL="0" indent="0" algn="ctr">
                        <a:buNone/>
                      </a:pPr>
                      <a:endParaRPr lang="en-US" sz="600" dirty="0">
                        <a:latin typeface="Arial" panose="020B0604020202020204" pitchFamily="34" charset="0"/>
                        <a:ea typeface="Arial" panose="020B0604020202020204" pitchFamily="34" charset="0"/>
                        <a:cs typeface="Arial" panose="020B0604020202020204" pitchFamily="34" charset="0"/>
                      </a:endParaRPr>
                    </a:p>
                  </a:txBody>
                  <a:tcPr marL="0" marR="0" marT="0" marB="0" anchor="t">
                    <a:lnL w="0" cap="flat" cmpd="sng" algn="ctr">
                      <a:noFill/>
                    </a:lnL>
                    <a:lnR w="0" cap="flat" cmpd="sng" algn="ctr">
                      <a:noFill/>
                    </a:lnR>
                    <a:lnT w="0" cap="flat" cmpd="sng" algn="ctr">
                      <a:noFill/>
                    </a:lnT>
                    <a:lnB w="0" cap="flat" cmpd="sng" algn="ctr">
                      <a:noFill/>
                    </a:lnB>
                    <a:solidFill>
                      <a:srgbClr val="EAF5FF"/>
                    </a:solidFill>
                  </a:tcPr>
                </a:tc>
                <a:tc>
                  <a:txBody>
                    <a:bodyPr/>
                    <a:lstStyle/>
                    <a:p>
                      <a:pPr marL="0" indent="0" algn="ctr">
                        <a:buNone/>
                      </a:pPr>
                      <a:endParaRPr lang="en-US" sz="600" dirty="0">
                        <a:latin typeface="Arial" panose="020B0604020202020204" pitchFamily="34" charset="0"/>
                        <a:ea typeface="Arial" panose="020B0604020202020204" pitchFamily="34" charset="0"/>
                        <a:cs typeface="Arial" panose="020B0604020202020204" pitchFamily="34" charset="0"/>
                      </a:endParaRPr>
                    </a:p>
                  </a:txBody>
                  <a:tcPr marL="0" marR="0" marT="0" marB="0" anchor="t">
                    <a:lnL w="0" cap="flat" cmpd="sng" algn="ctr">
                      <a:noFill/>
                    </a:lnL>
                    <a:lnR w="0" cap="flat" cmpd="sng" algn="ctr">
                      <a:noFill/>
                    </a:lnR>
                    <a:lnT w="0" cap="flat" cmpd="sng" algn="ctr">
                      <a:noFill/>
                    </a:lnT>
                    <a:lnB w="0" cap="flat" cmpd="sng" algn="ctr">
                      <a:noFill/>
                    </a:lnB>
                    <a:solidFill>
                      <a:srgbClr val="EAF5FF"/>
                    </a:solidFill>
                  </a:tcPr>
                </a:tc>
              </a:tr>
            </a:tbl>
          </a:graphicData>
        </a:graphic>
      </p:graphicFrame>
      <p:sp>
        <p:nvSpPr>
          <p:cNvPr id="107" name="Shape 103"/>
          <p:cNvSpPr/>
          <p:nvPr/>
        </p:nvSpPr>
        <p:spPr>
          <a:xfrm>
            <a:off x="6436519" y="4081760"/>
            <a:ext cx="2271713" cy="625971"/>
          </a:xfrm>
          <a:prstGeom prst="roundRect">
            <a:avLst>
              <a:gd name="adj" fmla="val 9130"/>
            </a:avLst>
          </a:prstGeom>
          <a:solidFill>
            <a:srgbClr val="F8FAFC"/>
          </a:solidFill>
          <a:ln w="6350">
            <a:solidFill>
              <a:srgbClr val="E2E8F0"/>
            </a:solidFill>
            <a:prstDash val="dash"/>
          </a:ln>
        </p:spPr>
      </p:sp>
      <p:sp>
        <p:nvSpPr>
          <p:cNvPr id="108" name="Text 104"/>
          <p:cNvSpPr/>
          <p:nvPr/>
        </p:nvSpPr>
        <p:spPr>
          <a:xfrm>
            <a:off x="6557963" y="4231779"/>
            <a:ext cx="114300" cy="114300"/>
          </a:xfrm>
          <a:prstGeom prst="rect">
            <a:avLst/>
          </a:prstGeom>
          <a:noFill/>
        </p:spPr>
        <p:txBody>
          <a:bodyPr wrap="none" lIns="0" tIns="0" rIns="0" bIns="0" rtlCol="0" anchor="t"/>
          <a:lstStyle/>
          <a:p>
            <a:pPr marL="0" indent="0">
              <a:lnSpc>
                <a:spcPct val="100000"/>
              </a:lnSpc>
              <a:buNone/>
            </a:pPr>
            <a:r>
              <a:rPr lang="en-US" sz="900" dirty="0">
                <a:solidFill>
                  <a:srgbClr val="60A5FA"/>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900" dirty="0"/>
          </a:p>
        </p:txBody>
      </p:sp>
      <p:sp>
        <p:nvSpPr>
          <p:cNvPr id="109" name="Text 105"/>
          <p:cNvSpPr/>
          <p:nvPr/>
        </p:nvSpPr>
        <p:spPr>
          <a:xfrm>
            <a:off x="6757988" y="4203204"/>
            <a:ext cx="1828800" cy="383084"/>
          </a:xfrm>
          <a:prstGeom prst="rect">
            <a:avLst/>
          </a:prstGeom>
          <a:noFill/>
        </p:spPr>
        <p:txBody>
          <a:bodyPr wrap="square" lIns="0" tIns="0" rIns="0" bIns="0" rtlCol="0" anchor="t"/>
          <a:lstStyle/>
          <a:p>
            <a:pPr marL="0" indent="0">
              <a:lnSpc>
                <a:spcPct val="163000"/>
              </a:lnSpc>
              <a:buNone/>
            </a:pPr>
            <a:r>
              <a:rPr lang="zh-CN" sz="600" dirty="0">
                <a:solidFill>
                  <a:srgbClr val="64748B"/>
                </a:solidFill>
                <a:latin typeface="Arial" panose="020B0604020202020204" pitchFamily="34" charset="0"/>
                <a:ea typeface="微软雅黑" panose="020B0503020204020204" pitchFamily="34" charset="-122"/>
              </a:rPr>
              <a:t>注：权限隔离基于 </a:t>
            </a:r>
            <a:r>
              <a:rPr lang="en-US" sz="600" dirty="0">
                <a:solidFill>
                  <a:srgbClr val="64748B"/>
                </a:solidFill>
                <a:latin typeface="Arial" panose="020B0604020202020204" pitchFamily="34" charset="0"/>
              </a:rPr>
              <a:t>RBAC (</a:t>
            </a:r>
            <a:r>
              <a:rPr lang="zh-CN" sz="600" dirty="0">
                <a:solidFill>
                  <a:srgbClr val="64748B"/>
                </a:solidFill>
                <a:latin typeface="Arial" panose="020B0604020202020204" pitchFamily="34" charset="0"/>
                <a:ea typeface="微软雅黑" panose="020B0503020204020204" pitchFamily="34" charset="-122"/>
              </a:rPr>
              <a:t>基于角色的访问控制</a:t>
            </a:r>
            <a:r>
              <a:rPr lang="en-US" sz="600" dirty="0">
                <a:solidFill>
                  <a:srgbClr val="64748B"/>
                </a:solidFill>
                <a:latin typeface="Arial" panose="020B0604020202020204" pitchFamily="34" charset="0"/>
              </a:rPr>
              <a:t>) </a:t>
            </a:r>
            <a:r>
              <a:rPr lang="zh-CN" sz="600" dirty="0">
                <a:solidFill>
                  <a:srgbClr val="64748B"/>
                </a:solidFill>
                <a:latin typeface="Arial" panose="020B0604020202020204" pitchFamily="34" charset="0"/>
                <a:ea typeface="微软雅黑" panose="020B0503020204020204" pitchFamily="34" charset="-122"/>
              </a:rPr>
              <a:t>模型，确保临床核心敏感文档仅供授权医疗专业人员访问，保障医疗数据合规性与安全性。</a:t>
            </a:r>
            <a:endParaRPr lang="en-US" sz="600" dirty="0"/>
          </a:p>
        </p:txBody>
      </p:sp>
    </p:spTree>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grpSp>
        <p:nvGrpSpPr>
          <p:cNvPr id="54" name="h2p-grp-h2p-animroot-1"/>
          <p:cNvGrpSpPr/>
          <p:nvPr/>
        </p:nvGrpSpPr>
        <p:grpSpPr>
          <a:xfrm>
            <a:off x="342900" y="342900"/>
            <a:ext cx="8458200" cy="742950"/>
            <a:chOff x="0" y="0"/>
            <a:chExt cx="8458200" cy="742950"/>
          </a:xfrm>
        </p:grpSpPr>
        <p:sp>
          <p:nvSpPr>
            <p:cNvPr id="3" name="矩形 2"/>
            <p:cNvSpPr/>
            <p:nvPr/>
          </p:nvSpPr>
          <p:spPr>
            <a:xfrm>
              <a:off x="0" y="0"/>
              <a:ext cx="8458200" cy="342900"/>
            </a:xfrm>
            <a:prstGeom prst="rect">
              <a:avLst/>
            </a:prstGeom>
            <a:noFill/>
          </p:spPr>
          <p:txBody>
            <a:bodyPr wrap="none" lIns="0" tIns="0" rIns="0" bIns="0" rtlCol="0" anchor="t"/>
            <a:lstStyle/>
            <a:p>
              <a:pPr marL="0" indent="0">
                <a:lnSpc>
                  <a:spcPct val="150000"/>
                </a:lnSpc>
                <a:buNone/>
              </a:pPr>
              <a:r>
                <a:rPr lang="zh-CN" sz="1700" b="1" dirty="0">
                  <a:solidFill>
                    <a:srgbClr val="2E6EA6"/>
                  </a:solidFill>
                  <a:latin typeface="Arial" panose="020B0604020202020204" pitchFamily="34" charset="0"/>
                  <a:ea typeface="微软雅黑" panose="020B0503020204020204" pitchFamily="34" charset="-122"/>
                </a:rPr>
                <a:t>系统技术架构与前后端技术栈</a:t>
              </a:r>
              <a:endParaRPr lang="en-US" sz="1700" dirty="0"/>
            </a:p>
          </p:txBody>
        </p:sp>
        <p:sp>
          <p:nvSpPr>
            <p:cNvPr id="4" name="矩形 3"/>
            <p:cNvSpPr/>
            <p:nvPr/>
          </p:nvSpPr>
          <p:spPr>
            <a:xfrm>
              <a:off x="0" y="400050"/>
              <a:ext cx="6072188" cy="342900"/>
            </a:xfrm>
            <a:prstGeom prst="rect">
              <a:avLst/>
            </a:prstGeom>
            <a:noFill/>
          </p:spPr>
          <p:txBody>
            <a:bodyPr wrap="square" lIns="0" tIns="0" rIns="0" bIns="0" rtlCol="0" anchor="t"/>
            <a:lstStyle/>
            <a:p>
              <a:pPr marL="0" indent="0">
                <a:lnSpc>
                  <a:spcPct val="150000"/>
                </a:lnSpc>
                <a:buNone/>
              </a:pPr>
              <a:r>
                <a:rPr lang="zh-CN" sz="900" dirty="0">
                  <a:solidFill>
                    <a:srgbClr val="1F2A37">
                      <a:alpha val="80000"/>
                    </a:srgbClr>
                  </a:solidFill>
                  <a:latin typeface="Arial" panose="020B0604020202020204" pitchFamily="34" charset="0"/>
                  <a:ea typeface="微软雅黑" panose="020B0503020204020204" pitchFamily="34" charset="-122"/>
                </a:rPr>
                <a:t>系统采用经典的前后端分离架构，通过 </a:t>
              </a:r>
              <a:r>
                <a:rPr lang="en-US" sz="900" dirty="0">
                  <a:solidFill>
                    <a:srgbClr val="1F2A37">
                      <a:alpha val="80000"/>
                    </a:srgbClr>
                  </a:solidFill>
                  <a:latin typeface="Arial" panose="020B0604020202020204" pitchFamily="34" charset="0"/>
                </a:rPr>
                <a:t>Nginx </a:t>
              </a:r>
              <a:r>
                <a:rPr lang="zh-CN" sz="900" dirty="0">
                  <a:solidFill>
                    <a:srgbClr val="1F2A37">
                      <a:alpha val="80000"/>
                    </a:srgbClr>
                  </a:solidFill>
                  <a:latin typeface="Arial" panose="020B0604020202020204" pitchFamily="34" charset="0"/>
                  <a:ea typeface="微软雅黑" panose="020B0503020204020204" pitchFamily="34" charset="-122"/>
                </a:rPr>
                <a:t>代理前端单页应用，</a:t>
              </a:r>
              <a:r>
                <a:rPr lang="en-US" sz="900" dirty="0">
                  <a:solidFill>
                    <a:srgbClr val="1F2A37">
                      <a:alpha val="80000"/>
                    </a:srgbClr>
                  </a:solidFill>
                  <a:latin typeface="Arial" panose="020B0604020202020204" pitchFamily="34" charset="0"/>
                </a:rPr>
                <a:t>Flask </a:t>
              </a:r>
              <a:r>
                <a:rPr lang="zh-CN" sz="900" dirty="0">
                  <a:solidFill>
                    <a:srgbClr val="1F2A37">
                      <a:alpha val="80000"/>
                    </a:srgbClr>
                  </a:solidFill>
                  <a:latin typeface="Arial" panose="020B0604020202020204" pitchFamily="34" charset="0"/>
                  <a:ea typeface="微软雅黑" panose="020B0503020204020204" pitchFamily="34" charset="-122"/>
                </a:rPr>
                <a:t>提供业务及 </a:t>
              </a:r>
              <a:r>
                <a:rPr lang="en-US" sz="900" dirty="0">
                  <a:solidFill>
                    <a:srgbClr val="1F2A37">
                      <a:alpha val="80000"/>
                    </a:srgbClr>
                  </a:solidFill>
                  <a:latin typeface="Arial" panose="020B0604020202020204" pitchFamily="34" charset="0"/>
                </a:rPr>
                <a:t>AI </a:t>
              </a:r>
              <a:r>
                <a:rPr lang="zh-CN" sz="900" dirty="0">
                  <a:solidFill>
                    <a:srgbClr val="1F2A37">
                      <a:alpha val="80000"/>
                    </a:srgbClr>
                  </a:solidFill>
                  <a:latin typeface="Arial" panose="020B0604020202020204" pitchFamily="34" charset="0"/>
                  <a:ea typeface="微软雅黑" panose="020B0503020204020204" pitchFamily="34" charset="-122"/>
                </a:rPr>
                <a:t>接口，</a:t>
              </a:r>
              <a:r>
                <a:rPr lang="en-US" sz="900" dirty="0">
                  <a:solidFill>
                    <a:srgbClr val="1F2A37">
                      <a:alpha val="80000"/>
                    </a:srgbClr>
                  </a:solidFill>
                  <a:latin typeface="Arial" panose="020B0604020202020204" pitchFamily="34" charset="0"/>
                </a:rPr>
                <a:t>Milvus </a:t>
              </a:r>
              <a:r>
                <a:rPr lang="zh-CN" sz="900" dirty="0">
                  <a:solidFill>
                    <a:srgbClr val="1F2A37">
                      <a:alpha val="80000"/>
                    </a:srgbClr>
                  </a:solidFill>
                  <a:latin typeface="Arial" panose="020B0604020202020204" pitchFamily="34" charset="0"/>
                  <a:ea typeface="微软雅黑" panose="020B0503020204020204" pitchFamily="34" charset="-122"/>
                </a:rPr>
                <a:t>及 </a:t>
              </a:r>
              <a:r>
                <a:rPr lang="en-US" sz="900" dirty="0">
                  <a:solidFill>
                    <a:srgbClr val="1F2A37">
                      <a:alpha val="80000"/>
                    </a:srgbClr>
                  </a:solidFill>
                  <a:latin typeface="Arial" panose="020B0604020202020204" pitchFamily="34" charset="0"/>
                </a:rPr>
                <a:t>MySQL </a:t>
              </a:r>
              <a:r>
                <a:rPr lang="zh-CN" sz="900" dirty="0">
                  <a:solidFill>
                    <a:srgbClr val="1F2A37">
                      <a:alpha val="80000"/>
                    </a:srgbClr>
                  </a:solidFill>
                  <a:latin typeface="Arial" panose="020B0604020202020204" pitchFamily="34" charset="0"/>
                  <a:ea typeface="微软雅黑" panose="020B0503020204020204" pitchFamily="34" charset="-122"/>
                </a:rPr>
                <a:t>提供底层数据持久化。</a:t>
              </a:r>
              <a:endParaRPr lang="en-US" sz="900" dirty="0"/>
            </a:p>
          </p:txBody>
        </p:sp>
      </p:grpSp>
      <p:grpSp>
        <p:nvGrpSpPr>
          <p:cNvPr id="55" name="h2p-grp-h2p-animroot-2"/>
          <p:cNvGrpSpPr/>
          <p:nvPr/>
        </p:nvGrpSpPr>
        <p:grpSpPr>
          <a:xfrm>
            <a:off x="342900" y="1371600"/>
            <a:ext cx="4814888" cy="3429000"/>
            <a:chOff x="0" y="0"/>
            <a:chExt cx="4814888" cy="3429000"/>
          </a:xfrm>
        </p:grpSpPr>
        <p:sp>
          <p:nvSpPr>
            <p:cNvPr id="5" name="圆角矩形 4"/>
            <p:cNvSpPr/>
            <p:nvPr/>
          </p:nvSpPr>
          <p:spPr>
            <a:xfrm>
              <a:off x="0" y="0"/>
              <a:ext cx="4814888" cy="3429000"/>
            </a:xfrm>
            <a:prstGeom prst="roundRect">
              <a:avLst>
                <a:gd name="adj" fmla="val 2500"/>
              </a:avLst>
            </a:prstGeom>
            <a:solidFill>
              <a:srgbClr val="FFFFFF">
                <a:alpha val="50000"/>
              </a:srgbClr>
            </a:solidFill>
            <a:ln w="6350">
              <a:solidFill>
                <a:srgbClr val="DCEAF5"/>
              </a:solidFill>
              <a:prstDash val="solid"/>
            </a:ln>
          </p:spPr>
        </p:sp>
        <p:sp>
          <p:nvSpPr>
            <p:cNvPr id="6" name="矩形 5"/>
            <p:cNvSpPr/>
            <p:nvPr/>
          </p:nvSpPr>
          <p:spPr>
            <a:xfrm>
              <a:off x="235744" y="250031"/>
              <a:ext cx="4343400" cy="114300"/>
            </a:xfrm>
            <a:prstGeom prst="rect">
              <a:avLst/>
            </a:prstGeom>
            <a:noFill/>
          </p:spPr>
          <p:txBody>
            <a:bodyPr wrap="none" lIns="0" tIns="0" rIns="0" bIns="0" rtlCol="0" anchor="t"/>
            <a:lstStyle/>
            <a:p>
              <a:pPr marL="0" indent="0">
                <a:lnSpc>
                  <a:spcPct val="133000"/>
                </a:lnSpc>
                <a:buNone/>
              </a:pPr>
              <a:r>
                <a:rPr lang="zh-CN" sz="600" b="1" kern="0" spc="94" dirty="0">
                  <a:solidFill>
                    <a:srgbClr val="94A3B8"/>
                  </a:solidFill>
                  <a:latin typeface="Arial" panose="020B0604020202020204" pitchFamily="34" charset="0"/>
                  <a:ea typeface="微软雅黑" panose="020B0503020204020204" pitchFamily="34" charset="-122"/>
                </a:rPr>
                <a:t>系统架构图 </a:t>
              </a:r>
              <a:r>
                <a:rPr lang="en-US" sz="600" b="1" kern="0" spc="94" dirty="0">
                  <a:solidFill>
                    <a:srgbClr val="94A3B8"/>
                  </a:solidFill>
                  <a:latin typeface="Arial" panose="020B0604020202020204" pitchFamily="34" charset="0"/>
                </a:rPr>
                <a:t>/ SYSTEM ARCHITECTURE</a:t>
              </a:r>
              <a:endParaRPr lang="en-US" sz="600" dirty="0"/>
            </a:p>
          </p:txBody>
        </p:sp>
        <p:sp>
          <p:nvSpPr>
            <p:cNvPr id="7" name="圆角矩形 6"/>
            <p:cNvSpPr/>
            <p:nvPr/>
          </p:nvSpPr>
          <p:spPr>
            <a:xfrm>
              <a:off x="235744" y="592931"/>
              <a:ext cx="1143000" cy="335756"/>
            </a:xfrm>
            <a:prstGeom prst="roundRect">
              <a:avLst>
                <a:gd name="adj" fmla="val 17021"/>
              </a:avLst>
            </a:prstGeom>
            <a:solidFill>
              <a:srgbClr val="FFFFFF"/>
            </a:solidFill>
            <a:ln w="6350">
              <a:solidFill>
                <a:srgbClr val="DCEAF5"/>
              </a:solidFill>
              <a:prstDash val="solid"/>
            </a:ln>
            <a:effectLst>
              <a:glow rad="29464">
                <a:srgbClr val="000000">
                  <a:alpha val="2000"/>
                </a:srgbClr>
              </a:glow>
            </a:effectLst>
          </p:spPr>
        </p:sp>
        <p:sp>
          <p:nvSpPr>
            <p:cNvPr id="8" name="矩形 7"/>
            <p:cNvSpPr/>
            <p:nvPr/>
          </p:nvSpPr>
          <p:spPr>
            <a:xfrm>
              <a:off x="571500" y="700088"/>
              <a:ext cx="200025" cy="114300"/>
            </a:xfrm>
            <a:prstGeom prst="rect">
              <a:avLst/>
            </a:prstGeom>
            <a:noFill/>
          </p:spPr>
          <p:txBody>
            <a:bodyPr wrap="none" lIns="0" tIns="0" rIns="0" bIns="0" rtlCol="0" anchor="ctr"/>
            <a:lstStyle/>
            <a:p>
              <a:pPr marL="0" indent="0">
                <a:lnSpc>
                  <a:spcPct val="150000"/>
                </a:lnSpc>
                <a:buNone/>
              </a:pPr>
              <a:r>
                <a:rPr lang="zh-CN" sz="700" b="1" dirty="0">
                  <a:solidFill>
                    <a:srgbClr val="1F2A37"/>
                  </a:solidFill>
                  <a:latin typeface="Arial" panose="020B0604020202020204" pitchFamily="34" charset="0"/>
                  <a:ea typeface="微软雅黑" panose="020B0503020204020204" pitchFamily="34" charset="-122"/>
                </a:rPr>
                <a:t>用户</a:t>
              </a:r>
              <a:endParaRPr lang="en-US" sz="700" dirty="0"/>
            </a:p>
          </p:txBody>
        </p:sp>
        <p:sp>
          <p:nvSpPr>
            <p:cNvPr id="9" name="矩形 8"/>
            <p:cNvSpPr/>
            <p:nvPr/>
          </p:nvSpPr>
          <p:spPr>
            <a:xfrm>
              <a:off x="357188" y="696516"/>
              <a:ext cx="128588" cy="128588"/>
            </a:xfrm>
            <a:prstGeom prst="rect">
              <a:avLst/>
            </a:prstGeom>
            <a:noFill/>
          </p:spPr>
          <p:txBody>
            <a:bodyPr wrap="none" lIns="0" tIns="0" rIns="0" bIns="0" rtlCol="0" anchor="t"/>
            <a:lstStyle/>
            <a:p>
              <a:pPr marL="0" indent="0">
                <a:lnSpc>
                  <a:spcPct val="100000"/>
                </a:lnSpc>
                <a:buNone/>
              </a:pPr>
              <a:r>
                <a:rPr lang="en-US" sz="1000" dirty="0">
                  <a:solidFill>
                    <a:srgbClr val="5B9DFF"/>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1000" dirty="0"/>
            </a:p>
          </p:txBody>
        </p:sp>
        <p:sp>
          <p:nvSpPr>
            <p:cNvPr id="10" name="圆角矩形 9"/>
            <p:cNvSpPr/>
            <p:nvPr/>
          </p:nvSpPr>
          <p:spPr>
            <a:xfrm>
              <a:off x="1607344" y="592931"/>
              <a:ext cx="1371600" cy="335756"/>
            </a:xfrm>
            <a:prstGeom prst="roundRect">
              <a:avLst>
                <a:gd name="adj" fmla="val 17021"/>
              </a:avLst>
            </a:prstGeom>
            <a:solidFill>
              <a:srgbClr val="FFFFFF"/>
            </a:solidFill>
            <a:ln w="6350">
              <a:solidFill>
                <a:srgbClr val="DCEAF5"/>
              </a:solidFill>
              <a:prstDash val="solid"/>
            </a:ln>
            <a:effectLst>
              <a:glow rad="29464">
                <a:srgbClr val="000000">
                  <a:alpha val="2000"/>
                </a:srgbClr>
              </a:glow>
            </a:effectLst>
          </p:spPr>
        </p:sp>
        <p:sp>
          <p:nvSpPr>
            <p:cNvPr id="11" name="矩形 10"/>
            <p:cNvSpPr/>
            <p:nvPr/>
          </p:nvSpPr>
          <p:spPr>
            <a:xfrm>
              <a:off x="1927027" y="700088"/>
              <a:ext cx="491021" cy="114300"/>
            </a:xfrm>
            <a:prstGeom prst="rect">
              <a:avLst/>
            </a:prstGeom>
            <a:noFill/>
          </p:spPr>
          <p:txBody>
            <a:bodyPr wrap="none" lIns="0" tIns="0" rIns="0" bIns="0" rtlCol="0" anchor="ctr"/>
            <a:lstStyle/>
            <a:p>
              <a:pPr marL="0" indent="0">
                <a:lnSpc>
                  <a:spcPct val="150000"/>
                </a:lnSpc>
                <a:buNone/>
              </a:pPr>
              <a:r>
                <a:rPr lang="en-US" sz="700" b="1" dirty="0">
                  <a:solidFill>
                    <a:srgbClr val="1F2A37"/>
                  </a:solidFill>
                  <a:latin typeface="Arial" panose="020B0604020202020204" pitchFamily="34" charset="0"/>
                </a:rPr>
                <a:t>Vue 3 </a:t>
              </a:r>
              <a:r>
                <a:rPr lang="zh-CN" sz="700" b="1" dirty="0">
                  <a:solidFill>
                    <a:srgbClr val="1F2A37"/>
                  </a:solidFill>
                  <a:latin typeface="Arial" panose="020B0604020202020204" pitchFamily="34" charset="0"/>
                  <a:ea typeface="微软雅黑" panose="020B0503020204020204" pitchFamily="34" charset="-122"/>
                </a:rPr>
                <a:t>前端</a:t>
              </a:r>
              <a:endParaRPr lang="en-US" sz="700" dirty="0"/>
            </a:p>
          </p:txBody>
        </p:sp>
        <p:sp>
          <p:nvSpPr>
            <p:cNvPr id="12" name="矩形 11"/>
            <p:cNvSpPr/>
            <p:nvPr/>
          </p:nvSpPr>
          <p:spPr>
            <a:xfrm>
              <a:off x="1728788" y="696516"/>
              <a:ext cx="112514" cy="128588"/>
            </a:xfrm>
            <a:prstGeom prst="rect">
              <a:avLst/>
            </a:prstGeom>
            <a:noFill/>
          </p:spPr>
          <p:txBody>
            <a:bodyPr wrap="none" lIns="0" tIns="0" rIns="0" bIns="0" rtlCol="0" anchor="t"/>
            <a:lstStyle/>
            <a:p>
              <a:pPr marL="0" indent="0">
                <a:lnSpc>
                  <a:spcPct val="100000"/>
                </a:lnSpc>
                <a:buNone/>
              </a:pPr>
              <a:r>
                <a:rPr lang="en-US" sz="1000" dirty="0">
                  <a:solidFill>
                    <a:srgbClr val="5B9DFF"/>
                  </a:solidFill>
                  <a:latin typeface="Arial" panose="020B0604020202020204" pitchFamily="34" charset="0"/>
                  <a:ea typeface="Arial" panose="020B0604020202020204" pitchFamily="34" charset="-122"/>
                  <a:cs typeface="Arial" panose="020B0604020202020204" pitchFamily="34" charset="-120"/>
                </a:rPr>
                <a:t></a:t>
              </a:r>
              <a:endParaRPr lang="en-US" sz="1000" dirty="0"/>
            </a:p>
          </p:txBody>
        </p:sp>
        <p:sp>
          <p:nvSpPr>
            <p:cNvPr id="13" name="圆角矩形 12"/>
            <p:cNvSpPr/>
            <p:nvPr/>
          </p:nvSpPr>
          <p:spPr>
            <a:xfrm>
              <a:off x="3207544" y="592931"/>
              <a:ext cx="1371600" cy="335756"/>
            </a:xfrm>
            <a:prstGeom prst="roundRect">
              <a:avLst>
                <a:gd name="adj" fmla="val 17021"/>
              </a:avLst>
            </a:prstGeom>
            <a:solidFill>
              <a:srgbClr val="FFFFFF"/>
            </a:solidFill>
            <a:ln w="6350">
              <a:solidFill>
                <a:srgbClr val="DCEAF5"/>
              </a:solidFill>
              <a:prstDash val="solid"/>
            </a:ln>
            <a:effectLst>
              <a:glow rad="29464">
                <a:srgbClr val="000000">
                  <a:alpha val="2000"/>
                </a:srgbClr>
              </a:glow>
            </a:effectLst>
          </p:spPr>
        </p:sp>
        <p:sp>
          <p:nvSpPr>
            <p:cNvPr id="14" name="矩形 13"/>
            <p:cNvSpPr/>
            <p:nvPr/>
          </p:nvSpPr>
          <p:spPr>
            <a:xfrm>
              <a:off x="3543300" y="700088"/>
              <a:ext cx="674415" cy="114300"/>
            </a:xfrm>
            <a:prstGeom prst="rect">
              <a:avLst/>
            </a:prstGeom>
            <a:noFill/>
          </p:spPr>
          <p:txBody>
            <a:bodyPr wrap="none" lIns="0" tIns="0" rIns="0" bIns="0" rtlCol="0" anchor="ctr"/>
            <a:lstStyle/>
            <a:p>
              <a:pPr marL="0" indent="0">
                <a:lnSpc>
                  <a:spcPct val="150000"/>
                </a:lnSpc>
                <a:buNone/>
              </a:pPr>
              <a:r>
                <a:rPr lang="en-US" sz="700" b="1" dirty="0">
                  <a:solidFill>
                    <a:srgbClr val="1F2A37"/>
                  </a:solidFill>
                  <a:latin typeface="Arial" panose="020B0604020202020204" pitchFamily="34" charset="0"/>
                </a:rPr>
                <a:t>Flask API </a:t>
              </a:r>
              <a:r>
                <a:rPr lang="zh-CN" sz="700" b="1" dirty="0">
                  <a:solidFill>
                    <a:srgbClr val="1F2A37"/>
                  </a:solidFill>
                  <a:latin typeface="Arial" panose="020B0604020202020204" pitchFamily="34" charset="0"/>
                  <a:ea typeface="微软雅黑" panose="020B0503020204020204" pitchFamily="34" charset="-122"/>
                </a:rPr>
                <a:t>服务</a:t>
              </a:r>
              <a:endParaRPr lang="en-US" sz="700" dirty="0"/>
            </a:p>
          </p:txBody>
        </p:sp>
        <p:sp>
          <p:nvSpPr>
            <p:cNvPr id="15" name="矩形 14"/>
            <p:cNvSpPr/>
            <p:nvPr/>
          </p:nvSpPr>
          <p:spPr>
            <a:xfrm>
              <a:off x="3328988" y="696516"/>
              <a:ext cx="128588" cy="128588"/>
            </a:xfrm>
            <a:prstGeom prst="rect">
              <a:avLst/>
            </a:prstGeom>
            <a:noFill/>
          </p:spPr>
          <p:txBody>
            <a:bodyPr wrap="none" lIns="0" tIns="0" rIns="0" bIns="0" rtlCol="0" anchor="t"/>
            <a:lstStyle/>
            <a:p>
              <a:pPr marL="0" indent="0">
                <a:lnSpc>
                  <a:spcPct val="100000"/>
                </a:lnSpc>
                <a:buNone/>
              </a:pPr>
              <a:r>
                <a:rPr lang="en-US" sz="1000" dirty="0">
                  <a:solidFill>
                    <a:srgbClr val="5B9DFF"/>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1000" dirty="0"/>
            </a:p>
          </p:txBody>
        </p:sp>
        <p:sp>
          <p:nvSpPr>
            <p:cNvPr id="16" name="矩形 15"/>
            <p:cNvSpPr/>
            <p:nvPr/>
          </p:nvSpPr>
          <p:spPr>
            <a:xfrm>
              <a:off x="2450306" y="878681"/>
              <a:ext cx="14288" cy="342900"/>
            </a:xfrm>
            <a:prstGeom prst="rect">
              <a:avLst/>
            </a:prstGeom>
            <a:solidFill>
              <a:srgbClr val="DCEAF5"/>
            </a:solidFill>
          </p:spPr>
        </p:sp>
        <p:sp>
          <p:nvSpPr>
            <p:cNvPr id="17" name="圆角矩形 16"/>
            <p:cNvSpPr/>
            <p:nvPr/>
          </p:nvSpPr>
          <p:spPr>
            <a:xfrm>
              <a:off x="1607344" y="1157288"/>
              <a:ext cx="2971800" cy="335756"/>
            </a:xfrm>
            <a:prstGeom prst="roundRect">
              <a:avLst>
                <a:gd name="adj" fmla="val 17021"/>
              </a:avLst>
            </a:prstGeom>
            <a:solidFill>
              <a:srgbClr val="F8FAFC"/>
            </a:solidFill>
            <a:ln w="6350">
              <a:solidFill>
                <a:srgbClr val="DCEAF5"/>
              </a:solidFill>
              <a:prstDash val="solid"/>
            </a:ln>
            <a:effectLst>
              <a:glow rad="29464">
                <a:srgbClr val="000000">
                  <a:alpha val="2000"/>
                </a:srgbClr>
              </a:glow>
            </a:effectLst>
          </p:spPr>
        </p:sp>
        <p:sp>
          <p:nvSpPr>
            <p:cNvPr id="18" name="矩形 17"/>
            <p:cNvSpPr/>
            <p:nvPr/>
          </p:nvSpPr>
          <p:spPr>
            <a:xfrm>
              <a:off x="1975247" y="1264444"/>
              <a:ext cx="916744" cy="114300"/>
            </a:xfrm>
            <a:prstGeom prst="rect">
              <a:avLst/>
            </a:prstGeom>
            <a:noFill/>
          </p:spPr>
          <p:txBody>
            <a:bodyPr wrap="none" lIns="0" tIns="0" rIns="0" bIns="0" rtlCol="0" anchor="ctr"/>
            <a:lstStyle/>
            <a:p>
              <a:pPr marL="0" indent="0">
                <a:lnSpc>
                  <a:spcPct val="150000"/>
                </a:lnSpc>
                <a:buNone/>
              </a:pPr>
              <a:r>
                <a:rPr lang="zh-CN" sz="700" b="1" dirty="0">
                  <a:solidFill>
                    <a:srgbClr val="1F2A37"/>
                  </a:solidFill>
                  <a:latin typeface="Arial" panose="020B0604020202020204" pitchFamily="34" charset="0"/>
                  <a:ea typeface="微软雅黑" panose="020B0503020204020204" pitchFamily="34" charset="-122"/>
                </a:rPr>
                <a:t>智能咨询服务 </a:t>
              </a:r>
              <a:r>
                <a:rPr lang="en-US" sz="700" b="1" dirty="0">
                  <a:solidFill>
                    <a:srgbClr val="1F2A37"/>
                  </a:solidFill>
                  <a:latin typeface="Arial" panose="020B0604020202020204" pitchFamily="34" charset="0"/>
                </a:rPr>
                <a:t>(Chat)</a:t>
              </a:r>
              <a:endParaRPr lang="en-US" sz="700" dirty="0"/>
            </a:p>
          </p:txBody>
        </p:sp>
        <p:sp>
          <p:nvSpPr>
            <p:cNvPr id="19" name="矩形 18"/>
            <p:cNvSpPr/>
            <p:nvPr/>
          </p:nvSpPr>
          <p:spPr>
            <a:xfrm>
              <a:off x="1728788" y="1260872"/>
              <a:ext cx="160734" cy="128588"/>
            </a:xfrm>
            <a:prstGeom prst="rect">
              <a:avLst/>
            </a:prstGeom>
            <a:noFill/>
          </p:spPr>
          <p:txBody>
            <a:bodyPr wrap="none" lIns="0" tIns="0" rIns="0" bIns="0" rtlCol="0" anchor="t"/>
            <a:lstStyle/>
            <a:p>
              <a:pPr marL="0" indent="0">
                <a:lnSpc>
                  <a:spcPct val="100000"/>
                </a:lnSpc>
                <a:buNone/>
              </a:pPr>
              <a:r>
                <a:rPr lang="en-US" sz="1000" dirty="0">
                  <a:solidFill>
                    <a:srgbClr val="5B9DFF"/>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1000" dirty="0"/>
            </a:p>
          </p:txBody>
        </p:sp>
        <p:sp>
          <p:nvSpPr>
            <p:cNvPr id="20" name="矩形 19"/>
            <p:cNvSpPr/>
            <p:nvPr/>
          </p:nvSpPr>
          <p:spPr>
            <a:xfrm>
              <a:off x="2450306" y="1414463"/>
              <a:ext cx="14288" cy="342900"/>
            </a:xfrm>
            <a:prstGeom prst="rect">
              <a:avLst/>
            </a:prstGeom>
            <a:solidFill>
              <a:srgbClr val="DCEAF5"/>
            </a:solidFill>
          </p:spPr>
        </p:sp>
        <p:sp>
          <p:nvSpPr>
            <p:cNvPr id="21" name="圆角矩形 20"/>
            <p:cNvSpPr/>
            <p:nvPr/>
          </p:nvSpPr>
          <p:spPr>
            <a:xfrm>
              <a:off x="3402323" y="1721644"/>
              <a:ext cx="1176821" cy="335756"/>
            </a:xfrm>
            <a:prstGeom prst="roundRect">
              <a:avLst>
                <a:gd name="adj" fmla="val 17021"/>
              </a:avLst>
            </a:prstGeom>
            <a:solidFill>
              <a:srgbClr val="FFFFFF"/>
            </a:solidFill>
            <a:ln w="6350">
              <a:solidFill>
                <a:srgbClr val="DCEAF5"/>
              </a:solidFill>
              <a:prstDash val="solid"/>
            </a:ln>
            <a:effectLst>
              <a:glow rad="29464">
                <a:srgbClr val="000000">
                  <a:alpha val="2000"/>
                </a:srgbClr>
              </a:glow>
            </a:effectLst>
          </p:spPr>
        </p:sp>
        <p:sp>
          <p:nvSpPr>
            <p:cNvPr id="22" name="矩形 21"/>
            <p:cNvSpPr/>
            <p:nvPr/>
          </p:nvSpPr>
          <p:spPr>
            <a:xfrm>
              <a:off x="3722005" y="1828800"/>
              <a:ext cx="344574" cy="114300"/>
            </a:xfrm>
            <a:prstGeom prst="rect">
              <a:avLst/>
            </a:prstGeom>
            <a:noFill/>
          </p:spPr>
          <p:txBody>
            <a:bodyPr wrap="none" lIns="0" tIns="0" rIns="0" bIns="0" rtlCol="0" anchor="ctr"/>
            <a:lstStyle/>
            <a:p>
              <a:pPr marL="0" indent="0">
                <a:lnSpc>
                  <a:spcPct val="150000"/>
                </a:lnSpc>
                <a:buNone/>
              </a:pPr>
              <a:r>
                <a:rPr lang="en-US" sz="700" b="1" dirty="0">
                  <a:solidFill>
                    <a:srgbClr val="1F2A37"/>
                  </a:solidFill>
                  <a:latin typeface="Arial" panose="020B0604020202020204" pitchFamily="34" charset="0"/>
                </a:rPr>
                <a:t>MySQL</a:t>
              </a:r>
              <a:endParaRPr lang="en-US" sz="700" dirty="0"/>
            </a:p>
          </p:txBody>
        </p:sp>
        <p:sp>
          <p:nvSpPr>
            <p:cNvPr id="23" name="矩形 22"/>
            <p:cNvSpPr/>
            <p:nvPr/>
          </p:nvSpPr>
          <p:spPr>
            <a:xfrm>
              <a:off x="3523766" y="1825228"/>
              <a:ext cx="112514" cy="128588"/>
            </a:xfrm>
            <a:prstGeom prst="rect">
              <a:avLst/>
            </a:prstGeom>
            <a:noFill/>
          </p:spPr>
          <p:txBody>
            <a:bodyPr wrap="none" lIns="0" tIns="0" rIns="0" bIns="0" rtlCol="0" anchor="t"/>
            <a:lstStyle/>
            <a:p>
              <a:pPr marL="0" indent="0">
                <a:lnSpc>
                  <a:spcPct val="100000"/>
                </a:lnSpc>
                <a:buNone/>
              </a:pPr>
              <a:r>
                <a:rPr lang="en-US" sz="1000" dirty="0">
                  <a:solidFill>
                    <a:srgbClr val="5B9DFF"/>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1000" dirty="0"/>
            </a:p>
          </p:txBody>
        </p:sp>
        <p:sp>
          <p:nvSpPr>
            <p:cNvPr id="24" name="圆角矩形 23"/>
            <p:cNvSpPr/>
            <p:nvPr/>
          </p:nvSpPr>
          <p:spPr>
            <a:xfrm>
              <a:off x="3402323" y="2114550"/>
              <a:ext cx="1176821" cy="485775"/>
            </a:xfrm>
            <a:prstGeom prst="roundRect">
              <a:avLst>
                <a:gd name="adj" fmla="val 11765"/>
              </a:avLst>
            </a:prstGeom>
            <a:solidFill>
              <a:srgbClr val="FFFFFF"/>
            </a:solidFill>
            <a:ln w="6350">
              <a:solidFill>
                <a:srgbClr val="DCEAF5"/>
              </a:solidFill>
              <a:prstDash val="solid"/>
            </a:ln>
            <a:effectLst>
              <a:glow rad="29464">
                <a:srgbClr val="000000">
                  <a:alpha val="2000"/>
                </a:srgbClr>
              </a:glow>
            </a:effectLst>
          </p:spPr>
        </p:sp>
        <p:sp>
          <p:nvSpPr>
            <p:cNvPr id="25" name="矩形 24"/>
            <p:cNvSpPr/>
            <p:nvPr/>
          </p:nvSpPr>
          <p:spPr>
            <a:xfrm>
              <a:off x="3754152" y="2221706"/>
              <a:ext cx="366899" cy="264319"/>
            </a:xfrm>
            <a:prstGeom prst="rect">
              <a:avLst/>
            </a:prstGeom>
            <a:noFill/>
          </p:spPr>
          <p:txBody>
            <a:bodyPr wrap="square" lIns="0" tIns="0" rIns="0" bIns="0" rtlCol="0" anchor="ctr"/>
            <a:lstStyle/>
            <a:p>
              <a:pPr marL="0" indent="0">
                <a:lnSpc>
                  <a:spcPct val="150000"/>
                </a:lnSpc>
                <a:buNone/>
              </a:pPr>
              <a:r>
                <a:rPr lang="en-US" sz="700" b="1" dirty="0">
                  <a:solidFill>
                    <a:srgbClr val="1F2A37"/>
                  </a:solidFill>
                  <a:latin typeface="Arial" panose="020B0604020202020204" pitchFamily="34" charset="0"/>
                </a:rPr>
                <a:t>Milvus / Numpy</a:t>
              </a:r>
              <a:endParaRPr lang="en-US" sz="700" dirty="0"/>
            </a:p>
          </p:txBody>
        </p:sp>
        <p:sp>
          <p:nvSpPr>
            <p:cNvPr id="26" name="矩形 25"/>
            <p:cNvSpPr/>
            <p:nvPr/>
          </p:nvSpPr>
          <p:spPr>
            <a:xfrm>
              <a:off x="3523766" y="2293144"/>
              <a:ext cx="144661" cy="128588"/>
            </a:xfrm>
            <a:prstGeom prst="rect">
              <a:avLst/>
            </a:prstGeom>
            <a:noFill/>
          </p:spPr>
          <p:txBody>
            <a:bodyPr wrap="none" lIns="0" tIns="0" rIns="0" bIns="0" rtlCol="0" anchor="t"/>
            <a:lstStyle/>
            <a:p>
              <a:pPr marL="0" indent="0">
                <a:lnSpc>
                  <a:spcPct val="100000"/>
                </a:lnSpc>
                <a:buNone/>
              </a:pPr>
              <a:r>
                <a:rPr lang="en-US" sz="1000" dirty="0">
                  <a:solidFill>
                    <a:srgbClr val="5B9DFF"/>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1000" dirty="0"/>
            </a:p>
          </p:txBody>
        </p:sp>
        <p:sp>
          <p:nvSpPr>
            <p:cNvPr id="27" name="圆角矩形 26"/>
            <p:cNvSpPr/>
            <p:nvPr/>
          </p:nvSpPr>
          <p:spPr>
            <a:xfrm>
              <a:off x="1607344" y="1993106"/>
              <a:ext cx="1566379" cy="335756"/>
            </a:xfrm>
            <a:prstGeom prst="roundRect">
              <a:avLst>
                <a:gd name="adj" fmla="val 17021"/>
              </a:avLst>
            </a:prstGeom>
            <a:solidFill>
              <a:srgbClr val="FFFFFF"/>
            </a:solidFill>
            <a:ln w="6350">
              <a:solidFill>
                <a:srgbClr val="DCEAF5"/>
              </a:solidFill>
              <a:prstDash val="solid"/>
            </a:ln>
            <a:effectLst>
              <a:glow rad="29464">
                <a:srgbClr val="000000">
                  <a:alpha val="2000"/>
                </a:srgbClr>
              </a:glow>
            </a:effectLst>
          </p:spPr>
        </p:sp>
        <p:sp>
          <p:nvSpPr>
            <p:cNvPr id="28" name="矩形 27"/>
            <p:cNvSpPr/>
            <p:nvPr/>
          </p:nvSpPr>
          <p:spPr>
            <a:xfrm>
              <a:off x="1943100" y="2100263"/>
              <a:ext cx="800100" cy="114300"/>
            </a:xfrm>
            <a:prstGeom prst="rect">
              <a:avLst/>
            </a:prstGeom>
            <a:noFill/>
          </p:spPr>
          <p:txBody>
            <a:bodyPr wrap="none" lIns="0" tIns="0" rIns="0" bIns="0" rtlCol="0" anchor="ctr"/>
            <a:lstStyle/>
            <a:p>
              <a:pPr marL="0" indent="0">
                <a:lnSpc>
                  <a:spcPct val="150000"/>
                </a:lnSpc>
                <a:buNone/>
              </a:pPr>
              <a:r>
                <a:rPr lang="zh-CN" sz="700" b="1" dirty="0">
                  <a:solidFill>
                    <a:srgbClr val="1F2A37"/>
                  </a:solidFill>
                  <a:latin typeface="Arial" panose="020B0604020202020204" pitchFamily="34" charset="0"/>
                  <a:ea typeface="微软雅黑" panose="020B0503020204020204" pitchFamily="34" charset="-122"/>
                </a:rPr>
                <a:t>检索与上下文构建</a:t>
              </a:r>
              <a:endParaRPr lang="en-US" sz="700" dirty="0"/>
            </a:p>
          </p:txBody>
        </p:sp>
        <p:sp>
          <p:nvSpPr>
            <p:cNvPr id="29" name="矩形 28"/>
            <p:cNvSpPr/>
            <p:nvPr/>
          </p:nvSpPr>
          <p:spPr>
            <a:xfrm>
              <a:off x="1728788" y="2096691"/>
              <a:ext cx="128588" cy="128588"/>
            </a:xfrm>
            <a:prstGeom prst="rect">
              <a:avLst/>
            </a:prstGeom>
            <a:noFill/>
          </p:spPr>
          <p:txBody>
            <a:bodyPr wrap="none" lIns="0" tIns="0" rIns="0" bIns="0" rtlCol="0" anchor="t"/>
            <a:lstStyle/>
            <a:p>
              <a:pPr marL="0" indent="0">
                <a:lnSpc>
                  <a:spcPct val="100000"/>
                </a:lnSpc>
                <a:buNone/>
              </a:pPr>
              <a:r>
                <a:rPr lang="en-US" sz="1000" dirty="0">
                  <a:solidFill>
                    <a:srgbClr val="5B9DFF"/>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1000" dirty="0"/>
            </a:p>
          </p:txBody>
        </p:sp>
        <p:sp>
          <p:nvSpPr>
            <p:cNvPr id="30" name="矩形 29"/>
            <p:cNvSpPr/>
            <p:nvPr/>
          </p:nvSpPr>
          <p:spPr>
            <a:xfrm>
              <a:off x="2450306" y="2057400"/>
              <a:ext cx="14288" cy="342900"/>
            </a:xfrm>
            <a:prstGeom prst="rect">
              <a:avLst/>
            </a:prstGeom>
            <a:solidFill>
              <a:srgbClr val="DCEAF5"/>
            </a:solidFill>
          </p:spPr>
        </p:sp>
        <p:sp>
          <p:nvSpPr>
            <p:cNvPr id="31" name="圆角矩形 30"/>
            <p:cNvSpPr/>
            <p:nvPr/>
          </p:nvSpPr>
          <p:spPr>
            <a:xfrm>
              <a:off x="1607344" y="2828925"/>
              <a:ext cx="2971800" cy="350044"/>
            </a:xfrm>
            <a:prstGeom prst="roundRect">
              <a:avLst>
                <a:gd name="adj" fmla="val 16327"/>
              </a:avLst>
            </a:prstGeom>
            <a:solidFill>
              <a:srgbClr val="FFFFFF"/>
            </a:solidFill>
            <a:ln w="12700">
              <a:solidFill>
                <a:srgbClr val="DCEAF5"/>
              </a:solidFill>
              <a:prstDash val="dash"/>
            </a:ln>
            <a:effectLst>
              <a:glow rad="29464">
                <a:srgbClr val="000000">
                  <a:alpha val="2000"/>
                </a:srgbClr>
              </a:glow>
            </a:effectLst>
          </p:spPr>
        </p:sp>
        <p:sp>
          <p:nvSpPr>
            <p:cNvPr id="32" name="矩形 31"/>
            <p:cNvSpPr/>
            <p:nvPr/>
          </p:nvSpPr>
          <p:spPr>
            <a:xfrm>
              <a:off x="1950244" y="2943225"/>
              <a:ext cx="1722537" cy="114300"/>
            </a:xfrm>
            <a:prstGeom prst="rect">
              <a:avLst/>
            </a:prstGeom>
            <a:noFill/>
          </p:spPr>
          <p:txBody>
            <a:bodyPr wrap="none" lIns="0" tIns="0" rIns="0" bIns="0" rtlCol="0" anchor="ctr"/>
            <a:lstStyle/>
            <a:p>
              <a:pPr marL="0" indent="0">
                <a:lnSpc>
                  <a:spcPct val="150000"/>
                </a:lnSpc>
                <a:buNone/>
              </a:pPr>
              <a:r>
                <a:rPr lang="zh-CN" sz="700" b="1" dirty="0">
                  <a:solidFill>
                    <a:srgbClr val="1F2A37"/>
                  </a:solidFill>
                  <a:latin typeface="Arial" panose="020B0604020202020204" pitchFamily="34" charset="0"/>
                  <a:ea typeface="微软雅黑" panose="020B0503020204020204" pitchFamily="34" charset="-122"/>
                </a:rPr>
                <a:t>大语言模型接口 </a:t>
              </a:r>
              <a:r>
                <a:rPr lang="en-US" sz="700" b="1" dirty="0">
                  <a:solidFill>
                    <a:srgbClr val="1F2A37"/>
                  </a:solidFill>
                  <a:latin typeface="Arial" panose="020B0604020202020204" pitchFamily="34" charset="0"/>
                </a:rPr>
                <a:t>(OpenAI Compatible)</a:t>
              </a:r>
              <a:endParaRPr lang="en-US" sz="700" dirty="0"/>
            </a:p>
          </p:txBody>
        </p:sp>
        <p:sp>
          <p:nvSpPr>
            <p:cNvPr id="33" name="矩形 32"/>
            <p:cNvSpPr/>
            <p:nvPr/>
          </p:nvSpPr>
          <p:spPr>
            <a:xfrm>
              <a:off x="1735931" y="2939653"/>
              <a:ext cx="128588" cy="128588"/>
            </a:xfrm>
            <a:prstGeom prst="rect">
              <a:avLst/>
            </a:prstGeom>
            <a:noFill/>
          </p:spPr>
          <p:txBody>
            <a:bodyPr wrap="none" lIns="0" tIns="0" rIns="0" bIns="0" rtlCol="0" anchor="t"/>
            <a:lstStyle/>
            <a:p>
              <a:pPr marL="0" indent="0">
                <a:lnSpc>
                  <a:spcPct val="100000"/>
                </a:lnSpc>
                <a:buNone/>
              </a:pPr>
              <a:r>
                <a:rPr lang="en-US" sz="1000" dirty="0">
                  <a:solidFill>
                    <a:srgbClr val="5B9DFF"/>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1000" dirty="0"/>
            </a:p>
          </p:txBody>
        </p:sp>
      </p:grpSp>
      <p:grpSp>
        <p:nvGrpSpPr>
          <p:cNvPr id="56" name="h2p-grp-h2p-animroot-3"/>
          <p:cNvGrpSpPr/>
          <p:nvPr/>
        </p:nvGrpSpPr>
        <p:grpSpPr>
          <a:xfrm>
            <a:off x="5443538" y="1371600"/>
            <a:ext cx="3357563" cy="2571750"/>
            <a:chOff x="0" y="0"/>
            <a:chExt cx="3357563" cy="2571750"/>
          </a:xfrm>
        </p:grpSpPr>
        <p:sp>
          <p:nvSpPr>
            <p:cNvPr id="34" name="矩形 33"/>
            <p:cNvSpPr/>
            <p:nvPr/>
          </p:nvSpPr>
          <p:spPr>
            <a:xfrm>
              <a:off x="0" y="0"/>
              <a:ext cx="3357563" cy="114300"/>
            </a:xfrm>
            <a:prstGeom prst="rect">
              <a:avLst/>
            </a:prstGeom>
            <a:noFill/>
          </p:spPr>
          <p:txBody>
            <a:bodyPr wrap="none" lIns="0" tIns="0" rIns="0" bIns="0" rtlCol="0" anchor="t"/>
            <a:lstStyle/>
            <a:p>
              <a:pPr marL="0" indent="0">
                <a:lnSpc>
                  <a:spcPct val="133000"/>
                </a:lnSpc>
                <a:buNone/>
              </a:pPr>
              <a:r>
                <a:rPr lang="zh-CN" sz="600" b="1" kern="0" spc="94" dirty="0">
                  <a:solidFill>
                    <a:srgbClr val="94A3B8"/>
                  </a:solidFill>
                  <a:latin typeface="Arial" panose="020B0604020202020204" pitchFamily="34" charset="0"/>
                  <a:ea typeface="微软雅黑" panose="020B0503020204020204" pitchFamily="34" charset="-122"/>
                </a:rPr>
                <a:t>技术栈构成 </a:t>
              </a:r>
              <a:r>
                <a:rPr lang="en-US" sz="600" b="1" kern="0" spc="94" dirty="0">
                  <a:solidFill>
                    <a:srgbClr val="94A3B8"/>
                  </a:solidFill>
                  <a:latin typeface="Arial" panose="020B0604020202020204" pitchFamily="34" charset="0"/>
                </a:rPr>
                <a:t>/ TECH STACK LAYERS</a:t>
              </a:r>
              <a:endParaRPr lang="en-US" sz="600" dirty="0"/>
            </a:p>
          </p:txBody>
        </p:sp>
        <p:sp>
          <p:nvSpPr>
            <p:cNvPr id="35" name="矩形 34"/>
            <p:cNvSpPr/>
            <p:nvPr/>
          </p:nvSpPr>
          <p:spPr>
            <a:xfrm>
              <a:off x="0" y="314325"/>
              <a:ext cx="3357563" cy="364331"/>
            </a:xfrm>
            <a:prstGeom prst="rect">
              <a:avLst/>
            </a:prstGeom>
            <a:noFill/>
          </p:spPr>
        </p:sp>
        <p:sp>
          <p:nvSpPr>
            <p:cNvPr id="36" name="矩形 35"/>
            <p:cNvSpPr/>
            <p:nvPr/>
          </p:nvSpPr>
          <p:spPr>
            <a:xfrm>
              <a:off x="0" y="314325"/>
              <a:ext cx="21431" cy="364331"/>
            </a:xfrm>
            <a:prstGeom prst="rect">
              <a:avLst/>
            </a:prstGeom>
            <a:solidFill>
              <a:srgbClr val="5B9DFF"/>
            </a:solidFill>
          </p:spPr>
        </p:sp>
        <p:sp>
          <p:nvSpPr>
            <p:cNvPr id="37" name="矩形 36"/>
            <p:cNvSpPr/>
            <p:nvPr/>
          </p:nvSpPr>
          <p:spPr>
            <a:xfrm>
              <a:off x="135731" y="314325"/>
              <a:ext cx="3221831" cy="150019"/>
            </a:xfrm>
            <a:prstGeom prst="rect">
              <a:avLst/>
            </a:prstGeom>
            <a:noFill/>
          </p:spPr>
          <p:txBody>
            <a:bodyPr wrap="none" lIns="0" tIns="0" rIns="0" bIns="0" rtlCol="0" anchor="t"/>
            <a:lstStyle/>
            <a:p>
              <a:pPr marL="0" indent="0">
                <a:lnSpc>
                  <a:spcPct val="150000"/>
                </a:lnSpc>
                <a:buNone/>
              </a:pPr>
              <a:r>
                <a:rPr lang="zh-CN" sz="700" b="1" kern="0" spc="55" dirty="0">
                  <a:solidFill>
                    <a:srgbClr val="2E6EA6"/>
                  </a:solidFill>
                  <a:latin typeface="Arial" panose="020B0604020202020204" pitchFamily="34" charset="0"/>
                  <a:ea typeface="微软雅黑" panose="020B0503020204020204" pitchFamily="34" charset="-122"/>
                </a:rPr>
                <a:t>前端层 </a:t>
              </a:r>
              <a:r>
                <a:rPr lang="en-US" sz="700" b="1" kern="0" spc="55" dirty="0">
                  <a:solidFill>
                    <a:srgbClr val="2E6EA6"/>
                  </a:solidFill>
                  <a:latin typeface="Arial" panose="020B0604020202020204" pitchFamily="34" charset="0"/>
                </a:rPr>
                <a:t>FRONTEND</a:t>
              </a:r>
              <a:endParaRPr lang="en-US" sz="700" dirty="0"/>
            </a:p>
          </p:txBody>
        </p:sp>
        <p:sp>
          <p:nvSpPr>
            <p:cNvPr id="38" name="矩形 37"/>
            <p:cNvSpPr/>
            <p:nvPr/>
          </p:nvSpPr>
          <p:spPr>
            <a:xfrm>
              <a:off x="135731" y="507206"/>
              <a:ext cx="3221831" cy="171450"/>
            </a:xfrm>
            <a:prstGeom prst="rect">
              <a:avLst/>
            </a:prstGeom>
            <a:noFill/>
          </p:spPr>
          <p:txBody>
            <a:bodyPr wrap="none" lIns="0" tIns="0" rIns="0" bIns="0" rtlCol="0" anchor="t"/>
            <a:lstStyle/>
            <a:p>
              <a:pPr marL="0" indent="0">
                <a:lnSpc>
                  <a:spcPct val="160000"/>
                </a:lnSpc>
                <a:buNone/>
              </a:pPr>
              <a:r>
                <a:rPr lang="en-US" sz="800" dirty="0">
                  <a:solidFill>
                    <a:srgbClr val="1F2A37"/>
                  </a:solidFill>
                  <a:latin typeface="Arial" panose="020B0604020202020204" pitchFamily="34" charset="0"/>
                </a:rPr>
                <a:t>Vue 3 + TypeScript + Element Plus + Pinia + ECharts</a:t>
              </a:r>
              <a:endParaRPr lang="en-US" sz="800" dirty="0"/>
            </a:p>
          </p:txBody>
        </p:sp>
        <p:sp>
          <p:nvSpPr>
            <p:cNvPr id="39" name="矩形 38"/>
            <p:cNvSpPr/>
            <p:nvPr/>
          </p:nvSpPr>
          <p:spPr>
            <a:xfrm>
              <a:off x="0" y="821531"/>
              <a:ext cx="3357563" cy="364331"/>
            </a:xfrm>
            <a:prstGeom prst="rect">
              <a:avLst/>
            </a:prstGeom>
            <a:noFill/>
          </p:spPr>
        </p:sp>
        <p:sp>
          <p:nvSpPr>
            <p:cNvPr id="40" name="矩形 39"/>
            <p:cNvSpPr/>
            <p:nvPr/>
          </p:nvSpPr>
          <p:spPr>
            <a:xfrm>
              <a:off x="0" y="821531"/>
              <a:ext cx="21431" cy="364331"/>
            </a:xfrm>
            <a:prstGeom prst="rect">
              <a:avLst/>
            </a:prstGeom>
            <a:solidFill>
              <a:srgbClr val="5B9DFF"/>
            </a:solidFill>
          </p:spPr>
        </p:sp>
        <p:sp>
          <p:nvSpPr>
            <p:cNvPr id="41" name="矩形 40"/>
            <p:cNvSpPr/>
            <p:nvPr/>
          </p:nvSpPr>
          <p:spPr>
            <a:xfrm>
              <a:off x="135731" y="821531"/>
              <a:ext cx="3221831" cy="150019"/>
            </a:xfrm>
            <a:prstGeom prst="rect">
              <a:avLst/>
            </a:prstGeom>
            <a:noFill/>
          </p:spPr>
          <p:txBody>
            <a:bodyPr wrap="none" lIns="0" tIns="0" rIns="0" bIns="0" rtlCol="0" anchor="t"/>
            <a:lstStyle/>
            <a:p>
              <a:pPr marL="0" indent="0">
                <a:lnSpc>
                  <a:spcPct val="150000"/>
                </a:lnSpc>
                <a:buNone/>
              </a:pPr>
              <a:r>
                <a:rPr lang="zh-CN" sz="700" b="1" kern="0" spc="55" dirty="0">
                  <a:solidFill>
                    <a:srgbClr val="2E6EA6"/>
                  </a:solidFill>
                  <a:latin typeface="Arial" panose="020B0604020202020204" pitchFamily="34" charset="0"/>
                  <a:ea typeface="微软雅黑" panose="020B0503020204020204" pitchFamily="34" charset="-122"/>
                </a:rPr>
                <a:t>后端层 </a:t>
              </a:r>
              <a:r>
                <a:rPr lang="en-US" sz="700" b="1" kern="0" spc="55" dirty="0">
                  <a:solidFill>
                    <a:srgbClr val="2E6EA6"/>
                  </a:solidFill>
                  <a:latin typeface="Arial" panose="020B0604020202020204" pitchFamily="34" charset="0"/>
                </a:rPr>
                <a:t>BACKEND</a:t>
              </a:r>
              <a:endParaRPr lang="en-US" sz="700" dirty="0"/>
            </a:p>
          </p:txBody>
        </p:sp>
        <p:sp>
          <p:nvSpPr>
            <p:cNvPr id="42" name="矩形 41"/>
            <p:cNvSpPr/>
            <p:nvPr/>
          </p:nvSpPr>
          <p:spPr>
            <a:xfrm>
              <a:off x="135731" y="1014413"/>
              <a:ext cx="3221831" cy="171450"/>
            </a:xfrm>
            <a:prstGeom prst="rect">
              <a:avLst/>
            </a:prstGeom>
            <a:noFill/>
          </p:spPr>
          <p:txBody>
            <a:bodyPr wrap="none" lIns="0" tIns="0" rIns="0" bIns="0" rtlCol="0" anchor="t"/>
            <a:lstStyle/>
            <a:p>
              <a:pPr marL="0" indent="0">
                <a:lnSpc>
                  <a:spcPct val="160000"/>
                </a:lnSpc>
                <a:buNone/>
              </a:pPr>
              <a:r>
                <a:rPr lang="en-US" sz="800" dirty="0">
                  <a:solidFill>
                    <a:srgbClr val="1F2A37"/>
                  </a:solidFill>
                  <a:latin typeface="Arial" panose="020B0604020202020204" pitchFamily="34" charset="0"/>
                </a:rPr>
                <a:t>Python + Flask (Blueprint</a:t>
              </a:r>
              <a:r>
                <a:rPr lang="zh-CN" sz="800" dirty="0">
                  <a:solidFill>
                    <a:srgbClr val="1F2A37"/>
                  </a:solidFill>
                  <a:latin typeface="Arial" panose="020B0604020202020204" pitchFamily="34" charset="0"/>
                  <a:ea typeface="微软雅黑" panose="020B0503020204020204" pitchFamily="34" charset="-122"/>
                </a:rPr>
                <a:t>架构</a:t>
              </a:r>
              <a:r>
                <a:rPr lang="en-US" sz="800" dirty="0">
                  <a:solidFill>
                    <a:srgbClr val="1F2A37"/>
                  </a:solidFill>
                  <a:latin typeface="Arial" panose="020B0604020202020204" pitchFamily="34" charset="0"/>
                </a:rPr>
                <a:t>) + SSE (</a:t>
              </a:r>
              <a:r>
                <a:rPr lang="zh-CN" sz="800" dirty="0">
                  <a:solidFill>
                    <a:srgbClr val="1F2A37"/>
                  </a:solidFill>
                  <a:latin typeface="Arial" panose="020B0604020202020204" pitchFamily="34" charset="0"/>
                  <a:ea typeface="微软雅黑" panose="020B0503020204020204" pitchFamily="34" charset="-122"/>
                </a:rPr>
                <a:t>流式响应</a:t>
              </a:r>
              <a:r>
                <a:rPr lang="en-US" sz="800" dirty="0">
                  <a:solidFill>
                    <a:srgbClr val="1F2A37"/>
                  </a:solidFill>
                  <a:latin typeface="Arial" panose="020B0604020202020204" pitchFamily="34" charset="0"/>
                </a:rPr>
                <a:t>)</a:t>
              </a:r>
              <a:endParaRPr lang="en-US" sz="800" dirty="0"/>
            </a:p>
          </p:txBody>
        </p:sp>
        <p:sp>
          <p:nvSpPr>
            <p:cNvPr id="43" name="矩形 42"/>
            <p:cNvSpPr/>
            <p:nvPr/>
          </p:nvSpPr>
          <p:spPr>
            <a:xfrm>
              <a:off x="0" y="1328738"/>
              <a:ext cx="3357563" cy="564356"/>
            </a:xfrm>
            <a:prstGeom prst="rect">
              <a:avLst/>
            </a:prstGeom>
            <a:noFill/>
          </p:spPr>
        </p:sp>
        <p:sp>
          <p:nvSpPr>
            <p:cNvPr id="44" name="矩形 43"/>
            <p:cNvSpPr/>
            <p:nvPr/>
          </p:nvSpPr>
          <p:spPr>
            <a:xfrm>
              <a:off x="0" y="1328738"/>
              <a:ext cx="21431" cy="564356"/>
            </a:xfrm>
            <a:prstGeom prst="rect">
              <a:avLst/>
            </a:prstGeom>
            <a:solidFill>
              <a:srgbClr val="5B9DFF"/>
            </a:solidFill>
          </p:spPr>
        </p:sp>
        <p:sp>
          <p:nvSpPr>
            <p:cNvPr id="45" name="矩形 44"/>
            <p:cNvSpPr/>
            <p:nvPr/>
          </p:nvSpPr>
          <p:spPr>
            <a:xfrm>
              <a:off x="135731" y="1328738"/>
              <a:ext cx="3221831" cy="150019"/>
            </a:xfrm>
            <a:prstGeom prst="rect">
              <a:avLst/>
            </a:prstGeom>
            <a:noFill/>
          </p:spPr>
          <p:txBody>
            <a:bodyPr wrap="none" lIns="0" tIns="0" rIns="0" bIns="0" rtlCol="0" anchor="t"/>
            <a:lstStyle/>
            <a:p>
              <a:pPr marL="0" indent="0">
                <a:lnSpc>
                  <a:spcPct val="150000"/>
                </a:lnSpc>
                <a:buNone/>
              </a:pPr>
              <a:r>
                <a:rPr lang="zh-CN" sz="700" b="1" kern="0" spc="55" dirty="0">
                  <a:solidFill>
                    <a:srgbClr val="2E6EA6"/>
                  </a:solidFill>
                  <a:latin typeface="Arial" panose="020B0604020202020204" pitchFamily="34" charset="0"/>
                  <a:ea typeface="微软雅黑" panose="020B0503020204020204" pitchFamily="34" charset="-122"/>
                </a:rPr>
                <a:t>存储层 </a:t>
              </a:r>
              <a:r>
                <a:rPr lang="en-US" sz="700" b="1" kern="0" spc="55" dirty="0">
                  <a:solidFill>
                    <a:srgbClr val="2E6EA6"/>
                  </a:solidFill>
                  <a:latin typeface="Arial" panose="020B0604020202020204" pitchFamily="34" charset="0"/>
                </a:rPr>
                <a:t>STORAGE</a:t>
              </a:r>
              <a:endParaRPr lang="en-US" sz="700" dirty="0"/>
            </a:p>
          </p:txBody>
        </p:sp>
        <p:sp>
          <p:nvSpPr>
            <p:cNvPr id="46" name="矩形 45"/>
            <p:cNvSpPr/>
            <p:nvPr/>
          </p:nvSpPr>
          <p:spPr>
            <a:xfrm>
              <a:off x="557212" y="1543050"/>
              <a:ext cx="1282192" cy="121444"/>
            </a:xfrm>
            <a:prstGeom prst="rect">
              <a:avLst/>
            </a:prstGeom>
            <a:noFill/>
          </p:spPr>
          <p:txBody>
            <a:bodyPr wrap="none" lIns="0" tIns="0" rIns="0" bIns="0" rtlCol="0" anchor="t"/>
            <a:lstStyle/>
            <a:p>
              <a:pPr marL="0" indent="0">
                <a:lnSpc>
                  <a:spcPct val="160000"/>
                </a:lnSpc>
                <a:buNone/>
              </a:pPr>
              <a:r>
                <a:rPr lang="en-US" sz="800" dirty="0">
                  <a:solidFill>
                    <a:srgbClr val="1F2A37"/>
                  </a:solidFill>
                  <a:latin typeface="Arial" panose="020B0604020202020204" pitchFamily="34" charset="0"/>
                </a:rPr>
                <a:t>MySQL 8 (</a:t>
              </a:r>
              <a:r>
                <a:rPr lang="zh-CN" sz="800" dirty="0">
                  <a:solidFill>
                    <a:srgbClr val="1F2A37"/>
                  </a:solidFill>
                  <a:latin typeface="Arial" panose="020B0604020202020204" pitchFamily="34" charset="0"/>
                  <a:ea typeface="微软雅黑" panose="020B0503020204020204" pitchFamily="34" charset="-122"/>
                </a:rPr>
                <a:t>默认</a:t>
              </a:r>
              <a:r>
                <a:rPr lang="en-US" sz="800" dirty="0">
                  <a:solidFill>
                    <a:srgbClr val="1F2A37"/>
                  </a:solidFill>
                  <a:latin typeface="Arial" panose="020B0604020202020204" pitchFamily="34" charset="0"/>
                </a:rPr>
                <a:t>) </a:t>
              </a:r>
              <a:r>
                <a:rPr lang="zh-CN" sz="800" dirty="0">
                  <a:solidFill>
                    <a:srgbClr val="1F2A37"/>
                  </a:solidFill>
                  <a:latin typeface="Arial" panose="020B0604020202020204" pitchFamily="34" charset="0"/>
                  <a:ea typeface="微软雅黑" panose="020B0503020204020204" pitchFamily="34" charset="-122"/>
                </a:rPr>
                <a:t>或 </a:t>
              </a:r>
              <a:r>
                <a:rPr lang="en-US" sz="800" dirty="0">
                  <a:solidFill>
                    <a:srgbClr val="1F2A37"/>
                  </a:solidFill>
                  <a:latin typeface="Arial" panose="020B0604020202020204" pitchFamily="34" charset="0"/>
                </a:rPr>
                <a:t>SQLite</a:t>
              </a:r>
              <a:endParaRPr lang="en-US" sz="800" dirty="0"/>
            </a:p>
          </p:txBody>
        </p:sp>
        <p:sp>
          <p:nvSpPr>
            <p:cNvPr id="47" name="圆角矩形 46"/>
            <p:cNvSpPr/>
            <p:nvPr/>
          </p:nvSpPr>
          <p:spPr>
            <a:xfrm>
              <a:off x="135731" y="1543050"/>
              <a:ext cx="392906" cy="135731"/>
            </a:xfrm>
            <a:prstGeom prst="roundRect">
              <a:avLst>
                <a:gd name="adj" fmla="val 21053"/>
              </a:avLst>
            </a:prstGeom>
            <a:solidFill>
              <a:srgbClr val="DCEAF5"/>
            </a:solidFill>
          </p:spPr>
          <p:txBody>
            <a:bodyPr wrap="none" lIns="57150" tIns="14288" rIns="57150" bIns="14288" rtlCol="0" anchor="t"/>
            <a:lstStyle/>
            <a:p>
              <a:pPr marL="0" indent="0">
                <a:lnSpc>
                  <a:spcPct val="160000"/>
                </a:lnSpc>
                <a:buNone/>
              </a:pPr>
              <a:r>
                <a:rPr lang="zh-CN" sz="800" b="1" dirty="0">
                  <a:solidFill>
                    <a:srgbClr val="2E6EA6"/>
                  </a:solidFill>
                  <a:latin typeface="Arial" panose="020B0604020202020204" pitchFamily="34" charset="0"/>
                  <a:ea typeface="微软雅黑" panose="020B0503020204020204" pitchFamily="34" charset="-122"/>
                </a:rPr>
                <a:t>关系型</a:t>
              </a:r>
              <a:endParaRPr lang="en-US" sz="800" dirty="0"/>
            </a:p>
          </p:txBody>
        </p:sp>
        <p:sp>
          <p:nvSpPr>
            <p:cNvPr id="48" name="矩形 47"/>
            <p:cNvSpPr/>
            <p:nvPr/>
          </p:nvSpPr>
          <p:spPr>
            <a:xfrm>
              <a:off x="557212" y="1743075"/>
              <a:ext cx="2048024" cy="121444"/>
            </a:xfrm>
            <a:prstGeom prst="rect">
              <a:avLst/>
            </a:prstGeom>
            <a:noFill/>
          </p:spPr>
          <p:txBody>
            <a:bodyPr wrap="none" lIns="0" tIns="0" rIns="0" bIns="0" rtlCol="0" anchor="t"/>
            <a:lstStyle/>
            <a:p>
              <a:pPr marL="0" indent="0">
                <a:lnSpc>
                  <a:spcPct val="160000"/>
                </a:lnSpc>
                <a:buNone/>
              </a:pPr>
              <a:r>
                <a:rPr lang="en-US" sz="800" dirty="0">
                  <a:solidFill>
                    <a:srgbClr val="1F2A37"/>
                  </a:solidFill>
                  <a:latin typeface="Arial" panose="020B0604020202020204" pitchFamily="34" charset="0"/>
                </a:rPr>
                <a:t>Milvus (</a:t>
              </a:r>
              <a:r>
                <a:rPr lang="zh-CN" sz="800" dirty="0">
                  <a:solidFill>
                    <a:srgbClr val="1F2A37"/>
                  </a:solidFill>
                  <a:latin typeface="Arial" panose="020B0604020202020204" pitchFamily="34" charset="0"/>
                  <a:ea typeface="微软雅黑" panose="020B0503020204020204" pitchFamily="34" charset="-122"/>
                </a:rPr>
                <a:t>高性能</a:t>
              </a:r>
              <a:r>
                <a:rPr lang="en-US" sz="800" dirty="0">
                  <a:solidFill>
                    <a:srgbClr val="1F2A37"/>
                  </a:solidFill>
                  <a:latin typeface="Arial" panose="020B0604020202020204" pitchFamily="34" charset="0"/>
                </a:rPr>
                <a:t>) </a:t>
              </a:r>
              <a:r>
                <a:rPr lang="zh-CN" sz="800" dirty="0">
                  <a:solidFill>
                    <a:srgbClr val="1F2A37"/>
                  </a:solidFill>
                  <a:latin typeface="Arial" panose="020B0604020202020204" pitchFamily="34" charset="0"/>
                  <a:ea typeface="微软雅黑" panose="020B0503020204020204" pitchFamily="34" charset="-122"/>
                </a:rPr>
                <a:t>或 </a:t>
              </a:r>
              <a:r>
                <a:rPr lang="en-US" sz="800" dirty="0">
                  <a:solidFill>
                    <a:srgbClr val="1F2A37"/>
                  </a:solidFill>
                  <a:latin typeface="Arial" panose="020B0604020202020204" pitchFamily="34" charset="0"/>
                </a:rPr>
                <a:t>NumpyStore (</a:t>
              </a:r>
              <a:r>
                <a:rPr lang="zh-CN" sz="800" dirty="0">
                  <a:solidFill>
                    <a:srgbClr val="1F2A37"/>
                  </a:solidFill>
                  <a:latin typeface="Arial" panose="020B0604020202020204" pitchFamily="34" charset="0"/>
                  <a:ea typeface="微软雅黑" panose="020B0503020204020204" pitchFamily="34" charset="-122"/>
                </a:rPr>
                <a:t>本地兜底</a:t>
              </a:r>
              <a:r>
                <a:rPr lang="en-US" sz="800" dirty="0">
                  <a:solidFill>
                    <a:srgbClr val="1F2A37"/>
                  </a:solidFill>
                  <a:latin typeface="Arial" panose="020B0604020202020204" pitchFamily="34" charset="0"/>
                </a:rPr>
                <a:t>)</a:t>
              </a:r>
              <a:endParaRPr lang="en-US" sz="800" dirty="0"/>
            </a:p>
          </p:txBody>
        </p:sp>
        <p:sp>
          <p:nvSpPr>
            <p:cNvPr id="49" name="圆角矩形 48"/>
            <p:cNvSpPr/>
            <p:nvPr/>
          </p:nvSpPr>
          <p:spPr>
            <a:xfrm>
              <a:off x="135731" y="1743075"/>
              <a:ext cx="392906" cy="135731"/>
            </a:xfrm>
            <a:prstGeom prst="roundRect">
              <a:avLst>
                <a:gd name="adj" fmla="val 21053"/>
              </a:avLst>
            </a:prstGeom>
            <a:solidFill>
              <a:srgbClr val="DCEAF5"/>
            </a:solidFill>
          </p:spPr>
          <p:txBody>
            <a:bodyPr wrap="none" lIns="57150" tIns="14288" rIns="57150" bIns="14288" rtlCol="0" anchor="t"/>
            <a:lstStyle/>
            <a:p>
              <a:pPr marL="0" indent="0">
                <a:lnSpc>
                  <a:spcPct val="160000"/>
                </a:lnSpc>
                <a:buNone/>
              </a:pPr>
              <a:r>
                <a:rPr lang="zh-CN" sz="800" b="1" dirty="0">
                  <a:solidFill>
                    <a:srgbClr val="2E6EA6"/>
                  </a:solidFill>
                  <a:latin typeface="Arial" panose="020B0604020202020204" pitchFamily="34" charset="0"/>
                  <a:ea typeface="微软雅黑" panose="020B0503020204020204" pitchFamily="34" charset="-122"/>
                </a:rPr>
                <a:t>向量型</a:t>
              </a:r>
              <a:endParaRPr lang="en-US" sz="800" dirty="0"/>
            </a:p>
          </p:txBody>
        </p:sp>
        <p:sp>
          <p:nvSpPr>
            <p:cNvPr id="50" name="矩形 49"/>
            <p:cNvSpPr/>
            <p:nvPr/>
          </p:nvSpPr>
          <p:spPr>
            <a:xfrm>
              <a:off x="0" y="2035969"/>
              <a:ext cx="3357563" cy="535781"/>
            </a:xfrm>
            <a:prstGeom prst="rect">
              <a:avLst/>
            </a:prstGeom>
            <a:noFill/>
          </p:spPr>
        </p:sp>
        <p:sp>
          <p:nvSpPr>
            <p:cNvPr id="51" name="矩形 50"/>
            <p:cNvSpPr/>
            <p:nvPr/>
          </p:nvSpPr>
          <p:spPr>
            <a:xfrm>
              <a:off x="0" y="2035969"/>
              <a:ext cx="21431" cy="535781"/>
            </a:xfrm>
            <a:prstGeom prst="rect">
              <a:avLst/>
            </a:prstGeom>
            <a:solidFill>
              <a:srgbClr val="5B9DFF"/>
            </a:solidFill>
          </p:spPr>
        </p:sp>
        <p:sp>
          <p:nvSpPr>
            <p:cNvPr id="52" name="矩形 51"/>
            <p:cNvSpPr/>
            <p:nvPr/>
          </p:nvSpPr>
          <p:spPr>
            <a:xfrm>
              <a:off x="135731" y="2035969"/>
              <a:ext cx="3221831" cy="150019"/>
            </a:xfrm>
            <a:prstGeom prst="rect">
              <a:avLst/>
            </a:prstGeom>
            <a:noFill/>
          </p:spPr>
          <p:txBody>
            <a:bodyPr wrap="none" lIns="0" tIns="0" rIns="0" bIns="0" rtlCol="0" anchor="t"/>
            <a:lstStyle/>
            <a:p>
              <a:pPr marL="0" indent="0">
                <a:lnSpc>
                  <a:spcPct val="150000"/>
                </a:lnSpc>
                <a:buNone/>
              </a:pPr>
              <a:r>
                <a:rPr lang="en-US" sz="700" b="1" kern="0" spc="55" dirty="0">
                  <a:solidFill>
                    <a:srgbClr val="2E6EA6"/>
                  </a:solidFill>
                  <a:latin typeface="Arial" panose="020B0604020202020204" pitchFamily="34" charset="0"/>
                </a:rPr>
                <a:t>AI</a:t>
              </a:r>
              <a:r>
                <a:rPr lang="zh-CN" sz="700" b="1" kern="0" spc="55" dirty="0">
                  <a:solidFill>
                    <a:srgbClr val="2E6EA6"/>
                  </a:solidFill>
                  <a:latin typeface="Arial" panose="020B0604020202020204" pitchFamily="34" charset="0"/>
                  <a:ea typeface="微软雅黑" panose="020B0503020204020204" pitchFamily="34" charset="-122"/>
                </a:rPr>
                <a:t>与</a:t>
              </a:r>
              <a:r>
                <a:rPr lang="en-US" sz="700" b="1" kern="0" spc="55" dirty="0">
                  <a:solidFill>
                    <a:srgbClr val="2E6EA6"/>
                  </a:solidFill>
                  <a:latin typeface="Arial" panose="020B0604020202020204" pitchFamily="34" charset="0"/>
                </a:rPr>
                <a:t>RAG</a:t>
              </a:r>
              <a:r>
                <a:rPr lang="zh-CN" sz="700" b="1" kern="0" spc="55" dirty="0">
                  <a:solidFill>
                    <a:srgbClr val="2E6EA6"/>
                  </a:solidFill>
                  <a:latin typeface="Arial" panose="020B0604020202020204" pitchFamily="34" charset="0"/>
                  <a:ea typeface="微软雅黑" panose="020B0503020204020204" pitchFamily="34" charset="-122"/>
                </a:rPr>
                <a:t>层 </a:t>
              </a:r>
              <a:r>
                <a:rPr lang="en-US" sz="700" b="1" kern="0" spc="55" dirty="0">
                  <a:solidFill>
                    <a:srgbClr val="2E6EA6"/>
                  </a:solidFill>
                  <a:latin typeface="Arial" panose="020B0604020202020204" pitchFamily="34" charset="0"/>
                </a:rPr>
                <a:t>INTELLIGENCE</a:t>
              </a:r>
              <a:endParaRPr lang="en-US" sz="700" dirty="0"/>
            </a:p>
          </p:txBody>
        </p:sp>
        <p:sp>
          <p:nvSpPr>
            <p:cNvPr id="53" name="矩形 52"/>
            <p:cNvSpPr/>
            <p:nvPr/>
          </p:nvSpPr>
          <p:spPr>
            <a:xfrm>
              <a:off x="135731" y="2228850"/>
              <a:ext cx="3221831" cy="342900"/>
            </a:xfrm>
            <a:prstGeom prst="rect">
              <a:avLst/>
            </a:prstGeom>
            <a:noFill/>
          </p:spPr>
          <p:txBody>
            <a:bodyPr wrap="square" lIns="0" tIns="0" rIns="0" bIns="0" rtlCol="0" anchor="t"/>
            <a:lstStyle/>
            <a:p>
              <a:pPr marL="0" indent="0">
                <a:lnSpc>
                  <a:spcPct val="160000"/>
                </a:lnSpc>
                <a:buNone/>
              </a:pPr>
              <a:r>
                <a:rPr lang="zh-CN" sz="800" dirty="0">
                  <a:solidFill>
                    <a:srgbClr val="1F2A37"/>
                  </a:solidFill>
                  <a:latin typeface="Arial" panose="020B0604020202020204" pitchFamily="34" charset="0"/>
                  <a:ea typeface="微软雅黑" panose="020B0503020204020204" pitchFamily="34" charset="-122"/>
                </a:rPr>
                <a:t>适配 </a:t>
              </a:r>
              <a:r>
                <a:rPr lang="en-US" sz="800" dirty="0">
                  <a:solidFill>
                    <a:srgbClr val="1F2A37"/>
                  </a:solidFill>
                  <a:latin typeface="Arial" panose="020B0604020202020204" pitchFamily="34" charset="0"/>
                </a:rPr>
                <a:t>OpenAI </a:t>
              </a:r>
              <a:r>
                <a:rPr lang="zh-CN" sz="800" dirty="0">
                  <a:solidFill>
                    <a:srgbClr val="1F2A37"/>
                  </a:solidFill>
                  <a:latin typeface="Arial" panose="020B0604020202020204" pitchFamily="34" charset="0"/>
                  <a:ea typeface="微软雅黑" panose="020B0503020204020204" pitchFamily="34" charset="-122"/>
                </a:rPr>
                <a:t>兼容接口，使用 </a:t>
              </a:r>
              <a:r>
                <a:rPr lang="en-US" sz="800" b="1" dirty="0">
                  <a:solidFill>
                    <a:srgbClr val="1D4ED8"/>
                  </a:solidFill>
                  <a:highlight>
                    <a:srgbClr val="EFF6FF"/>
                  </a:highlight>
                  <a:latin typeface="Arial" panose="020B0604020202020204" pitchFamily="34" charset="0"/>
                </a:rPr>
                <a:t> BAAI/bge-large-zh-v1.5 </a:t>
              </a:r>
              <a:r>
                <a:rPr lang="en-US" sz="800" dirty="0">
                  <a:solidFill>
                    <a:srgbClr val="1F2A37"/>
                  </a:solidFill>
                  <a:latin typeface="Arial" panose="020B0604020202020204" pitchFamily="34" charset="0"/>
                </a:rPr>
                <a:t> </a:t>
              </a:r>
              <a:r>
                <a:rPr lang="zh-CN" sz="800" dirty="0">
                  <a:solidFill>
                    <a:srgbClr val="1F2A37"/>
                  </a:solidFill>
                  <a:latin typeface="Arial" panose="020B0604020202020204" pitchFamily="34" charset="0"/>
                  <a:ea typeface="微软雅黑" panose="020B0503020204020204" pitchFamily="34" charset="-122"/>
                </a:rPr>
                <a:t>进行高精度语义向量化。</a:t>
              </a:r>
              <a:endParaRPr lang="en-US" sz="800" dirty="0"/>
            </a:p>
          </p:txBody>
        </p:sp>
      </p:grpSp>
    </p:spTree>
  </p:cSld>
  <p:clrMapOvr>
    <a:overrideClrMapping bg1="lt1" tx1="dk1" bg2="lt2" tx2="dk2" accent1="accent1" accent2="accent2" accent3="accent3" accent4="accent4" accent5="accent5" accent6="accent6" hlink="hlink" folHlink="folHlink"/>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fade">
                                      <p:cBhvr>
                                        <p:cTn id="7" dur="600"/>
                                        <p:tgtEl>
                                          <p:spTgt spid="54"/>
                                        </p:tgtEl>
                                      </p:cBhvr>
                                    </p:animEffect>
                                  </p:childTnLst>
                                </p:cTn>
                              </p:par>
                              <p:par>
                                <p:cTn id="8" presetID="2" presetClass="entr" presetSubtype="4" fill="hold" grpId="0" nodeType="withEffect">
                                  <p:stCondLst>
                                    <p:cond delay="0"/>
                                  </p:stCondLst>
                                  <p:childTnLst>
                                    <p:set>
                                      <p:cBhvr>
                                        <p:cTn id="9" dur="1" fill="hold">
                                          <p:stCondLst>
                                            <p:cond delay="0"/>
                                          </p:stCondLst>
                                        </p:cTn>
                                        <p:tgtEl>
                                          <p:spTgt spid="54"/>
                                        </p:tgtEl>
                                        <p:attrNameLst>
                                          <p:attrName>style.visibility</p:attrName>
                                        </p:attrNameLst>
                                      </p:cBhvr>
                                      <p:to>
                                        <p:strVal val="visible"/>
                                      </p:to>
                                    </p:set>
                                    <p:anim calcmode="lin" valueType="num">
                                      <p:cBhvr additive="base">
                                        <p:cTn id="10" dur="600" fill="hold"/>
                                        <p:tgtEl>
                                          <p:spTgt spid="54"/>
                                        </p:tgtEl>
                                        <p:attrNameLst>
                                          <p:attrName>ppt_x</p:attrName>
                                        </p:attrNameLst>
                                      </p:cBhvr>
                                      <p:tavLst>
                                        <p:tav tm="0">
                                          <p:val>
                                            <p:strVal val="#ppt_x"/>
                                          </p:val>
                                        </p:tav>
                                        <p:tav tm="100000">
                                          <p:val>
                                            <p:strVal val="#ppt_x"/>
                                          </p:val>
                                        </p:tav>
                                      </p:tavLst>
                                    </p:anim>
                                    <p:anim calcmode="lin" valueType="num">
                                      <p:cBhvr additive="base">
                                        <p:cTn id="11" dur="600" fill="hold"/>
                                        <p:tgtEl>
                                          <p:spTgt spid="54"/>
                                        </p:tgtEl>
                                        <p:attrNameLst>
                                          <p:attrName>ppt_y</p:attrName>
                                        </p:attrNameLst>
                                      </p:cBhvr>
                                      <p:tavLst>
                                        <p:tav tm="0">
                                          <p:val>
                                            <p:strVal val="1+#ppt_h/2"/>
                                          </p:val>
                                        </p:tav>
                                        <p:tav tm="100000">
                                          <p:val>
                                            <p:strVal val="#ppt_y"/>
                                          </p:val>
                                        </p:tav>
                                      </p:tavLst>
                                    </p:anim>
                                  </p:childTnLst>
                                </p:cTn>
                              </p:par>
                            </p:childTnLst>
                          </p:cTn>
                        </p:par>
                        <p:par>
                          <p:cTn id="12" fill="hold">
                            <p:stCondLst>
                              <p:cond delay="1000"/>
                            </p:stCondLst>
                            <p:childTnLst>
                              <p:par>
                                <p:cTn id="13" presetID="10" presetClass="entr" presetSubtype="0" fill="hold" grpId="0" nodeType="afterEffect">
                                  <p:stCondLst>
                                    <p:cond delay="200"/>
                                  </p:stCondLst>
                                  <p:childTnLst>
                                    <p:set>
                                      <p:cBhvr>
                                        <p:cTn id="14" dur="1" fill="hold">
                                          <p:stCondLst>
                                            <p:cond delay="0"/>
                                          </p:stCondLst>
                                        </p:cTn>
                                        <p:tgtEl>
                                          <p:spTgt spid="55"/>
                                        </p:tgtEl>
                                        <p:attrNameLst>
                                          <p:attrName>style.visibility</p:attrName>
                                        </p:attrNameLst>
                                      </p:cBhvr>
                                      <p:to>
                                        <p:strVal val="visible"/>
                                      </p:to>
                                    </p:set>
                                    <p:animEffect transition="in" filter="fade">
                                      <p:cBhvr>
                                        <p:cTn id="15" dur="600"/>
                                        <p:tgtEl>
                                          <p:spTgt spid="55"/>
                                        </p:tgtEl>
                                      </p:cBhvr>
                                    </p:animEffect>
                                  </p:childTnLst>
                                </p:cTn>
                              </p:par>
                              <p:par>
                                <p:cTn id="16" presetID="2" presetClass="entr" presetSubtype="4" fill="hold" grpId="0" nodeType="withEffect">
                                  <p:stCondLst>
                                    <p:cond delay="200"/>
                                  </p:stCondLst>
                                  <p:childTnLst>
                                    <p:set>
                                      <p:cBhvr>
                                        <p:cTn id="17" dur="1" fill="hold">
                                          <p:stCondLst>
                                            <p:cond delay="0"/>
                                          </p:stCondLst>
                                        </p:cTn>
                                        <p:tgtEl>
                                          <p:spTgt spid="55"/>
                                        </p:tgtEl>
                                        <p:attrNameLst>
                                          <p:attrName>style.visibility</p:attrName>
                                        </p:attrNameLst>
                                      </p:cBhvr>
                                      <p:to>
                                        <p:strVal val="visible"/>
                                      </p:to>
                                    </p:set>
                                    <p:anim calcmode="lin" valueType="num">
                                      <p:cBhvr additive="base">
                                        <p:cTn id="18" dur="600" fill="hold"/>
                                        <p:tgtEl>
                                          <p:spTgt spid="55"/>
                                        </p:tgtEl>
                                        <p:attrNameLst>
                                          <p:attrName>ppt_x</p:attrName>
                                        </p:attrNameLst>
                                      </p:cBhvr>
                                      <p:tavLst>
                                        <p:tav tm="0">
                                          <p:val>
                                            <p:strVal val="#ppt_x"/>
                                          </p:val>
                                        </p:tav>
                                        <p:tav tm="100000">
                                          <p:val>
                                            <p:strVal val="#ppt_x"/>
                                          </p:val>
                                        </p:tav>
                                      </p:tavLst>
                                    </p:anim>
                                    <p:anim calcmode="lin" valueType="num">
                                      <p:cBhvr additive="base">
                                        <p:cTn id="19" dur="600" fill="hold"/>
                                        <p:tgtEl>
                                          <p:spTgt spid="55"/>
                                        </p:tgtEl>
                                        <p:attrNameLst>
                                          <p:attrName>ppt_y</p:attrName>
                                        </p:attrNameLst>
                                      </p:cBhvr>
                                      <p:tavLst>
                                        <p:tav tm="0">
                                          <p:val>
                                            <p:strVal val="1+#ppt_h/2"/>
                                          </p:val>
                                        </p:tav>
                                        <p:tav tm="100000">
                                          <p:val>
                                            <p:strVal val="#ppt_y"/>
                                          </p:val>
                                        </p:tav>
                                      </p:tavLst>
                                    </p:anim>
                                  </p:childTnLst>
                                </p:cTn>
                              </p:par>
                            </p:childTnLst>
                          </p:cTn>
                        </p:par>
                        <p:par>
                          <p:cTn id="20" fill="hold">
                            <p:stCondLst>
                              <p:cond delay="2200"/>
                            </p:stCondLst>
                            <p:childTnLst>
                              <p:par>
                                <p:cTn id="21" presetID="10" presetClass="entr" presetSubtype="0" fill="hold" grpId="0" nodeType="afterEffect">
                                  <p:stCondLst>
                                    <p:cond delay="400"/>
                                  </p:stCondLst>
                                  <p:childTnLst>
                                    <p:set>
                                      <p:cBhvr>
                                        <p:cTn id="22" dur="1" fill="hold">
                                          <p:stCondLst>
                                            <p:cond delay="0"/>
                                          </p:stCondLst>
                                        </p:cTn>
                                        <p:tgtEl>
                                          <p:spTgt spid="56"/>
                                        </p:tgtEl>
                                        <p:attrNameLst>
                                          <p:attrName>style.visibility</p:attrName>
                                        </p:attrNameLst>
                                      </p:cBhvr>
                                      <p:to>
                                        <p:strVal val="visible"/>
                                      </p:to>
                                    </p:set>
                                    <p:animEffect transition="in" filter="fade">
                                      <p:cBhvr>
                                        <p:cTn id="23" dur="600"/>
                                        <p:tgtEl>
                                          <p:spTgt spid="56"/>
                                        </p:tgtEl>
                                      </p:cBhvr>
                                    </p:animEffect>
                                  </p:childTnLst>
                                </p:cTn>
                              </p:par>
                              <p:par>
                                <p:cTn id="24" presetID="2" presetClass="entr" presetSubtype="4" fill="hold" grpId="0" nodeType="withEffect">
                                  <p:stCondLst>
                                    <p:cond delay="400"/>
                                  </p:stCondLst>
                                  <p:childTnLst>
                                    <p:set>
                                      <p:cBhvr>
                                        <p:cTn id="25" dur="1" fill="hold">
                                          <p:stCondLst>
                                            <p:cond delay="0"/>
                                          </p:stCondLst>
                                        </p:cTn>
                                        <p:tgtEl>
                                          <p:spTgt spid="56"/>
                                        </p:tgtEl>
                                        <p:attrNameLst>
                                          <p:attrName>style.visibility</p:attrName>
                                        </p:attrNameLst>
                                      </p:cBhvr>
                                      <p:to>
                                        <p:strVal val="visible"/>
                                      </p:to>
                                    </p:set>
                                    <p:anim calcmode="lin" valueType="num">
                                      <p:cBhvr additive="base">
                                        <p:cTn id="26" dur="600" fill="hold"/>
                                        <p:tgtEl>
                                          <p:spTgt spid="56"/>
                                        </p:tgtEl>
                                        <p:attrNameLst>
                                          <p:attrName>ppt_x</p:attrName>
                                        </p:attrNameLst>
                                      </p:cBhvr>
                                      <p:tavLst>
                                        <p:tav tm="0">
                                          <p:val>
                                            <p:strVal val="#ppt_x"/>
                                          </p:val>
                                        </p:tav>
                                        <p:tav tm="100000">
                                          <p:val>
                                            <p:strVal val="#ppt_x"/>
                                          </p:val>
                                        </p:tav>
                                      </p:tavLst>
                                    </p:anim>
                                    <p:anim calcmode="lin" valueType="num">
                                      <p:cBhvr additive="base">
                                        <p:cTn id="27" dur="600" fill="hold"/>
                                        <p:tgtEl>
                                          <p:spTgt spid="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55" grpId="0" animBg="1"/>
      <p:bldP spid="5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342900" y="342900"/>
            <a:ext cx="8458200" cy="635794"/>
          </a:xfrm>
          <a:prstGeom prst="rect">
            <a:avLst/>
          </a:prstGeom>
          <a:noFill/>
        </p:spPr>
      </p:sp>
      <p:sp>
        <p:nvSpPr>
          <p:cNvPr id="4" name="Shape 1"/>
          <p:cNvSpPr/>
          <p:nvPr/>
        </p:nvSpPr>
        <p:spPr>
          <a:xfrm>
            <a:off x="342900" y="971550"/>
            <a:ext cx="8458200" cy="7144"/>
          </a:xfrm>
          <a:prstGeom prst="rect">
            <a:avLst/>
          </a:prstGeom>
          <a:solidFill>
            <a:srgbClr val="2E6EA6">
              <a:alpha val="14000"/>
            </a:srgbClr>
          </a:solidFill>
        </p:spPr>
      </p:sp>
      <p:sp>
        <p:nvSpPr>
          <p:cNvPr id="5" name="Text 2"/>
          <p:cNvSpPr/>
          <p:nvPr/>
        </p:nvSpPr>
        <p:spPr>
          <a:xfrm>
            <a:off x="342900" y="342900"/>
            <a:ext cx="3038773" cy="342900"/>
          </a:xfrm>
          <a:prstGeom prst="rect">
            <a:avLst/>
          </a:prstGeom>
          <a:noFill/>
        </p:spPr>
        <p:txBody>
          <a:bodyPr wrap="none" lIns="0" tIns="0" rIns="0" bIns="0" rtlCol="0" anchor="t"/>
          <a:lstStyle/>
          <a:p>
            <a:pPr marL="0" indent="0">
              <a:lnSpc>
                <a:spcPct val="150000"/>
              </a:lnSpc>
              <a:buNone/>
            </a:pPr>
            <a:r>
              <a:rPr lang="zh-CN" sz="1700" b="1" kern="0" spc="50" dirty="0">
                <a:solidFill>
                  <a:srgbClr val="2E6EA6"/>
                </a:solidFill>
                <a:latin typeface="Arial" panose="020B0604020202020204" pitchFamily="34" charset="0"/>
                <a:ea typeface="微软雅黑" panose="020B0503020204020204" pitchFamily="34" charset="-122"/>
              </a:rPr>
              <a:t>数据库设计与 </a:t>
            </a:r>
            <a:r>
              <a:rPr lang="en-US" sz="1700" b="1" kern="0" spc="50" dirty="0">
                <a:solidFill>
                  <a:srgbClr val="2E6EA6"/>
                </a:solidFill>
                <a:latin typeface="Arial" panose="020B0604020202020204" pitchFamily="34" charset="0"/>
              </a:rPr>
              <a:t>11 </a:t>
            </a:r>
            <a:r>
              <a:rPr lang="zh-CN" sz="1700" b="1" kern="0" spc="50" dirty="0">
                <a:solidFill>
                  <a:srgbClr val="2E6EA6"/>
                </a:solidFill>
                <a:latin typeface="Arial" panose="020B0604020202020204" pitchFamily="34" charset="0"/>
                <a:ea typeface="微软雅黑" panose="020B0503020204020204" pitchFamily="34" charset="-122"/>
              </a:rPr>
              <a:t>张核心数据表</a:t>
            </a:r>
            <a:endParaRPr lang="en-US" sz="1700" dirty="0"/>
          </a:p>
        </p:txBody>
      </p:sp>
      <p:sp>
        <p:nvSpPr>
          <p:cNvPr id="6" name="Text 3"/>
          <p:cNvSpPr/>
          <p:nvPr/>
        </p:nvSpPr>
        <p:spPr>
          <a:xfrm>
            <a:off x="342900" y="714375"/>
            <a:ext cx="3038773" cy="142875"/>
          </a:xfrm>
          <a:prstGeom prst="rect">
            <a:avLst/>
          </a:prstGeom>
          <a:noFill/>
        </p:spPr>
        <p:txBody>
          <a:bodyPr wrap="none" lIns="0" tIns="0" rIns="0" bIns="0" rtlCol="0" anchor="t"/>
          <a:lstStyle/>
          <a:p>
            <a:pPr marL="0" indent="0">
              <a:lnSpc>
                <a:spcPct val="143000"/>
              </a:lnSpc>
              <a:buNone/>
            </a:pPr>
            <a:r>
              <a:rPr lang="zh-CN" sz="700" dirty="0">
                <a:solidFill>
                  <a:srgbClr val="64748B"/>
                </a:solidFill>
                <a:latin typeface="Arial" panose="020B0604020202020204" pitchFamily="34" charset="0"/>
                <a:ea typeface="微软雅黑" panose="020B0503020204020204" pitchFamily="34" charset="-122"/>
              </a:rPr>
              <a:t>基于 </a:t>
            </a:r>
            <a:r>
              <a:rPr lang="en-US" sz="700" dirty="0">
                <a:solidFill>
                  <a:srgbClr val="64748B"/>
                </a:solidFill>
                <a:latin typeface="Arial" panose="020B0604020202020204" pitchFamily="34" charset="0"/>
              </a:rPr>
              <a:t>MySQL 8 </a:t>
            </a:r>
            <a:r>
              <a:rPr lang="zh-CN" sz="700" dirty="0">
                <a:solidFill>
                  <a:srgbClr val="64748B"/>
                </a:solidFill>
                <a:latin typeface="Arial" panose="020B0604020202020204" pitchFamily="34" charset="0"/>
                <a:ea typeface="微软雅黑" panose="020B0503020204020204" pitchFamily="34" charset="-122"/>
              </a:rPr>
              <a:t>的结构化数据持久化架构</a:t>
            </a:r>
            <a:endParaRPr lang="en-US" sz="700" dirty="0"/>
          </a:p>
        </p:txBody>
      </p:sp>
      <p:sp>
        <p:nvSpPr>
          <p:cNvPr id="7" name="Shape 4"/>
          <p:cNvSpPr/>
          <p:nvPr/>
        </p:nvSpPr>
        <p:spPr>
          <a:xfrm>
            <a:off x="6928991" y="621506"/>
            <a:ext cx="825661" cy="235744"/>
          </a:xfrm>
          <a:prstGeom prst="roundRect">
            <a:avLst>
              <a:gd name="adj" fmla="val 18182"/>
            </a:avLst>
          </a:prstGeom>
          <a:solidFill>
            <a:srgbClr val="DCEAF5"/>
          </a:solidFill>
        </p:spPr>
      </p:sp>
      <p:sp>
        <p:nvSpPr>
          <p:cNvPr id="8" name="Text 5"/>
          <p:cNvSpPr/>
          <p:nvPr/>
        </p:nvSpPr>
        <p:spPr>
          <a:xfrm>
            <a:off x="7159377" y="678656"/>
            <a:ext cx="509550" cy="114300"/>
          </a:xfrm>
          <a:prstGeom prst="rect">
            <a:avLst/>
          </a:prstGeom>
          <a:noFill/>
        </p:spPr>
        <p:txBody>
          <a:bodyPr wrap="none" lIns="0" tIns="0" rIns="0" bIns="0" rtlCol="0" anchor="ctr"/>
          <a:lstStyle/>
          <a:p>
            <a:pPr marL="0" indent="0">
              <a:lnSpc>
                <a:spcPct val="150000"/>
              </a:lnSpc>
              <a:buNone/>
            </a:pPr>
            <a:r>
              <a:rPr lang="en-US" sz="700" b="1" dirty="0">
                <a:solidFill>
                  <a:srgbClr val="2E6EA6"/>
                </a:solidFill>
                <a:latin typeface="Arial" panose="020B0604020202020204" pitchFamily="34" charset="0"/>
              </a:rPr>
              <a:t>MySQL 8.0</a:t>
            </a:r>
            <a:endParaRPr lang="en-US" sz="700" dirty="0"/>
          </a:p>
        </p:txBody>
      </p:sp>
      <p:sp>
        <p:nvSpPr>
          <p:cNvPr id="9" name="Text 6"/>
          <p:cNvSpPr/>
          <p:nvPr/>
        </p:nvSpPr>
        <p:spPr>
          <a:xfrm>
            <a:off x="7014716" y="689372"/>
            <a:ext cx="87511" cy="100013"/>
          </a:xfrm>
          <a:prstGeom prst="rect">
            <a:avLst/>
          </a:prstGeom>
          <a:noFill/>
        </p:spPr>
        <p:txBody>
          <a:bodyPr wrap="none" lIns="0" tIns="0" rIns="0" bIns="0" rtlCol="0" anchor="t"/>
          <a:lstStyle/>
          <a:p>
            <a:pPr marL="0" indent="0">
              <a:lnSpc>
                <a:spcPct val="100000"/>
              </a:lnSpc>
              <a:buNone/>
            </a:pPr>
            <a:r>
              <a:rPr lang="en-US" sz="700" dirty="0">
                <a:solidFill>
                  <a:srgbClr val="2E6EA6"/>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700" dirty="0"/>
          </a:p>
        </p:txBody>
      </p:sp>
      <p:sp>
        <p:nvSpPr>
          <p:cNvPr id="10" name="Shape 7"/>
          <p:cNvSpPr/>
          <p:nvPr/>
        </p:nvSpPr>
        <p:spPr>
          <a:xfrm>
            <a:off x="7840377" y="621506"/>
            <a:ext cx="960723" cy="235744"/>
          </a:xfrm>
          <a:prstGeom prst="roundRect">
            <a:avLst>
              <a:gd name="adj" fmla="val 18182"/>
            </a:avLst>
          </a:prstGeom>
          <a:solidFill>
            <a:srgbClr val="DCEAF5"/>
          </a:solidFill>
        </p:spPr>
      </p:sp>
      <p:sp>
        <p:nvSpPr>
          <p:cNvPr id="11" name="Text 8"/>
          <p:cNvSpPr/>
          <p:nvPr/>
        </p:nvSpPr>
        <p:spPr>
          <a:xfrm>
            <a:off x="8070763" y="678656"/>
            <a:ext cx="644612" cy="114300"/>
          </a:xfrm>
          <a:prstGeom prst="rect">
            <a:avLst/>
          </a:prstGeom>
          <a:noFill/>
        </p:spPr>
        <p:txBody>
          <a:bodyPr wrap="none" lIns="0" tIns="0" rIns="0" bIns="0" rtlCol="0" anchor="ctr"/>
          <a:lstStyle/>
          <a:p>
            <a:pPr marL="0" indent="0">
              <a:lnSpc>
                <a:spcPct val="150000"/>
              </a:lnSpc>
              <a:buNone/>
            </a:pPr>
            <a:r>
              <a:rPr lang="en-US" sz="700" b="1" dirty="0">
                <a:solidFill>
                  <a:srgbClr val="2E6EA6"/>
                </a:solidFill>
                <a:latin typeface="Arial" panose="020B0604020202020204" pitchFamily="34" charset="0"/>
              </a:rPr>
              <a:t>Auto-Schema</a:t>
            </a:r>
            <a:endParaRPr lang="en-US" sz="700" dirty="0"/>
          </a:p>
        </p:txBody>
      </p:sp>
      <p:sp>
        <p:nvSpPr>
          <p:cNvPr id="12" name="Text 9"/>
          <p:cNvSpPr/>
          <p:nvPr/>
        </p:nvSpPr>
        <p:spPr>
          <a:xfrm>
            <a:off x="7926102" y="689372"/>
            <a:ext cx="87511" cy="100013"/>
          </a:xfrm>
          <a:prstGeom prst="rect">
            <a:avLst/>
          </a:prstGeom>
          <a:noFill/>
        </p:spPr>
        <p:txBody>
          <a:bodyPr wrap="none" lIns="0" tIns="0" rIns="0" bIns="0" rtlCol="0" anchor="t"/>
          <a:lstStyle/>
          <a:p>
            <a:pPr marL="0" indent="0">
              <a:lnSpc>
                <a:spcPct val="100000"/>
              </a:lnSpc>
              <a:buNone/>
            </a:pPr>
            <a:r>
              <a:rPr lang="en-US" sz="700" dirty="0">
                <a:solidFill>
                  <a:srgbClr val="2E6EA6"/>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700" dirty="0"/>
          </a:p>
        </p:txBody>
      </p:sp>
      <p:sp>
        <p:nvSpPr>
          <p:cNvPr id="13" name="Text 10"/>
          <p:cNvSpPr/>
          <p:nvPr/>
        </p:nvSpPr>
        <p:spPr>
          <a:xfrm>
            <a:off x="544711" y="1235869"/>
            <a:ext cx="900113" cy="142875"/>
          </a:xfrm>
          <a:prstGeom prst="rect">
            <a:avLst/>
          </a:prstGeom>
          <a:noFill/>
        </p:spPr>
        <p:txBody>
          <a:bodyPr wrap="none" lIns="0" tIns="0" rIns="0" bIns="0" rtlCol="0" anchor="ctr"/>
          <a:lstStyle/>
          <a:p>
            <a:pPr marL="0" indent="0">
              <a:lnSpc>
                <a:spcPct val="156000"/>
              </a:lnSpc>
              <a:buNone/>
            </a:pPr>
            <a:r>
              <a:rPr lang="zh-CN" sz="1000" b="1" dirty="0">
                <a:solidFill>
                  <a:srgbClr val="334155"/>
                </a:solidFill>
                <a:latin typeface="Arial" panose="020B0604020202020204" pitchFamily="34" charset="0"/>
                <a:ea typeface="微软雅黑" panose="020B0503020204020204" pitchFamily="34" charset="-122"/>
              </a:rPr>
              <a:t>核心数据表概览</a:t>
            </a:r>
            <a:endParaRPr lang="en-US" sz="1000" dirty="0"/>
          </a:p>
        </p:txBody>
      </p:sp>
      <p:sp>
        <p:nvSpPr>
          <p:cNvPr id="14" name="Text 11"/>
          <p:cNvSpPr/>
          <p:nvPr/>
        </p:nvSpPr>
        <p:spPr>
          <a:xfrm>
            <a:off x="342900" y="1243013"/>
            <a:ext cx="144661" cy="128588"/>
          </a:xfrm>
          <a:prstGeom prst="rect">
            <a:avLst/>
          </a:prstGeom>
          <a:noFill/>
        </p:spPr>
        <p:txBody>
          <a:bodyPr wrap="none" lIns="0" tIns="0" rIns="0" bIns="0" rtlCol="0" anchor="t"/>
          <a:lstStyle/>
          <a:p>
            <a:pPr marL="0" indent="0">
              <a:lnSpc>
                <a:spcPct val="100000"/>
              </a:lnSpc>
              <a:buNone/>
            </a:pPr>
            <a:r>
              <a:rPr lang="en-US" sz="1000" dirty="0">
                <a:solidFill>
                  <a:srgbClr val="3B82F6"/>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1000" dirty="0"/>
          </a:p>
        </p:txBody>
      </p:sp>
      <p:grpSp>
        <p:nvGrpSpPr>
          <p:cNvPr id="60" name="h2p-grp-h2p-animroot-1"/>
          <p:cNvGrpSpPr/>
          <p:nvPr/>
        </p:nvGrpSpPr>
        <p:grpSpPr>
          <a:xfrm>
            <a:off x="342900" y="1521619"/>
            <a:ext cx="4937671" cy="892969"/>
            <a:chOff x="0" y="0"/>
            <a:chExt cx="4937671" cy="892969"/>
          </a:xfrm>
        </p:grpSpPr>
        <p:sp>
          <p:nvSpPr>
            <p:cNvPr id="15" name="圆角矩形 14"/>
            <p:cNvSpPr/>
            <p:nvPr/>
          </p:nvSpPr>
          <p:spPr>
            <a:xfrm>
              <a:off x="0" y="0"/>
              <a:ext cx="4937671" cy="892969"/>
            </a:xfrm>
            <a:prstGeom prst="roundRect">
              <a:avLst>
                <a:gd name="adj" fmla="val 9600"/>
              </a:avLst>
            </a:prstGeom>
            <a:solidFill>
              <a:srgbClr val="FFFFFF">
                <a:alpha val="60000"/>
              </a:srgbClr>
            </a:solidFill>
            <a:ln w="6350">
              <a:solidFill>
                <a:srgbClr val="DCEAF5"/>
              </a:solidFill>
              <a:prstDash val="solid"/>
            </a:ln>
          </p:spPr>
        </p:sp>
        <p:sp>
          <p:nvSpPr>
            <p:cNvPr id="16" name="圆角矩形 15"/>
            <p:cNvSpPr/>
            <p:nvPr/>
          </p:nvSpPr>
          <p:spPr>
            <a:xfrm>
              <a:off x="150019" y="150019"/>
              <a:ext cx="257175" cy="257175"/>
            </a:xfrm>
            <a:prstGeom prst="roundRect">
              <a:avLst>
                <a:gd name="adj" fmla="val 22222"/>
              </a:avLst>
            </a:prstGeom>
            <a:solidFill>
              <a:srgbClr val="5B9DFF"/>
            </a:solidFill>
          </p:spPr>
        </p:sp>
        <p:sp>
          <p:nvSpPr>
            <p:cNvPr id="17" name="矩形 16"/>
            <p:cNvSpPr/>
            <p:nvPr/>
          </p:nvSpPr>
          <p:spPr>
            <a:xfrm>
              <a:off x="214313" y="214312"/>
              <a:ext cx="128588" cy="128588"/>
            </a:xfrm>
            <a:prstGeom prst="rect">
              <a:avLst/>
            </a:prstGeom>
            <a:noFill/>
          </p:spPr>
          <p:txBody>
            <a:bodyPr wrap="none" lIns="0" tIns="0" rIns="0" bIns="0" rtlCol="0" anchor="t"/>
            <a:lstStyle/>
            <a:p>
              <a:pPr marL="0" indent="0">
                <a:lnSpc>
                  <a:spcPct val="100000"/>
                </a:lnSpc>
                <a:buNone/>
              </a:pPr>
              <a:r>
                <a:rPr lang="en-US" sz="1000" dirty="0">
                  <a:solidFill>
                    <a:srgbClr val="FFFFFF"/>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1000" dirty="0"/>
            </a:p>
          </p:txBody>
        </p:sp>
        <p:sp>
          <p:nvSpPr>
            <p:cNvPr id="18" name="矩形 17"/>
            <p:cNvSpPr/>
            <p:nvPr/>
          </p:nvSpPr>
          <p:spPr>
            <a:xfrm>
              <a:off x="492919" y="182165"/>
              <a:ext cx="642938" cy="192881"/>
            </a:xfrm>
            <a:prstGeom prst="rect">
              <a:avLst/>
            </a:prstGeom>
            <a:noFill/>
          </p:spPr>
          <p:txBody>
            <a:bodyPr wrap="none" lIns="0" tIns="0" rIns="0" bIns="0" rtlCol="0" anchor="t"/>
            <a:lstStyle/>
            <a:p>
              <a:pPr marL="0" indent="0">
                <a:lnSpc>
                  <a:spcPct val="150000"/>
                </a:lnSpc>
                <a:buNone/>
              </a:pPr>
              <a:r>
                <a:rPr lang="zh-CN" sz="1000" b="1" dirty="0">
                  <a:solidFill>
                    <a:srgbClr val="2E6EA6"/>
                  </a:solidFill>
                  <a:latin typeface="Arial" panose="020B0604020202020204" pitchFamily="34" charset="0"/>
                  <a:ea typeface="微软雅黑" panose="020B0503020204020204" pitchFamily="34" charset="-122"/>
                </a:rPr>
                <a:t>核心业务表</a:t>
              </a:r>
              <a:endParaRPr lang="en-US" sz="1000" dirty="0"/>
            </a:p>
          </p:txBody>
        </p:sp>
        <p:sp>
          <p:nvSpPr>
            <p:cNvPr id="19" name="圆角矩形 18"/>
            <p:cNvSpPr/>
            <p:nvPr/>
          </p:nvSpPr>
          <p:spPr>
            <a:xfrm>
              <a:off x="150019" y="521494"/>
              <a:ext cx="432197" cy="221456"/>
            </a:xfrm>
            <a:prstGeom prst="roundRect">
              <a:avLst>
                <a:gd name="adj" fmla="val 19355"/>
              </a:avLst>
            </a:prstGeom>
            <a:solidFill>
              <a:srgbClr val="FFFFFF"/>
            </a:solidFill>
            <a:ln w="6350">
              <a:solidFill>
                <a:srgbClr val="DCEAF5"/>
              </a:solidFill>
              <a:prstDash val="solid"/>
            </a:ln>
          </p:spPr>
        </p:sp>
        <p:sp>
          <p:nvSpPr>
            <p:cNvPr id="20" name="矩形 19"/>
            <p:cNvSpPr/>
            <p:nvPr/>
          </p:nvSpPr>
          <p:spPr>
            <a:xfrm>
              <a:off x="150019" y="521494"/>
              <a:ext cx="432197" cy="221456"/>
            </a:xfrm>
            <a:prstGeom prst="rect">
              <a:avLst/>
            </a:prstGeom>
            <a:noFill/>
          </p:spPr>
          <p:txBody>
            <a:bodyPr wrap="none" lIns="81026" tIns="36830" rIns="81026" bIns="36830" rtlCol="0" anchor="t"/>
            <a:lstStyle/>
            <a:p>
              <a:pPr marL="0" indent="0">
                <a:lnSpc>
                  <a:spcPct val="150000"/>
                </a:lnSpc>
                <a:buNone/>
              </a:pPr>
              <a:r>
                <a:rPr lang="en-US" sz="700" dirty="0">
                  <a:solidFill>
                    <a:srgbClr val="1F2A37"/>
                  </a:solidFill>
                  <a:latin typeface="Consolas" panose="020B0609020204030204" pitchFamily="34" charset="0"/>
                </a:rPr>
                <a:t>users</a:t>
              </a:r>
              <a:endParaRPr lang="en-US" sz="700" dirty="0"/>
            </a:p>
          </p:txBody>
        </p:sp>
        <p:sp>
          <p:nvSpPr>
            <p:cNvPr id="21" name="圆角矩形 20"/>
            <p:cNvSpPr/>
            <p:nvPr/>
          </p:nvSpPr>
          <p:spPr>
            <a:xfrm>
              <a:off x="639366" y="521494"/>
              <a:ext cx="982042" cy="221456"/>
            </a:xfrm>
            <a:prstGeom prst="roundRect">
              <a:avLst>
                <a:gd name="adj" fmla="val 19355"/>
              </a:avLst>
            </a:prstGeom>
            <a:solidFill>
              <a:srgbClr val="FFFFFF"/>
            </a:solidFill>
            <a:ln w="6350">
              <a:solidFill>
                <a:srgbClr val="DCEAF5"/>
              </a:solidFill>
              <a:prstDash val="solid"/>
            </a:ln>
          </p:spPr>
        </p:sp>
        <p:sp>
          <p:nvSpPr>
            <p:cNvPr id="22" name="矩形 21"/>
            <p:cNvSpPr/>
            <p:nvPr/>
          </p:nvSpPr>
          <p:spPr>
            <a:xfrm>
              <a:off x="639366" y="521494"/>
              <a:ext cx="982042" cy="221456"/>
            </a:xfrm>
            <a:prstGeom prst="rect">
              <a:avLst/>
            </a:prstGeom>
            <a:noFill/>
          </p:spPr>
          <p:txBody>
            <a:bodyPr wrap="none" lIns="81026" tIns="36830" rIns="81026" bIns="36830" rtlCol="0" anchor="t"/>
            <a:lstStyle/>
            <a:p>
              <a:pPr marL="0" indent="0">
                <a:lnSpc>
                  <a:spcPct val="150000"/>
                </a:lnSpc>
                <a:buNone/>
              </a:pPr>
              <a:r>
                <a:rPr lang="en-US" sz="700" dirty="0">
                  <a:solidFill>
                    <a:srgbClr val="1F2A37"/>
                  </a:solidFill>
                  <a:latin typeface="Consolas" panose="020B0609020204030204" pitchFamily="34" charset="0"/>
                </a:rPr>
                <a:t>knowledge_bases</a:t>
              </a:r>
              <a:endParaRPr lang="en-US" sz="700" dirty="0"/>
            </a:p>
          </p:txBody>
        </p:sp>
        <p:sp>
          <p:nvSpPr>
            <p:cNvPr id="23" name="圆角矩形 22"/>
            <p:cNvSpPr/>
            <p:nvPr/>
          </p:nvSpPr>
          <p:spPr>
            <a:xfrm>
              <a:off x="1678558" y="521494"/>
              <a:ext cx="652090" cy="221456"/>
            </a:xfrm>
            <a:prstGeom prst="roundRect">
              <a:avLst>
                <a:gd name="adj" fmla="val 19355"/>
              </a:avLst>
            </a:prstGeom>
            <a:solidFill>
              <a:srgbClr val="FFFFFF"/>
            </a:solidFill>
            <a:ln w="6350">
              <a:solidFill>
                <a:srgbClr val="DCEAF5"/>
              </a:solidFill>
              <a:prstDash val="solid"/>
            </a:ln>
          </p:spPr>
        </p:sp>
        <p:sp>
          <p:nvSpPr>
            <p:cNvPr id="24" name="矩形 23"/>
            <p:cNvSpPr/>
            <p:nvPr/>
          </p:nvSpPr>
          <p:spPr>
            <a:xfrm>
              <a:off x="1678558" y="521494"/>
              <a:ext cx="652090" cy="221456"/>
            </a:xfrm>
            <a:prstGeom prst="rect">
              <a:avLst/>
            </a:prstGeom>
            <a:noFill/>
          </p:spPr>
          <p:txBody>
            <a:bodyPr wrap="none" lIns="81026" tIns="36830" rIns="81026" bIns="36830" rtlCol="0" anchor="t"/>
            <a:lstStyle/>
            <a:p>
              <a:pPr marL="0" indent="0">
                <a:lnSpc>
                  <a:spcPct val="150000"/>
                </a:lnSpc>
                <a:buNone/>
              </a:pPr>
              <a:r>
                <a:rPr lang="en-US" sz="700" dirty="0">
                  <a:solidFill>
                    <a:srgbClr val="1F2A37"/>
                  </a:solidFill>
                  <a:latin typeface="Consolas" panose="020B0609020204030204" pitchFamily="34" charset="0"/>
                </a:rPr>
                <a:t>documents</a:t>
              </a:r>
              <a:endParaRPr lang="en-US" sz="700" dirty="0"/>
            </a:p>
          </p:txBody>
        </p:sp>
      </p:grpSp>
      <p:grpSp>
        <p:nvGrpSpPr>
          <p:cNvPr id="61" name="h2p-grp-h2p-animroot-2"/>
          <p:cNvGrpSpPr/>
          <p:nvPr/>
        </p:nvGrpSpPr>
        <p:grpSpPr>
          <a:xfrm>
            <a:off x="342900" y="2528888"/>
            <a:ext cx="4937671" cy="892969"/>
            <a:chOff x="0" y="0"/>
            <a:chExt cx="4937671" cy="892969"/>
          </a:xfrm>
        </p:grpSpPr>
        <p:sp>
          <p:nvSpPr>
            <p:cNvPr id="25" name="圆角矩形 24"/>
            <p:cNvSpPr/>
            <p:nvPr/>
          </p:nvSpPr>
          <p:spPr>
            <a:xfrm>
              <a:off x="0" y="0"/>
              <a:ext cx="4937671" cy="892969"/>
            </a:xfrm>
            <a:prstGeom prst="roundRect">
              <a:avLst>
                <a:gd name="adj" fmla="val 9600"/>
              </a:avLst>
            </a:prstGeom>
            <a:solidFill>
              <a:srgbClr val="FFFFFF">
                <a:alpha val="60000"/>
              </a:srgbClr>
            </a:solidFill>
            <a:ln w="6350">
              <a:solidFill>
                <a:srgbClr val="DCEAF5"/>
              </a:solidFill>
              <a:prstDash val="solid"/>
            </a:ln>
          </p:spPr>
        </p:sp>
        <p:sp>
          <p:nvSpPr>
            <p:cNvPr id="26" name="圆角矩形 25"/>
            <p:cNvSpPr/>
            <p:nvPr/>
          </p:nvSpPr>
          <p:spPr>
            <a:xfrm>
              <a:off x="150019" y="150018"/>
              <a:ext cx="257175" cy="257175"/>
            </a:xfrm>
            <a:prstGeom prst="roundRect">
              <a:avLst>
                <a:gd name="adj" fmla="val 22222"/>
              </a:avLst>
            </a:prstGeom>
            <a:solidFill>
              <a:srgbClr val="5B9DFF"/>
            </a:solidFill>
          </p:spPr>
        </p:sp>
        <p:sp>
          <p:nvSpPr>
            <p:cNvPr id="27" name="矩形 26"/>
            <p:cNvSpPr/>
            <p:nvPr/>
          </p:nvSpPr>
          <p:spPr>
            <a:xfrm>
              <a:off x="198239" y="214312"/>
              <a:ext cx="160734" cy="128588"/>
            </a:xfrm>
            <a:prstGeom prst="rect">
              <a:avLst/>
            </a:prstGeom>
            <a:noFill/>
          </p:spPr>
          <p:txBody>
            <a:bodyPr wrap="none" lIns="0" tIns="0" rIns="0" bIns="0" rtlCol="0" anchor="t"/>
            <a:lstStyle/>
            <a:p>
              <a:pPr marL="0" indent="0">
                <a:lnSpc>
                  <a:spcPct val="100000"/>
                </a:lnSpc>
                <a:buNone/>
              </a:pPr>
              <a:r>
                <a:rPr lang="en-US" sz="1000" dirty="0">
                  <a:solidFill>
                    <a:srgbClr val="FFFFFF"/>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1000" dirty="0"/>
            </a:p>
          </p:txBody>
        </p:sp>
        <p:sp>
          <p:nvSpPr>
            <p:cNvPr id="28" name="矩形 27"/>
            <p:cNvSpPr/>
            <p:nvPr/>
          </p:nvSpPr>
          <p:spPr>
            <a:xfrm>
              <a:off x="492919" y="182165"/>
              <a:ext cx="642938" cy="192881"/>
            </a:xfrm>
            <a:prstGeom prst="rect">
              <a:avLst/>
            </a:prstGeom>
            <a:noFill/>
          </p:spPr>
          <p:txBody>
            <a:bodyPr wrap="none" lIns="0" tIns="0" rIns="0" bIns="0" rtlCol="0" anchor="t"/>
            <a:lstStyle/>
            <a:p>
              <a:pPr marL="0" indent="0">
                <a:lnSpc>
                  <a:spcPct val="150000"/>
                </a:lnSpc>
                <a:buNone/>
              </a:pPr>
              <a:r>
                <a:rPr lang="zh-CN" sz="1000" b="1" dirty="0">
                  <a:solidFill>
                    <a:srgbClr val="2E6EA6"/>
                  </a:solidFill>
                  <a:latin typeface="Arial" panose="020B0604020202020204" pitchFamily="34" charset="0"/>
                  <a:ea typeface="微软雅黑" panose="020B0503020204020204" pitchFamily="34" charset="-122"/>
                </a:rPr>
                <a:t>问答日志表</a:t>
              </a:r>
              <a:endParaRPr lang="en-US" sz="1000" dirty="0"/>
            </a:p>
          </p:txBody>
        </p:sp>
        <p:sp>
          <p:nvSpPr>
            <p:cNvPr id="29" name="圆角矩形 28"/>
            <p:cNvSpPr/>
            <p:nvPr/>
          </p:nvSpPr>
          <p:spPr>
            <a:xfrm>
              <a:off x="150019" y="521493"/>
              <a:ext cx="872096" cy="221456"/>
            </a:xfrm>
            <a:prstGeom prst="roundRect">
              <a:avLst>
                <a:gd name="adj" fmla="val 19355"/>
              </a:avLst>
            </a:prstGeom>
            <a:solidFill>
              <a:srgbClr val="FFFFFF"/>
            </a:solidFill>
            <a:ln w="6350">
              <a:solidFill>
                <a:srgbClr val="DCEAF5"/>
              </a:solidFill>
              <a:prstDash val="solid"/>
            </a:ln>
          </p:spPr>
        </p:sp>
        <p:sp>
          <p:nvSpPr>
            <p:cNvPr id="30" name="矩形 29"/>
            <p:cNvSpPr/>
            <p:nvPr/>
          </p:nvSpPr>
          <p:spPr>
            <a:xfrm>
              <a:off x="150019" y="521493"/>
              <a:ext cx="872096" cy="221456"/>
            </a:xfrm>
            <a:prstGeom prst="rect">
              <a:avLst/>
            </a:prstGeom>
            <a:noFill/>
          </p:spPr>
          <p:txBody>
            <a:bodyPr wrap="none" lIns="81026" tIns="36830" rIns="81026" bIns="36830" rtlCol="0" anchor="t"/>
            <a:lstStyle/>
            <a:p>
              <a:pPr marL="0" indent="0">
                <a:lnSpc>
                  <a:spcPct val="150000"/>
                </a:lnSpc>
                <a:buNone/>
              </a:pPr>
              <a:r>
                <a:rPr lang="en-US" sz="700" dirty="0">
                  <a:solidFill>
                    <a:srgbClr val="1F2A37"/>
                  </a:solidFill>
                  <a:latin typeface="Consolas" panose="020B0609020204030204" pitchFamily="34" charset="0"/>
                </a:rPr>
                <a:t>conversations</a:t>
              </a:r>
              <a:endParaRPr lang="en-US" sz="700" dirty="0"/>
            </a:p>
          </p:txBody>
        </p:sp>
        <p:sp>
          <p:nvSpPr>
            <p:cNvPr id="31" name="圆角矩形 30"/>
            <p:cNvSpPr/>
            <p:nvPr/>
          </p:nvSpPr>
          <p:spPr>
            <a:xfrm>
              <a:off x="1079264" y="521493"/>
              <a:ext cx="597061" cy="221456"/>
            </a:xfrm>
            <a:prstGeom prst="roundRect">
              <a:avLst>
                <a:gd name="adj" fmla="val 19355"/>
              </a:avLst>
            </a:prstGeom>
            <a:solidFill>
              <a:srgbClr val="FFFFFF"/>
            </a:solidFill>
            <a:ln w="6350">
              <a:solidFill>
                <a:srgbClr val="DCEAF5"/>
              </a:solidFill>
              <a:prstDash val="solid"/>
            </a:ln>
          </p:spPr>
        </p:sp>
        <p:sp>
          <p:nvSpPr>
            <p:cNvPr id="32" name="矩形 31"/>
            <p:cNvSpPr/>
            <p:nvPr/>
          </p:nvSpPr>
          <p:spPr>
            <a:xfrm>
              <a:off x="1079264" y="521493"/>
              <a:ext cx="597061" cy="221456"/>
            </a:xfrm>
            <a:prstGeom prst="rect">
              <a:avLst/>
            </a:prstGeom>
            <a:noFill/>
          </p:spPr>
          <p:txBody>
            <a:bodyPr wrap="none" lIns="81026" tIns="36830" rIns="81026" bIns="36830" rtlCol="0" anchor="t"/>
            <a:lstStyle/>
            <a:p>
              <a:pPr marL="0" indent="0">
                <a:lnSpc>
                  <a:spcPct val="150000"/>
                </a:lnSpc>
                <a:buNone/>
              </a:pPr>
              <a:r>
                <a:rPr lang="en-US" sz="700" dirty="0">
                  <a:solidFill>
                    <a:srgbClr val="1F2A37"/>
                  </a:solidFill>
                  <a:latin typeface="Consolas" panose="020B0609020204030204" pitchFamily="34" charset="0"/>
                </a:rPr>
                <a:t>messages</a:t>
              </a:r>
              <a:endParaRPr lang="en-US" sz="700" dirty="0"/>
            </a:p>
          </p:txBody>
        </p:sp>
        <p:sp>
          <p:nvSpPr>
            <p:cNvPr id="33" name="圆角矩形 32"/>
            <p:cNvSpPr/>
            <p:nvPr/>
          </p:nvSpPr>
          <p:spPr>
            <a:xfrm>
              <a:off x="1733476" y="521493"/>
              <a:ext cx="652090" cy="221456"/>
            </a:xfrm>
            <a:prstGeom prst="roundRect">
              <a:avLst>
                <a:gd name="adj" fmla="val 19355"/>
              </a:avLst>
            </a:prstGeom>
            <a:solidFill>
              <a:srgbClr val="FFFFFF"/>
            </a:solidFill>
            <a:ln w="6350">
              <a:solidFill>
                <a:srgbClr val="DCEAF5"/>
              </a:solidFill>
              <a:prstDash val="solid"/>
            </a:ln>
          </p:spPr>
        </p:sp>
        <p:sp>
          <p:nvSpPr>
            <p:cNvPr id="34" name="矩形 33"/>
            <p:cNvSpPr/>
            <p:nvPr/>
          </p:nvSpPr>
          <p:spPr>
            <a:xfrm>
              <a:off x="1733476" y="521493"/>
              <a:ext cx="652090" cy="221456"/>
            </a:xfrm>
            <a:prstGeom prst="rect">
              <a:avLst/>
            </a:prstGeom>
            <a:noFill/>
          </p:spPr>
          <p:txBody>
            <a:bodyPr wrap="none" lIns="81026" tIns="36830" rIns="81026" bIns="36830" rtlCol="0" anchor="t"/>
            <a:lstStyle/>
            <a:p>
              <a:pPr marL="0" indent="0">
                <a:lnSpc>
                  <a:spcPct val="150000"/>
                </a:lnSpc>
                <a:buNone/>
              </a:pPr>
              <a:r>
                <a:rPr lang="en-US" sz="700" dirty="0">
                  <a:solidFill>
                    <a:srgbClr val="1F2A37"/>
                  </a:solidFill>
                  <a:latin typeface="Consolas" panose="020B0609020204030204" pitchFamily="34" charset="0"/>
                </a:rPr>
                <a:t>citations</a:t>
              </a:r>
              <a:endParaRPr lang="en-US" sz="700" dirty="0"/>
            </a:p>
          </p:txBody>
        </p:sp>
      </p:grpSp>
      <p:grpSp>
        <p:nvGrpSpPr>
          <p:cNvPr id="62" name="h2p-grp-h2p-animroot-3"/>
          <p:cNvGrpSpPr/>
          <p:nvPr/>
        </p:nvGrpSpPr>
        <p:grpSpPr>
          <a:xfrm>
            <a:off x="342900" y="3536156"/>
            <a:ext cx="4937671" cy="892969"/>
            <a:chOff x="0" y="0"/>
            <a:chExt cx="4937671" cy="892969"/>
          </a:xfrm>
        </p:grpSpPr>
        <p:sp>
          <p:nvSpPr>
            <p:cNvPr id="35" name="圆角矩形 34"/>
            <p:cNvSpPr/>
            <p:nvPr/>
          </p:nvSpPr>
          <p:spPr>
            <a:xfrm>
              <a:off x="0" y="0"/>
              <a:ext cx="4937671" cy="892969"/>
            </a:xfrm>
            <a:prstGeom prst="roundRect">
              <a:avLst>
                <a:gd name="adj" fmla="val 9600"/>
              </a:avLst>
            </a:prstGeom>
            <a:solidFill>
              <a:srgbClr val="FFFFFF">
                <a:alpha val="60000"/>
              </a:srgbClr>
            </a:solidFill>
            <a:ln w="6350">
              <a:solidFill>
                <a:srgbClr val="DCEAF5"/>
              </a:solidFill>
              <a:prstDash val="solid"/>
            </a:ln>
          </p:spPr>
        </p:sp>
        <p:sp>
          <p:nvSpPr>
            <p:cNvPr id="36" name="圆角矩形 35"/>
            <p:cNvSpPr/>
            <p:nvPr/>
          </p:nvSpPr>
          <p:spPr>
            <a:xfrm>
              <a:off x="150019" y="150019"/>
              <a:ext cx="257175" cy="257175"/>
            </a:xfrm>
            <a:prstGeom prst="roundRect">
              <a:avLst>
                <a:gd name="adj" fmla="val 22222"/>
              </a:avLst>
            </a:prstGeom>
            <a:solidFill>
              <a:srgbClr val="5B9DFF"/>
            </a:solidFill>
          </p:spPr>
        </p:sp>
        <p:sp>
          <p:nvSpPr>
            <p:cNvPr id="37" name="矩形 36"/>
            <p:cNvSpPr/>
            <p:nvPr/>
          </p:nvSpPr>
          <p:spPr>
            <a:xfrm>
              <a:off x="206276" y="214313"/>
              <a:ext cx="144661" cy="128588"/>
            </a:xfrm>
            <a:prstGeom prst="rect">
              <a:avLst/>
            </a:prstGeom>
            <a:noFill/>
          </p:spPr>
          <p:txBody>
            <a:bodyPr wrap="none" lIns="0" tIns="0" rIns="0" bIns="0" rtlCol="0" anchor="t"/>
            <a:lstStyle/>
            <a:p>
              <a:pPr marL="0" indent="0">
                <a:lnSpc>
                  <a:spcPct val="100000"/>
                </a:lnSpc>
                <a:buNone/>
              </a:pPr>
              <a:r>
                <a:rPr lang="en-US" sz="1000" dirty="0">
                  <a:solidFill>
                    <a:srgbClr val="FFFFFF"/>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1000" dirty="0"/>
            </a:p>
          </p:txBody>
        </p:sp>
        <p:sp>
          <p:nvSpPr>
            <p:cNvPr id="38" name="矩形 37"/>
            <p:cNvSpPr/>
            <p:nvPr/>
          </p:nvSpPr>
          <p:spPr>
            <a:xfrm>
              <a:off x="492919" y="182166"/>
              <a:ext cx="642938" cy="192881"/>
            </a:xfrm>
            <a:prstGeom prst="rect">
              <a:avLst/>
            </a:prstGeom>
            <a:noFill/>
          </p:spPr>
          <p:txBody>
            <a:bodyPr wrap="none" lIns="0" tIns="0" rIns="0" bIns="0" rtlCol="0" anchor="t"/>
            <a:lstStyle/>
            <a:p>
              <a:pPr marL="0" indent="0">
                <a:lnSpc>
                  <a:spcPct val="150000"/>
                </a:lnSpc>
                <a:buNone/>
              </a:pPr>
              <a:r>
                <a:rPr lang="zh-CN" sz="1000" b="1" dirty="0">
                  <a:solidFill>
                    <a:srgbClr val="2E6EA6"/>
                  </a:solidFill>
                  <a:latin typeface="Arial" panose="020B0604020202020204" pitchFamily="34" charset="0"/>
                  <a:ea typeface="微软雅黑" panose="020B0503020204020204" pitchFamily="34" charset="-122"/>
                </a:rPr>
                <a:t>医院业务表</a:t>
              </a:r>
              <a:endParaRPr lang="en-US" sz="1000" dirty="0"/>
            </a:p>
          </p:txBody>
        </p:sp>
        <p:sp>
          <p:nvSpPr>
            <p:cNvPr id="39" name="圆角矩形 38"/>
            <p:cNvSpPr/>
            <p:nvPr/>
          </p:nvSpPr>
          <p:spPr>
            <a:xfrm>
              <a:off x="150019" y="521494"/>
              <a:ext cx="1036960" cy="221456"/>
            </a:xfrm>
            <a:prstGeom prst="roundRect">
              <a:avLst>
                <a:gd name="adj" fmla="val 19355"/>
              </a:avLst>
            </a:prstGeom>
            <a:solidFill>
              <a:srgbClr val="FFFFFF"/>
            </a:solidFill>
            <a:ln w="6350">
              <a:solidFill>
                <a:srgbClr val="DCEAF5"/>
              </a:solidFill>
              <a:prstDash val="solid"/>
            </a:ln>
          </p:spPr>
        </p:sp>
        <p:sp>
          <p:nvSpPr>
            <p:cNvPr id="40" name="矩形 39"/>
            <p:cNvSpPr/>
            <p:nvPr/>
          </p:nvSpPr>
          <p:spPr>
            <a:xfrm>
              <a:off x="150019" y="521494"/>
              <a:ext cx="1036960" cy="221456"/>
            </a:xfrm>
            <a:prstGeom prst="rect">
              <a:avLst/>
            </a:prstGeom>
            <a:noFill/>
          </p:spPr>
          <p:txBody>
            <a:bodyPr wrap="none" lIns="81026" tIns="36830" rIns="81026" bIns="36830" rtlCol="0" anchor="t"/>
            <a:lstStyle/>
            <a:p>
              <a:pPr marL="0" indent="0">
                <a:lnSpc>
                  <a:spcPct val="150000"/>
                </a:lnSpc>
                <a:buNone/>
              </a:pPr>
              <a:r>
                <a:rPr lang="en-US" sz="700" dirty="0">
                  <a:solidFill>
                    <a:srgbClr val="1F2A37"/>
                  </a:solidFill>
                  <a:latin typeface="Consolas" panose="020B0609020204030204" pitchFamily="34" charset="0"/>
                </a:rPr>
                <a:t>hospitalizations</a:t>
              </a:r>
              <a:endParaRPr lang="en-US" sz="700" dirty="0"/>
            </a:p>
          </p:txBody>
        </p:sp>
        <p:sp>
          <p:nvSpPr>
            <p:cNvPr id="41" name="圆角矩形 40"/>
            <p:cNvSpPr/>
            <p:nvPr/>
          </p:nvSpPr>
          <p:spPr>
            <a:xfrm>
              <a:off x="1244129" y="521494"/>
              <a:ext cx="432197" cy="221456"/>
            </a:xfrm>
            <a:prstGeom prst="roundRect">
              <a:avLst>
                <a:gd name="adj" fmla="val 19355"/>
              </a:avLst>
            </a:prstGeom>
            <a:solidFill>
              <a:srgbClr val="FFFFFF"/>
            </a:solidFill>
            <a:ln w="6350">
              <a:solidFill>
                <a:srgbClr val="DCEAF5"/>
              </a:solidFill>
              <a:prstDash val="solid"/>
            </a:ln>
          </p:spPr>
        </p:sp>
        <p:sp>
          <p:nvSpPr>
            <p:cNvPr id="42" name="矩形 41"/>
            <p:cNvSpPr/>
            <p:nvPr/>
          </p:nvSpPr>
          <p:spPr>
            <a:xfrm>
              <a:off x="1244129" y="521494"/>
              <a:ext cx="432197" cy="221456"/>
            </a:xfrm>
            <a:prstGeom prst="rect">
              <a:avLst/>
            </a:prstGeom>
            <a:noFill/>
          </p:spPr>
          <p:txBody>
            <a:bodyPr wrap="none" lIns="81026" tIns="36830" rIns="81026" bIns="36830" rtlCol="0" anchor="t"/>
            <a:lstStyle/>
            <a:p>
              <a:pPr marL="0" indent="0">
                <a:lnSpc>
                  <a:spcPct val="150000"/>
                </a:lnSpc>
                <a:buNone/>
              </a:pPr>
              <a:r>
                <a:rPr lang="en-US" sz="700" dirty="0">
                  <a:solidFill>
                    <a:srgbClr val="1F2A37"/>
                  </a:solidFill>
                  <a:latin typeface="Consolas" panose="020B0609020204030204" pitchFamily="34" charset="0"/>
                </a:rPr>
                <a:t>bills</a:t>
              </a:r>
              <a:endParaRPr lang="en-US" sz="700" dirty="0"/>
            </a:p>
          </p:txBody>
        </p:sp>
        <p:sp>
          <p:nvSpPr>
            <p:cNvPr id="43" name="圆角矩形 42"/>
            <p:cNvSpPr/>
            <p:nvPr/>
          </p:nvSpPr>
          <p:spPr>
            <a:xfrm>
              <a:off x="1733476" y="521494"/>
              <a:ext cx="817066" cy="221456"/>
            </a:xfrm>
            <a:prstGeom prst="roundRect">
              <a:avLst>
                <a:gd name="adj" fmla="val 19355"/>
              </a:avLst>
            </a:prstGeom>
            <a:solidFill>
              <a:srgbClr val="FFFFFF"/>
            </a:solidFill>
            <a:ln w="6350">
              <a:solidFill>
                <a:srgbClr val="DCEAF5"/>
              </a:solidFill>
              <a:prstDash val="solid"/>
            </a:ln>
          </p:spPr>
        </p:sp>
        <p:sp>
          <p:nvSpPr>
            <p:cNvPr id="44" name="矩形 43"/>
            <p:cNvSpPr/>
            <p:nvPr/>
          </p:nvSpPr>
          <p:spPr>
            <a:xfrm>
              <a:off x="1733476" y="521494"/>
              <a:ext cx="817066" cy="221456"/>
            </a:xfrm>
            <a:prstGeom prst="rect">
              <a:avLst/>
            </a:prstGeom>
            <a:noFill/>
          </p:spPr>
          <p:txBody>
            <a:bodyPr wrap="none" lIns="81026" tIns="36830" rIns="81026" bIns="36830" rtlCol="0" anchor="t"/>
            <a:lstStyle/>
            <a:p>
              <a:pPr marL="0" indent="0">
                <a:lnSpc>
                  <a:spcPct val="150000"/>
                </a:lnSpc>
                <a:buNone/>
              </a:pPr>
              <a:r>
                <a:rPr lang="en-US" sz="700" dirty="0">
                  <a:solidFill>
                    <a:srgbClr val="1F2A37"/>
                  </a:solidFill>
                  <a:latin typeface="Consolas" panose="020B0609020204030204" pitchFamily="34" charset="0"/>
                </a:rPr>
                <a:t>appointments</a:t>
              </a:r>
              <a:endParaRPr lang="en-US" sz="700" dirty="0"/>
            </a:p>
          </p:txBody>
        </p:sp>
        <p:sp>
          <p:nvSpPr>
            <p:cNvPr id="45" name="圆角矩形 44"/>
            <p:cNvSpPr/>
            <p:nvPr/>
          </p:nvSpPr>
          <p:spPr>
            <a:xfrm>
              <a:off x="2607692" y="521494"/>
              <a:ext cx="982042" cy="221456"/>
            </a:xfrm>
            <a:prstGeom prst="roundRect">
              <a:avLst>
                <a:gd name="adj" fmla="val 19355"/>
              </a:avLst>
            </a:prstGeom>
            <a:solidFill>
              <a:srgbClr val="FFFFFF"/>
            </a:solidFill>
            <a:ln w="6350">
              <a:solidFill>
                <a:srgbClr val="DCEAF5"/>
              </a:solidFill>
              <a:prstDash val="solid"/>
            </a:ln>
          </p:spPr>
        </p:sp>
        <p:sp>
          <p:nvSpPr>
            <p:cNvPr id="46" name="矩形 45"/>
            <p:cNvSpPr/>
            <p:nvPr/>
          </p:nvSpPr>
          <p:spPr>
            <a:xfrm>
              <a:off x="2607692" y="521494"/>
              <a:ext cx="982042" cy="221456"/>
            </a:xfrm>
            <a:prstGeom prst="rect">
              <a:avLst/>
            </a:prstGeom>
            <a:noFill/>
          </p:spPr>
          <p:txBody>
            <a:bodyPr wrap="none" lIns="81026" tIns="36830" rIns="81026" bIns="36830" rtlCol="0" anchor="t"/>
            <a:lstStyle/>
            <a:p>
              <a:pPr marL="0" indent="0">
                <a:lnSpc>
                  <a:spcPct val="150000"/>
                </a:lnSpc>
                <a:buNone/>
              </a:pPr>
              <a:r>
                <a:rPr lang="en-US" sz="700" dirty="0">
                  <a:solidFill>
                    <a:srgbClr val="1F2A37"/>
                  </a:solidFill>
                  <a:latin typeface="Consolas" panose="020B0609020204030204" pitchFamily="34" charset="0"/>
                </a:rPr>
                <a:t>nursing_records</a:t>
              </a:r>
              <a:endParaRPr lang="en-US" sz="700" dirty="0"/>
            </a:p>
          </p:txBody>
        </p:sp>
        <p:sp>
          <p:nvSpPr>
            <p:cNvPr id="47" name="圆角矩形 46"/>
            <p:cNvSpPr/>
            <p:nvPr/>
          </p:nvSpPr>
          <p:spPr>
            <a:xfrm>
              <a:off x="3646884" y="521494"/>
              <a:ext cx="652090" cy="221456"/>
            </a:xfrm>
            <a:prstGeom prst="roundRect">
              <a:avLst>
                <a:gd name="adj" fmla="val 19355"/>
              </a:avLst>
            </a:prstGeom>
            <a:solidFill>
              <a:srgbClr val="FFFFFF"/>
            </a:solidFill>
            <a:ln w="6350">
              <a:solidFill>
                <a:srgbClr val="DCEAF5"/>
              </a:solidFill>
              <a:prstDash val="solid"/>
            </a:ln>
          </p:spPr>
        </p:sp>
        <p:sp>
          <p:nvSpPr>
            <p:cNvPr id="48" name="矩形 47"/>
            <p:cNvSpPr/>
            <p:nvPr/>
          </p:nvSpPr>
          <p:spPr>
            <a:xfrm>
              <a:off x="3646884" y="521494"/>
              <a:ext cx="652090" cy="221456"/>
            </a:xfrm>
            <a:prstGeom prst="rect">
              <a:avLst/>
            </a:prstGeom>
            <a:noFill/>
          </p:spPr>
          <p:txBody>
            <a:bodyPr wrap="none" lIns="81026" tIns="36830" rIns="81026" bIns="36830" rtlCol="0" anchor="t"/>
            <a:lstStyle/>
            <a:p>
              <a:pPr marL="0" indent="0">
                <a:lnSpc>
                  <a:spcPct val="150000"/>
                </a:lnSpc>
                <a:buNone/>
              </a:pPr>
              <a:r>
                <a:rPr lang="en-US" sz="700" dirty="0">
                  <a:solidFill>
                    <a:srgbClr val="1F2A37"/>
                  </a:solidFill>
                  <a:latin typeface="Consolas" panose="020B0609020204030204" pitchFamily="34" charset="0"/>
                </a:rPr>
                <a:t>schedules</a:t>
              </a:r>
              <a:endParaRPr lang="en-US" sz="700" dirty="0"/>
            </a:p>
          </p:txBody>
        </p:sp>
      </p:grpSp>
      <p:sp>
        <p:nvSpPr>
          <p:cNvPr id="49" name="Text 46"/>
          <p:cNvSpPr/>
          <p:nvPr/>
        </p:nvSpPr>
        <p:spPr>
          <a:xfrm>
            <a:off x="342900" y="4739878"/>
            <a:ext cx="100013" cy="100013"/>
          </a:xfrm>
          <a:prstGeom prst="rect">
            <a:avLst/>
          </a:prstGeom>
          <a:noFill/>
        </p:spPr>
        <p:txBody>
          <a:bodyPr wrap="none" lIns="0" tIns="0" rIns="0" bIns="0" rtlCol="0" anchor="t"/>
          <a:lstStyle/>
          <a:p>
            <a:pPr marL="0" indent="0">
              <a:lnSpc>
                <a:spcPct val="100000"/>
              </a:lnSpc>
              <a:buNone/>
            </a:pPr>
            <a:r>
              <a:rPr lang="en-US" sz="700" dirty="0">
                <a:solidFill>
                  <a:srgbClr val="22C55E">
                    <a:alpha val="80000"/>
                  </a:srgbClr>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700" dirty="0"/>
          </a:p>
        </p:txBody>
      </p:sp>
      <p:sp>
        <p:nvSpPr>
          <p:cNvPr id="50" name="Text 47"/>
          <p:cNvSpPr/>
          <p:nvPr/>
        </p:nvSpPr>
        <p:spPr>
          <a:xfrm>
            <a:off x="500063" y="4714875"/>
            <a:ext cx="1745084" cy="150019"/>
          </a:xfrm>
          <a:prstGeom prst="rect">
            <a:avLst/>
          </a:prstGeom>
          <a:noFill/>
        </p:spPr>
        <p:txBody>
          <a:bodyPr wrap="none" lIns="0"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系统启动自动建表 </a:t>
            </a:r>
            <a:r>
              <a:rPr lang="en-US" sz="700" dirty="0">
                <a:solidFill>
                  <a:srgbClr val="1F2A37"/>
                </a:solidFill>
                <a:latin typeface="Arial" panose="020B0604020202020204" pitchFamily="34" charset="0"/>
              </a:rPr>
              <a:t>(Schema Auto-Sync)</a:t>
            </a:r>
            <a:endParaRPr lang="en-US" sz="700" dirty="0"/>
          </a:p>
        </p:txBody>
      </p:sp>
      <p:sp>
        <p:nvSpPr>
          <p:cNvPr id="51" name="Text 48"/>
          <p:cNvSpPr/>
          <p:nvPr/>
        </p:nvSpPr>
        <p:spPr>
          <a:xfrm>
            <a:off x="2416597" y="4739878"/>
            <a:ext cx="100013" cy="100013"/>
          </a:xfrm>
          <a:prstGeom prst="rect">
            <a:avLst/>
          </a:prstGeom>
          <a:noFill/>
        </p:spPr>
        <p:txBody>
          <a:bodyPr wrap="none" lIns="0" tIns="0" rIns="0" bIns="0" rtlCol="0" anchor="t"/>
          <a:lstStyle/>
          <a:p>
            <a:pPr marL="0" indent="0">
              <a:lnSpc>
                <a:spcPct val="100000"/>
              </a:lnSpc>
              <a:buNone/>
            </a:pPr>
            <a:r>
              <a:rPr lang="en-US" sz="700" dirty="0">
                <a:solidFill>
                  <a:srgbClr val="3B82F6">
                    <a:alpha val="80000"/>
                  </a:srgbClr>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700" dirty="0"/>
          </a:p>
        </p:txBody>
      </p:sp>
      <p:sp>
        <p:nvSpPr>
          <p:cNvPr id="52" name="Text 49"/>
          <p:cNvSpPr/>
          <p:nvPr/>
        </p:nvSpPr>
        <p:spPr>
          <a:xfrm>
            <a:off x="2573759" y="4714875"/>
            <a:ext cx="1178272" cy="150019"/>
          </a:xfrm>
          <a:prstGeom prst="rect">
            <a:avLst/>
          </a:prstGeom>
          <a:noFill/>
        </p:spPr>
        <p:txBody>
          <a:bodyPr wrap="none" lIns="0" tIns="0" rIns="0" bIns="0" rtlCol="0" anchor="t"/>
          <a:lstStyle/>
          <a:p>
            <a:pPr marL="0" indent="0">
              <a:lnSpc>
                <a:spcPct val="150000"/>
              </a:lnSpc>
              <a:buNone/>
            </a:pPr>
            <a:r>
              <a:rPr lang="en-US" sz="700" dirty="0">
                <a:solidFill>
                  <a:srgbClr val="1F2A37"/>
                </a:solidFill>
                <a:latin typeface="Arial" panose="020B0604020202020204" pitchFamily="34" charset="0"/>
              </a:rPr>
              <a:t>seed.py </a:t>
            </a:r>
            <a:r>
              <a:rPr lang="zh-CN" sz="700" dirty="0">
                <a:solidFill>
                  <a:srgbClr val="1F2A37"/>
                </a:solidFill>
                <a:latin typeface="Arial" panose="020B0604020202020204" pitchFamily="34" charset="0"/>
                <a:ea typeface="微软雅黑" panose="020B0503020204020204" pitchFamily="34" charset="-122"/>
              </a:rPr>
              <a:t>自动注入演示数据</a:t>
            </a:r>
            <a:endParaRPr lang="en-US" sz="700" dirty="0"/>
          </a:p>
        </p:txBody>
      </p:sp>
      <p:sp>
        <p:nvSpPr>
          <p:cNvPr id="53" name="Text 50"/>
          <p:cNvSpPr/>
          <p:nvPr/>
        </p:nvSpPr>
        <p:spPr>
          <a:xfrm>
            <a:off x="5727055" y="1235869"/>
            <a:ext cx="1105049" cy="142875"/>
          </a:xfrm>
          <a:prstGeom prst="rect">
            <a:avLst/>
          </a:prstGeom>
          <a:noFill/>
        </p:spPr>
        <p:txBody>
          <a:bodyPr wrap="none" lIns="0" tIns="0" rIns="0" bIns="0" rtlCol="0" anchor="ctr"/>
          <a:lstStyle/>
          <a:p>
            <a:pPr marL="0" indent="0">
              <a:lnSpc>
                <a:spcPct val="156000"/>
              </a:lnSpc>
              <a:buNone/>
            </a:pPr>
            <a:r>
              <a:rPr lang="zh-CN" sz="1000" b="1" dirty="0">
                <a:solidFill>
                  <a:srgbClr val="334155"/>
                </a:solidFill>
                <a:latin typeface="Arial" panose="020B0604020202020204" pitchFamily="34" charset="0"/>
                <a:ea typeface="微软雅黑" panose="020B0503020204020204" pitchFamily="34" charset="-122"/>
              </a:rPr>
              <a:t>核心建表 </a:t>
            </a:r>
            <a:r>
              <a:rPr lang="en-US" sz="1000" b="1" dirty="0">
                <a:solidFill>
                  <a:srgbClr val="334155"/>
                </a:solidFill>
                <a:latin typeface="Arial" panose="020B0604020202020204" pitchFamily="34" charset="0"/>
              </a:rPr>
              <a:t>SQL </a:t>
            </a:r>
            <a:r>
              <a:rPr lang="zh-CN" sz="1000" b="1" dirty="0">
                <a:solidFill>
                  <a:srgbClr val="334155"/>
                </a:solidFill>
                <a:latin typeface="Arial" panose="020B0604020202020204" pitchFamily="34" charset="0"/>
                <a:ea typeface="微软雅黑" panose="020B0503020204020204" pitchFamily="34" charset="-122"/>
              </a:rPr>
              <a:t>示例</a:t>
            </a:r>
            <a:endParaRPr lang="en-US" sz="1000" dirty="0"/>
          </a:p>
        </p:txBody>
      </p:sp>
      <p:sp>
        <p:nvSpPr>
          <p:cNvPr id="54" name="Text 51"/>
          <p:cNvSpPr/>
          <p:nvPr/>
        </p:nvSpPr>
        <p:spPr>
          <a:xfrm>
            <a:off x="5509171" y="1243013"/>
            <a:ext cx="160734" cy="128588"/>
          </a:xfrm>
          <a:prstGeom prst="rect">
            <a:avLst/>
          </a:prstGeom>
          <a:noFill/>
        </p:spPr>
        <p:txBody>
          <a:bodyPr wrap="none" lIns="0" tIns="0" rIns="0" bIns="0" rtlCol="0" anchor="t"/>
          <a:lstStyle/>
          <a:p>
            <a:pPr marL="0" indent="0">
              <a:lnSpc>
                <a:spcPct val="100000"/>
              </a:lnSpc>
              <a:buNone/>
            </a:pPr>
            <a:r>
              <a:rPr lang="en-US" sz="1000" dirty="0">
                <a:solidFill>
                  <a:srgbClr val="3B82F6"/>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1000" dirty="0"/>
          </a:p>
        </p:txBody>
      </p:sp>
      <p:sp>
        <p:nvSpPr>
          <p:cNvPr id="55" name="Shape 52"/>
          <p:cNvSpPr/>
          <p:nvPr/>
        </p:nvSpPr>
        <p:spPr>
          <a:xfrm>
            <a:off x="5509171" y="1521619"/>
            <a:ext cx="3291929" cy="3343275"/>
          </a:xfrm>
          <a:prstGeom prst="roundRect">
            <a:avLst>
              <a:gd name="adj" fmla="val 2604"/>
            </a:avLst>
          </a:prstGeom>
          <a:solidFill>
            <a:srgbClr val="F8FAFC"/>
          </a:solidFill>
          <a:ln w="6350">
            <a:solidFill>
              <a:srgbClr val="DCEAF5"/>
            </a:solidFill>
            <a:prstDash val="solid"/>
          </a:ln>
        </p:spPr>
      </p:sp>
      <p:sp>
        <p:nvSpPr>
          <p:cNvPr id="56" name="Shape 53"/>
          <p:cNvSpPr/>
          <p:nvPr/>
        </p:nvSpPr>
        <p:spPr>
          <a:xfrm>
            <a:off x="5516314" y="1528763"/>
            <a:ext cx="3277642" cy="282178"/>
          </a:xfrm>
          <a:prstGeom prst="rect">
            <a:avLst/>
          </a:prstGeom>
          <a:solidFill>
            <a:srgbClr val="DCEAF5"/>
          </a:solidFill>
        </p:spPr>
      </p:sp>
      <p:sp>
        <p:nvSpPr>
          <p:cNvPr id="57" name="Text 54"/>
          <p:cNvSpPr/>
          <p:nvPr/>
        </p:nvSpPr>
        <p:spPr>
          <a:xfrm>
            <a:off x="5630614" y="1600200"/>
            <a:ext cx="1176486" cy="139303"/>
          </a:xfrm>
          <a:prstGeom prst="rect">
            <a:avLst/>
          </a:prstGeom>
          <a:noFill/>
        </p:spPr>
        <p:txBody>
          <a:bodyPr wrap="none" lIns="0" tIns="0" rIns="0" bIns="0" rtlCol="0" anchor="t"/>
          <a:lstStyle/>
          <a:p>
            <a:pPr marL="0" indent="0" algn="l">
              <a:lnSpc>
                <a:spcPct val="150000"/>
              </a:lnSpc>
              <a:buNone/>
            </a:pPr>
            <a:r>
              <a:rPr lang="en-US" sz="700" b="1" dirty="0">
                <a:solidFill>
                  <a:srgbClr val="2E6EA6"/>
                </a:solidFill>
                <a:latin typeface="Arial" panose="020B0604020202020204" pitchFamily="34" charset="0"/>
              </a:rPr>
              <a:t>Schema Definition Snippet</a:t>
            </a:r>
            <a:endParaRPr lang="en-US" sz="700" dirty="0"/>
          </a:p>
        </p:txBody>
      </p:sp>
      <p:sp>
        <p:nvSpPr>
          <p:cNvPr id="58" name="Text 55"/>
          <p:cNvSpPr/>
          <p:nvPr/>
        </p:nvSpPr>
        <p:spPr>
          <a:xfrm>
            <a:off x="8575179" y="1600200"/>
            <a:ext cx="104477" cy="139303"/>
          </a:xfrm>
          <a:prstGeom prst="rect">
            <a:avLst/>
          </a:prstGeom>
          <a:noFill/>
        </p:spPr>
        <p:txBody>
          <a:bodyPr wrap="none" lIns="0" tIns="0" rIns="0" bIns="0" rtlCol="0" anchor="t"/>
          <a:lstStyle/>
          <a:p>
            <a:pPr marL="0" indent="0">
              <a:lnSpc>
                <a:spcPct val="100000"/>
              </a:lnSpc>
              <a:buNone/>
            </a:pPr>
            <a:r>
              <a:rPr lang="en-US" sz="700" dirty="0">
                <a:solidFill>
                  <a:srgbClr val="2E6EA6"/>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700" dirty="0"/>
          </a:p>
        </p:txBody>
      </p:sp>
      <p:sp>
        <p:nvSpPr>
          <p:cNvPr id="59" name="Text 56"/>
          <p:cNvSpPr/>
          <p:nvPr/>
        </p:nvSpPr>
        <p:spPr>
          <a:xfrm>
            <a:off x="5516314" y="1810941"/>
            <a:ext cx="3277642" cy="2811400"/>
          </a:xfrm>
          <a:prstGeom prst="rect">
            <a:avLst/>
          </a:prstGeom>
          <a:noFill/>
        </p:spPr>
        <p:txBody>
          <a:bodyPr wrap="none" lIns="147320" tIns="147320" rIns="147320" bIns="147320" rtlCol="0" anchor="t"/>
          <a:lstStyle/>
          <a:p>
            <a:pPr marL="0" indent="0">
              <a:lnSpc>
                <a:spcPct val="160000"/>
              </a:lnSpc>
              <a:buNone/>
            </a:pPr>
            <a:r>
              <a:rPr lang="en-US" sz="700" i="1" dirty="0">
                <a:solidFill>
                  <a:srgbClr val="64748B"/>
                </a:solidFill>
                <a:latin typeface="Arial" panose="020B0604020202020204" pitchFamily="34" charset="0"/>
              </a:rPr>
              <a:t>-- </a:t>
            </a:r>
            <a:r>
              <a:rPr lang="zh-CN" sz="700" i="1" dirty="0">
                <a:solidFill>
                  <a:srgbClr val="64748B"/>
                </a:solidFill>
                <a:latin typeface="Arial" panose="020B0604020202020204" pitchFamily="34" charset="0"/>
                <a:ea typeface="微软雅黑" panose="020B0503020204020204" pitchFamily="34" charset="-122"/>
              </a:rPr>
              <a:t>用户表</a:t>
            </a:r>
            <a:br>
              <a:rPr lang="zh-CN" sz="700" i="1" dirty="0">
                <a:solidFill>
                  <a:srgbClr val="64748B"/>
                </a:solidFill>
                <a:latin typeface="Arial" panose="020B0604020202020204" pitchFamily="34" charset="0"/>
                <a:ea typeface="微软雅黑" panose="020B0503020204020204" pitchFamily="34" charset="-122"/>
              </a:rPr>
            </a:br>
            <a:r>
              <a:rPr lang="en-US" sz="700" dirty="0">
                <a:solidFill>
                  <a:srgbClr val="1F2A37"/>
                </a:solidFill>
                <a:latin typeface="Arial" panose="020B0604020202020204" pitchFamily="34" charset="0"/>
              </a:rPr>
              <a:t> </a:t>
            </a:r>
            <a:r>
              <a:rPr lang="en-US" sz="700" b="1" dirty="0">
                <a:solidFill>
                  <a:srgbClr val="2563EB"/>
                </a:solidFill>
                <a:latin typeface="Arial" panose="020B0604020202020204" pitchFamily="34" charset="0"/>
              </a:rPr>
              <a:t>CREATE TABLE IF NOT EXISTS</a:t>
            </a:r>
            <a:r>
              <a:rPr lang="en-US" sz="700" dirty="0">
                <a:solidFill>
                  <a:srgbClr val="1F2A37"/>
                </a:solidFill>
                <a:latin typeface="Arial" panose="020B0604020202020204" pitchFamily="34" charset="0"/>
              </a:rPr>
              <a:t> `users` (</a:t>
            </a:r>
            <a:br>
              <a:rPr lang="en-US" sz="700" dirty="0">
                <a:solidFill>
                  <a:srgbClr val="1F2A37"/>
                </a:solidFill>
                <a:latin typeface="Arial" panose="020B0604020202020204" pitchFamily="34" charset="0"/>
              </a:rPr>
            </a:br>
            <a:r>
              <a:rPr lang="en-US" sz="700" dirty="0">
                <a:solidFill>
                  <a:srgbClr val="1F2A37"/>
                </a:solidFill>
                <a:latin typeface="Arial" panose="020B0604020202020204" pitchFamily="34" charset="0"/>
              </a:rPr>
              <a:t> `id` </a:t>
            </a:r>
            <a:r>
              <a:rPr lang="en-US" sz="700" dirty="0">
                <a:solidFill>
                  <a:srgbClr val="0891B2"/>
                </a:solidFill>
                <a:latin typeface="Arial" panose="020B0604020202020204" pitchFamily="34" charset="0"/>
              </a:rPr>
              <a:t>INT UNSIGNED</a:t>
            </a:r>
            <a:r>
              <a:rPr lang="en-US" sz="700" dirty="0">
                <a:solidFill>
                  <a:srgbClr val="1F2A37"/>
                </a:solidFill>
                <a:latin typeface="Arial" panose="020B0604020202020204" pitchFamily="34" charset="0"/>
              </a:rPr>
              <a:t> </a:t>
            </a:r>
            <a:r>
              <a:rPr lang="en-US" sz="700" b="1" dirty="0">
                <a:solidFill>
                  <a:srgbClr val="2563EB"/>
                </a:solidFill>
                <a:latin typeface="Arial" panose="020B0604020202020204" pitchFamily="34" charset="0"/>
              </a:rPr>
              <a:t>NOT NULL AUTO_INCREMENT</a:t>
            </a:r>
            <a:r>
              <a:rPr lang="en-US" sz="700" dirty="0">
                <a:solidFill>
                  <a:srgbClr val="1F2A37"/>
                </a:solidFill>
                <a:latin typeface="Arial" panose="020B0604020202020204" pitchFamily="34" charset="0"/>
              </a:rPr>
              <a:t>,</a:t>
            </a:r>
            <a:br>
              <a:rPr lang="en-US" sz="700" dirty="0">
                <a:solidFill>
                  <a:srgbClr val="1F2A37"/>
                </a:solidFill>
                <a:latin typeface="Arial" panose="020B0604020202020204" pitchFamily="34" charset="0"/>
              </a:rPr>
            </a:br>
            <a:r>
              <a:rPr lang="en-US" sz="700" dirty="0">
                <a:solidFill>
                  <a:srgbClr val="1F2A37"/>
                </a:solidFill>
                <a:latin typeface="Arial" panose="020B0604020202020204" pitchFamily="34" charset="0"/>
              </a:rPr>
              <a:t> `username` </a:t>
            </a:r>
            <a:r>
              <a:rPr lang="en-US" sz="700" dirty="0">
                <a:solidFill>
                  <a:srgbClr val="0891B2"/>
                </a:solidFill>
                <a:latin typeface="Arial" panose="020B0604020202020204" pitchFamily="34" charset="0"/>
              </a:rPr>
              <a:t>VARCHAR(32)</a:t>
            </a:r>
            <a:r>
              <a:rPr lang="en-US" sz="700" dirty="0">
                <a:solidFill>
                  <a:srgbClr val="1F2A37"/>
                </a:solidFill>
                <a:latin typeface="Arial" panose="020B0604020202020204" pitchFamily="34" charset="0"/>
              </a:rPr>
              <a:t> </a:t>
            </a:r>
            <a:r>
              <a:rPr lang="en-US" sz="700" b="1" dirty="0">
                <a:solidFill>
                  <a:srgbClr val="2563EB"/>
                </a:solidFill>
                <a:latin typeface="Arial" panose="020B0604020202020204" pitchFamily="34" charset="0"/>
              </a:rPr>
              <a:t>NOT NULL UNIQUE</a:t>
            </a:r>
            <a:r>
              <a:rPr lang="en-US" sz="700" dirty="0">
                <a:solidFill>
                  <a:srgbClr val="1F2A37"/>
                </a:solidFill>
                <a:latin typeface="Arial" panose="020B0604020202020204" pitchFamily="34" charset="0"/>
              </a:rPr>
              <a:t>,</a:t>
            </a:r>
            <a:br>
              <a:rPr lang="en-US" sz="700" dirty="0">
                <a:solidFill>
                  <a:srgbClr val="1F2A37"/>
                </a:solidFill>
                <a:latin typeface="Arial" panose="020B0604020202020204" pitchFamily="34" charset="0"/>
              </a:rPr>
            </a:br>
            <a:r>
              <a:rPr lang="en-US" sz="700" dirty="0">
                <a:solidFill>
                  <a:srgbClr val="1F2A37"/>
                </a:solidFill>
                <a:latin typeface="Arial" panose="020B0604020202020204" pitchFamily="34" charset="0"/>
              </a:rPr>
              <a:t> `password_hash` </a:t>
            </a:r>
            <a:r>
              <a:rPr lang="en-US" sz="700" dirty="0">
                <a:solidFill>
                  <a:srgbClr val="0891B2"/>
                </a:solidFill>
                <a:latin typeface="Arial" panose="020B0604020202020204" pitchFamily="34" charset="0"/>
              </a:rPr>
              <a:t>VARCHAR(255)</a:t>
            </a:r>
            <a:r>
              <a:rPr lang="en-US" sz="700" dirty="0">
                <a:solidFill>
                  <a:srgbClr val="1F2A37"/>
                </a:solidFill>
                <a:latin typeface="Arial" panose="020B0604020202020204" pitchFamily="34" charset="0"/>
              </a:rPr>
              <a:t> </a:t>
            </a:r>
            <a:r>
              <a:rPr lang="en-US" sz="700" b="1" dirty="0">
                <a:solidFill>
                  <a:srgbClr val="2563EB"/>
                </a:solidFill>
                <a:latin typeface="Arial" panose="020B0604020202020204" pitchFamily="34" charset="0"/>
              </a:rPr>
              <a:t>NOT NULL</a:t>
            </a:r>
            <a:r>
              <a:rPr lang="en-US" sz="700" dirty="0">
                <a:solidFill>
                  <a:srgbClr val="1F2A37"/>
                </a:solidFill>
                <a:latin typeface="Arial" panose="020B0604020202020204" pitchFamily="34" charset="0"/>
              </a:rPr>
              <a:t>,</a:t>
            </a:r>
            <a:br>
              <a:rPr lang="en-US" sz="700" dirty="0">
                <a:solidFill>
                  <a:srgbClr val="1F2A37"/>
                </a:solidFill>
                <a:latin typeface="Arial" panose="020B0604020202020204" pitchFamily="34" charset="0"/>
              </a:rPr>
            </a:br>
            <a:r>
              <a:rPr lang="en-US" sz="700" dirty="0">
                <a:solidFill>
                  <a:srgbClr val="1F2A37"/>
                </a:solidFill>
                <a:latin typeface="Arial" panose="020B0604020202020204" pitchFamily="34" charset="0"/>
              </a:rPr>
              <a:t> `role` </a:t>
            </a:r>
            <a:r>
              <a:rPr lang="en-US" sz="700" dirty="0">
                <a:solidFill>
                  <a:srgbClr val="0891B2"/>
                </a:solidFill>
                <a:latin typeface="Arial" panose="020B0604020202020204" pitchFamily="34" charset="0"/>
              </a:rPr>
              <a:t>VARCHAR(16)</a:t>
            </a:r>
            <a:r>
              <a:rPr lang="en-US" sz="700" dirty="0">
                <a:solidFill>
                  <a:srgbClr val="1F2A37"/>
                </a:solidFill>
                <a:latin typeface="Arial" panose="020B0604020202020204" pitchFamily="34" charset="0"/>
              </a:rPr>
              <a:t> </a:t>
            </a:r>
            <a:r>
              <a:rPr lang="en-US" sz="700" b="1" dirty="0">
                <a:solidFill>
                  <a:srgbClr val="2563EB"/>
                </a:solidFill>
                <a:latin typeface="Arial" panose="020B0604020202020204" pitchFamily="34" charset="0"/>
              </a:rPr>
              <a:t>NOT NULL</a:t>
            </a:r>
            <a:r>
              <a:rPr lang="en-US" sz="700" dirty="0">
                <a:solidFill>
                  <a:srgbClr val="1F2A37"/>
                </a:solidFill>
                <a:latin typeface="Arial" panose="020B0604020202020204" pitchFamily="34" charset="0"/>
              </a:rPr>
              <a:t>,</a:t>
            </a:r>
            <a:br>
              <a:rPr lang="en-US" sz="700" dirty="0">
                <a:solidFill>
                  <a:srgbClr val="1F2A37"/>
                </a:solidFill>
                <a:latin typeface="Arial" panose="020B0604020202020204" pitchFamily="34" charset="0"/>
              </a:rPr>
            </a:br>
            <a:r>
              <a:rPr lang="en-US" sz="700" dirty="0">
                <a:solidFill>
                  <a:srgbClr val="1F2A37"/>
                </a:solidFill>
                <a:latin typeface="Arial" panose="020B0604020202020204" pitchFamily="34" charset="0"/>
              </a:rPr>
              <a:t> </a:t>
            </a:r>
            <a:r>
              <a:rPr lang="en-US" sz="700" b="1" dirty="0">
                <a:solidFill>
                  <a:srgbClr val="2563EB"/>
                </a:solidFill>
                <a:latin typeface="Arial" panose="020B0604020202020204" pitchFamily="34" charset="0"/>
              </a:rPr>
              <a:t>PRIMARY KEY</a:t>
            </a:r>
            <a:r>
              <a:rPr lang="en-US" sz="700" dirty="0">
                <a:solidFill>
                  <a:srgbClr val="1F2A37"/>
                </a:solidFill>
                <a:latin typeface="Arial" panose="020B0604020202020204" pitchFamily="34" charset="0"/>
              </a:rPr>
              <a:t> (`id`)</a:t>
            </a:r>
            <a:br>
              <a:rPr lang="en-US" sz="700" dirty="0">
                <a:solidFill>
                  <a:srgbClr val="1F2A37"/>
                </a:solidFill>
                <a:latin typeface="Arial" panose="020B0604020202020204" pitchFamily="34" charset="0"/>
              </a:rPr>
            </a:br>
            <a:r>
              <a:rPr lang="en-US" sz="700" dirty="0">
                <a:solidFill>
                  <a:srgbClr val="1F2A37"/>
                </a:solidFill>
                <a:latin typeface="Arial" panose="020B0604020202020204" pitchFamily="34" charset="0"/>
              </a:rPr>
              <a:t> ) </a:t>
            </a:r>
            <a:r>
              <a:rPr lang="en-US" sz="700" b="1" dirty="0">
                <a:solidFill>
                  <a:srgbClr val="2563EB"/>
                </a:solidFill>
                <a:latin typeface="Arial" panose="020B0604020202020204" pitchFamily="34" charset="0"/>
              </a:rPr>
              <a:t>ENGINE</a:t>
            </a:r>
            <a:r>
              <a:rPr lang="en-US" sz="700" dirty="0">
                <a:solidFill>
                  <a:srgbClr val="1F2A37"/>
                </a:solidFill>
                <a:latin typeface="Arial" panose="020B0604020202020204" pitchFamily="34" charset="0"/>
              </a:rPr>
              <a:t>=InnoDB </a:t>
            </a:r>
            <a:r>
              <a:rPr lang="en-US" sz="700" b="1" dirty="0">
                <a:solidFill>
                  <a:srgbClr val="2563EB"/>
                </a:solidFill>
                <a:latin typeface="Arial" panose="020B0604020202020204" pitchFamily="34" charset="0"/>
              </a:rPr>
              <a:t>DEFAULT CHARSET</a:t>
            </a:r>
            <a:r>
              <a:rPr lang="en-US" sz="700" dirty="0">
                <a:solidFill>
                  <a:srgbClr val="1F2A37"/>
                </a:solidFill>
                <a:latin typeface="Arial" panose="020B0604020202020204" pitchFamily="34" charset="0"/>
              </a:rPr>
              <a:t>=utf8mb4;</a:t>
            </a:r>
            <a:br>
              <a:rPr lang="en-US" sz="700" dirty="0">
                <a:solidFill>
                  <a:srgbClr val="1F2A37"/>
                </a:solidFill>
                <a:latin typeface="Arial" panose="020B0604020202020204" pitchFamily="34" charset="0"/>
              </a:rPr>
            </a:br>
            <a:r>
              <a:rPr lang="en-US" sz="700" dirty="0">
                <a:solidFill>
                  <a:srgbClr val="1F2A37"/>
                </a:solidFill>
                <a:latin typeface="Arial" panose="020B0604020202020204" pitchFamily="34" charset="0"/>
              </a:rPr>
              <a:t>​</a:t>
            </a:r>
            <a:br>
              <a:rPr lang="en-US" sz="700" dirty="0">
                <a:solidFill>
                  <a:srgbClr val="1F2A37"/>
                </a:solidFill>
                <a:latin typeface="Arial" panose="020B0604020202020204" pitchFamily="34" charset="0"/>
              </a:rPr>
            </a:br>
            <a:r>
              <a:rPr lang="en-US" sz="700" dirty="0">
                <a:solidFill>
                  <a:srgbClr val="1F2A37"/>
                </a:solidFill>
                <a:latin typeface="Arial" panose="020B0604020202020204" pitchFamily="34" charset="0"/>
              </a:rPr>
              <a:t> </a:t>
            </a:r>
            <a:r>
              <a:rPr lang="en-US" sz="700" i="1" dirty="0">
                <a:solidFill>
                  <a:srgbClr val="64748B"/>
                </a:solidFill>
                <a:latin typeface="Arial" panose="020B0604020202020204" pitchFamily="34" charset="0"/>
              </a:rPr>
              <a:t>-- </a:t>
            </a:r>
            <a:r>
              <a:rPr lang="zh-CN" sz="700" i="1" dirty="0">
                <a:solidFill>
                  <a:srgbClr val="64748B"/>
                </a:solidFill>
                <a:latin typeface="Arial" panose="020B0604020202020204" pitchFamily="34" charset="0"/>
                <a:ea typeface="微软雅黑" panose="020B0503020204020204" pitchFamily="34" charset="-122"/>
              </a:rPr>
              <a:t>知识库表</a:t>
            </a:r>
            <a:br>
              <a:rPr lang="zh-CN" sz="700" i="1" dirty="0">
                <a:solidFill>
                  <a:srgbClr val="64748B"/>
                </a:solidFill>
                <a:latin typeface="Arial" panose="020B0604020202020204" pitchFamily="34" charset="0"/>
                <a:ea typeface="微软雅黑" panose="020B0503020204020204" pitchFamily="34" charset="-122"/>
              </a:rPr>
            </a:br>
            <a:r>
              <a:rPr lang="en-US" sz="700" dirty="0">
                <a:solidFill>
                  <a:srgbClr val="1F2A37"/>
                </a:solidFill>
                <a:latin typeface="Arial" panose="020B0604020202020204" pitchFamily="34" charset="0"/>
              </a:rPr>
              <a:t> </a:t>
            </a:r>
            <a:r>
              <a:rPr lang="en-US" sz="700" b="1" dirty="0">
                <a:solidFill>
                  <a:srgbClr val="2563EB"/>
                </a:solidFill>
                <a:latin typeface="Arial" panose="020B0604020202020204" pitchFamily="34" charset="0"/>
              </a:rPr>
              <a:t>CREATE TABLE IF NOT EXISTS</a:t>
            </a:r>
            <a:r>
              <a:rPr lang="en-US" sz="700" dirty="0">
                <a:solidFill>
                  <a:srgbClr val="1F2A37"/>
                </a:solidFill>
                <a:latin typeface="Arial" panose="020B0604020202020204" pitchFamily="34" charset="0"/>
              </a:rPr>
              <a:t> `knowledge_bases` (</a:t>
            </a:r>
            <a:br>
              <a:rPr lang="en-US" sz="700" dirty="0">
                <a:solidFill>
                  <a:srgbClr val="1F2A37"/>
                </a:solidFill>
                <a:latin typeface="Arial" panose="020B0604020202020204" pitchFamily="34" charset="0"/>
              </a:rPr>
            </a:br>
            <a:r>
              <a:rPr lang="en-US" sz="700" dirty="0">
                <a:solidFill>
                  <a:srgbClr val="1F2A37"/>
                </a:solidFill>
                <a:latin typeface="Arial" panose="020B0604020202020204" pitchFamily="34" charset="0"/>
              </a:rPr>
              <a:t> `id` </a:t>
            </a:r>
            <a:r>
              <a:rPr lang="en-US" sz="700" dirty="0">
                <a:solidFill>
                  <a:srgbClr val="0891B2"/>
                </a:solidFill>
                <a:latin typeface="Arial" panose="020B0604020202020204" pitchFamily="34" charset="0"/>
              </a:rPr>
              <a:t>INT UNSIGNED</a:t>
            </a:r>
            <a:r>
              <a:rPr lang="en-US" sz="700" dirty="0">
                <a:solidFill>
                  <a:srgbClr val="1F2A37"/>
                </a:solidFill>
                <a:latin typeface="Arial" panose="020B0604020202020204" pitchFamily="34" charset="0"/>
              </a:rPr>
              <a:t> </a:t>
            </a:r>
            <a:r>
              <a:rPr lang="en-US" sz="700" b="1" dirty="0">
                <a:solidFill>
                  <a:srgbClr val="2563EB"/>
                </a:solidFill>
                <a:latin typeface="Arial" panose="020B0604020202020204" pitchFamily="34" charset="0"/>
              </a:rPr>
              <a:t>NOT NULL AUTO_INCREMENT</a:t>
            </a:r>
            <a:r>
              <a:rPr lang="en-US" sz="700" dirty="0">
                <a:solidFill>
                  <a:srgbClr val="1F2A37"/>
                </a:solidFill>
                <a:latin typeface="Arial" panose="020B0604020202020204" pitchFamily="34" charset="0"/>
              </a:rPr>
              <a:t>,</a:t>
            </a:r>
            <a:br>
              <a:rPr lang="en-US" sz="700" dirty="0">
                <a:solidFill>
                  <a:srgbClr val="1F2A37"/>
                </a:solidFill>
                <a:latin typeface="Arial" panose="020B0604020202020204" pitchFamily="34" charset="0"/>
              </a:rPr>
            </a:br>
            <a:r>
              <a:rPr lang="en-US" sz="700" dirty="0">
                <a:solidFill>
                  <a:srgbClr val="1F2A37"/>
                </a:solidFill>
                <a:latin typeface="Arial" panose="020B0604020202020204" pitchFamily="34" charset="0"/>
              </a:rPr>
              <a:t> `owner_id` </a:t>
            </a:r>
            <a:r>
              <a:rPr lang="en-US" sz="700" dirty="0">
                <a:solidFill>
                  <a:srgbClr val="0891B2"/>
                </a:solidFill>
                <a:latin typeface="Arial" panose="020B0604020202020204" pitchFamily="34" charset="0"/>
              </a:rPr>
              <a:t>INT UNSIGNED</a:t>
            </a:r>
            <a:r>
              <a:rPr lang="en-US" sz="700" dirty="0">
                <a:solidFill>
                  <a:srgbClr val="1F2A37"/>
                </a:solidFill>
                <a:latin typeface="Arial" panose="020B0604020202020204" pitchFamily="34" charset="0"/>
              </a:rPr>
              <a:t> </a:t>
            </a:r>
            <a:r>
              <a:rPr lang="en-US" sz="700" b="1" dirty="0">
                <a:solidFill>
                  <a:srgbClr val="2563EB"/>
                </a:solidFill>
                <a:latin typeface="Arial" panose="020B0604020202020204" pitchFamily="34" charset="0"/>
              </a:rPr>
              <a:t>NULL</a:t>
            </a:r>
            <a:r>
              <a:rPr lang="en-US" sz="700" dirty="0">
                <a:solidFill>
                  <a:srgbClr val="1F2A37"/>
                </a:solidFill>
                <a:latin typeface="Arial" panose="020B0604020202020204" pitchFamily="34" charset="0"/>
              </a:rPr>
              <a:t>,</a:t>
            </a:r>
            <a:br>
              <a:rPr lang="en-US" sz="700" dirty="0">
                <a:solidFill>
                  <a:srgbClr val="1F2A37"/>
                </a:solidFill>
                <a:latin typeface="Arial" panose="020B0604020202020204" pitchFamily="34" charset="0"/>
              </a:rPr>
            </a:br>
            <a:r>
              <a:rPr lang="en-US" sz="700" dirty="0">
                <a:solidFill>
                  <a:srgbClr val="1F2A37"/>
                </a:solidFill>
                <a:latin typeface="Arial" panose="020B0604020202020204" pitchFamily="34" charset="0"/>
              </a:rPr>
              <a:t> `name` </a:t>
            </a:r>
            <a:r>
              <a:rPr lang="en-US" sz="700" dirty="0">
                <a:solidFill>
                  <a:srgbClr val="0891B2"/>
                </a:solidFill>
                <a:latin typeface="Arial" panose="020B0604020202020204" pitchFamily="34" charset="0"/>
              </a:rPr>
              <a:t>VARCHAR(128)</a:t>
            </a:r>
            <a:r>
              <a:rPr lang="en-US" sz="700" dirty="0">
                <a:solidFill>
                  <a:srgbClr val="1F2A37"/>
                </a:solidFill>
                <a:latin typeface="Arial" panose="020B0604020202020204" pitchFamily="34" charset="0"/>
              </a:rPr>
              <a:t> </a:t>
            </a:r>
            <a:r>
              <a:rPr lang="en-US" sz="700" b="1" dirty="0">
                <a:solidFill>
                  <a:srgbClr val="2563EB"/>
                </a:solidFill>
                <a:latin typeface="Arial" panose="020B0604020202020204" pitchFamily="34" charset="0"/>
              </a:rPr>
              <a:t>NOT NULL</a:t>
            </a:r>
            <a:r>
              <a:rPr lang="en-US" sz="700" dirty="0">
                <a:solidFill>
                  <a:srgbClr val="1F2A37"/>
                </a:solidFill>
                <a:latin typeface="Arial" panose="020B0604020202020204" pitchFamily="34" charset="0"/>
              </a:rPr>
              <a:t>,</a:t>
            </a:r>
            <a:br>
              <a:rPr lang="en-US" sz="700" dirty="0">
                <a:solidFill>
                  <a:srgbClr val="1F2A37"/>
                </a:solidFill>
                <a:latin typeface="Arial" panose="020B0604020202020204" pitchFamily="34" charset="0"/>
              </a:rPr>
            </a:br>
            <a:r>
              <a:rPr lang="en-US" sz="700" dirty="0">
                <a:solidFill>
                  <a:srgbClr val="1F2A37"/>
                </a:solidFill>
                <a:latin typeface="Arial" panose="020B0604020202020204" pitchFamily="34" charset="0"/>
              </a:rPr>
              <a:t> `visibility` </a:t>
            </a:r>
            <a:r>
              <a:rPr lang="en-US" sz="700" dirty="0">
                <a:solidFill>
                  <a:srgbClr val="0891B2"/>
                </a:solidFill>
                <a:latin typeface="Arial" panose="020B0604020202020204" pitchFamily="34" charset="0"/>
              </a:rPr>
              <a:t>VARCHAR(16)</a:t>
            </a:r>
            <a:r>
              <a:rPr lang="en-US" sz="700" dirty="0">
                <a:solidFill>
                  <a:srgbClr val="1F2A37"/>
                </a:solidFill>
                <a:latin typeface="Arial" panose="020B0604020202020204" pitchFamily="34" charset="0"/>
              </a:rPr>
              <a:t> </a:t>
            </a:r>
            <a:r>
              <a:rPr lang="en-US" sz="700" b="1" dirty="0">
                <a:solidFill>
                  <a:srgbClr val="2563EB"/>
                </a:solidFill>
                <a:latin typeface="Arial" panose="020B0604020202020204" pitchFamily="34" charset="0"/>
              </a:rPr>
              <a:t>DEFAULT</a:t>
            </a:r>
            <a:r>
              <a:rPr lang="en-US" sz="700" dirty="0">
                <a:solidFill>
                  <a:srgbClr val="1F2A37"/>
                </a:solidFill>
                <a:latin typeface="Arial" panose="020B0604020202020204" pitchFamily="34" charset="0"/>
              </a:rPr>
              <a:t> </a:t>
            </a:r>
            <a:r>
              <a:rPr lang="en-US" sz="700" dirty="0">
                <a:solidFill>
                  <a:srgbClr val="059669"/>
                </a:solidFill>
                <a:latin typeface="Arial" panose="020B0604020202020204" pitchFamily="34" charset="0"/>
              </a:rPr>
              <a:t>'private'</a:t>
            </a:r>
            <a:r>
              <a:rPr lang="en-US" sz="700" dirty="0">
                <a:solidFill>
                  <a:srgbClr val="1F2A37"/>
                </a:solidFill>
                <a:latin typeface="Arial" panose="020B0604020202020204" pitchFamily="34" charset="0"/>
              </a:rPr>
              <a:t>,</a:t>
            </a:r>
            <a:br>
              <a:rPr lang="en-US" sz="700" dirty="0">
                <a:solidFill>
                  <a:srgbClr val="1F2A37"/>
                </a:solidFill>
                <a:latin typeface="Arial" panose="020B0604020202020204" pitchFamily="34" charset="0"/>
              </a:rPr>
            </a:br>
            <a:r>
              <a:rPr lang="en-US" sz="700" dirty="0">
                <a:solidFill>
                  <a:srgbClr val="1F2A37"/>
                </a:solidFill>
                <a:latin typeface="Arial" panose="020B0604020202020204" pitchFamily="34" charset="0"/>
              </a:rPr>
              <a:t> </a:t>
            </a:r>
            <a:r>
              <a:rPr lang="en-US" sz="700" b="1" dirty="0">
                <a:solidFill>
                  <a:srgbClr val="2563EB"/>
                </a:solidFill>
                <a:latin typeface="Arial" panose="020B0604020202020204" pitchFamily="34" charset="0"/>
              </a:rPr>
              <a:t>PRIMARY KEY</a:t>
            </a:r>
            <a:r>
              <a:rPr lang="en-US" sz="700" dirty="0">
                <a:solidFill>
                  <a:srgbClr val="1F2A37"/>
                </a:solidFill>
                <a:latin typeface="Arial" panose="020B0604020202020204" pitchFamily="34" charset="0"/>
              </a:rPr>
              <a:t> (`id`)</a:t>
            </a:r>
            <a:br>
              <a:rPr lang="en-US" sz="700" dirty="0">
                <a:solidFill>
                  <a:srgbClr val="1F2A37"/>
                </a:solidFill>
                <a:latin typeface="Arial" panose="020B0604020202020204" pitchFamily="34" charset="0"/>
              </a:rPr>
            </a:br>
            <a:r>
              <a:rPr lang="en-US" sz="700" dirty="0">
                <a:solidFill>
                  <a:srgbClr val="1F2A37"/>
                </a:solidFill>
                <a:latin typeface="Arial" panose="020B0604020202020204" pitchFamily="34" charset="0"/>
              </a:rPr>
              <a:t> ) </a:t>
            </a:r>
            <a:r>
              <a:rPr lang="en-US" sz="700" b="1" dirty="0">
                <a:solidFill>
                  <a:srgbClr val="2563EB"/>
                </a:solidFill>
                <a:latin typeface="Arial" panose="020B0604020202020204" pitchFamily="34" charset="0"/>
              </a:rPr>
              <a:t>ENGINE</a:t>
            </a:r>
            <a:r>
              <a:rPr lang="en-US" sz="700" dirty="0">
                <a:solidFill>
                  <a:srgbClr val="1F2A37"/>
                </a:solidFill>
                <a:latin typeface="Arial" panose="020B0604020202020204" pitchFamily="34" charset="0"/>
              </a:rPr>
              <a:t>=InnoDB </a:t>
            </a:r>
            <a:r>
              <a:rPr lang="en-US" sz="700" b="1" dirty="0">
                <a:solidFill>
                  <a:srgbClr val="2563EB"/>
                </a:solidFill>
                <a:latin typeface="Arial" panose="020B0604020202020204" pitchFamily="34" charset="0"/>
              </a:rPr>
              <a:t>DEFAULT CHARSET</a:t>
            </a:r>
            <a:r>
              <a:rPr lang="en-US" sz="700" dirty="0">
                <a:solidFill>
                  <a:srgbClr val="1F2A37"/>
                </a:solidFill>
                <a:latin typeface="Arial" panose="020B0604020202020204" pitchFamily="34" charset="0"/>
              </a:rPr>
              <a:t>=utf8mb4;</a:t>
            </a:r>
            <a:endParaRPr lang="en-US" sz="700" dirty="0"/>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switch dir="r"/>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600"/>
                                        <p:tgtEl>
                                          <p:spTgt spid="60"/>
                                        </p:tgtEl>
                                      </p:cBhvr>
                                    </p:animEffect>
                                  </p:childTnLst>
                                </p:cTn>
                              </p:par>
                              <p:par>
                                <p:cTn id="8" presetID="2" presetClass="entr" presetSubtype="4" fill="hold" grpId="0" nodeType="withEffect">
                                  <p:stCondLst>
                                    <p:cond delay="100"/>
                                  </p:stCondLst>
                                  <p:childTnLst>
                                    <p:set>
                                      <p:cBhvr>
                                        <p:cTn id="9" dur="1" fill="hold">
                                          <p:stCondLst>
                                            <p:cond delay="0"/>
                                          </p:stCondLst>
                                        </p:cTn>
                                        <p:tgtEl>
                                          <p:spTgt spid="60"/>
                                        </p:tgtEl>
                                        <p:attrNameLst>
                                          <p:attrName>style.visibility</p:attrName>
                                        </p:attrNameLst>
                                      </p:cBhvr>
                                      <p:to>
                                        <p:strVal val="visible"/>
                                      </p:to>
                                    </p:set>
                                    <p:anim calcmode="lin" valueType="num">
                                      <p:cBhvr additive="base">
                                        <p:cTn id="10" dur="600" fill="hold"/>
                                        <p:tgtEl>
                                          <p:spTgt spid="60"/>
                                        </p:tgtEl>
                                        <p:attrNameLst>
                                          <p:attrName>ppt_x</p:attrName>
                                        </p:attrNameLst>
                                      </p:cBhvr>
                                      <p:tavLst>
                                        <p:tav tm="0">
                                          <p:val>
                                            <p:strVal val="#ppt_x"/>
                                          </p:val>
                                        </p:tav>
                                        <p:tav tm="100000">
                                          <p:val>
                                            <p:strVal val="#ppt_x"/>
                                          </p:val>
                                        </p:tav>
                                      </p:tavLst>
                                    </p:anim>
                                    <p:anim calcmode="lin" valueType="num">
                                      <p:cBhvr additive="base">
                                        <p:cTn id="11" dur="600" fill="hold"/>
                                        <p:tgtEl>
                                          <p:spTgt spid="60"/>
                                        </p:tgtEl>
                                        <p:attrNameLst>
                                          <p:attrName>ppt_y</p:attrName>
                                        </p:attrNameLst>
                                      </p:cBhvr>
                                      <p:tavLst>
                                        <p:tav tm="0">
                                          <p:val>
                                            <p:strVal val="1+#ppt_h/2"/>
                                          </p:val>
                                        </p:tav>
                                        <p:tav tm="100000">
                                          <p:val>
                                            <p:strVal val="#ppt_y"/>
                                          </p:val>
                                        </p:tav>
                                      </p:tavLst>
                                    </p:anim>
                                  </p:childTnLst>
                                </p:cTn>
                              </p:par>
                            </p:childTnLst>
                          </p:cTn>
                        </p:par>
                        <p:par>
                          <p:cTn id="12" fill="hold">
                            <p:stCondLst>
                              <p:cond delay="1100"/>
                            </p:stCondLst>
                            <p:childTnLst>
                              <p:par>
                                <p:cTn id="13" presetID="10" presetClass="entr" presetSubtype="0" fill="hold" grpId="0" nodeType="afterEffect">
                                  <p:stCondLst>
                                    <p:cond delay="200"/>
                                  </p:stCondLst>
                                  <p:childTnLst>
                                    <p:set>
                                      <p:cBhvr>
                                        <p:cTn id="14" dur="1" fill="hold">
                                          <p:stCondLst>
                                            <p:cond delay="0"/>
                                          </p:stCondLst>
                                        </p:cTn>
                                        <p:tgtEl>
                                          <p:spTgt spid="61"/>
                                        </p:tgtEl>
                                        <p:attrNameLst>
                                          <p:attrName>style.visibility</p:attrName>
                                        </p:attrNameLst>
                                      </p:cBhvr>
                                      <p:to>
                                        <p:strVal val="visible"/>
                                      </p:to>
                                    </p:set>
                                    <p:animEffect transition="in" filter="fade">
                                      <p:cBhvr>
                                        <p:cTn id="15" dur="600"/>
                                        <p:tgtEl>
                                          <p:spTgt spid="61"/>
                                        </p:tgtEl>
                                      </p:cBhvr>
                                    </p:animEffect>
                                  </p:childTnLst>
                                </p:cTn>
                              </p:par>
                              <p:par>
                                <p:cTn id="16" presetID="2" presetClass="entr" presetSubtype="4" fill="hold" grpId="0" nodeType="withEffect">
                                  <p:stCondLst>
                                    <p:cond delay="200"/>
                                  </p:stCondLst>
                                  <p:childTnLst>
                                    <p:set>
                                      <p:cBhvr>
                                        <p:cTn id="17" dur="1" fill="hold">
                                          <p:stCondLst>
                                            <p:cond delay="0"/>
                                          </p:stCondLst>
                                        </p:cTn>
                                        <p:tgtEl>
                                          <p:spTgt spid="61"/>
                                        </p:tgtEl>
                                        <p:attrNameLst>
                                          <p:attrName>style.visibility</p:attrName>
                                        </p:attrNameLst>
                                      </p:cBhvr>
                                      <p:to>
                                        <p:strVal val="visible"/>
                                      </p:to>
                                    </p:set>
                                    <p:anim calcmode="lin" valueType="num">
                                      <p:cBhvr additive="base">
                                        <p:cTn id="18" dur="600" fill="hold"/>
                                        <p:tgtEl>
                                          <p:spTgt spid="61"/>
                                        </p:tgtEl>
                                        <p:attrNameLst>
                                          <p:attrName>ppt_x</p:attrName>
                                        </p:attrNameLst>
                                      </p:cBhvr>
                                      <p:tavLst>
                                        <p:tav tm="0">
                                          <p:val>
                                            <p:strVal val="#ppt_x"/>
                                          </p:val>
                                        </p:tav>
                                        <p:tav tm="100000">
                                          <p:val>
                                            <p:strVal val="#ppt_x"/>
                                          </p:val>
                                        </p:tav>
                                      </p:tavLst>
                                    </p:anim>
                                    <p:anim calcmode="lin" valueType="num">
                                      <p:cBhvr additive="base">
                                        <p:cTn id="19" dur="600" fill="hold"/>
                                        <p:tgtEl>
                                          <p:spTgt spid="61"/>
                                        </p:tgtEl>
                                        <p:attrNameLst>
                                          <p:attrName>ppt_y</p:attrName>
                                        </p:attrNameLst>
                                      </p:cBhvr>
                                      <p:tavLst>
                                        <p:tav tm="0">
                                          <p:val>
                                            <p:strVal val="1+#ppt_h/2"/>
                                          </p:val>
                                        </p:tav>
                                        <p:tav tm="100000">
                                          <p:val>
                                            <p:strVal val="#ppt_y"/>
                                          </p:val>
                                        </p:tav>
                                      </p:tavLst>
                                    </p:anim>
                                  </p:childTnLst>
                                </p:cTn>
                              </p:par>
                            </p:childTnLst>
                          </p:cTn>
                        </p:par>
                        <p:par>
                          <p:cTn id="20" fill="hold">
                            <p:stCondLst>
                              <p:cond delay="2300"/>
                            </p:stCondLst>
                            <p:childTnLst>
                              <p:par>
                                <p:cTn id="21" presetID="10" presetClass="entr" presetSubtype="0" fill="hold" grpId="0" nodeType="afterEffect">
                                  <p:stCondLst>
                                    <p:cond delay="300"/>
                                  </p:stCondLst>
                                  <p:childTnLst>
                                    <p:set>
                                      <p:cBhvr>
                                        <p:cTn id="22" dur="1" fill="hold">
                                          <p:stCondLst>
                                            <p:cond delay="0"/>
                                          </p:stCondLst>
                                        </p:cTn>
                                        <p:tgtEl>
                                          <p:spTgt spid="62"/>
                                        </p:tgtEl>
                                        <p:attrNameLst>
                                          <p:attrName>style.visibility</p:attrName>
                                        </p:attrNameLst>
                                      </p:cBhvr>
                                      <p:to>
                                        <p:strVal val="visible"/>
                                      </p:to>
                                    </p:set>
                                    <p:animEffect transition="in" filter="fade">
                                      <p:cBhvr>
                                        <p:cTn id="23" dur="600"/>
                                        <p:tgtEl>
                                          <p:spTgt spid="62"/>
                                        </p:tgtEl>
                                      </p:cBhvr>
                                    </p:animEffect>
                                  </p:childTnLst>
                                </p:cTn>
                              </p:par>
                              <p:par>
                                <p:cTn id="24" presetID="2" presetClass="entr" presetSubtype="4" fill="hold" grpId="0" nodeType="withEffect">
                                  <p:stCondLst>
                                    <p:cond delay="300"/>
                                  </p:stCondLst>
                                  <p:childTnLst>
                                    <p:set>
                                      <p:cBhvr>
                                        <p:cTn id="25" dur="1" fill="hold">
                                          <p:stCondLst>
                                            <p:cond delay="0"/>
                                          </p:stCondLst>
                                        </p:cTn>
                                        <p:tgtEl>
                                          <p:spTgt spid="62"/>
                                        </p:tgtEl>
                                        <p:attrNameLst>
                                          <p:attrName>style.visibility</p:attrName>
                                        </p:attrNameLst>
                                      </p:cBhvr>
                                      <p:to>
                                        <p:strVal val="visible"/>
                                      </p:to>
                                    </p:set>
                                    <p:anim calcmode="lin" valueType="num">
                                      <p:cBhvr additive="base">
                                        <p:cTn id="26" dur="600" fill="hold"/>
                                        <p:tgtEl>
                                          <p:spTgt spid="62"/>
                                        </p:tgtEl>
                                        <p:attrNameLst>
                                          <p:attrName>ppt_x</p:attrName>
                                        </p:attrNameLst>
                                      </p:cBhvr>
                                      <p:tavLst>
                                        <p:tav tm="0">
                                          <p:val>
                                            <p:strVal val="#ppt_x"/>
                                          </p:val>
                                        </p:tav>
                                        <p:tav tm="100000">
                                          <p:val>
                                            <p:strVal val="#ppt_x"/>
                                          </p:val>
                                        </p:tav>
                                      </p:tavLst>
                                    </p:anim>
                                    <p:anim calcmode="lin" valueType="num">
                                      <p:cBhvr additive="base">
                                        <p:cTn id="27" dur="600" fill="hold"/>
                                        <p:tgtEl>
                                          <p:spTgt spid="6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animBg="1"/>
      <p:bldP spid="61" grpId="0" animBg="1"/>
      <p:bldP spid="6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342900" y="342900"/>
            <a:ext cx="8458200" cy="285750"/>
          </a:xfrm>
          <a:prstGeom prst="rect">
            <a:avLst/>
          </a:prstGeom>
          <a:noFill/>
        </p:spPr>
        <p:txBody>
          <a:bodyPr wrap="none" lIns="0" tIns="0" rIns="0" bIns="0" rtlCol="0" anchor="t"/>
          <a:lstStyle/>
          <a:p>
            <a:pPr marL="0" indent="0">
              <a:lnSpc>
                <a:spcPct val="111000"/>
              </a:lnSpc>
              <a:buNone/>
            </a:pPr>
            <a:r>
              <a:rPr lang="zh-CN" sz="1900" b="1" kern="0" spc="70" dirty="0">
                <a:solidFill>
                  <a:srgbClr val="1F2A37"/>
                </a:solidFill>
                <a:latin typeface="Arial" panose="020B0604020202020204" pitchFamily="34" charset="0"/>
                <a:ea typeface="微软雅黑" panose="020B0503020204020204" pitchFamily="34" charset="-122"/>
              </a:rPr>
              <a:t>运行配置与 </a:t>
            </a:r>
            <a:r>
              <a:rPr lang="en-US" sz="1900" b="1" kern="0" spc="70" dirty="0">
                <a:solidFill>
                  <a:srgbClr val="1F2A37"/>
                </a:solidFill>
                <a:latin typeface="Arial" panose="020B0604020202020204" pitchFamily="34" charset="0"/>
              </a:rPr>
              <a:t>Docker </a:t>
            </a:r>
            <a:r>
              <a:rPr lang="zh-CN" sz="1900" b="1" kern="0" spc="70" dirty="0">
                <a:solidFill>
                  <a:srgbClr val="1F2A37"/>
                </a:solidFill>
                <a:latin typeface="Arial" panose="020B0604020202020204" pitchFamily="34" charset="0"/>
                <a:ea typeface="微软雅黑" panose="020B0503020204020204" pitchFamily="34" charset="-122"/>
              </a:rPr>
              <a:t>一键部署</a:t>
            </a:r>
            <a:endParaRPr lang="en-US" sz="1900" dirty="0"/>
          </a:p>
        </p:txBody>
      </p:sp>
      <p:sp>
        <p:nvSpPr>
          <p:cNvPr id="4" name="Shape 1"/>
          <p:cNvSpPr/>
          <p:nvPr/>
        </p:nvSpPr>
        <p:spPr>
          <a:xfrm>
            <a:off x="342900" y="771525"/>
            <a:ext cx="685800" cy="28575"/>
          </a:xfrm>
          <a:prstGeom prst="roundRect">
            <a:avLst>
              <a:gd name="adj" fmla="val 50000"/>
            </a:avLst>
          </a:prstGeom>
          <a:solidFill>
            <a:srgbClr val="5B9DFF"/>
          </a:solidFill>
        </p:spPr>
      </p:sp>
      <p:sp>
        <p:nvSpPr>
          <p:cNvPr id="5" name="Text 2"/>
          <p:cNvSpPr/>
          <p:nvPr/>
        </p:nvSpPr>
        <p:spPr>
          <a:xfrm>
            <a:off x="1143000" y="685800"/>
            <a:ext cx="2171700" cy="200025"/>
          </a:xfrm>
          <a:prstGeom prst="rect">
            <a:avLst/>
          </a:prstGeom>
          <a:noFill/>
        </p:spPr>
        <p:txBody>
          <a:bodyPr wrap="none" lIns="0" tIns="0" rIns="0" bIns="0" rtlCol="0" anchor="t"/>
          <a:lstStyle/>
          <a:p>
            <a:pPr marL="0" indent="0">
              <a:lnSpc>
                <a:spcPct val="156000"/>
              </a:lnSpc>
              <a:buNone/>
            </a:pPr>
            <a:r>
              <a:rPr lang="zh-CN" sz="1000" b="1" dirty="0">
                <a:solidFill>
                  <a:srgbClr val="2E6EA6"/>
                </a:solidFill>
                <a:latin typeface="Arial" panose="020B0604020202020204" pitchFamily="34" charset="0"/>
                <a:ea typeface="微软雅黑" panose="020B0503020204020204" pitchFamily="34" charset="-122"/>
              </a:rPr>
              <a:t>临床医疗系统架构部 </a:t>
            </a:r>
            <a:r>
              <a:rPr lang="en-US" sz="1000" b="1" dirty="0">
                <a:solidFill>
                  <a:srgbClr val="2E6EA6"/>
                </a:solidFill>
                <a:latin typeface="Arial" panose="020B0604020202020204" pitchFamily="34" charset="0"/>
              </a:rPr>
              <a:t>· </a:t>
            </a:r>
            <a:r>
              <a:rPr lang="zh-CN" sz="1000" b="1" dirty="0">
                <a:solidFill>
                  <a:srgbClr val="2E6EA6"/>
                </a:solidFill>
                <a:latin typeface="Arial" panose="020B0604020202020204" pitchFamily="34" charset="0"/>
                <a:ea typeface="微软雅黑" panose="020B0503020204020204" pitchFamily="34" charset="-122"/>
              </a:rPr>
              <a:t>部署与权限概览</a:t>
            </a:r>
            <a:endParaRPr lang="en-US" sz="1000" dirty="0"/>
          </a:p>
        </p:txBody>
      </p:sp>
      <p:grpSp>
        <p:nvGrpSpPr>
          <p:cNvPr id="73" name="h2p-grp-h2p-animroot-1"/>
          <p:cNvGrpSpPr/>
          <p:nvPr/>
        </p:nvGrpSpPr>
        <p:grpSpPr>
          <a:xfrm>
            <a:off x="342900" y="1171575"/>
            <a:ext cx="3424200" cy="3807619"/>
            <a:chOff x="0" y="0"/>
            <a:chExt cx="3424200" cy="3807619"/>
          </a:xfrm>
        </p:grpSpPr>
        <p:sp>
          <p:nvSpPr>
            <p:cNvPr id="6" name="圆角矩形 5"/>
            <p:cNvSpPr/>
            <p:nvPr/>
          </p:nvSpPr>
          <p:spPr>
            <a:xfrm>
              <a:off x="0" y="0"/>
              <a:ext cx="3424200" cy="3807619"/>
            </a:xfrm>
            <a:prstGeom prst="roundRect">
              <a:avLst>
                <a:gd name="adj" fmla="val 2504"/>
              </a:avLst>
            </a:prstGeom>
            <a:solidFill>
              <a:srgbClr val="FFFFFF"/>
            </a:solidFill>
            <a:ln w="6350">
              <a:solidFill>
                <a:srgbClr val="DCEAF5"/>
              </a:solidFill>
              <a:prstDash val="solid"/>
            </a:ln>
          </p:spPr>
        </p:sp>
        <p:sp>
          <p:nvSpPr>
            <p:cNvPr id="7" name="矩形 6"/>
            <p:cNvSpPr/>
            <p:nvPr/>
          </p:nvSpPr>
          <p:spPr>
            <a:xfrm>
              <a:off x="178594" y="178594"/>
              <a:ext cx="3067013" cy="307181"/>
            </a:xfrm>
            <a:prstGeom prst="rect">
              <a:avLst/>
            </a:prstGeom>
            <a:noFill/>
          </p:spPr>
        </p:sp>
        <p:sp>
          <p:nvSpPr>
            <p:cNvPr id="8" name="矩形 7"/>
            <p:cNvSpPr/>
            <p:nvPr/>
          </p:nvSpPr>
          <p:spPr>
            <a:xfrm>
              <a:off x="178594" y="478631"/>
              <a:ext cx="3067013" cy="7144"/>
            </a:xfrm>
            <a:prstGeom prst="rect">
              <a:avLst/>
            </a:prstGeom>
            <a:solidFill>
              <a:srgbClr val="DCEAF5"/>
            </a:solidFill>
          </p:spPr>
        </p:sp>
        <p:sp>
          <p:nvSpPr>
            <p:cNvPr id="9" name="矩形 8"/>
            <p:cNvSpPr/>
            <p:nvPr/>
          </p:nvSpPr>
          <p:spPr>
            <a:xfrm>
              <a:off x="389334" y="207169"/>
              <a:ext cx="857250" cy="157163"/>
            </a:xfrm>
            <a:prstGeom prst="rect">
              <a:avLst/>
            </a:prstGeom>
            <a:noFill/>
          </p:spPr>
          <p:txBody>
            <a:bodyPr wrap="none" lIns="0" tIns="0" rIns="0" bIns="0" rtlCol="0" anchor="ctr"/>
            <a:lstStyle/>
            <a:p>
              <a:pPr marL="0" indent="0">
                <a:lnSpc>
                  <a:spcPct val="150000"/>
                </a:lnSpc>
                <a:buNone/>
              </a:pPr>
              <a:r>
                <a:rPr lang="zh-CN" sz="1100" b="1" dirty="0">
                  <a:solidFill>
                    <a:srgbClr val="2E6EA6"/>
                  </a:solidFill>
                  <a:latin typeface="Arial" panose="020B0604020202020204" pitchFamily="34" charset="0"/>
                  <a:ea typeface="微软雅黑" panose="020B0503020204020204" pitchFamily="34" charset="-122"/>
                </a:rPr>
                <a:t>核心配置文件</a:t>
              </a:r>
              <a:endParaRPr lang="en-US" sz="1100" dirty="0"/>
            </a:p>
          </p:txBody>
        </p:sp>
        <p:sp>
          <p:nvSpPr>
            <p:cNvPr id="10" name="矩形 9"/>
            <p:cNvSpPr/>
            <p:nvPr/>
          </p:nvSpPr>
          <p:spPr>
            <a:xfrm>
              <a:off x="178594" y="214313"/>
              <a:ext cx="125016" cy="142875"/>
            </a:xfrm>
            <a:prstGeom prst="rect">
              <a:avLst/>
            </a:prstGeom>
            <a:noFill/>
          </p:spPr>
          <p:txBody>
            <a:bodyPr wrap="none" lIns="0" tIns="0" rIns="0" bIns="0" rtlCol="0" anchor="t"/>
            <a:lstStyle/>
            <a:p>
              <a:pPr marL="0" indent="0">
                <a:lnSpc>
                  <a:spcPct val="100000"/>
                </a:lnSpc>
                <a:buNone/>
              </a:pPr>
              <a:r>
                <a:rPr lang="en-US" sz="1100" dirty="0">
                  <a:solidFill>
                    <a:srgbClr val="2E6EA6"/>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1100" dirty="0"/>
            </a:p>
          </p:txBody>
        </p:sp>
        <p:sp>
          <p:nvSpPr>
            <p:cNvPr id="11" name="矩形 10"/>
            <p:cNvSpPr/>
            <p:nvPr/>
          </p:nvSpPr>
          <p:spPr>
            <a:xfrm>
              <a:off x="1332309" y="178594"/>
              <a:ext cx="344128" cy="214313"/>
            </a:xfrm>
            <a:prstGeom prst="rect">
              <a:avLst/>
            </a:prstGeom>
            <a:noFill/>
          </p:spPr>
          <p:txBody>
            <a:bodyPr wrap="none" lIns="0" tIns="0" rIns="0" bIns="0" rtlCol="0" anchor="t"/>
            <a:lstStyle/>
            <a:p>
              <a:pPr marL="0" indent="0">
                <a:lnSpc>
                  <a:spcPct val="150000"/>
                </a:lnSpc>
                <a:buNone/>
              </a:pPr>
              <a:r>
                <a:rPr lang="en-US" sz="1100" b="1" dirty="0">
                  <a:solidFill>
                    <a:srgbClr val="2E6EA6"/>
                  </a:solidFill>
                  <a:latin typeface="Consolas" panose="020B0609020204030204" pitchFamily="34" charset="0"/>
                </a:rPr>
                <a:t>.env</a:t>
              </a:r>
              <a:endParaRPr lang="en-US" sz="1100" dirty="0"/>
            </a:p>
          </p:txBody>
        </p:sp>
        <p:sp>
          <p:nvSpPr>
            <p:cNvPr id="12" name="圆角矩形 11"/>
            <p:cNvSpPr/>
            <p:nvPr/>
          </p:nvSpPr>
          <p:spPr>
            <a:xfrm>
              <a:off x="178594" y="628650"/>
              <a:ext cx="3067013" cy="3000375"/>
            </a:xfrm>
            <a:prstGeom prst="roundRect">
              <a:avLst>
                <a:gd name="adj" fmla="val 1905"/>
              </a:avLst>
            </a:prstGeom>
            <a:solidFill>
              <a:srgbClr val="F8FAFC"/>
            </a:solidFill>
            <a:ln w="6350">
              <a:solidFill>
                <a:srgbClr val="DCEAF5"/>
              </a:solidFill>
              <a:prstDash val="solid"/>
            </a:ln>
          </p:spPr>
        </p:sp>
        <p:sp>
          <p:nvSpPr>
            <p:cNvPr id="13" name="矩形 12"/>
            <p:cNvSpPr/>
            <p:nvPr/>
          </p:nvSpPr>
          <p:spPr>
            <a:xfrm>
              <a:off x="300038" y="750094"/>
              <a:ext cx="2824125" cy="164641"/>
            </a:xfrm>
            <a:prstGeom prst="rect">
              <a:avLst/>
            </a:prstGeom>
            <a:noFill/>
          </p:spPr>
          <p:txBody>
            <a:bodyPr wrap="none" lIns="0" tIns="0" rIns="0" bIns="0" rtlCol="0" anchor="t"/>
            <a:lstStyle/>
            <a:p>
              <a:pPr marL="0" indent="0">
                <a:lnSpc>
                  <a:spcPct val="160000"/>
                </a:lnSpc>
                <a:buNone/>
              </a:pPr>
              <a:r>
                <a:rPr lang="en-US" sz="800" i="1" dirty="0">
                  <a:solidFill>
                    <a:srgbClr val="94A3B8"/>
                  </a:solidFill>
                  <a:latin typeface="Arial" panose="020B0604020202020204" pitchFamily="34" charset="0"/>
                </a:rPr>
                <a:t># </a:t>
              </a:r>
              <a:r>
                <a:rPr lang="zh-CN" sz="800" i="1" dirty="0">
                  <a:solidFill>
                    <a:srgbClr val="94A3B8"/>
                  </a:solidFill>
                  <a:latin typeface="Arial" panose="020B0604020202020204" pitchFamily="34" charset="0"/>
                  <a:ea typeface="微软雅黑" panose="020B0503020204020204" pitchFamily="34" charset="-122"/>
                </a:rPr>
                <a:t>数据库配置</a:t>
              </a:r>
              <a:endParaRPr lang="en-US" sz="800" dirty="0"/>
            </a:p>
          </p:txBody>
        </p:sp>
        <p:sp>
          <p:nvSpPr>
            <p:cNvPr id="14" name="矩形 13"/>
            <p:cNvSpPr/>
            <p:nvPr/>
          </p:nvSpPr>
          <p:spPr>
            <a:xfrm>
              <a:off x="300038" y="914735"/>
              <a:ext cx="2824125" cy="164641"/>
            </a:xfrm>
            <a:prstGeom prst="rect">
              <a:avLst/>
            </a:prstGeom>
            <a:noFill/>
          </p:spPr>
          <p:txBody>
            <a:bodyPr wrap="none" lIns="0" tIns="0" rIns="0" bIns="0" rtlCol="0" anchor="t"/>
            <a:lstStyle/>
            <a:p>
              <a:pPr marL="0" indent="0">
                <a:lnSpc>
                  <a:spcPct val="160000"/>
                </a:lnSpc>
                <a:buNone/>
              </a:pPr>
              <a:r>
                <a:rPr lang="en-US" sz="800" b="1" dirty="0">
                  <a:solidFill>
                    <a:srgbClr val="2E6EA6"/>
                  </a:solidFill>
                  <a:latin typeface="Arial" panose="020B0604020202020204" pitchFamily="34" charset="0"/>
                </a:rPr>
                <a:t>DB_TYPE</a:t>
              </a:r>
              <a:r>
                <a:rPr lang="en-US" sz="800" dirty="0">
                  <a:solidFill>
                    <a:srgbClr val="1F2A37"/>
                  </a:solidFill>
                  <a:latin typeface="Arial" panose="020B0604020202020204" pitchFamily="34" charset="0"/>
                </a:rPr>
                <a:t>=</a:t>
              </a:r>
              <a:r>
                <a:rPr lang="en-US" sz="800" dirty="0">
                  <a:solidFill>
                    <a:srgbClr val="2563EB"/>
                  </a:solidFill>
                  <a:latin typeface="Arial" panose="020B0604020202020204" pitchFamily="34" charset="0"/>
                </a:rPr>
                <a:t>mysql</a:t>
              </a:r>
              <a:endParaRPr lang="en-US" sz="800" dirty="0"/>
            </a:p>
          </p:txBody>
        </p:sp>
        <p:sp>
          <p:nvSpPr>
            <p:cNvPr id="15" name="矩形 14"/>
            <p:cNvSpPr/>
            <p:nvPr/>
          </p:nvSpPr>
          <p:spPr>
            <a:xfrm>
              <a:off x="300038" y="1079376"/>
              <a:ext cx="2824125" cy="164641"/>
            </a:xfrm>
            <a:prstGeom prst="rect">
              <a:avLst/>
            </a:prstGeom>
            <a:noFill/>
          </p:spPr>
          <p:txBody>
            <a:bodyPr wrap="none" lIns="0" tIns="0" rIns="0" bIns="0" rtlCol="0" anchor="t"/>
            <a:lstStyle/>
            <a:p>
              <a:pPr marL="0" indent="0">
                <a:lnSpc>
                  <a:spcPct val="160000"/>
                </a:lnSpc>
                <a:buNone/>
              </a:pPr>
              <a:r>
                <a:rPr lang="en-US" sz="800" b="1" dirty="0">
                  <a:solidFill>
                    <a:srgbClr val="2E6EA6"/>
                  </a:solidFill>
                  <a:latin typeface="Arial" panose="020B0604020202020204" pitchFamily="34" charset="0"/>
                </a:rPr>
                <a:t>MYSQL_HOST</a:t>
              </a:r>
              <a:r>
                <a:rPr lang="en-US" sz="800" dirty="0">
                  <a:solidFill>
                    <a:srgbClr val="1F2A37"/>
                  </a:solidFill>
                  <a:latin typeface="Arial" panose="020B0604020202020204" pitchFamily="34" charset="0"/>
                </a:rPr>
                <a:t>=</a:t>
              </a:r>
              <a:r>
                <a:rPr lang="en-US" sz="800" dirty="0">
                  <a:solidFill>
                    <a:srgbClr val="2563EB"/>
                  </a:solidFill>
                  <a:latin typeface="Arial" panose="020B0604020202020204" pitchFamily="34" charset="0"/>
                </a:rPr>
                <a:t>127.0.0.1</a:t>
              </a:r>
              <a:endParaRPr lang="en-US" sz="800" dirty="0"/>
            </a:p>
          </p:txBody>
        </p:sp>
        <p:sp>
          <p:nvSpPr>
            <p:cNvPr id="16" name="矩形 15"/>
            <p:cNvSpPr/>
            <p:nvPr/>
          </p:nvSpPr>
          <p:spPr>
            <a:xfrm>
              <a:off x="300038" y="1358317"/>
              <a:ext cx="2824125" cy="164641"/>
            </a:xfrm>
            <a:prstGeom prst="rect">
              <a:avLst/>
            </a:prstGeom>
            <a:noFill/>
          </p:spPr>
          <p:txBody>
            <a:bodyPr wrap="none" lIns="0" tIns="0" rIns="0" bIns="0" rtlCol="0" anchor="t"/>
            <a:lstStyle/>
            <a:p>
              <a:pPr marL="0" indent="0">
                <a:lnSpc>
                  <a:spcPct val="160000"/>
                </a:lnSpc>
                <a:buNone/>
              </a:pPr>
              <a:r>
                <a:rPr lang="en-US" sz="800" i="1" dirty="0">
                  <a:solidFill>
                    <a:srgbClr val="94A3B8"/>
                  </a:solidFill>
                  <a:latin typeface="Arial" panose="020B0604020202020204" pitchFamily="34" charset="0"/>
                </a:rPr>
                <a:t># </a:t>
              </a:r>
              <a:r>
                <a:rPr lang="zh-CN" sz="800" i="1" dirty="0">
                  <a:solidFill>
                    <a:srgbClr val="94A3B8"/>
                  </a:solidFill>
                  <a:latin typeface="Arial" panose="020B0604020202020204" pitchFamily="34" charset="0"/>
                  <a:ea typeface="微软雅黑" panose="020B0503020204020204" pitchFamily="34" charset="-122"/>
                </a:rPr>
                <a:t>向量数据库</a:t>
              </a:r>
              <a:endParaRPr lang="en-US" sz="800" dirty="0"/>
            </a:p>
          </p:txBody>
        </p:sp>
        <p:sp>
          <p:nvSpPr>
            <p:cNvPr id="17" name="矩形 16"/>
            <p:cNvSpPr/>
            <p:nvPr/>
          </p:nvSpPr>
          <p:spPr>
            <a:xfrm>
              <a:off x="300038" y="1522958"/>
              <a:ext cx="2824125" cy="164641"/>
            </a:xfrm>
            <a:prstGeom prst="rect">
              <a:avLst/>
            </a:prstGeom>
            <a:noFill/>
          </p:spPr>
          <p:txBody>
            <a:bodyPr wrap="none" lIns="0" tIns="0" rIns="0" bIns="0" rtlCol="0" anchor="t"/>
            <a:lstStyle/>
            <a:p>
              <a:pPr marL="0" indent="0">
                <a:lnSpc>
                  <a:spcPct val="160000"/>
                </a:lnSpc>
                <a:buNone/>
              </a:pPr>
              <a:r>
                <a:rPr lang="en-US" sz="800" b="1" dirty="0">
                  <a:solidFill>
                    <a:srgbClr val="2E6EA6"/>
                  </a:solidFill>
                  <a:latin typeface="Arial" panose="020B0604020202020204" pitchFamily="34" charset="0"/>
                </a:rPr>
                <a:t>MILVUS_ENABLE</a:t>
              </a:r>
              <a:r>
                <a:rPr lang="en-US" sz="800" dirty="0">
                  <a:solidFill>
                    <a:srgbClr val="1F2A37"/>
                  </a:solidFill>
                  <a:latin typeface="Arial" panose="020B0604020202020204" pitchFamily="34" charset="0"/>
                </a:rPr>
                <a:t>=</a:t>
              </a:r>
              <a:r>
                <a:rPr lang="en-US" sz="800" dirty="0">
                  <a:solidFill>
                    <a:srgbClr val="2563EB"/>
                  </a:solidFill>
                  <a:latin typeface="Arial" panose="020B0604020202020204" pitchFamily="34" charset="0"/>
                </a:rPr>
                <a:t>1</a:t>
              </a:r>
              <a:endParaRPr lang="en-US" sz="800" dirty="0"/>
            </a:p>
          </p:txBody>
        </p:sp>
        <p:sp>
          <p:nvSpPr>
            <p:cNvPr id="18" name="矩形 17"/>
            <p:cNvSpPr/>
            <p:nvPr/>
          </p:nvSpPr>
          <p:spPr>
            <a:xfrm>
              <a:off x="300038" y="1801899"/>
              <a:ext cx="2824125" cy="164641"/>
            </a:xfrm>
            <a:prstGeom prst="rect">
              <a:avLst/>
            </a:prstGeom>
            <a:noFill/>
          </p:spPr>
          <p:txBody>
            <a:bodyPr wrap="none" lIns="0" tIns="0" rIns="0" bIns="0" rtlCol="0" anchor="t"/>
            <a:lstStyle/>
            <a:p>
              <a:pPr marL="0" indent="0">
                <a:lnSpc>
                  <a:spcPct val="160000"/>
                </a:lnSpc>
                <a:buNone/>
              </a:pPr>
              <a:r>
                <a:rPr lang="en-US" sz="800" i="1" dirty="0">
                  <a:solidFill>
                    <a:srgbClr val="94A3B8"/>
                  </a:solidFill>
                  <a:latin typeface="Arial" panose="020B0604020202020204" pitchFamily="34" charset="0"/>
                </a:rPr>
                <a:t># </a:t>
              </a:r>
              <a:r>
                <a:rPr lang="zh-CN" sz="800" i="1" dirty="0">
                  <a:solidFill>
                    <a:srgbClr val="94A3B8"/>
                  </a:solidFill>
                  <a:latin typeface="Arial" panose="020B0604020202020204" pitchFamily="34" charset="0"/>
                  <a:ea typeface="微软雅黑" panose="020B0503020204020204" pitchFamily="34" charset="-122"/>
                </a:rPr>
                <a:t>大模型配置</a:t>
              </a:r>
              <a:endParaRPr lang="en-US" sz="800" dirty="0"/>
            </a:p>
          </p:txBody>
        </p:sp>
        <p:sp>
          <p:nvSpPr>
            <p:cNvPr id="19" name="矩形 18"/>
            <p:cNvSpPr/>
            <p:nvPr/>
          </p:nvSpPr>
          <p:spPr>
            <a:xfrm>
              <a:off x="300038" y="1966540"/>
              <a:ext cx="2824125" cy="164641"/>
            </a:xfrm>
            <a:prstGeom prst="rect">
              <a:avLst/>
            </a:prstGeom>
            <a:noFill/>
          </p:spPr>
          <p:txBody>
            <a:bodyPr wrap="none" lIns="0" tIns="0" rIns="0" bIns="0" rtlCol="0" anchor="t"/>
            <a:lstStyle/>
            <a:p>
              <a:pPr marL="0" indent="0">
                <a:lnSpc>
                  <a:spcPct val="160000"/>
                </a:lnSpc>
                <a:buNone/>
              </a:pPr>
              <a:r>
                <a:rPr lang="en-US" sz="800" b="1" dirty="0">
                  <a:solidFill>
                    <a:srgbClr val="2E6EA6"/>
                  </a:solidFill>
                  <a:latin typeface="Arial" panose="020B0604020202020204" pitchFamily="34" charset="0"/>
                </a:rPr>
                <a:t>OPENAI_BASE_URL</a:t>
              </a:r>
              <a:r>
                <a:rPr lang="en-US" sz="800" dirty="0">
                  <a:solidFill>
                    <a:srgbClr val="1F2A37"/>
                  </a:solidFill>
                  <a:latin typeface="Arial" panose="020B0604020202020204" pitchFamily="34" charset="0"/>
                </a:rPr>
                <a:t>=</a:t>
              </a:r>
              <a:r>
                <a:rPr lang="en-US" sz="800" dirty="0">
                  <a:solidFill>
                    <a:srgbClr val="2563EB"/>
                  </a:solidFill>
                  <a:latin typeface="Arial" panose="020B0604020202020204" pitchFamily="34" charset="0"/>
                </a:rPr>
                <a:t>https://api.deepseek.com/v1</a:t>
              </a:r>
              <a:endParaRPr lang="en-US" sz="800" dirty="0"/>
            </a:p>
          </p:txBody>
        </p:sp>
        <p:sp>
          <p:nvSpPr>
            <p:cNvPr id="20" name="矩形 19"/>
            <p:cNvSpPr/>
            <p:nvPr/>
          </p:nvSpPr>
          <p:spPr>
            <a:xfrm>
              <a:off x="300355" y="2131060"/>
              <a:ext cx="2823845" cy="278765"/>
            </a:xfrm>
            <a:prstGeom prst="rect">
              <a:avLst/>
            </a:prstGeom>
            <a:noFill/>
          </p:spPr>
          <p:txBody>
            <a:bodyPr wrap="none" lIns="0" tIns="0" rIns="0" bIns="0" rtlCol="0" anchor="t"/>
            <a:lstStyle/>
            <a:p>
              <a:pPr marL="0" indent="0">
                <a:lnSpc>
                  <a:spcPct val="160000"/>
                </a:lnSpc>
                <a:buNone/>
              </a:pPr>
              <a:r>
                <a:rPr lang="en-US" sz="800" b="1" dirty="0">
                  <a:solidFill>
                    <a:srgbClr val="2E6EA6"/>
                  </a:solidFill>
                  <a:latin typeface="Arial" panose="020B0604020202020204" pitchFamily="34" charset="0"/>
                </a:rPr>
                <a:t>OPENAI_API_KEY</a:t>
              </a:r>
              <a:r>
                <a:rPr lang="en-US" sz="800" dirty="0">
                  <a:solidFill>
                    <a:srgbClr val="1F2A37"/>
                  </a:solidFill>
                  <a:latin typeface="Arial" panose="020B0604020202020204" pitchFamily="34" charset="0"/>
                </a:rPr>
                <a:t>=</a:t>
              </a:r>
              <a:r>
                <a:rPr lang="en-US" sz="800" dirty="0">
                  <a:solidFill>
                    <a:srgbClr val="2563EB"/>
                  </a:solidFill>
                  <a:latin typeface="Arial" panose="020B0604020202020204" pitchFamily="34" charset="0"/>
                </a:rPr>
                <a:t>sk-xxx</a:t>
              </a:r>
              <a:endParaRPr lang="en-US" sz="800" dirty="0"/>
            </a:p>
          </p:txBody>
        </p:sp>
        <p:sp>
          <p:nvSpPr>
            <p:cNvPr id="21" name="矩形 20"/>
            <p:cNvSpPr/>
            <p:nvPr/>
          </p:nvSpPr>
          <p:spPr>
            <a:xfrm>
              <a:off x="300038" y="2410123"/>
              <a:ext cx="2824125" cy="164641"/>
            </a:xfrm>
            <a:prstGeom prst="rect">
              <a:avLst/>
            </a:prstGeom>
            <a:noFill/>
          </p:spPr>
          <p:txBody>
            <a:bodyPr wrap="none" lIns="0" tIns="0" rIns="0" bIns="0" rtlCol="0" anchor="t"/>
            <a:lstStyle/>
            <a:p>
              <a:pPr marL="0" indent="0">
                <a:lnSpc>
                  <a:spcPct val="160000"/>
                </a:lnSpc>
                <a:buNone/>
              </a:pPr>
              <a:r>
                <a:rPr lang="en-US" sz="800" i="1" dirty="0">
                  <a:solidFill>
                    <a:srgbClr val="94A3B8"/>
                  </a:solidFill>
                  <a:latin typeface="Arial" panose="020B0604020202020204" pitchFamily="34" charset="0"/>
                </a:rPr>
                <a:t># RAG </a:t>
              </a:r>
              <a:r>
                <a:rPr lang="zh-CN" sz="800" i="1" dirty="0">
                  <a:solidFill>
                    <a:srgbClr val="94A3B8"/>
                  </a:solidFill>
                  <a:latin typeface="Arial" panose="020B0604020202020204" pitchFamily="34" charset="0"/>
                  <a:ea typeface="微软雅黑" panose="020B0503020204020204" pitchFamily="34" charset="-122"/>
                </a:rPr>
                <a:t>参数</a:t>
              </a:r>
              <a:endParaRPr lang="en-US" sz="800" dirty="0"/>
            </a:p>
          </p:txBody>
        </p:sp>
        <p:sp>
          <p:nvSpPr>
            <p:cNvPr id="22" name="矩形 21"/>
            <p:cNvSpPr/>
            <p:nvPr/>
          </p:nvSpPr>
          <p:spPr>
            <a:xfrm>
              <a:off x="300038" y="2574764"/>
              <a:ext cx="2824125" cy="164641"/>
            </a:xfrm>
            <a:prstGeom prst="rect">
              <a:avLst/>
            </a:prstGeom>
            <a:noFill/>
          </p:spPr>
          <p:txBody>
            <a:bodyPr wrap="none" lIns="0" tIns="0" rIns="0" bIns="0" rtlCol="0" anchor="t"/>
            <a:lstStyle/>
            <a:p>
              <a:pPr marL="0" indent="0">
                <a:lnSpc>
                  <a:spcPct val="160000"/>
                </a:lnSpc>
                <a:buNone/>
              </a:pPr>
              <a:r>
                <a:rPr lang="en-US" sz="800" b="1" dirty="0">
                  <a:solidFill>
                    <a:srgbClr val="2E6EA6"/>
                  </a:solidFill>
                  <a:latin typeface="Arial" panose="020B0604020202020204" pitchFamily="34" charset="0"/>
                </a:rPr>
                <a:t>TOP_K</a:t>
              </a:r>
              <a:r>
                <a:rPr lang="en-US" sz="800" dirty="0">
                  <a:solidFill>
                    <a:srgbClr val="1F2A37"/>
                  </a:solidFill>
                  <a:latin typeface="Arial" panose="020B0604020202020204" pitchFamily="34" charset="0"/>
                </a:rPr>
                <a:t>=</a:t>
              </a:r>
              <a:r>
                <a:rPr lang="en-US" sz="800" dirty="0">
                  <a:solidFill>
                    <a:srgbClr val="2563EB"/>
                  </a:solidFill>
                  <a:latin typeface="Arial" panose="020B0604020202020204" pitchFamily="34" charset="0"/>
                </a:rPr>
                <a:t>5</a:t>
              </a:r>
              <a:endParaRPr lang="en-US" sz="800" dirty="0"/>
            </a:p>
          </p:txBody>
        </p:sp>
        <p:sp>
          <p:nvSpPr>
            <p:cNvPr id="23" name="矩形 22"/>
            <p:cNvSpPr/>
            <p:nvPr/>
          </p:nvSpPr>
          <p:spPr>
            <a:xfrm>
              <a:off x="300038" y="2739405"/>
              <a:ext cx="2824125" cy="164641"/>
            </a:xfrm>
            <a:prstGeom prst="rect">
              <a:avLst/>
            </a:prstGeom>
            <a:noFill/>
          </p:spPr>
          <p:txBody>
            <a:bodyPr wrap="none" lIns="0" tIns="0" rIns="0" bIns="0" rtlCol="0" anchor="t"/>
            <a:lstStyle/>
            <a:p>
              <a:pPr marL="0" indent="0">
                <a:lnSpc>
                  <a:spcPct val="160000"/>
                </a:lnSpc>
                <a:buNone/>
              </a:pPr>
              <a:r>
                <a:rPr lang="en-US" sz="800" b="1" dirty="0">
                  <a:solidFill>
                    <a:srgbClr val="2E6EA6"/>
                  </a:solidFill>
                  <a:latin typeface="Arial" panose="020B0604020202020204" pitchFamily="34" charset="0"/>
                </a:rPr>
                <a:t>MIN_SIMILARITY</a:t>
              </a:r>
              <a:r>
                <a:rPr lang="en-US" sz="800" dirty="0">
                  <a:solidFill>
                    <a:srgbClr val="1F2A37"/>
                  </a:solidFill>
                  <a:latin typeface="Arial" panose="020B0604020202020204" pitchFamily="34" charset="0"/>
                </a:rPr>
                <a:t>=</a:t>
              </a:r>
              <a:r>
                <a:rPr lang="en-US" sz="800" dirty="0">
                  <a:solidFill>
                    <a:srgbClr val="2563EB"/>
                  </a:solidFill>
                  <a:latin typeface="Arial" panose="020B0604020202020204" pitchFamily="34" charset="0"/>
                </a:rPr>
                <a:t>0.30</a:t>
              </a:r>
              <a:endParaRPr lang="en-US" sz="800" dirty="0"/>
            </a:p>
          </p:txBody>
        </p:sp>
      </p:grpSp>
      <p:grpSp>
        <p:nvGrpSpPr>
          <p:cNvPr id="74" name="h2p-grp-h2p-animroot-2"/>
          <p:cNvGrpSpPr/>
          <p:nvPr/>
        </p:nvGrpSpPr>
        <p:grpSpPr>
          <a:xfrm>
            <a:off x="3938550" y="1171575"/>
            <a:ext cx="1985963" cy="3807619"/>
            <a:chOff x="0" y="0"/>
            <a:chExt cx="1985963" cy="3807619"/>
          </a:xfrm>
        </p:grpSpPr>
        <p:sp>
          <p:nvSpPr>
            <p:cNvPr id="24" name="圆角矩形 23"/>
            <p:cNvSpPr/>
            <p:nvPr/>
          </p:nvSpPr>
          <p:spPr>
            <a:xfrm>
              <a:off x="0" y="0"/>
              <a:ext cx="1985963" cy="3807619"/>
            </a:xfrm>
            <a:prstGeom prst="roundRect">
              <a:avLst>
                <a:gd name="adj" fmla="val 4317"/>
              </a:avLst>
            </a:prstGeom>
            <a:solidFill>
              <a:srgbClr val="FFFFFF"/>
            </a:solidFill>
            <a:ln w="6350">
              <a:solidFill>
                <a:srgbClr val="DCEAF5"/>
              </a:solidFill>
              <a:prstDash val="solid"/>
            </a:ln>
          </p:spPr>
        </p:sp>
        <p:sp>
          <p:nvSpPr>
            <p:cNvPr id="25" name="矩形 24"/>
            <p:cNvSpPr/>
            <p:nvPr/>
          </p:nvSpPr>
          <p:spPr>
            <a:xfrm>
              <a:off x="178594" y="178594"/>
              <a:ext cx="1628775" cy="307181"/>
            </a:xfrm>
            <a:prstGeom prst="rect">
              <a:avLst/>
            </a:prstGeom>
            <a:noFill/>
          </p:spPr>
        </p:sp>
        <p:sp>
          <p:nvSpPr>
            <p:cNvPr id="26" name="矩形 25"/>
            <p:cNvSpPr/>
            <p:nvPr/>
          </p:nvSpPr>
          <p:spPr>
            <a:xfrm>
              <a:off x="178594" y="478631"/>
              <a:ext cx="1628775" cy="7144"/>
            </a:xfrm>
            <a:prstGeom prst="rect">
              <a:avLst/>
            </a:prstGeom>
            <a:solidFill>
              <a:srgbClr val="DCEAF5"/>
            </a:solidFill>
          </p:spPr>
        </p:sp>
        <p:sp>
          <p:nvSpPr>
            <p:cNvPr id="27" name="矩形 26"/>
            <p:cNvSpPr/>
            <p:nvPr/>
          </p:nvSpPr>
          <p:spPr>
            <a:xfrm>
              <a:off x="407194" y="207169"/>
              <a:ext cx="714375" cy="157163"/>
            </a:xfrm>
            <a:prstGeom prst="rect">
              <a:avLst/>
            </a:prstGeom>
            <a:noFill/>
          </p:spPr>
          <p:txBody>
            <a:bodyPr wrap="none" lIns="0" tIns="0" rIns="0" bIns="0" rtlCol="0" anchor="ctr"/>
            <a:lstStyle/>
            <a:p>
              <a:pPr marL="0" indent="0">
                <a:lnSpc>
                  <a:spcPct val="150000"/>
                </a:lnSpc>
                <a:buNone/>
              </a:pPr>
              <a:r>
                <a:rPr lang="zh-CN" sz="1100" b="1" dirty="0">
                  <a:solidFill>
                    <a:srgbClr val="2E6EA6"/>
                  </a:solidFill>
                  <a:latin typeface="Arial" panose="020B0604020202020204" pitchFamily="34" charset="0"/>
                  <a:ea typeface="微软雅黑" panose="020B0503020204020204" pitchFamily="34" charset="-122"/>
                </a:rPr>
                <a:t>部署与启动</a:t>
              </a:r>
              <a:endParaRPr lang="en-US" sz="1100" dirty="0"/>
            </a:p>
          </p:txBody>
        </p:sp>
        <p:sp>
          <p:nvSpPr>
            <p:cNvPr id="28" name="矩形 27"/>
            <p:cNvSpPr/>
            <p:nvPr/>
          </p:nvSpPr>
          <p:spPr>
            <a:xfrm>
              <a:off x="178594" y="214313"/>
              <a:ext cx="142875" cy="142875"/>
            </a:xfrm>
            <a:prstGeom prst="rect">
              <a:avLst/>
            </a:prstGeom>
            <a:noFill/>
          </p:spPr>
          <p:txBody>
            <a:bodyPr wrap="none" lIns="0" tIns="0" rIns="0" bIns="0" rtlCol="0" anchor="t"/>
            <a:lstStyle/>
            <a:p>
              <a:pPr marL="0" indent="0">
                <a:lnSpc>
                  <a:spcPct val="100000"/>
                </a:lnSpc>
                <a:buNone/>
              </a:pPr>
              <a:r>
                <a:rPr lang="en-US" sz="1100" dirty="0">
                  <a:solidFill>
                    <a:srgbClr val="2E6EA6"/>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1100" dirty="0"/>
            </a:p>
          </p:txBody>
        </p:sp>
        <p:sp>
          <p:nvSpPr>
            <p:cNvPr id="29" name="矩形 28"/>
            <p:cNvSpPr/>
            <p:nvPr/>
          </p:nvSpPr>
          <p:spPr>
            <a:xfrm>
              <a:off x="178594" y="628650"/>
              <a:ext cx="1628775" cy="142875"/>
            </a:xfrm>
            <a:prstGeom prst="rect">
              <a:avLst/>
            </a:prstGeom>
            <a:noFill/>
          </p:spPr>
          <p:txBody>
            <a:bodyPr wrap="none" lIns="0" tIns="0" rIns="0" bIns="0" rtlCol="0" anchor="t"/>
            <a:lstStyle/>
            <a:p>
              <a:pPr marL="0" indent="0">
                <a:lnSpc>
                  <a:spcPct val="143000"/>
                </a:lnSpc>
                <a:buNone/>
              </a:pPr>
              <a:r>
                <a:rPr lang="en-US" sz="700" b="1" dirty="0">
                  <a:solidFill>
                    <a:srgbClr val="6B7280"/>
                  </a:solidFill>
                  <a:latin typeface="Arial" panose="020B0604020202020204" pitchFamily="34" charset="0"/>
                </a:rPr>
                <a:t>DOCKER COMPOSE</a:t>
              </a:r>
              <a:endParaRPr lang="en-US" sz="700" dirty="0"/>
            </a:p>
          </p:txBody>
        </p:sp>
        <p:sp>
          <p:nvSpPr>
            <p:cNvPr id="30" name="圆角矩形 29"/>
            <p:cNvSpPr/>
            <p:nvPr/>
          </p:nvSpPr>
          <p:spPr>
            <a:xfrm>
              <a:off x="178594" y="857250"/>
              <a:ext cx="1628775" cy="202816"/>
            </a:xfrm>
            <a:prstGeom prst="roundRect">
              <a:avLst>
                <a:gd name="adj" fmla="val 14089"/>
              </a:avLst>
            </a:prstGeom>
            <a:solidFill>
              <a:srgbClr val="1F2A37"/>
            </a:solidFill>
          </p:spPr>
        </p:sp>
        <p:sp>
          <p:nvSpPr>
            <p:cNvPr id="31" name="矩形 30"/>
            <p:cNvSpPr/>
            <p:nvPr/>
          </p:nvSpPr>
          <p:spPr>
            <a:xfrm>
              <a:off x="178594" y="857250"/>
              <a:ext cx="1628775" cy="202816"/>
            </a:xfrm>
            <a:prstGeom prst="rect">
              <a:avLst/>
            </a:prstGeom>
            <a:noFill/>
          </p:spPr>
          <p:txBody>
            <a:bodyPr wrap="none" lIns="73660" tIns="29464" rIns="73660" bIns="29464" rtlCol="0" anchor="t"/>
            <a:lstStyle/>
            <a:p>
              <a:pPr marL="0" indent="0">
                <a:lnSpc>
                  <a:spcPct val="150000"/>
                </a:lnSpc>
                <a:buNone/>
              </a:pPr>
              <a:r>
                <a:rPr lang="en-US" sz="700" dirty="0">
                  <a:solidFill>
                    <a:srgbClr val="FFFFFF"/>
                  </a:solidFill>
                  <a:latin typeface="Consolas" panose="020B0609020204030204" pitchFamily="34" charset="0"/>
                </a:rPr>
                <a:t>docker compose up --build</a:t>
              </a:r>
              <a:endParaRPr lang="en-US" sz="700" dirty="0"/>
            </a:p>
          </p:txBody>
        </p:sp>
        <p:sp>
          <p:nvSpPr>
            <p:cNvPr id="32" name="矩形 31"/>
            <p:cNvSpPr/>
            <p:nvPr/>
          </p:nvSpPr>
          <p:spPr>
            <a:xfrm>
              <a:off x="178594" y="1231516"/>
              <a:ext cx="1628775" cy="142875"/>
            </a:xfrm>
            <a:prstGeom prst="rect">
              <a:avLst/>
            </a:prstGeom>
            <a:noFill/>
          </p:spPr>
          <p:txBody>
            <a:bodyPr wrap="none" lIns="0" tIns="0" rIns="0" bIns="0" rtlCol="0" anchor="t"/>
            <a:lstStyle/>
            <a:p>
              <a:pPr marL="0" indent="0">
                <a:lnSpc>
                  <a:spcPct val="143000"/>
                </a:lnSpc>
                <a:buNone/>
              </a:pPr>
              <a:r>
                <a:rPr lang="zh-CN" sz="700" b="1" dirty="0">
                  <a:solidFill>
                    <a:srgbClr val="6B7280"/>
                  </a:solidFill>
                  <a:latin typeface="Arial" panose="020B0604020202020204" pitchFamily="34" charset="0"/>
                  <a:ea typeface="微软雅黑" panose="020B0503020204020204" pitchFamily="34" charset="-122"/>
                </a:rPr>
                <a:t>本地环境</a:t>
              </a:r>
              <a:endParaRPr lang="en-US" sz="700" dirty="0"/>
            </a:p>
          </p:txBody>
        </p:sp>
        <p:sp>
          <p:nvSpPr>
            <p:cNvPr id="33" name="矩形 32"/>
            <p:cNvSpPr/>
            <p:nvPr/>
          </p:nvSpPr>
          <p:spPr>
            <a:xfrm>
              <a:off x="178594" y="1460116"/>
              <a:ext cx="1628775" cy="114300"/>
            </a:xfrm>
            <a:prstGeom prst="rect">
              <a:avLst/>
            </a:prstGeom>
            <a:noFill/>
          </p:spPr>
          <p:txBody>
            <a:bodyPr wrap="none" lIns="0" tIns="0" rIns="0" bIns="0" rtlCol="0" anchor="t"/>
            <a:lstStyle/>
            <a:p>
              <a:pPr marL="0" indent="0">
                <a:lnSpc>
                  <a:spcPct val="133000"/>
                </a:lnSpc>
                <a:buNone/>
              </a:pPr>
              <a:r>
                <a:rPr lang="zh-CN" sz="600" b="1" dirty="0">
                  <a:solidFill>
                    <a:srgbClr val="1F2A37"/>
                  </a:solidFill>
                  <a:latin typeface="Arial" panose="020B0604020202020204" pitchFamily="34" charset="0"/>
                  <a:ea typeface="微软雅黑" panose="020B0503020204020204" pitchFamily="34" charset="-122"/>
                </a:rPr>
                <a:t>后端启动</a:t>
              </a:r>
              <a:endParaRPr lang="en-US" sz="600" dirty="0"/>
            </a:p>
          </p:txBody>
        </p:sp>
        <p:sp>
          <p:nvSpPr>
            <p:cNvPr id="34" name="圆角矩形 33"/>
            <p:cNvSpPr/>
            <p:nvPr/>
          </p:nvSpPr>
          <p:spPr>
            <a:xfrm>
              <a:off x="178594" y="1602991"/>
              <a:ext cx="1628775" cy="171450"/>
            </a:xfrm>
            <a:prstGeom prst="roundRect">
              <a:avLst>
                <a:gd name="adj" fmla="val 16667"/>
              </a:avLst>
            </a:prstGeom>
            <a:solidFill>
              <a:srgbClr val="1F2A37"/>
            </a:solidFill>
          </p:spPr>
        </p:sp>
        <p:sp>
          <p:nvSpPr>
            <p:cNvPr id="35" name="矩形 34"/>
            <p:cNvSpPr/>
            <p:nvPr/>
          </p:nvSpPr>
          <p:spPr>
            <a:xfrm>
              <a:off x="178594" y="1602991"/>
              <a:ext cx="1628775" cy="171450"/>
            </a:xfrm>
            <a:prstGeom prst="rect">
              <a:avLst/>
            </a:prstGeom>
            <a:noFill/>
          </p:spPr>
          <p:txBody>
            <a:bodyPr wrap="none" lIns="73660" tIns="29464" rIns="73660" bIns="29464" rtlCol="0" anchor="t"/>
            <a:lstStyle/>
            <a:p>
              <a:pPr marL="0" indent="0">
                <a:lnSpc>
                  <a:spcPct val="133000"/>
                </a:lnSpc>
                <a:buNone/>
              </a:pPr>
              <a:r>
                <a:rPr lang="en-US" sz="600" dirty="0">
                  <a:solidFill>
                    <a:srgbClr val="FFFFFF"/>
                  </a:solidFill>
                  <a:latin typeface="Consolas" panose="020B0609020204030204" pitchFamily="34" charset="0"/>
                </a:rPr>
                <a:t>pip install -r req.txt</a:t>
              </a:r>
              <a:endParaRPr lang="en-US" sz="600" dirty="0"/>
            </a:p>
          </p:txBody>
        </p:sp>
        <p:sp>
          <p:nvSpPr>
            <p:cNvPr id="36" name="圆角矩形 35"/>
            <p:cNvSpPr/>
            <p:nvPr/>
          </p:nvSpPr>
          <p:spPr>
            <a:xfrm>
              <a:off x="178594" y="1803016"/>
              <a:ext cx="1628775" cy="171450"/>
            </a:xfrm>
            <a:prstGeom prst="roundRect">
              <a:avLst>
                <a:gd name="adj" fmla="val 16667"/>
              </a:avLst>
            </a:prstGeom>
            <a:solidFill>
              <a:srgbClr val="1F2A37"/>
            </a:solidFill>
          </p:spPr>
        </p:sp>
        <p:sp>
          <p:nvSpPr>
            <p:cNvPr id="37" name="矩形 36"/>
            <p:cNvSpPr/>
            <p:nvPr/>
          </p:nvSpPr>
          <p:spPr>
            <a:xfrm>
              <a:off x="178594" y="1803016"/>
              <a:ext cx="1628775" cy="171450"/>
            </a:xfrm>
            <a:prstGeom prst="rect">
              <a:avLst/>
            </a:prstGeom>
            <a:noFill/>
          </p:spPr>
          <p:txBody>
            <a:bodyPr wrap="none" lIns="73660" tIns="29464" rIns="73660" bIns="29464" rtlCol="0" anchor="t"/>
            <a:lstStyle/>
            <a:p>
              <a:pPr marL="0" indent="0">
                <a:lnSpc>
                  <a:spcPct val="133000"/>
                </a:lnSpc>
                <a:buNone/>
              </a:pPr>
              <a:r>
                <a:rPr lang="en-US" sz="600" dirty="0">
                  <a:solidFill>
                    <a:srgbClr val="FFFFFF"/>
                  </a:solidFill>
                  <a:latin typeface="Consolas" panose="020B0609020204030204" pitchFamily="34" charset="0"/>
                </a:rPr>
                <a:t>python app.py</a:t>
              </a:r>
              <a:endParaRPr lang="en-US" sz="600" dirty="0"/>
            </a:p>
          </p:txBody>
        </p:sp>
        <p:sp>
          <p:nvSpPr>
            <p:cNvPr id="38" name="矩形 37"/>
            <p:cNvSpPr/>
            <p:nvPr/>
          </p:nvSpPr>
          <p:spPr>
            <a:xfrm>
              <a:off x="178594" y="2088766"/>
              <a:ext cx="1628775" cy="114300"/>
            </a:xfrm>
            <a:prstGeom prst="rect">
              <a:avLst/>
            </a:prstGeom>
            <a:noFill/>
          </p:spPr>
          <p:txBody>
            <a:bodyPr wrap="none" lIns="0" tIns="0" rIns="0" bIns="0" rtlCol="0" anchor="t"/>
            <a:lstStyle/>
            <a:p>
              <a:pPr marL="0" indent="0">
                <a:lnSpc>
                  <a:spcPct val="133000"/>
                </a:lnSpc>
                <a:buNone/>
              </a:pPr>
              <a:r>
                <a:rPr lang="zh-CN" sz="600" b="1" dirty="0">
                  <a:solidFill>
                    <a:srgbClr val="1F2A37"/>
                  </a:solidFill>
                  <a:latin typeface="Arial" panose="020B0604020202020204" pitchFamily="34" charset="0"/>
                  <a:ea typeface="微软雅黑" panose="020B0503020204020204" pitchFamily="34" charset="-122"/>
                </a:rPr>
                <a:t>前端启动</a:t>
              </a:r>
              <a:endParaRPr lang="en-US" sz="600" dirty="0"/>
            </a:p>
          </p:txBody>
        </p:sp>
        <p:sp>
          <p:nvSpPr>
            <p:cNvPr id="39" name="圆角矩形 38"/>
            <p:cNvSpPr/>
            <p:nvPr/>
          </p:nvSpPr>
          <p:spPr>
            <a:xfrm>
              <a:off x="178594" y="2231641"/>
              <a:ext cx="1628775" cy="171450"/>
            </a:xfrm>
            <a:prstGeom prst="roundRect">
              <a:avLst>
                <a:gd name="adj" fmla="val 16667"/>
              </a:avLst>
            </a:prstGeom>
            <a:solidFill>
              <a:srgbClr val="1F2A37"/>
            </a:solidFill>
          </p:spPr>
        </p:sp>
        <p:sp>
          <p:nvSpPr>
            <p:cNvPr id="40" name="矩形 39"/>
            <p:cNvSpPr/>
            <p:nvPr/>
          </p:nvSpPr>
          <p:spPr>
            <a:xfrm>
              <a:off x="178594" y="2231641"/>
              <a:ext cx="1628775" cy="171450"/>
            </a:xfrm>
            <a:prstGeom prst="rect">
              <a:avLst/>
            </a:prstGeom>
            <a:noFill/>
          </p:spPr>
          <p:txBody>
            <a:bodyPr wrap="none" lIns="73660" tIns="29464" rIns="73660" bIns="29464" rtlCol="0" anchor="t"/>
            <a:lstStyle/>
            <a:p>
              <a:pPr marL="0" indent="0">
                <a:lnSpc>
                  <a:spcPct val="133000"/>
                </a:lnSpc>
                <a:buNone/>
              </a:pPr>
              <a:r>
                <a:rPr lang="en-US" sz="600" dirty="0">
                  <a:solidFill>
                    <a:srgbClr val="FFFFFF"/>
                  </a:solidFill>
                  <a:latin typeface="Consolas" panose="020B0609020204030204" pitchFamily="34" charset="0"/>
                </a:rPr>
                <a:t>npm install &amp;&amp; npm run dev</a:t>
              </a:r>
              <a:endParaRPr lang="en-US" sz="600" dirty="0"/>
            </a:p>
          </p:txBody>
        </p:sp>
      </p:grpSp>
      <p:grpSp>
        <p:nvGrpSpPr>
          <p:cNvPr id="75" name="h2p-grp-h2p-animroot-3"/>
          <p:cNvGrpSpPr/>
          <p:nvPr/>
        </p:nvGrpSpPr>
        <p:grpSpPr>
          <a:xfrm>
            <a:off x="6095963" y="1171575"/>
            <a:ext cx="2705026" cy="3807619"/>
            <a:chOff x="0" y="0"/>
            <a:chExt cx="2705026" cy="3807619"/>
          </a:xfrm>
        </p:grpSpPr>
        <p:sp>
          <p:nvSpPr>
            <p:cNvPr id="41" name="圆角矩形 40"/>
            <p:cNvSpPr/>
            <p:nvPr/>
          </p:nvSpPr>
          <p:spPr>
            <a:xfrm>
              <a:off x="0" y="0"/>
              <a:ext cx="2705026" cy="3807619"/>
            </a:xfrm>
            <a:prstGeom prst="roundRect">
              <a:avLst>
                <a:gd name="adj" fmla="val 3169"/>
              </a:avLst>
            </a:prstGeom>
            <a:solidFill>
              <a:srgbClr val="FFFFFF"/>
            </a:solidFill>
            <a:ln w="6350">
              <a:solidFill>
                <a:srgbClr val="DCEAF5"/>
              </a:solidFill>
              <a:prstDash val="solid"/>
            </a:ln>
          </p:spPr>
        </p:sp>
        <p:sp>
          <p:nvSpPr>
            <p:cNvPr id="42" name="矩形 41"/>
            <p:cNvSpPr/>
            <p:nvPr/>
          </p:nvSpPr>
          <p:spPr>
            <a:xfrm>
              <a:off x="178594" y="178594"/>
              <a:ext cx="2347838" cy="307181"/>
            </a:xfrm>
            <a:prstGeom prst="rect">
              <a:avLst/>
            </a:prstGeom>
            <a:noFill/>
          </p:spPr>
        </p:sp>
        <p:sp>
          <p:nvSpPr>
            <p:cNvPr id="43" name="矩形 42"/>
            <p:cNvSpPr/>
            <p:nvPr/>
          </p:nvSpPr>
          <p:spPr>
            <a:xfrm>
              <a:off x="178594" y="478631"/>
              <a:ext cx="2347838" cy="7144"/>
            </a:xfrm>
            <a:prstGeom prst="rect">
              <a:avLst/>
            </a:prstGeom>
            <a:solidFill>
              <a:srgbClr val="DCEAF5"/>
            </a:solidFill>
          </p:spPr>
        </p:sp>
        <p:sp>
          <p:nvSpPr>
            <p:cNvPr id="44" name="矩形 43"/>
            <p:cNvSpPr/>
            <p:nvPr/>
          </p:nvSpPr>
          <p:spPr>
            <a:xfrm>
              <a:off x="442912" y="207169"/>
              <a:ext cx="857250" cy="157163"/>
            </a:xfrm>
            <a:prstGeom prst="rect">
              <a:avLst/>
            </a:prstGeom>
            <a:noFill/>
          </p:spPr>
          <p:txBody>
            <a:bodyPr wrap="none" lIns="0" tIns="0" rIns="0" bIns="0" rtlCol="0" anchor="ctr"/>
            <a:lstStyle/>
            <a:p>
              <a:pPr marL="0" indent="0">
                <a:lnSpc>
                  <a:spcPct val="150000"/>
                </a:lnSpc>
                <a:buNone/>
              </a:pPr>
              <a:r>
                <a:rPr lang="zh-CN" sz="1100" b="1" dirty="0">
                  <a:solidFill>
                    <a:srgbClr val="2E6EA6"/>
                  </a:solidFill>
                  <a:latin typeface="Arial" panose="020B0604020202020204" pitchFamily="34" charset="0"/>
                  <a:ea typeface="微软雅黑" panose="020B0503020204020204" pitchFamily="34" charset="-122"/>
                </a:rPr>
                <a:t>演示账号体系</a:t>
              </a:r>
              <a:endParaRPr lang="en-US" sz="1100" dirty="0"/>
            </a:p>
          </p:txBody>
        </p:sp>
        <p:sp>
          <p:nvSpPr>
            <p:cNvPr id="45" name="矩形 44"/>
            <p:cNvSpPr/>
            <p:nvPr/>
          </p:nvSpPr>
          <p:spPr>
            <a:xfrm>
              <a:off x="178594" y="214313"/>
              <a:ext cx="178594" cy="142875"/>
            </a:xfrm>
            <a:prstGeom prst="rect">
              <a:avLst/>
            </a:prstGeom>
            <a:noFill/>
          </p:spPr>
          <p:txBody>
            <a:bodyPr wrap="none" lIns="0" tIns="0" rIns="0" bIns="0" rtlCol="0" anchor="t"/>
            <a:lstStyle/>
            <a:p>
              <a:pPr marL="0" indent="0">
                <a:lnSpc>
                  <a:spcPct val="100000"/>
                </a:lnSpc>
                <a:buNone/>
              </a:pPr>
              <a:r>
                <a:rPr lang="en-US" sz="1100" dirty="0">
                  <a:solidFill>
                    <a:srgbClr val="2E6EA6"/>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1100" dirty="0"/>
            </a:p>
          </p:txBody>
        </p:sp>
        <p:sp>
          <p:nvSpPr>
            <p:cNvPr id="46" name="圆角矩形 45"/>
            <p:cNvSpPr/>
            <p:nvPr/>
          </p:nvSpPr>
          <p:spPr>
            <a:xfrm>
              <a:off x="178594" y="628650"/>
              <a:ext cx="2347838" cy="357188"/>
            </a:xfrm>
            <a:prstGeom prst="roundRect">
              <a:avLst>
                <a:gd name="adj" fmla="val 16000"/>
              </a:avLst>
            </a:prstGeom>
            <a:solidFill>
              <a:srgbClr val="EFF6FF"/>
            </a:solidFill>
            <a:ln w="6350">
              <a:solidFill>
                <a:srgbClr val="DBEAFE"/>
              </a:solidFill>
              <a:prstDash val="solid"/>
            </a:ln>
          </p:spPr>
        </p:sp>
        <p:sp>
          <p:nvSpPr>
            <p:cNvPr id="47" name="矩形 46"/>
            <p:cNvSpPr/>
            <p:nvPr/>
          </p:nvSpPr>
          <p:spPr>
            <a:xfrm>
              <a:off x="178594" y="628650"/>
              <a:ext cx="2347838" cy="357188"/>
            </a:xfrm>
            <a:prstGeom prst="rect">
              <a:avLst/>
            </a:prstGeom>
            <a:noFill/>
          </p:spPr>
          <p:txBody>
            <a:bodyPr wrap="none" lIns="95758" tIns="95758" rIns="95758" bIns="95758" rtlCol="0" anchor="t"/>
            <a:lstStyle/>
            <a:p>
              <a:pPr marL="0" indent="0" algn="ctr">
                <a:lnSpc>
                  <a:spcPct val="150000"/>
                </a:lnSpc>
                <a:buNone/>
              </a:pPr>
              <a:r>
                <a:rPr lang="zh-CN" sz="600" b="1" dirty="0">
                  <a:solidFill>
                    <a:srgbClr val="2E6EA6"/>
                  </a:solidFill>
                  <a:latin typeface="Arial" panose="020B0604020202020204" pitchFamily="34" charset="0"/>
                  <a:ea typeface="微软雅黑" panose="020B0503020204020204" pitchFamily="34" charset="-122"/>
                </a:rPr>
                <a:t>全局统一密码</a:t>
              </a:r>
              <a:r>
                <a:rPr lang="en-US" sz="600" b="1" dirty="0">
                  <a:solidFill>
                    <a:srgbClr val="2E6EA6"/>
                  </a:solidFill>
                  <a:latin typeface="Arial" panose="020B0604020202020204" pitchFamily="34" charset="0"/>
                </a:rPr>
                <a:t>: </a:t>
              </a:r>
              <a:r>
                <a:rPr lang="en-US" sz="900" dirty="0">
                  <a:solidFill>
                    <a:srgbClr val="1F2A37"/>
                  </a:solidFill>
                  <a:latin typeface="Arial" panose="020B0604020202020204" pitchFamily="34" charset="0"/>
                </a:rPr>
                <a:t> </a:t>
              </a:r>
              <a:r>
                <a:rPr lang="en-US" sz="700" b="1" dirty="0">
                  <a:solidFill>
                    <a:srgbClr val="2563EB"/>
                  </a:solidFill>
                  <a:latin typeface="Arial" panose="020B0604020202020204" pitchFamily="34" charset="0"/>
                </a:rPr>
                <a:t>demo123</a:t>
              </a:r>
              <a:endParaRPr lang="en-US" sz="900" dirty="0"/>
            </a:p>
          </p:txBody>
        </p:sp>
        <p:sp>
          <p:nvSpPr>
            <p:cNvPr id="48" name="圆角矩形 47"/>
            <p:cNvSpPr/>
            <p:nvPr/>
          </p:nvSpPr>
          <p:spPr>
            <a:xfrm>
              <a:off x="178594" y="1100138"/>
              <a:ext cx="2347838" cy="375047"/>
            </a:xfrm>
            <a:prstGeom prst="roundRect">
              <a:avLst>
                <a:gd name="adj" fmla="val 15238"/>
              </a:avLst>
            </a:prstGeom>
            <a:solidFill>
              <a:srgbClr val="EAF5FF"/>
            </a:solidFill>
          </p:spPr>
        </p:sp>
        <p:sp>
          <p:nvSpPr>
            <p:cNvPr id="49" name="任意多边形 48"/>
            <p:cNvSpPr/>
            <p:nvPr/>
          </p:nvSpPr>
          <p:spPr>
            <a:xfrm>
              <a:off x="178594" y="1100138"/>
              <a:ext cx="28575" cy="375047"/>
            </a:xfrm>
            <a:custGeom>
              <a:avLst/>
              <a:gdLst/>
              <a:ahLst/>
              <a:cxnLst/>
              <a:pathLst>
                <a:path w="21600" h="21600">
                  <a:moveTo>
                    <a:pt x="21600" y="441"/>
                  </a:moveTo>
                  <a:cubicBezTo>
                    <a:pt x="8234" y="1029"/>
                    <a:pt x="0" y="2116"/>
                    <a:pt x="0" y="3291"/>
                  </a:cubicBezTo>
                  <a:lnTo>
                    <a:pt x="0" y="18309"/>
                  </a:lnTo>
                  <a:cubicBezTo>
                    <a:pt x="0" y="19484"/>
                    <a:pt x="8234" y="20571"/>
                    <a:pt x="21600" y="21159"/>
                  </a:cubicBezTo>
                  <a:lnTo>
                    <a:pt x="21600" y="19734"/>
                  </a:lnTo>
                  <a:cubicBezTo>
                    <a:pt x="21600" y="19440"/>
                    <a:pt x="21600" y="18897"/>
                    <a:pt x="21600" y="18309"/>
                  </a:cubicBezTo>
                  <a:lnTo>
                    <a:pt x="21600" y="3291"/>
                  </a:lnTo>
                  <a:cubicBezTo>
                    <a:pt x="21600" y="2703"/>
                    <a:pt x="21600" y="2160"/>
                    <a:pt x="21600" y="1866"/>
                  </a:cubicBezTo>
                  <a:lnTo>
                    <a:pt x="21600" y="441"/>
                  </a:lnTo>
                  <a:close/>
                </a:path>
              </a:pathLst>
            </a:custGeom>
            <a:solidFill>
              <a:srgbClr val="5B9DFF"/>
            </a:solidFill>
          </p:spPr>
        </p:sp>
        <p:sp>
          <p:nvSpPr>
            <p:cNvPr id="50" name="矩形 49"/>
            <p:cNvSpPr/>
            <p:nvPr/>
          </p:nvSpPr>
          <p:spPr>
            <a:xfrm>
              <a:off x="307181" y="1230511"/>
              <a:ext cx="142875" cy="114300"/>
            </a:xfrm>
            <a:prstGeom prst="rect">
              <a:avLst/>
            </a:prstGeom>
            <a:noFill/>
          </p:spPr>
          <p:txBody>
            <a:bodyPr wrap="none" lIns="0" tIns="0" rIns="0" bIns="0" rtlCol="0" anchor="t"/>
            <a:lstStyle/>
            <a:p>
              <a:pPr marL="0" indent="0">
                <a:lnSpc>
                  <a:spcPct val="100000"/>
                </a:lnSpc>
                <a:buNone/>
              </a:pPr>
              <a:r>
                <a:rPr lang="en-US" sz="900" dirty="0">
                  <a:solidFill>
                    <a:srgbClr val="2E6EA6"/>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900" dirty="0"/>
            </a:p>
          </p:txBody>
        </p:sp>
        <p:sp>
          <p:nvSpPr>
            <p:cNvPr id="51" name="矩形 50"/>
            <p:cNvSpPr/>
            <p:nvPr/>
          </p:nvSpPr>
          <p:spPr>
            <a:xfrm>
              <a:off x="535781" y="1171575"/>
              <a:ext cx="839949" cy="142875"/>
            </a:xfrm>
            <a:prstGeom prst="rect">
              <a:avLst/>
            </a:prstGeom>
            <a:noFill/>
          </p:spPr>
          <p:txBody>
            <a:bodyPr wrap="none" lIns="0" tIns="0" rIns="0" bIns="0" rtlCol="0" anchor="t"/>
            <a:lstStyle/>
            <a:p>
              <a:pPr marL="0" indent="0">
                <a:lnSpc>
                  <a:spcPct val="143000"/>
                </a:lnSpc>
                <a:buNone/>
              </a:pPr>
              <a:r>
                <a:rPr lang="en-US" sz="700" b="1" dirty="0">
                  <a:solidFill>
                    <a:srgbClr val="1F2A37"/>
                  </a:solidFill>
                  <a:latin typeface="Arial" panose="020B0604020202020204" pitchFamily="34" charset="0"/>
                </a:rPr>
                <a:t>patientdemo </a:t>
              </a:r>
              <a:r>
                <a:rPr lang="en-US" sz="600" b="1" dirty="0">
                  <a:solidFill>
                    <a:srgbClr val="1F2A37">
                      <a:alpha val="60000"/>
                    </a:srgbClr>
                  </a:solidFill>
                  <a:latin typeface="Arial" panose="020B0604020202020204" pitchFamily="34" charset="0"/>
                </a:rPr>
                <a:t>| </a:t>
              </a:r>
              <a:r>
                <a:rPr lang="zh-CN" sz="600" b="1" dirty="0">
                  <a:solidFill>
                    <a:srgbClr val="1F2A37">
                      <a:alpha val="60000"/>
                    </a:srgbClr>
                  </a:solidFill>
                  <a:latin typeface="Arial" panose="020B0604020202020204" pitchFamily="34" charset="0"/>
                  <a:ea typeface="微软雅黑" panose="020B0503020204020204" pitchFamily="34" charset="-122"/>
                </a:rPr>
                <a:t>患者</a:t>
              </a:r>
              <a:endParaRPr lang="en-US" sz="700" dirty="0"/>
            </a:p>
          </p:txBody>
        </p:sp>
        <p:sp>
          <p:nvSpPr>
            <p:cNvPr id="52" name="矩形 51"/>
            <p:cNvSpPr/>
            <p:nvPr/>
          </p:nvSpPr>
          <p:spPr>
            <a:xfrm>
              <a:off x="535781" y="1314450"/>
              <a:ext cx="839949" cy="89297"/>
            </a:xfrm>
            <a:prstGeom prst="rect">
              <a:avLst/>
            </a:prstGeom>
            <a:noFill/>
          </p:spPr>
          <p:txBody>
            <a:bodyPr wrap="none" lIns="0" tIns="0" rIns="0" bIns="0" rtlCol="0" anchor="t"/>
            <a:lstStyle/>
            <a:p>
              <a:pPr marL="0" indent="0">
                <a:lnSpc>
                  <a:spcPct val="125000"/>
                </a:lnSpc>
                <a:buNone/>
              </a:pPr>
              <a:r>
                <a:rPr lang="zh-CN" sz="500" dirty="0">
                  <a:solidFill>
                    <a:srgbClr val="1F2A37"/>
                  </a:solidFill>
                  <a:latin typeface="Arial" panose="020B0604020202020204" pitchFamily="34" charset="0"/>
                  <a:ea typeface="微软雅黑" panose="020B0503020204020204" pitchFamily="34" charset="-122"/>
                </a:rPr>
                <a:t>查询个人病历与费用账单</a:t>
              </a:r>
              <a:endParaRPr lang="en-US" sz="500" dirty="0"/>
            </a:p>
          </p:txBody>
        </p:sp>
        <p:sp>
          <p:nvSpPr>
            <p:cNvPr id="53" name="圆角矩形 52"/>
            <p:cNvSpPr/>
            <p:nvPr/>
          </p:nvSpPr>
          <p:spPr>
            <a:xfrm>
              <a:off x="178594" y="1560909"/>
              <a:ext cx="2347838" cy="375047"/>
            </a:xfrm>
            <a:prstGeom prst="roundRect">
              <a:avLst>
                <a:gd name="adj" fmla="val 15238"/>
              </a:avLst>
            </a:prstGeom>
            <a:solidFill>
              <a:srgbClr val="EAF5FF"/>
            </a:solidFill>
          </p:spPr>
        </p:sp>
        <p:sp>
          <p:nvSpPr>
            <p:cNvPr id="54" name="任意多边形 53"/>
            <p:cNvSpPr/>
            <p:nvPr/>
          </p:nvSpPr>
          <p:spPr>
            <a:xfrm>
              <a:off x="178594" y="1560909"/>
              <a:ext cx="28575" cy="375047"/>
            </a:xfrm>
            <a:custGeom>
              <a:avLst/>
              <a:gdLst/>
              <a:ahLst/>
              <a:cxnLst/>
              <a:pathLst>
                <a:path w="21600" h="21600">
                  <a:moveTo>
                    <a:pt x="21600" y="441"/>
                  </a:moveTo>
                  <a:cubicBezTo>
                    <a:pt x="8234" y="1029"/>
                    <a:pt x="0" y="2116"/>
                    <a:pt x="0" y="3291"/>
                  </a:cubicBezTo>
                  <a:lnTo>
                    <a:pt x="0" y="18309"/>
                  </a:lnTo>
                  <a:cubicBezTo>
                    <a:pt x="0" y="19484"/>
                    <a:pt x="8234" y="20571"/>
                    <a:pt x="21600" y="21159"/>
                  </a:cubicBezTo>
                  <a:lnTo>
                    <a:pt x="21600" y="19734"/>
                  </a:lnTo>
                  <a:cubicBezTo>
                    <a:pt x="21600" y="19440"/>
                    <a:pt x="21600" y="18897"/>
                    <a:pt x="21600" y="18309"/>
                  </a:cubicBezTo>
                  <a:lnTo>
                    <a:pt x="21600" y="3291"/>
                  </a:lnTo>
                  <a:cubicBezTo>
                    <a:pt x="21600" y="2703"/>
                    <a:pt x="21600" y="2160"/>
                    <a:pt x="21600" y="1866"/>
                  </a:cubicBezTo>
                  <a:lnTo>
                    <a:pt x="21600" y="441"/>
                  </a:lnTo>
                  <a:close/>
                </a:path>
              </a:pathLst>
            </a:custGeom>
            <a:solidFill>
              <a:srgbClr val="5B9DFF"/>
            </a:solidFill>
          </p:spPr>
        </p:sp>
        <p:sp>
          <p:nvSpPr>
            <p:cNvPr id="55" name="矩形 54"/>
            <p:cNvSpPr/>
            <p:nvPr/>
          </p:nvSpPr>
          <p:spPr>
            <a:xfrm>
              <a:off x="307181" y="1691283"/>
              <a:ext cx="142875" cy="114300"/>
            </a:xfrm>
            <a:prstGeom prst="rect">
              <a:avLst/>
            </a:prstGeom>
            <a:noFill/>
          </p:spPr>
          <p:txBody>
            <a:bodyPr wrap="none" lIns="0" tIns="0" rIns="0" bIns="0" rtlCol="0" anchor="t"/>
            <a:lstStyle/>
            <a:p>
              <a:pPr marL="0" indent="0">
                <a:lnSpc>
                  <a:spcPct val="100000"/>
                </a:lnSpc>
                <a:buNone/>
              </a:pPr>
              <a:r>
                <a:rPr lang="en-US" sz="900" dirty="0">
                  <a:solidFill>
                    <a:srgbClr val="2E6EA6"/>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900" dirty="0"/>
            </a:p>
          </p:txBody>
        </p:sp>
        <p:sp>
          <p:nvSpPr>
            <p:cNvPr id="56" name="矩形 55"/>
            <p:cNvSpPr/>
            <p:nvPr/>
          </p:nvSpPr>
          <p:spPr>
            <a:xfrm>
              <a:off x="535781" y="1632347"/>
              <a:ext cx="857250" cy="142875"/>
            </a:xfrm>
            <a:prstGeom prst="rect">
              <a:avLst/>
            </a:prstGeom>
            <a:noFill/>
          </p:spPr>
          <p:txBody>
            <a:bodyPr wrap="none" lIns="0" tIns="0" rIns="0" bIns="0" rtlCol="0" anchor="t"/>
            <a:lstStyle/>
            <a:p>
              <a:pPr marL="0" indent="0">
                <a:lnSpc>
                  <a:spcPct val="143000"/>
                </a:lnSpc>
                <a:buNone/>
              </a:pPr>
              <a:r>
                <a:rPr lang="en-US" sz="700" b="1" dirty="0">
                  <a:solidFill>
                    <a:srgbClr val="1F2A37"/>
                  </a:solidFill>
                  <a:latin typeface="Arial" panose="020B0604020202020204" pitchFamily="34" charset="0"/>
                </a:rPr>
                <a:t>doctordemo </a:t>
              </a:r>
              <a:r>
                <a:rPr lang="en-US" sz="600" b="1" dirty="0">
                  <a:solidFill>
                    <a:srgbClr val="1F2A37">
                      <a:alpha val="60000"/>
                    </a:srgbClr>
                  </a:solidFill>
                  <a:latin typeface="Arial" panose="020B0604020202020204" pitchFamily="34" charset="0"/>
                </a:rPr>
                <a:t>| </a:t>
              </a:r>
              <a:r>
                <a:rPr lang="zh-CN" sz="600" b="1" dirty="0">
                  <a:solidFill>
                    <a:srgbClr val="1F2A37">
                      <a:alpha val="60000"/>
                    </a:srgbClr>
                  </a:solidFill>
                  <a:latin typeface="Arial" panose="020B0604020202020204" pitchFamily="34" charset="0"/>
                  <a:ea typeface="微软雅黑" panose="020B0503020204020204" pitchFamily="34" charset="-122"/>
                </a:rPr>
                <a:t>医生</a:t>
              </a:r>
              <a:endParaRPr lang="en-US" sz="700" dirty="0"/>
            </a:p>
          </p:txBody>
        </p:sp>
        <p:sp>
          <p:nvSpPr>
            <p:cNvPr id="57" name="矩形 56"/>
            <p:cNvSpPr/>
            <p:nvPr/>
          </p:nvSpPr>
          <p:spPr>
            <a:xfrm>
              <a:off x="535781" y="1775222"/>
              <a:ext cx="857250" cy="89297"/>
            </a:xfrm>
            <a:prstGeom prst="rect">
              <a:avLst/>
            </a:prstGeom>
            <a:noFill/>
          </p:spPr>
          <p:txBody>
            <a:bodyPr wrap="none" lIns="0" tIns="0" rIns="0" bIns="0" rtlCol="0" anchor="t"/>
            <a:lstStyle/>
            <a:p>
              <a:pPr marL="0" indent="0">
                <a:lnSpc>
                  <a:spcPct val="125000"/>
                </a:lnSpc>
                <a:buNone/>
              </a:pPr>
              <a:r>
                <a:rPr lang="zh-CN" sz="500" dirty="0">
                  <a:solidFill>
                    <a:srgbClr val="1F2A37"/>
                  </a:solidFill>
                  <a:latin typeface="Arial" panose="020B0604020202020204" pitchFamily="34" charset="0"/>
                  <a:ea typeface="微软雅黑" panose="020B0503020204020204" pitchFamily="34" charset="-122"/>
                </a:rPr>
                <a:t>自建库管理与临床文档处理</a:t>
              </a:r>
              <a:endParaRPr lang="en-US" sz="500" dirty="0"/>
            </a:p>
          </p:txBody>
        </p:sp>
        <p:sp>
          <p:nvSpPr>
            <p:cNvPr id="58" name="圆角矩形 57"/>
            <p:cNvSpPr/>
            <p:nvPr/>
          </p:nvSpPr>
          <p:spPr>
            <a:xfrm>
              <a:off x="178594" y="2021681"/>
              <a:ext cx="2347838" cy="375047"/>
            </a:xfrm>
            <a:prstGeom prst="roundRect">
              <a:avLst>
                <a:gd name="adj" fmla="val 15238"/>
              </a:avLst>
            </a:prstGeom>
            <a:solidFill>
              <a:srgbClr val="EAF5FF"/>
            </a:solidFill>
          </p:spPr>
        </p:sp>
        <p:sp>
          <p:nvSpPr>
            <p:cNvPr id="59" name="任意多边形 58"/>
            <p:cNvSpPr/>
            <p:nvPr/>
          </p:nvSpPr>
          <p:spPr>
            <a:xfrm>
              <a:off x="178594" y="2021681"/>
              <a:ext cx="28575" cy="375047"/>
            </a:xfrm>
            <a:custGeom>
              <a:avLst/>
              <a:gdLst/>
              <a:ahLst/>
              <a:cxnLst/>
              <a:pathLst>
                <a:path w="21600" h="21600">
                  <a:moveTo>
                    <a:pt x="21600" y="441"/>
                  </a:moveTo>
                  <a:cubicBezTo>
                    <a:pt x="8234" y="1029"/>
                    <a:pt x="0" y="2116"/>
                    <a:pt x="0" y="3291"/>
                  </a:cubicBezTo>
                  <a:lnTo>
                    <a:pt x="0" y="18309"/>
                  </a:lnTo>
                  <a:cubicBezTo>
                    <a:pt x="0" y="19484"/>
                    <a:pt x="8234" y="20571"/>
                    <a:pt x="21600" y="21159"/>
                  </a:cubicBezTo>
                  <a:lnTo>
                    <a:pt x="21600" y="19734"/>
                  </a:lnTo>
                  <a:cubicBezTo>
                    <a:pt x="21600" y="19440"/>
                    <a:pt x="21600" y="18897"/>
                    <a:pt x="21600" y="18309"/>
                  </a:cubicBezTo>
                  <a:lnTo>
                    <a:pt x="21600" y="3291"/>
                  </a:lnTo>
                  <a:cubicBezTo>
                    <a:pt x="21600" y="2703"/>
                    <a:pt x="21600" y="2160"/>
                    <a:pt x="21600" y="1866"/>
                  </a:cubicBezTo>
                  <a:lnTo>
                    <a:pt x="21600" y="441"/>
                  </a:lnTo>
                  <a:close/>
                </a:path>
              </a:pathLst>
            </a:custGeom>
            <a:solidFill>
              <a:srgbClr val="5B9DFF"/>
            </a:solidFill>
          </p:spPr>
        </p:sp>
        <p:sp>
          <p:nvSpPr>
            <p:cNvPr id="60" name="矩形 59"/>
            <p:cNvSpPr/>
            <p:nvPr/>
          </p:nvSpPr>
          <p:spPr>
            <a:xfrm>
              <a:off x="307181" y="2152055"/>
              <a:ext cx="142875" cy="114300"/>
            </a:xfrm>
            <a:prstGeom prst="rect">
              <a:avLst/>
            </a:prstGeom>
            <a:noFill/>
          </p:spPr>
          <p:txBody>
            <a:bodyPr wrap="none" lIns="0" tIns="0" rIns="0" bIns="0" rtlCol="0" anchor="t"/>
            <a:lstStyle/>
            <a:p>
              <a:pPr marL="0" indent="0">
                <a:lnSpc>
                  <a:spcPct val="100000"/>
                </a:lnSpc>
                <a:buNone/>
              </a:pPr>
              <a:r>
                <a:rPr lang="en-US" sz="900" dirty="0">
                  <a:solidFill>
                    <a:srgbClr val="2E6EA6"/>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900" dirty="0"/>
            </a:p>
          </p:txBody>
        </p:sp>
        <p:sp>
          <p:nvSpPr>
            <p:cNvPr id="61" name="矩形 60"/>
            <p:cNvSpPr/>
            <p:nvPr/>
          </p:nvSpPr>
          <p:spPr>
            <a:xfrm>
              <a:off x="535781" y="2093119"/>
              <a:ext cx="785813" cy="142875"/>
            </a:xfrm>
            <a:prstGeom prst="rect">
              <a:avLst/>
            </a:prstGeom>
            <a:noFill/>
          </p:spPr>
          <p:txBody>
            <a:bodyPr wrap="none" lIns="0" tIns="0" rIns="0" bIns="0" rtlCol="0" anchor="t"/>
            <a:lstStyle/>
            <a:p>
              <a:pPr marL="0" indent="0">
                <a:lnSpc>
                  <a:spcPct val="143000"/>
                </a:lnSpc>
                <a:buNone/>
              </a:pPr>
              <a:r>
                <a:rPr lang="en-US" sz="700" b="1" dirty="0">
                  <a:solidFill>
                    <a:srgbClr val="1F2A37"/>
                  </a:solidFill>
                  <a:latin typeface="Arial" panose="020B0604020202020204" pitchFamily="34" charset="0"/>
                </a:rPr>
                <a:t>nursedemo </a:t>
              </a:r>
              <a:r>
                <a:rPr lang="en-US" sz="600" b="1" dirty="0">
                  <a:solidFill>
                    <a:srgbClr val="1F2A37">
                      <a:alpha val="60000"/>
                    </a:srgbClr>
                  </a:solidFill>
                  <a:latin typeface="Arial" panose="020B0604020202020204" pitchFamily="34" charset="0"/>
                </a:rPr>
                <a:t>| </a:t>
              </a:r>
              <a:r>
                <a:rPr lang="zh-CN" sz="600" b="1" dirty="0">
                  <a:solidFill>
                    <a:srgbClr val="1F2A37">
                      <a:alpha val="60000"/>
                    </a:srgbClr>
                  </a:solidFill>
                  <a:latin typeface="Arial" panose="020B0604020202020204" pitchFamily="34" charset="0"/>
                  <a:ea typeface="微软雅黑" panose="020B0503020204020204" pitchFamily="34" charset="-122"/>
                </a:rPr>
                <a:t>护士</a:t>
              </a:r>
              <a:endParaRPr lang="en-US" sz="700" dirty="0"/>
            </a:p>
          </p:txBody>
        </p:sp>
        <p:sp>
          <p:nvSpPr>
            <p:cNvPr id="62" name="矩形 61"/>
            <p:cNvSpPr/>
            <p:nvPr/>
          </p:nvSpPr>
          <p:spPr>
            <a:xfrm>
              <a:off x="535781" y="2235994"/>
              <a:ext cx="785813" cy="89297"/>
            </a:xfrm>
            <a:prstGeom prst="rect">
              <a:avLst/>
            </a:prstGeom>
            <a:noFill/>
          </p:spPr>
          <p:txBody>
            <a:bodyPr wrap="none" lIns="0" tIns="0" rIns="0" bIns="0" rtlCol="0" anchor="t"/>
            <a:lstStyle/>
            <a:p>
              <a:pPr marL="0" indent="0">
                <a:lnSpc>
                  <a:spcPct val="125000"/>
                </a:lnSpc>
                <a:buNone/>
              </a:pPr>
              <a:r>
                <a:rPr lang="zh-CN" sz="500" dirty="0">
                  <a:solidFill>
                    <a:srgbClr val="1F2A37"/>
                  </a:solidFill>
                  <a:latin typeface="Arial" panose="020B0604020202020204" pitchFamily="34" charset="0"/>
                  <a:ea typeface="微软雅黑" panose="020B0503020204020204" pitchFamily="34" charset="-122"/>
                </a:rPr>
                <a:t>支持临床护理工作台操作</a:t>
              </a:r>
              <a:endParaRPr lang="en-US" sz="500" dirty="0"/>
            </a:p>
          </p:txBody>
        </p:sp>
        <p:sp>
          <p:nvSpPr>
            <p:cNvPr id="63" name="圆角矩形 62"/>
            <p:cNvSpPr/>
            <p:nvPr/>
          </p:nvSpPr>
          <p:spPr>
            <a:xfrm>
              <a:off x="178594" y="2482453"/>
              <a:ext cx="2347838" cy="375047"/>
            </a:xfrm>
            <a:prstGeom prst="roundRect">
              <a:avLst>
                <a:gd name="adj" fmla="val 15238"/>
              </a:avLst>
            </a:prstGeom>
            <a:solidFill>
              <a:srgbClr val="EAF5FF"/>
            </a:solidFill>
          </p:spPr>
        </p:sp>
        <p:sp>
          <p:nvSpPr>
            <p:cNvPr id="64" name="任意多边形 63"/>
            <p:cNvSpPr/>
            <p:nvPr/>
          </p:nvSpPr>
          <p:spPr>
            <a:xfrm>
              <a:off x="178594" y="2482453"/>
              <a:ext cx="28575" cy="375047"/>
            </a:xfrm>
            <a:custGeom>
              <a:avLst/>
              <a:gdLst/>
              <a:ahLst/>
              <a:cxnLst/>
              <a:pathLst>
                <a:path w="21600" h="21600">
                  <a:moveTo>
                    <a:pt x="21600" y="441"/>
                  </a:moveTo>
                  <a:cubicBezTo>
                    <a:pt x="8234" y="1029"/>
                    <a:pt x="0" y="2116"/>
                    <a:pt x="0" y="3291"/>
                  </a:cubicBezTo>
                  <a:lnTo>
                    <a:pt x="0" y="18309"/>
                  </a:lnTo>
                  <a:cubicBezTo>
                    <a:pt x="0" y="19484"/>
                    <a:pt x="8234" y="20571"/>
                    <a:pt x="21600" y="21159"/>
                  </a:cubicBezTo>
                  <a:lnTo>
                    <a:pt x="21600" y="19734"/>
                  </a:lnTo>
                  <a:cubicBezTo>
                    <a:pt x="21600" y="19440"/>
                    <a:pt x="21600" y="18897"/>
                    <a:pt x="21600" y="18309"/>
                  </a:cubicBezTo>
                  <a:lnTo>
                    <a:pt x="21600" y="3291"/>
                  </a:lnTo>
                  <a:cubicBezTo>
                    <a:pt x="21600" y="2703"/>
                    <a:pt x="21600" y="2160"/>
                    <a:pt x="21600" y="1866"/>
                  </a:cubicBezTo>
                  <a:lnTo>
                    <a:pt x="21600" y="441"/>
                  </a:lnTo>
                  <a:close/>
                </a:path>
              </a:pathLst>
            </a:custGeom>
            <a:solidFill>
              <a:srgbClr val="5B9DFF"/>
            </a:solidFill>
          </p:spPr>
        </p:sp>
        <p:sp>
          <p:nvSpPr>
            <p:cNvPr id="65" name="矩形 64"/>
            <p:cNvSpPr/>
            <p:nvPr/>
          </p:nvSpPr>
          <p:spPr>
            <a:xfrm>
              <a:off x="307181" y="2612827"/>
              <a:ext cx="142875" cy="114300"/>
            </a:xfrm>
            <a:prstGeom prst="rect">
              <a:avLst/>
            </a:prstGeom>
            <a:noFill/>
          </p:spPr>
          <p:txBody>
            <a:bodyPr wrap="none" lIns="0" tIns="0" rIns="0" bIns="0" rtlCol="0" anchor="t"/>
            <a:lstStyle/>
            <a:p>
              <a:pPr marL="0" indent="0">
                <a:lnSpc>
                  <a:spcPct val="100000"/>
                </a:lnSpc>
                <a:buNone/>
              </a:pPr>
              <a:r>
                <a:rPr lang="en-US" sz="900" dirty="0">
                  <a:solidFill>
                    <a:srgbClr val="2E6EA6"/>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900" dirty="0"/>
            </a:p>
          </p:txBody>
        </p:sp>
        <p:sp>
          <p:nvSpPr>
            <p:cNvPr id="66" name="矩形 65"/>
            <p:cNvSpPr/>
            <p:nvPr/>
          </p:nvSpPr>
          <p:spPr>
            <a:xfrm>
              <a:off x="535781" y="2553891"/>
              <a:ext cx="806574" cy="142875"/>
            </a:xfrm>
            <a:prstGeom prst="rect">
              <a:avLst/>
            </a:prstGeom>
            <a:noFill/>
          </p:spPr>
          <p:txBody>
            <a:bodyPr wrap="none" lIns="0" tIns="0" rIns="0" bIns="0" rtlCol="0" anchor="t"/>
            <a:lstStyle/>
            <a:p>
              <a:pPr marL="0" indent="0">
                <a:lnSpc>
                  <a:spcPct val="143000"/>
                </a:lnSpc>
                <a:buNone/>
              </a:pPr>
              <a:r>
                <a:rPr lang="en-US" sz="700" b="1" dirty="0">
                  <a:solidFill>
                    <a:srgbClr val="1F2A37"/>
                  </a:solidFill>
                  <a:latin typeface="Arial" panose="020B0604020202020204" pitchFamily="34" charset="0"/>
                </a:rPr>
                <a:t>publicdemo </a:t>
              </a:r>
              <a:r>
                <a:rPr lang="en-US" sz="600" b="1" dirty="0">
                  <a:solidFill>
                    <a:srgbClr val="1F2A37">
                      <a:alpha val="60000"/>
                    </a:srgbClr>
                  </a:solidFill>
                  <a:latin typeface="Arial" panose="020B0604020202020204" pitchFamily="34" charset="0"/>
                </a:rPr>
                <a:t>| </a:t>
              </a:r>
              <a:r>
                <a:rPr lang="zh-CN" sz="600" b="1" dirty="0">
                  <a:solidFill>
                    <a:srgbClr val="1F2A37">
                      <a:alpha val="60000"/>
                    </a:srgbClr>
                  </a:solidFill>
                  <a:latin typeface="Arial" panose="020B0604020202020204" pitchFamily="34" charset="0"/>
                  <a:ea typeface="微软雅黑" panose="020B0503020204020204" pitchFamily="34" charset="-122"/>
                </a:rPr>
                <a:t>群众</a:t>
              </a:r>
              <a:endParaRPr lang="en-US" sz="700" dirty="0"/>
            </a:p>
          </p:txBody>
        </p:sp>
        <p:sp>
          <p:nvSpPr>
            <p:cNvPr id="67" name="矩形 66"/>
            <p:cNvSpPr/>
            <p:nvPr/>
          </p:nvSpPr>
          <p:spPr>
            <a:xfrm>
              <a:off x="535781" y="2696766"/>
              <a:ext cx="806574" cy="89297"/>
            </a:xfrm>
            <a:prstGeom prst="rect">
              <a:avLst/>
            </a:prstGeom>
            <a:noFill/>
          </p:spPr>
          <p:txBody>
            <a:bodyPr wrap="none" lIns="0" tIns="0" rIns="0" bIns="0" rtlCol="0" anchor="t"/>
            <a:lstStyle/>
            <a:p>
              <a:pPr marL="0" indent="0">
                <a:lnSpc>
                  <a:spcPct val="125000"/>
                </a:lnSpc>
                <a:buNone/>
              </a:pPr>
              <a:r>
                <a:rPr lang="zh-CN" sz="500" dirty="0">
                  <a:solidFill>
                    <a:srgbClr val="1F2A37"/>
                  </a:solidFill>
                  <a:latin typeface="Arial" panose="020B0604020202020204" pitchFamily="34" charset="0"/>
                  <a:ea typeface="微软雅黑" panose="020B0503020204020204" pitchFamily="34" charset="-122"/>
                </a:rPr>
                <a:t>仅限公开医疗咨询服务</a:t>
              </a:r>
              <a:endParaRPr lang="en-US" sz="500" dirty="0"/>
            </a:p>
          </p:txBody>
        </p:sp>
        <p:sp>
          <p:nvSpPr>
            <p:cNvPr id="68" name="圆角矩形 67"/>
            <p:cNvSpPr/>
            <p:nvPr/>
          </p:nvSpPr>
          <p:spPr>
            <a:xfrm>
              <a:off x="178594" y="2943225"/>
              <a:ext cx="2347838" cy="375047"/>
            </a:xfrm>
            <a:prstGeom prst="roundRect">
              <a:avLst>
                <a:gd name="adj" fmla="val 15238"/>
              </a:avLst>
            </a:prstGeom>
            <a:solidFill>
              <a:srgbClr val="DCEAF5"/>
            </a:solidFill>
          </p:spPr>
        </p:sp>
        <p:sp>
          <p:nvSpPr>
            <p:cNvPr id="69" name="任意多边形 68"/>
            <p:cNvSpPr/>
            <p:nvPr/>
          </p:nvSpPr>
          <p:spPr>
            <a:xfrm>
              <a:off x="178594" y="2943225"/>
              <a:ext cx="28575" cy="375047"/>
            </a:xfrm>
            <a:custGeom>
              <a:avLst/>
              <a:gdLst/>
              <a:ahLst/>
              <a:cxnLst/>
              <a:pathLst>
                <a:path w="21600" h="21600">
                  <a:moveTo>
                    <a:pt x="21600" y="441"/>
                  </a:moveTo>
                  <a:cubicBezTo>
                    <a:pt x="8234" y="1029"/>
                    <a:pt x="0" y="2116"/>
                    <a:pt x="0" y="3291"/>
                  </a:cubicBezTo>
                  <a:lnTo>
                    <a:pt x="0" y="18309"/>
                  </a:lnTo>
                  <a:cubicBezTo>
                    <a:pt x="0" y="19484"/>
                    <a:pt x="8234" y="20571"/>
                    <a:pt x="21600" y="21159"/>
                  </a:cubicBezTo>
                  <a:lnTo>
                    <a:pt x="21600" y="19734"/>
                  </a:lnTo>
                  <a:cubicBezTo>
                    <a:pt x="21600" y="19440"/>
                    <a:pt x="21600" y="18897"/>
                    <a:pt x="21600" y="18309"/>
                  </a:cubicBezTo>
                  <a:lnTo>
                    <a:pt x="21600" y="3291"/>
                  </a:lnTo>
                  <a:cubicBezTo>
                    <a:pt x="21600" y="2703"/>
                    <a:pt x="21600" y="2160"/>
                    <a:pt x="21600" y="1866"/>
                  </a:cubicBezTo>
                  <a:lnTo>
                    <a:pt x="21600" y="441"/>
                  </a:lnTo>
                  <a:close/>
                </a:path>
              </a:pathLst>
            </a:custGeom>
            <a:solidFill>
              <a:srgbClr val="2563EB"/>
            </a:solidFill>
          </p:spPr>
        </p:sp>
        <p:sp>
          <p:nvSpPr>
            <p:cNvPr id="70" name="矩形 69"/>
            <p:cNvSpPr/>
            <p:nvPr/>
          </p:nvSpPr>
          <p:spPr>
            <a:xfrm>
              <a:off x="307181" y="3073598"/>
              <a:ext cx="142875" cy="114300"/>
            </a:xfrm>
            <a:prstGeom prst="rect">
              <a:avLst/>
            </a:prstGeom>
            <a:noFill/>
          </p:spPr>
          <p:txBody>
            <a:bodyPr wrap="none" lIns="0" tIns="0" rIns="0" bIns="0" rtlCol="0" anchor="t"/>
            <a:lstStyle/>
            <a:p>
              <a:pPr marL="0" indent="0">
                <a:lnSpc>
                  <a:spcPct val="100000"/>
                </a:lnSpc>
                <a:buNone/>
              </a:pPr>
              <a:r>
                <a:rPr lang="en-US" sz="900" dirty="0">
                  <a:solidFill>
                    <a:srgbClr val="2563EB"/>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900" dirty="0"/>
            </a:p>
          </p:txBody>
        </p:sp>
        <p:sp>
          <p:nvSpPr>
            <p:cNvPr id="71" name="矩形 70"/>
            <p:cNvSpPr/>
            <p:nvPr/>
          </p:nvSpPr>
          <p:spPr>
            <a:xfrm>
              <a:off x="535781" y="3014663"/>
              <a:ext cx="892411" cy="142875"/>
            </a:xfrm>
            <a:prstGeom prst="rect">
              <a:avLst/>
            </a:prstGeom>
            <a:noFill/>
          </p:spPr>
          <p:txBody>
            <a:bodyPr wrap="none" lIns="0" tIns="0" rIns="0" bIns="0" rtlCol="0" anchor="t"/>
            <a:lstStyle/>
            <a:p>
              <a:pPr marL="0" indent="0">
                <a:lnSpc>
                  <a:spcPct val="143000"/>
                </a:lnSpc>
                <a:buNone/>
              </a:pPr>
              <a:r>
                <a:rPr lang="en-US" sz="700" b="1" dirty="0">
                  <a:solidFill>
                    <a:srgbClr val="1F2A37"/>
                  </a:solidFill>
                  <a:latin typeface="Arial" panose="020B0604020202020204" pitchFamily="34" charset="0"/>
                </a:rPr>
                <a:t>admindemo </a:t>
              </a:r>
              <a:r>
                <a:rPr lang="en-US" sz="600" b="1" dirty="0">
                  <a:solidFill>
                    <a:srgbClr val="1F2A37">
                      <a:alpha val="60000"/>
                    </a:srgbClr>
                  </a:solidFill>
                  <a:latin typeface="Arial" panose="020B0604020202020204" pitchFamily="34" charset="0"/>
                </a:rPr>
                <a:t>| </a:t>
              </a:r>
              <a:r>
                <a:rPr lang="zh-CN" sz="600" b="1" dirty="0">
                  <a:solidFill>
                    <a:srgbClr val="1F2A37">
                      <a:alpha val="60000"/>
                    </a:srgbClr>
                  </a:solidFill>
                  <a:latin typeface="Arial" panose="020B0604020202020204" pitchFamily="34" charset="0"/>
                  <a:ea typeface="微软雅黑" panose="020B0503020204020204" pitchFamily="34" charset="-122"/>
                </a:rPr>
                <a:t>管理员</a:t>
              </a:r>
              <a:endParaRPr lang="en-US" sz="700" dirty="0"/>
            </a:p>
          </p:txBody>
        </p:sp>
        <p:sp>
          <p:nvSpPr>
            <p:cNvPr id="72" name="矩形 71"/>
            <p:cNvSpPr/>
            <p:nvPr/>
          </p:nvSpPr>
          <p:spPr>
            <a:xfrm>
              <a:off x="535781" y="3157538"/>
              <a:ext cx="892411" cy="89297"/>
            </a:xfrm>
            <a:prstGeom prst="rect">
              <a:avLst/>
            </a:prstGeom>
            <a:noFill/>
          </p:spPr>
          <p:txBody>
            <a:bodyPr wrap="none" lIns="0" tIns="0" rIns="0" bIns="0" rtlCol="0" anchor="t"/>
            <a:lstStyle/>
            <a:p>
              <a:pPr marL="0" indent="0">
                <a:lnSpc>
                  <a:spcPct val="125000"/>
                </a:lnSpc>
                <a:buNone/>
              </a:pPr>
              <a:r>
                <a:rPr lang="zh-CN" sz="500" dirty="0">
                  <a:solidFill>
                    <a:srgbClr val="1F2A37"/>
                  </a:solidFill>
                  <a:latin typeface="Arial" panose="020B0604020202020204" pitchFamily="34" charset="0"/>
                  <a:ea typeface="微软雅黑" panose="020B0503020204020204" pitchFamily="34" charset="-122"/>
                </a:rPr>
                <a:t>系统全权限，监控全站运行</a:t>
              </a:r>
              <a:endParaRPr lang="en-US" sz="500" dirty="0"/>
            </a:p>
          </p:txBody>
        </p:sp>
      </p:gr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5="http://schemas.microsoft.com/office/powerpoint/2012/main" Requires="p15">
      <p:transition xmlns:p14="http://schemas.microsoft.com/office/powerpoint/2010/main" spd="med" Requires="p14">
        <p15:prstTrans prst="airplan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
                                  </p:stCondLst>
                                  <p:childTnLst>
                                    <p:set>
                                      <p:cBhvr>
                                        <p:cTn id="6" dur="1" fill="hold">
                                          <p:stCondLst>
                                            <p:cond delay="0"/>
                                          </p:stCondLst>
                                        </p:cTn>
                                        <p:tgtEl>
                                          <p:spTgt spid="73"/>
                                        </p:tgtEl>
                                        <p:attrNameLst>
                                          <p:attrName>style.visibility</p:attrName>
                                        </p:attrNameLst>
                                      </p:cBhvr>
                                      <p:to>
                                        <p:strVal val="visible"/>
                                      </p:to>
                                    </p:set>
                                    <p:animEffect transition="in" filter="fade">
                                      <p:cBhvr>
                                        <p:cTn id="7" dur="600"/>
                                        <p:tgtEl>
                                          <p:spTgt spid="73"/>
                                        </p:tgtEl>
                                      </p:cBhvr>
                                    </p:animEffect>
                                  </p:childTnLst>
                                </p:cTn>
                              </p:par>
                              <p:par>
                                <p:cTn id="8" presetID="2" presetClass="entr" presetSubtype="4" fill="hold" grpId="0" nodeType="withEffect">
                                  <p:stCondLst>
                                    <p:cond delay="100"/>
                                  </p:stCondLst>
                                  <p:childTnLst>
                                    <p:set>
                                      <p:cBhvr>
                                        <p:cTn id="9" dur="1" fill="hold">
                                          <p:stCondLst>
                                            <p:cond delay="0"/>
                                          </p:stCondLst>
                                        </p:cTn>
                                        <p:tgtEl>
                                          <p:spTgt spid="73"/>
                                        </p:tgtEl>
                                        <p:attrNameLst>
                                          <p:attrName>style.visibility</p:attrName>
                                        </p:attrNameLst>
                                      </p:cBhvr>
                                      <p:to>
                                        <p:strVal val="visible"/>
                                      </p:to>
                                    </p:set>
                                    <p:anim calcmode="lin" valueType="num">
                                      <p:cBhvr additive="base">
                                        <p:cTn id="10" dur="600" fill="hold"/>
                                        <p:tgtEl>
                                          <p:spTgt spid="73"/>
                                        </p:tgtEl>
                                        <p:attrNameLst>
                                          <p:attrName>ppt_x</p:attrName>
                                        </p:attrNameLst>
                                      </p:cBhvr>
                                      <p:tavLst>
                                        <p:tav tm="0">
                                          <p:val>
                                            <p:strVal val="#ppt_x"/>
                                          </p:val>
                                        </p:tav>
                                        <p:tav tm="100000">
                                          <p:val>
                                            <p:strVal val="#ppt_x"/>
                                          </p:val>
                                        </p:tav>
                                      </p:tavLst>
                                    </p:anim>
                                    <p:anim calcmode="lin" valueType="num">
                                      <p:cBhvr additive="base">
                                        <p:cTn id="11" dur="600" fill="hold"/>
                                        <p:tgtEl>
                                          <p:spTgt spid="73"/>
                                        </p:tgtEl>
                                        <p:attrNameLst>
                                          <p:attrName>ppt_y</p:attrName>
                                        </p:attrNameLst>
                                      </p:cBhvr>
                                      <p:tavLst>
                                        <p:tav tm="0">
                                          <p:val>
                                            <p:strVal val="1+#ppt_h/2"/>
                                          </p:val>
                                        </p:tav>
                                        <p:tav tm="100000">
                                          <p:val>
                                            <p:strVal val="#ppt_y"/>
                                          </p:val>
                                        </p:tav>
                                      </p:tavLst>
                                    </p:anim>
                                  </p:childTnLst>
                                </p:cTn>
                              </p:par>
                            </p:childTnLst>
                          </p:cTn>
                        </p:par>
                        <p:par>
                          <p:cTn id="12" fill="hold">
                            <p:stCondLst>
                              <p:cond delay="1100"/>
                            </p:stCondLst>
                            <p:childTnLst>
                              <p:par>
                                <p:cTn id="13" presetID="10" presetClass="entr" presetSubtype="0" fill="hold" grpId="0" nodeType="afterEffect">
                                  <p:stCondLst>
                                    <p:cond delay="300"/>
                                  </p:stCondLst>
                                  <p:childTnLst>
                                    <p:set>
                                      <p:cBhvr>
                                        <p:cTn id="14" dur="1" fill="hold">
                                          <p:stCondLst>
                                            <p:cond delay="0"/>
                                          </p:stCondLst>
                                        </p:cTn>
                                        <p:tgtEl>
                                          <p:spTgt spid="74"/>
                                        </p:tgtEl>
                                        <p:attrNameLst>
                                          <p:attrName>style.visibility</p:attrName>
                                        </p:attrNameLst>
                                      </p:cBhvr>
                                      <p:to>
                                        <p:strVal val="visible"/>
                                      </p:to>
                                    </p:set>
                                    <p:animEffect transition="in" filter="fade">
                                      <p:cBhvr>
                                        <p:cTn id="15" dur="600"/>
                                        <p:tgtEl>
                                          <p:spTgt spid="74"/>
                                        </p:tgtEl>
                                      </p:cBhvr>
                                    </p:animEffect>
                                  </p:childTnLst>
                                </p:cTn>
                              </p:par>
                              <p:par>
                                <p:cTn id="16" presetID="2" presetClass="entr" presetSubtype="4" fill="hold" grpId="0" nodeType="withEffect">
                                  <p:stCondLst>
                                    <p:cond delay="300"/>
                                  </p:stCondLst>
                                  <p:childTnLst>
                                    <p:set>
                                      <p:cBhvr>
                                        <p:cTn id="17" dur="1" fill="hold">
                                          <p:stCondLst>
                                            <p:cond delay="0"/>
                                          </p:stCondLst>
                                        </p:cTn>
                                        <p:tgtEl>
                                          <p:spTgt spid="74"/>
                                        </p:tgtEl>
                                        <p:attrNameLst>
                                          <p:attrName>style.visibility</p:attrName>
                                        </p:attrNameLst>
                                      </p:cBhvr>
                                      <p:to>
                                        <p:strVal val="visible"/>
                                      </p:to>
                                    </p:set>
                                    <p:anim calcmode="lin" valueType="num">
                                      <p:cBhvr additive="base">
                                        <p:cTn id="18" dur="600" fill="hold"/>
                                        <p:tgtEl>
                                          <p:spTgt spid="74"/>
                                        </p:tgtEl>
                                        <p:attrNameLst>
                                          <p:attrName>ppt_x</p:attrName>
                                        </p:attrNameLst>
                                      </p:cBhvr>
                                      <p:tavLst>
                                        <p:tav tm="0">
                                          <p:val>
                                            <p:strVal val="#ppt_x"/>
                                          </p:val>
                                        </p:tav>
                                        <p:tav tm="100000">
                                          <p:val>
                                            <p:strVal val="#ppt_x"/>
                                          </p:val>
                                        </p:tav>
                                      </p:tavLst>
                                    </p:anim>
                                    <p:anim calcmode="lin" valueType="num">
                                      <p:cBhvr additive="base">
                                        <p:cTn id="19" dur="600" fill="hold"/>
                                        <p:tgtEl>
                                          <p:spTgt spid="74"/>
                                        </p:tgtEl>
                                        <p:attrNameLst>
                                          <p:attrName>ppt_y</p:attrName>
                                        </p:attrNameLst>
                                      </p:cBhvr>
                                      <p:tavLst>
                                        <p:tav tm="0">
                                          <p:val>
                                            <p:strVal val="1+#ppt_h/2"/>
                                          </p:val>
                                        </p:tav>
                                        <p:tav tm="100000">
                                          <p:val>
                                            <p:strVal val="#ppt_y"/>
                                          </p:val>
                                        </p:tav>
                                      </p:tavLst>
                                    </p:anim>
                                  </p:childTnLst>
                                </p:cTn>
                              </p:par>
                            </p:childTnLst>
                          </p:cTn>
                        </p:par>
                        <p:par>
                          <p:cTn id="20" fill="hold">
                            <p:stCondLst>
                              <p:cond delay="2400"/>
                            </p:stCondLst>
                            <p:childTnLst>
                              <p:par>
                                <p:cTn id="21" presetID="10" presetClass="entr" presetSubtype="0" fill="hold" grpId="0" nodeType="afterEffect">
                                  <p:stCondLst>
                                    <p:cond delay="500"/>
                                  </p:stCondLst>
                                  <p:childTnLst>
                                    <p:set>
                                      <p:cBhvr>
                                        <p:cTn id="22" dur="1" fill="hold">
                                          <p:stCondLst>
                                            <p:cond delay="0"/>
                                          </p:stCondLst>
                                        </p:cTn>
                                        <p:tgtEl>
                                          <p:spTgt spid="75"/>
                                        </p:tgtEl>
                                        <p:attrNameLst>
                                          <p:attrName>style.visibility</p:attrName>
                                        </p:attrNameLst>
                                      </p:cBhvr>
                                      <p:to>
                                        <p:strVal val="visible"/>
                                      </p:to>
                                    </p:set>
                                    <p:animEffect transition="in" filter="fade">
                                      <p:cBhvr>
                                        <p:cTn id="23" dur="600"/>
                                        <p:tgtEl>
                                          <p:spTgt spid="75"/>
                                        </p:tgtEl>
                                      </p:cBhvr>
                                    </p:animEffect>
                                  </p:childTnLst>
                                </p:cTn>
                              </p:par>
                              <p:par>
                                <p:cTn id="24" presetID="2" presetClass="entr" presetSubtype="4" fill="hold" grpId="0" nodeType="withEffect">
                                  <p:stCondLst>
                                    <p:cond delay="500"/>
                                  </p:stCondLst>
                                  <p:childTnLst>
                                    <p:set>
                                      <p:cBhvr>
                                        <p:cTn id="25" dur="1" fill="hold">
                                          <p:stCondLst>
                                            <p:cond delay="0"/>
                                          </p:stCondLst>
                                        </p:cTn>
                                        <p:tgtEl>
                                          <p:spTgt spid="75"/>
                                        </p:tgtEl>
                                        <p:attrNameLst>
                                          <p:attrName>style.visibility</p:attrName>
                                        </p:attrNameLst>
                                      </p:cBhvr>
                                      <p:to>
                                        <p:strVal val="visible"/>
                                      </p:to>
                                    </p:set>
                                    <p:anim calcmode="lin" valueType="num">
                                      <p:cBhvr additive="base">
                                        <p:cTn id="26" dur="600" fill="hold"/>
                                        <p:tgtEl>
                                          <p:spTgt spid="75"/>
                                        </p:tgtEl>
                                        <p:attrNameLst>
                                          <p:attrName>ppt_x</p:attrName>
                                        </p:attrNameLst>
                                      </p:cBhvr>
                                      <p:tavLst>
                                        <p:tav tm="0">
                                          <p:val>
                                            <p:strVal val="#ppt_x"/>
                                          </p:val>
                                        </p:tav>
                                        <p:tav tm="100000">
                                          <p:val>
                                            <p:strVal val="#ppt_x"/>
                                          </p:val>
                                        </p:tav>
                                      </p:tavLst>
                                    </p:anim>
                                    <p:anim calcmode="lin" valueType="num">
                                      <p:cBhvr additive="base">
                                        <p:cTn id="27" dur="600" fill="hold"/>
                                        <p:tgtEl>
                                          <p:spTgt spid="7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animBg="1"/>
      <p:bldP spid="74" grpId="0" animBg="1"/>
      <p:bldP spid="7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342900" y="342900"/>
            <a:ext cx="8458200" cy="285750"/>
          </a:xfrm>
          <a:prstGeom prst="rect">
            <a:avLst/>
          </a:prstGeom>
          <a:noFill/>
        </p:spPr>
        <p:txBody>
          <a:bodyPr wrap="none" lIns="0" tIns="0" rIns="0" bIns="0" rtlCol="0" anchor="t"/>
          <a:lstStyle/>
          <a:p>
            <a:pPr marL="0" indent="0" algn="l">
              <a:lnSpc>
                <a:spcPct val="125000"/>
              </a:lnSpc>
              <a:defRPr/>
            </a:pPr>
            <a:r>
              <a:rPr lang="en-US" sz="19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成果展示 -</a:t>
            </a:r>
            <a:r>
              <a:rPr lang="zh-CN" altLang="en-US" sz="19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管理员</a:t>
            </a:r>
            <a:r>
              <a:rPr lang="zh-CN" altLang="en-US" sz="19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端</a:t>
            </a:r>
            <a:endParaRPr lang="zh-CN" altLang="en-US" sz="19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 name="Shape 1"/>
          <p:cNvSpPr/>
          <p:nvPr/>
        </p:nvSpPr>
        <p:spPr>
          <a:xfrm>
            <a:off x="342900" y="771525"/>
            <a:ext cx="685800" cy="28575"/>
          </a:xfrm>
          <a:prstGeom prst="roundRect">
            <a:avLst>
              <a:gd name="adj" fmla="val 50000"/>
            </a:avLst>
          </a:prstGeom>
          <a:solidFill>
            <a:srgbClr val="5B9DFF"/>
          </a:solidFill>
        </p:spPr>
      </p:sp>
      <p:sp>
        <p:nvSpPr>
          <p:cNvPr id="5" name="Text 2"/>
          <p:cNvSpPr/>
          <p:nvPr/>
        </p:nvSpPr>
        <p:spPr>
          <a:xfrm>
            <a:off x="1143000" y="685800"/>
            <a:ext cx="2171700" cy="200025"/>
          </a:xfrm>
          <a:prstGeom prst="rect">
            <a:avLst/>
          </a:prstGeom>
          <a:noFill/>
        </p:spPr>
        <p:txBody>
          <a:bodyPr wrap="none" lIns="0" tIns="0" rIns="0" bIns="0" rtlCol="0" anchor="t"/>
          <a:lstStyle/>
          <a:p>
            <a:pPr marL="0" indent="0">
              <a:lnSpc>
                <a:spcPct val="156000"/>
              </a:lnSpc>
              <a:buNone/>
            </a:pPr>
            <a:r>
              <a:rPr lang="zh-CN" sz="1000" b="1" dirty="0">
                <a:solidFill>
                  <a:srgbClr val="2E6EA6"/>
                </a:solidFill>
                <a:latin typeface="Arial" panose="020B0604020202020204" pitchFamily="34" charset="0"/>
                <a:ea typeface="微软雅黑" panose="020B0503020204020204" pitchFamily="34" charset="-122"/>
              </a:rPr>
              <a:t>临床医疗系统架构部 </a:t>
            </a:r>
            <a:r>
              <a:rPr lang="en-US" sz="1000" b="1" dirty="0">
                <a:solidFill>
                  <a:srgbClr val="2E6EA6"/>
                </a:solidFill>
                <a:latin typeface="Arial" panose="020B0604020202020204" pitchFamily="34" charset="0"/>
              </a:rPr>
              <a:t>· </a:t>
            </a:r>
            <a:r>
              <a:rPr lang="zh-CN" sz="1000" b="1" dirty="0">
                <a:solidFill>
                  <a:srgbClr val="2E6EA6"/>
                </a:solidFill>
                <a:latin typeface="Arial" panose="020B0604020202020204" pitchFamily="34" charset="0"/>
                <a:ea typeface="微软雅黑" panose="020B0503020204020204" pitchFamily="34" charset="-122"/>
              </a:rPr>
              <a:t>部署与权限概览</a:t>
            </a:r>
            <a:endParaRPr lang="en-US" sz="1000" dirty="0"/>
          </a:p>
        </p:txBody>
      </p:sp>
      <p:grpSp>
        <p:nvGrpSpPr>
          <p:cNvPr id="91" name="h2p-grp-h2p-animroot-5"/>
          <p:cNvGrpSpPr/>
          <p:nvPr/>
        </p:nvGrpSpPr>
        <p:grpSpPr>
          <a:xfrm>
            <a:off x="422821" y="1262970"/>
            <a:ext cx="1577429" cy="3303315"/>
            <a:chOff x="0" y="0"/>
            <a:chExt cx="1577429" cy="3303315"/>
          </a:xfrm>
        </p:grpSpPr>
        <p:sp>
          <p:nvSpPr>
            <p:cNvPr id="92" name="圆角矩形 91"/>
            <p:cNvSpPr/>
            <p:nvPr/>
          </p:nvSpPr>
          <p:spPr>
            <a:xfrm>
              <a:off x="0" y="0"/>
              <a:ext cx="1577429" cy="3303315"/>
            </a:xfrm>
            <a:prstGeom prst="roundRect">
              <a:avLst>
                <a:gd name="adj" fmla="val 5434"/>
              </a:avLst>
            </a:prstGeom>
            <a:solidFill>
              <a:srgbClr val="FFFFFF"/>
            </a:solidFill>
            <a:ln w="6350">
              <a:solidFill>
                <a:srgbClr val="DCEAF5"/>
              </a:solidFill>
              <a:prstDash val="solid"/>
            </a:ln>
          </p:spPr>
        </p:sp>
        <p:sp>
          <p:nvSpPr>
            <p:cNvPr id="93" name="圆角矩形 92"/>
            <p:cNvSpPr/>
            <p:nvPr/>
          </p:nvSpPr>
          <p:spPr>
            <a:xfrm>
              <a:off x="178593" y="178594"/>
              <a:ext cx="342900" cy="342900"/>
            </a:xfrm>
            <a:prstGeom prst="roundRect">
              <a:avLst>
                <a:gd name="adj" fmla="val 20833"/>
              </a:avLst>
            </a:prstGeom>
            <a:solidFill>
              <a:srgbClr val="EAF5FF"/>
            </a:solidFill>
          </p:spPr>
        </p:sp>
        <p:sp>
          <p:nvSpPr>
            <p:cNvPr id="94" name="圆角矩形 93"/>
            <p:cNvSpPr/>
            <p:nvPr/>
          </p:nvSpPr>
          <p:spPr>
            <a:xfrm>
              <a:off x="285750" y="342900"/>
              <a:ext cx="128588" cy="71438"/>
            </a:xfrm>
            <a:prstGeom prst="roundRect">
              <a:avLst>
                <a:gd name="adj" fmla="val 20000"/>
              </a:avLst>
            </a:prstGeom>
            <a:noFill/>
            <a:ln w="12700">
              <a:solidFill>
                <a:srgbClr val="2563EB"/>
              </a:solidFill>
              <a:prstDash val="solid"/>
            </a:ln>
          </p:spPr>
        </p:sp>
        <p:sp>
          <p:nvSpPr>
            <p:cNvPr id="95" name="椭圆 94"/>
            <p:cNvSpPr/>
            <p:nvPr/>
          </p:nvSpPr>
          <p:spPr>
            <a:xfrm>
              <a:off x="335756" y="285750"/>
              <a:ext cx="28575" cy="28575"/>
            </a:xfrm>
            <a:prstGeom prst="ellipse">
              <a:avLst/>
            </a:prstGeom>
            <a:noFill/>
            <a:ln w="12700">
              <a:solidFill>
                <a:srgbClr val="2563EB"/>
              </a:solidFill>
              <a:prstDash val="solid"/>
            </a:ln>
          </p:spPr>
        </p:sp>
        <p:sp>
          <p:nvSpPr>
            <p:cNvPr id="96" name="直接连接符 95"/>
            <p:cNvSpPr/>
            <p:nvPr/>
          </p:nvSpPr>
          <p:spPr>
            <a:xfrm>
              <a:off x="350043" y="314325"/>
              <a:ext cx="0" cy="28575"/>
            </a:xfrm>
            <a:prstGeom prst="line">
              <a:avLst/>
            </a:prstGeom>
            <a:noFill/>
            <a:ln w="12700">
              <a:solidFill>
                <a:srgbClr val="2563EB"/>
              </a:solidFill>
              <a:prstDash val="solid"/>
            </a:ln>
          </p:spPr>
        </p:sp>
        <p:sp>
          <p:nvSpPr>
            <p:cNvPr id="97" name="直接连接符 96"/>
            <p:cNvSpPr/>
            <p:nvPr/>
          </p:nvSpPr>
          <p:spPr>
            <a:xfrm>
              <a:off x="321468" y="378619"/>
              <a:ext cx="0" cy="0"/>
            </a:xfrm>
            <a:prstGeom prst="line">
              <a:avLst/>
            </a:prstGeom>
            <a:noFill/>
            <a:ln w="12700">
              <a:solidFill>
                <a:srgbClr val="2563EB"/>
              </a:solidFill>
              <a:prstDash val="solid"/>
            </a:ln>
          </p:spPr>
        </p:sp>
        <p:sp>
          <p:nvSpPr>
            <p:cNvPr id="98" name="直接连接符 97"/>
            <p:cNvSpPr/>
            <p:nvPr/>
          </p:nvSpPr>
          <p:spPr>
            <a:xfrm>
              <a:off x="350043" y="378619"/>
              <a:ext cx="0" cy="0"/>
            </a:xfrm>
            <a:prstGeom prst="line">
              <a:avLst/>
            </a:prstGeom>
            <a:noFill/>
            <a:ln w="12700">
              <a:solidFill>
                <a:srgbClr val="2563EB"/>
              </a:solidFill>
              <a:prstDash val="solid"/>
            </a:ln>
          </p:spPr>
        </p:sp>
        <p:sp>
          <p:nvSpPr>
            <p:cNvPr id="99" name="直接连接符 98"/>
            <p:cNvSpPr/>
            <p:nvPr/>
          </p:nvSpPr>
          <p:spPr>
            <a:xfrm>
              <a:off x="378618" y="378619"/>
              <a:ext cx="0" cy="0"/>
            </a:xfrm>
            <a:prstGeom prst="line">
              <a:avLst/>
            </a:prstGeom>
            <a:noFill/>
            <a:ln w="12700">
              <a:solidFill>
                <a:srgbClr val="2563EB"/>
              </a:solidFill>
              <a:prstDash val="solid"/>
            </a:ln>
          </p:spPr>
        </p:sp>
        <p:sp>
          <p:nvSpPr>
            <p:cNvPr id="100" name="矩形 99"/>
            <p:cNvSpPr/>
            <p:nvPr/>
          </p:nvSpPr>
          <p:spPr>
            <a:xfrm>
              <a:off x="178593" y="664369"/>
              <a:ext cx="428625" cy="157163"/>
            </a:xfrm>
            <a:prstGeom prst="rect">
              <a:avLst/>
            </a:prstGeom>
            <a:noFill/>
          </p:spPr>
          <p:txBody>
            <a:bodyPr wrap="none" lIns="0" tIns="0" rIns="0" bIns="0" rtlCol="0" anchor="ctr"/>
            <a:lstStyle/>
            <a:p>
              <a:pPr marL="0" indent="0">
                <a:lnSpc>
                  <a:spcPct val="150000"/>
                </a:lnSpc>
                <a:buNone/>
              </a:pPr>
              <a:r>
                <a:rPr lang="zh-CN" sz="1100" b="1" dirty="0">
                  <a:solidFill>
                    <a:srgbClr val="2E6EA6"/>
                  </a:solidFill>
                  <a:latin typeface="Arial" panose="020B0604020202020204" pitchFamily="34" charset="0"/>
                  <a:ea typeface="微软雅黑" panose="020B0503020204020204" pitchFamily="34" charset="-122"/>
                </a:rPr>
                <a:t>管理员</a:t>
              </a:r>
              <a:endParaRPr lang="en-US" sz="1100" dirty="0"/>
            </a:p>
          </p:txBody>
        </p:sp>
        <p:sp>
          <p:nvSpPr>
            <p:cNvPr id="101" name="圆角矩形 100"/>
            <p:cNvSpPr/>
            <p:nvPr/>
          </p:nvSpPr>
          <p:spPr>
            <a:xfrm>
              <a:off x="664368" y="664369"/>
              <a:ext cx="395250" cy="157163"/>
            </a:xfrm>
            <a:prstGeom prst="roundRect">
              <a:avLst>
                <a:gd name="adj" fmla="val 18182"/>
              </a:avLst>
            </a:prstGeom>
            <a:solidFill>
              <a:srgbClr val="5B9DFF">
                <a:alpha val="10000"/>
              </a:srgbClr>
            </a:solidFill>
          </p:spPr>
        </p:sp>
        <p:sp>
          <p:nvSpPr>
            <p:cNvPr id="102" name="矩形 101"/>
            <p:cNvSpPr/>
            <p:nvPr/>
          </p:nvSpPr>
          <p:spPr>
            <a:xfrm>
              <a:off x="664368" y="664369"/>
              <a:ext cx="395250" cy="157163"/>
            </a:xfrm>
            <a:prstGeom prst="rect">
              <a:avLst/>
            </a:prstGeom>
            <a:noFill/>
          </p:spPr>
          <p:txBody>
            <a:bodyPr wrap="none" lIns="58928" tIns="14732" rIns="58928" bIns="14732" rtlCol="0" anchor="t"/>
            <a:lstStyle/>
            <a:p>
              <a:pPr marL="0" indent="0">
                <a:lnSpc>
                  <a:spcPct val="150000"/>
                </a:lnSpc>
                <a:buNone/>
              </a:pPr>
              <a:r>
                <a:rPr lang="en-US" sz="600" b="1" dirty="0">
                  <a:solidFill>
                    <a:srgbClr val="5B9DFF"/>
                  </a:solidFill>
                  <a:latin typeface="Arial" panose="020B0604020202020204" pitchFamily="34" charset="0"/>
                </a:rPr>
                <a:t>ADMIN</a:t>
              </a:r>
              <a:endParaRPr lang="en-US" sz="600" dirty="0"/>
            </a:p>
          </p:txBody>
        </p:sp>
        <p:sp>
          <p:nvSpPr>
            <p:cNvPr id="103" name="矩形 102"/>
            <p:cNvSpPr/>
            <p:nvPr/>
          </p:nvSpPr>
          <p:spPr>
            <a:xfrm>
              <a:off x="178593" y="907257"/>
              <a:ext cx="1220242" cy="150019"/>
            </a:xfrm>
            <a:prstGeom prst="rect">
              <a:avLst/>
            </a:prstGeom>
            <a:noFill/>
          </p:spPr>
          <p:txBody>
            <a:bodyPr wrap="none" lIns="0"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系统最高权限维护者。</a:t>
              </a:r>
              <a:endParaRPr lang="en-US" sz="700" dirty="0"/>
            </a:p>
          </p:txBody>
        </p:sp>
        <p:sp>
          <p:nvSpPr>
            <p:cNvPr id="104" name="矩形 103"/>
            <p:cNvSpPr/>
            <p:nvPr/>
          </p:nvSpPr>
          <p:spPr>
            <a:xfrm>
              <a:off x="178593" y="1143000"/>
              <a:ext cx="1220242" cy="144661"/>
            </a:xfrm>
            <a:prstGeom prst="rect">
              <a:avLst/>
            </a:prstGeom>
            <a:noFill/>
          </p:spPr>
          <p:txBody>
            <a:bodyPr wrap="none" lIns="132588"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管理系统所有用户角色</a:t>
              </a:r>
              <a:endParaRPr lang="en-US" sz="700" dirty="0"/>
            </a:p>
          </p:txBody>
        </p:sp>
        <p:sp>
          <p:nvSpPr>
            <p:cNvPr id="105" name="矩形 104"/>
            <p:cNvSpPr/>
            <p:nvPr/>
          </p:nvSpPr>
          <p:spPr>
            <a:xfrm>
              <a:off x="178593" y="1344811"/>
              <a:ext cx="1220242" cy="144661"/>
            </a:xfrm>
            <a:prstGeom prst="rect">
              <a:avLst/>
            </a:prstGeom>
            <a:noFill/>
          </p:spPr>
          <p:txBody>
            <a:bodyPr wrap="none" lIns="132588" tIns="0" rIns="0" bIns="0" rtlCol="0" anchor="t"/>
            <a:lstStyle/>
            <a:p>
              <a:pPr marL="0" indent="0">
                <a:lnSpc>
                  <a:spcPct val="150000"/>
                </a:lnSpc>
                <a:buNone/>
              </a:pPr>
              <a:r>
                <a:rPr lang="en-US" sz="700" dirty="0">
                  <a:solidFill>
                    <a:srgbClr val="1F2A37"/>
                  </a:solidFill>
                  <a:latin typeface="Arial" panose="020B0604020202020204" pitchFamily="34" charset="0"/>
                  <a:ea typeface="Arial" panose="020B0604020202020204" pitchFamily="34" charset="-122"/>
                  <a:cs typeface="Arial" panose="020B0604020202020204" pitchFamily="34" charset="-120"/>
                </a:rPr>
                <a:t>维护全部公开</a:t>
              </a:r>
              <a:r>
                <a:rPr lang="en-US" sz="700" dirty="0">
                  <a:solidFill>
                    <a:srgbClr val="1F2A37"/>
                  </a:solidFill>
                  <a:latin typeface="Arial" panose="020B0604020202020204" pitchFamily="34" charset="0"/>
                  <a:ea typeface="Arial" panose="020B0604020202020204" pitchFamily="34" charset="-122"/>
                  <a:cs typeface="Arial" panose="020B0604020202020204" pitchFamily="34" charset="-120"/>
                </a:rPr>
                <a:t>/</a:t>
              </a:r>
              <a:r>
                <a:rPr lang="en-US" sz="700" dirty="0">
                  <a:solidFill>
                    <a:srgbClr val="1F2A37"/>
                  </a:solidFill>
                  <a:latin typeface="Arial" panose="020B0604020202020204" pitchFamily="34" charset="0"/>
                  <a:ea typeface="Arial" panose="020B0604020202020204" pitchFamily="34" charset="-122"/>
                  <a:cs typeface="Arial" panose="020B0604020202020204" pitchFamily="34" charset="-120"/>
                </a:rPr>
                <a:t>私有知识库</a:t>
              </a:r>
              <a:endParaRPr lang="en-US" sz="700" dirty="0"/>
            </a:p>
          </p:txBody>
        </p:sp>
        <p:sp>
          <p:nvSpPr>
            <p:cNvPr id="106" name="矩形 105"/>
            <p:cNvSpPr/>
            <p:nvPr/>
          </p:nvSpPr>
          <p:spPr>
            <a:xfrm>
              <a:off x="178593" y="1546622"/>
              <a:ext cx="1220242" cy="144661"/>
            </a:xfrm>
            <a:prstGeom prst="rect">
              <a:avLst/>
            </a:prstGeom>
            <a:noFill/>
          </p:spPr>
          <p:txBody>
            <a:bodyPr wrap="none" lIns="132588"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监控全系统整体数据看板</a:t>
              </a:r>
              <a:endParaRPr lang="en-US" sz="700" dirty="0"/>
            </a:p>
          </p:txBody>
        </p:sp>
      </p:grpSp>
      <p:pic>
        <p:nvPicPr>
          <p:cNvPr id="107" name="图片 106"/>
          <p:cNvPicPr>
            <a:picLocks noChangeAspect="1"/>
          </p:cNvPicPr>
          <p:nvPr/>
        </p:nvPicPr>
        <p:blipFill>
          <a:blip r:embed="rId2"/>
          <a:stretch>
            <a:fillRect/>
          </a:stretch>
        </p:blipFill>
        <p:spPr>
          <a:xfrm>
            <a:off x="2457450" y="1441450"/>
            <a:ext cx="6134100" cy="2702560"/>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5="http://schemas.microsoft.com/office/powerpoint/2012/main" Requires="p15">
      <p:transition xmlns:p14="http://schemas.microsoft.com/office/powerpoint/2010/main" spd="med" Requires="p14">
        <p15:prstTrans prst="airplan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91"/>
                                        </p:tgtEl>
                                        <p:attrNameLst>
                                          <p:attrName>style.visibility</p:attrName>
                                        </p:attrNameLst>
                                      </p:cBhvr>
                                      <p:to>
                                        <p:strVal val="visible"/>
                                      </p:to>
                                    </p:set>
                                    <p:animEffect transition="in" filter="fade">
                                      <p:cBhvr>
                                        <p:cTn id="7" dur="600"/>
                                        <p:tgtEl>
                                          <p:spTgt spid="91"/>
                                        </p:tgtEl>
                                      </p:cBhvr>
                                    </p:animEffect>
                                  </p:childTnLst>
                                </p:cTn>
                              </p:par>
                              <p:par>
                                <p:cTn id="8" presetID="2" presetClass="entr" presetSubtype="4" fill="hold" grpId="0" nodeType="withEffect">
                                  <p:stCondLst>
                                    <p:cond delay="500"/>
                                  </p:stCondLst>
                                  <p:childTnLst>
                                    <p:set>
                                      <p:cBhvr>
                                        <p:cTn id="9" dur="1" fill="hold">
                                          <p:stCondLst>
                                            <p:cond delay="0"/>
                                          </p:stCondLst>
                                        </p:cTn>
                                        <p:tgtEl>
                                          <p:spTgt spid="91"/>
                                        </p:tgtEl>
                                        <p:attrNameLst>
                                          <p:attrName>style.visibility</p:attrName>
                                        </p:attrNameLst>
                                      </p:cBhvr>
                                      <p:to>
                                        <p:strVal val="visible"/>
                                      </p:to>
                                    </p:set>
                                    <p:anim calcmode="lin" valueType="num">
                                      <p:cBhvr additive="base">
                                        <p:cTn id="10" dur="600" fill="hold"/>
                                        <p:tgtEl>
                                          <p:spTgt spid="91"/>
                                        </p:tgtEl>
                                        <p:attrNameLst>
                                          <p:attrName>ppt_x</p:attrName>
                                        </p:attrNameLst>
                                      </p:cBhvr>
                                      <p:tavLst>
                                        <p:tav tm="0">
                                          <p:val>
                                            <p:strVal val="#ppt_x"/>
                                          </p:val>
                                        </p:tav>
                                        <p:tav tm="100000">
                                          <p:val>
                                            <p:strVal val="#ppt_x"/>
                                          </p:val>
                                        </p:tav>
                                      </p:tavLst>
                                    </p:anim>
                                    <p:anim calcmode="lin" valueType="num">
                                      <p:cBhvr additive="base">
                                        <p:cTn id="11" dur="600" fill="hold"/>
                                        <p:tgtEl>
                                          <p:spTgt spid="9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342900" y="342900"/>
            <a:ext cx="8458200" cy="285750"/>
          </a:xfrm>
          <a:prstGeom prst="rect">
            <a:avLst/>
          </a:prstGeom>
          <a:noFill/>
        </p:spPr>
        <p:txBody>
          <a:bodyPr wrap="none" lIns="0" tIns="0" rIns="0" bIns="0" rtlCol="0" anchor="t"/>
          <a:lstStyle/>
          <a:p>
            <a:pPr marL="0" indent="0" algn="l">
              <a:lnSpc>
                <a:spcPct val="125000"/>
              </a:lnSpc>
              <a:defRPr/>
            </a:pPr>
            <a:r>
              <a:rPr lang="en-US" sz="19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成果展示 -</a:t>
            </a:r>
            <a:r>
              <a:rPr lang="zh-CN" altLang="en-US" sz="19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管理员</a:t>
            </a:r>
            <a:r>
              <a:rPr lang="zh-CN" altLang="en-US" sz="19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端</a:t>
            </a:r>
            <a:endParaRPr lang="zh-CN" altLang="en-US" sz="19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 name="Shape 1"/>
          <p:cNvSpPr/>
          <p:nvPr/>
        </p:nvSpPr>
        <p:spPr>
          <a:xfrm>
            <a:off x="342900" y="771525"/>
            <a:ext cx="685800" cy="28575"/>
          </a:xfrm>
          <a:prstGeom prst="roundRect">
            <a:avLst>
              <a:gd name="adj" fmla="val 50000"/>
            </a:avLst>
          </a:prstGeom>
          <a:solidFill>
            <a:srgbClr val="5B9DFF"/>
          </a:solidFill>
        </p:spPr>
      </p:sp>
      <p:sp>
        <p:nvSpPr>
          <p:cNvPr id="5" name="Text 2"/>
          <p:cNvSpPr/>
          <p:nvPr/>
        </p:nvSpPr>
        <p:spPr>
          <a:xfrm>
            <a:off x="1143000" y="685800"/>
            <a:ext cx="2171700" cy="200025"/>
          </a:xfrm>
          <a:prstGeom prst="rect">
            <a:avLst/>
          </a:prstGeom>
          <a:noFill/>
        </p:spPr>
        <p:txBody>
          <a:bodyPr wrap="none" lIns="0" tIns="0" rIns="0" bIns="0" rtlCol="0" anchor="t"/>
          <a:lstStyle/>
          <a:p>
            <a:pPr marL="0" indent="0">
              <a:lnSpc>
                <a:spcPct val="156000"/>
              </a:lnSpc>
              <a:buNone/>
            </a:pPr>
            <a:r>
              <a:rPr lang="zh-CN" sz="1000" b="1" dirty="0">
                <a:solidFill>
                  <a:srgbClr val="2E6EA6"/>
                </a:solidFill>
                <a:latin typeface="Arial" panose="020B0604020202020204" pitchFamily="34" charset="0"/>
                <a:ea typeface="微软雅黑" panose="020B0503020204020204" pitchFamily="34" charset="-122"/>
              </a:rPr>
              <a:t>临床医疗系统架构部 </a:t>
            </a:r>
            <a:r>
              <a:rPr lang="en-US" sz="1000" b="1" dirty="0">
                <a:solidFill>
                  <a:srgbClr val="2E6EA6"/>
                </a:solidFill>
                <a:latin typeface="Arial" panose="020B0604020202020204" pitchFamily="34" charset="0"/>
              </a:rPr>
              <a:t>· </a:t>
            </a:r>
            <a:r>
              <a:rPr lang="zh-CN" sz="1000" b="1" dirty="0">
                <a:solidFill>
                  <a:srgbClr val="2E6EA6"/>
                </a:solidFill>
                <a:latin typeface="Arial" panose="020B0604020202020204" pitchFamily="34" charset="0"/>
                <a:ea typeface="微软雅黑" panose="020B0503020204020204" pitchFamily="34" charset="-122"/>
              </a:rPr>
              <a:t>部署与权限概览</a:t>
            </a:r>
            <a:endParaRPr lang="en-US" sz="1000" dirty="0"/>
          </a:p>
        </p:txBody>
      </p:sp>
      <p:grpSp>
        <p:nvGrpSpPr>
          <p:cNvPr id="91" name="h2p-grp-h2p-animroot-5"/>
          <p:cNvGrpSpPr/>
          <p:nvPr/>
        </p:nvGrpSpPr>
        <p:grpSpPr>
          <a:xfrm>
            <a:off x="422821" y="1262970"/>
            <a:ext cx="1577429" cy="3303315"/>
            <a:chOff x="0" y="0"/>
            <a:chExt cx="1577429" cy="3303315"/>
          </a:xfrm>
        </p:grpSpPr>
        <p:sp>
          <p:nvSpPr>
            <p:cNvPr id="92" name="圆角矩形 91"/>
            <p:cNvSpPr/>
            <p:nvPr/>
          </p:nvSpPr>
          <p:spPr>
            <a:xfrm>
              <a:off x="0" y="0"/>
              <a:ext cx="1577429" cy="3303315"/>
            </a:xfrm>
            <a:prstGeom prst="roundRect">
              <a:avLst>
                <a:gd name="adj" fmla="val 5434"/>
              </a:avLst>
            </a:prstGeom>
            <a:solidFill>
              <a:srgbClr val="FFFFFF"/>
            </a:solidFill>
            <a:ln w="6350">
              <a:solidFill>
                <a:srgbClr val="DCEAF5"/>
              </a:solidFill>
              <a:prstDash val="solid"/>
            </a:ln>
          </p:spPr>
        </p:sp>
        <p:sp>
          <p:nvSpPr>
            <p:cNvPr id="93" name="圆角矩形 92"/>
            <p:cNvSpPr/>
            <p:nvPr/>
          </p:nvSpPr>
          <p:spPr>
            <a:xfrm>
              <a:off x="178593" y="178594"/>
              <a:ext cx="342900" cy="342900"/>
            </a:xfrm>
            <a:prstGeom prst="roundRect">
              <a:avLst>
                <a:gd name="adj" fmla="val 20833"/>
              </a:avLst>
            </a:prstGeom>
            <a:solidFill>
              <a:srgbClr val="EAF5FF"/>
            </a:solidFill>
          </p:spPr>
        </p:sp>
        <p:sp>
          <p:nvSpPr>
            <p:cNvPr id="94" name="圆角矩形 93"/>
            <p:cNvSpPr/>
            <p:nvPr/>
          </p:nvSpPr>
          <p:spPr>
            <a:xfrm>
              <a:off x="285750" y="342900"/>
              <a:ext cx="128588" cy="71438"/>
            </a:xfrm>
            <a:prstGeom prst="roundRect">
              <a:avLst>
                <a:gd name="adj" fmla="val 20000"/>
              </a:avLst>
            </a:prstGeom>
            <a:noFill/>
            <a:ln w="12700">
              <a:solidFill>
                <a:srgbClr val="2563EB"/>
              </a:solidFill>
              <a:prstDash val="solid"/>
            </a:ln>
          </p:spPr>
        </p:sp>
        <p:sp>
          <p:nvSpPr>
            <p:cNvPr id="95" name="椭圆 94"/>
            <p:cNvSpPr/>
            <p:nvPr/>
          </p:nvSpPr>
          <p:spPr>
            <a:xfrm>
              <a:off x="335756" y="285750"/>
              <a:ext cx="28575" cy="28575"/>
            </a:xfrm>
            <a:prstGeom prst="ellipse">
              <a:avLst/>
            </a:prstGeom>
            <a:noFill/>
            <a:ln w="12700">
              <a:solidFill>
                <a:srgbClr val="2563EB"/>
              </a:solidFill>
              <a:prstDash val="solid"/>
            </a:ln>
          </p:spPr>
        </p:sp>
        <p:sp>
          <p:nvSpPr>
            <p:cNvPr id="96" name="直接连接符 95"/>
            <p:cNvSpPr/>
            <p:nvPr/>
          </p:nvSpPr>
          <p:spPr>
            <a:xfrm>
              <a:off x="350043" y="314325"/>
              <a:ext cx="0" cy="28575"/>
            </a:xfrm>
            <a:prstGeom prst="line">
              <a:avLst/>
            </a:prstGeom>
            <a:noFill/>
            <a:ln w="12700">
              <a:solidFill>
                <a:srgbClr val="2563EB"/>
              </a:solidFill>
              <a:prstDash val="solid"/>
            </a:ln>
          </p:spPr>
        </p:sp>
        <p:sp>
          <p:nvSpPr>
            <p:cNvPr id="97" name="直接连接符 96"/>
            <p:cNvSpPr/>
            <p:nvPr/>
          </p:nvSpPr>
          <p:spPr>
            <a:xfrm>
              <a:off x="321468" y="378619"/>
              <a:ext cx="0" cy="0"/>
            </a:xfrm>
            <a:prstGeom prst="line">
              <a:avLst/>
            </a:prstGeom>
            <a:noFill/>
            <a:ln w="12700">
              <a:solidFill>
                <a:srgbClr val="2563EB"/>
              </a:solidFill>
              <a:prstDash val="solid"/>
            </a:ln>
          </p:spPr>
        </p:sp>
        <p:sp>
          <p:nvSpPr>
            <p:cNvPr id="98" name="直接连接符 97"/>
            <p:cNvSpPr/>
            <p:nvPr/>
          </p:nvSpPr>
          <p:spPr>
            <a:xfrm>
              <a:off x="350043" y="378619"/>
              <a:ext cx="0" cy="0"/>
            </a:xfrm>
            <a:prstGeom prst="line">
              <a:avLst/>
            </a:prstGeom>
            <a:noFill/>
            <a:ln w="12700">
              <a:solidFill>
                <a:srgbClr val="2563EB"/>
              </a:solidFill>
              <a:prstDash val="solid"/>
            </a:ln>
          </p:spPr>
        </p:sp>
        <p:sp>
          <p:nvSpPr>
            <p:cNvPr id="99" name="直接连接符 98"/>
            <p:cNvSpPr/>
            <p:nvPr/>
          </p:nvSpPr>
          <p:spPr>
            <a:xfrm>
              <a:off x="378618" y="378619"/>
              <a:ext cx="0" cy="0"/>
            </a:xfrm>
            <a:prstGeom prst="line">
              <a:avLst/>
            </a:prstGeom>
            <a:noFill/>
            <a:ln w="12700">
              <a:solidFill>
                <a:srgbClr val="2563EB"/>
              </a:solidFill>
              <a:prstDash val="solid"/>
            </a:ln>
          </p:spPr>
        </p:sp>
        <p:sp>
          <p:nvSpPr>
            <p:cNvPr id="100" name="矩形 99"/>
            <p:cNvSpPr/>
            <p:nvPr/>
          </p:nvSpPr>
          <p:spPr>
            <a:xfrm>
              <a:off x="178593" y="664369"/>
              <a:ext cx="428625" cy="157163"/>
            </a:xfrm>
            <a:prstGeom prst="rect">
              <a:avLst/>
            </a:prstGeom>
            <a:noFill/>
          </p:spPr>
          <p:txBody>
            <a:bodyPr wrap="none" lIns="0" tIns="0" rIns="0" bIns="0" rtlCol="0" anchor="ctr"/>
            <a:lstStyle/>
            <a:p>
              <a:pPr marL="0" indent="0">
                <a:lnSpc>
                  <a:spcPct val="150000"/>
                </a:lnSpc>
                <a:buNone/>
              </a:pPr>
              <a:r>
                <a:rPr lang="zh-CN" sz="1100" b="1" dirty="0">
                  <a:solidFill>
                    <a:srgbClr val="2E6EA6"/>
                  </a:solidFill>
                  <a:latin typeface="Arial" panose="020B0604020202020204" pitchFamily="34" charset="0"/>
                  <a:ea typeface="微软雅黑" panose="020B0503020204020204" pitchFamily="34" charset="-122"/>
                </a:rPr>
                <a:t>管理员</a:t>
              </a:r>
              <a:endParaRPr lang="en-US" sz="1100" dirty="0"/>
            </a:p>
          </p:txBody>
        </p:sp>
        <p:sp>
          <p:nvSpPr>
            <p:cNvPr id="101" name="圆角矩形 100"/>
            <p:cNvSpPr/>
            <p:nvPr/>
          </p:nvSpPr>
          <p:spPr>
            <a:xfrm>
              <a:off x="664368" y="664369"/>
              <a:ext cx="395250" cy="157163"/>
            </a:xfrm>
            <a:prstGeom prst="roundRect">
              <a:avLst>
                <a:gd name="adj" fmla="val 18182"/>
              </a:avLst>
            </a:prstGeom>
            <a:solidFill>
              <a:srgbClr val="5B9DFF">
                <a:alpha val="10000"/>
              </a:srgbClr>
            </a:solidFill>
          </p:spPr>
        </p:sp>
        <p:sp>
          <p:nvSpPr>
            <p:cNvPr id="102" name="矩形 101"/>
            <p:cNvSpPr/>
            <p:nvPr/>
          </p:nvSpPr>
          <p:spPr>
            <a:xfrm>
              <a:off x="664368" y="664369"/>
              <a:ext cx="395250" cy="157163"/>
            </a:xfrm>
            <a:prstGeom prst="rect">
              <a:avLst/>
            </a:prstGeom>
            <a:noFill/>
          </p:spPr>
          <p:txBody>
            <a:bodyPr wrap="none" lIns="58928" tIns="14732" rIns="58928" bIns="14732" rtlCol="0" anchor="t"/>
            <a:lstStyle/>
            <a:p>
              <a:pPr marL="0" indent="0">
                <a:lnSpc>
                  <a:spcPct val="150000"/>
                </a:lnSpc>
                <a:buNone/>
              </a:pPr>
              <a:r>
                <a:rPr lang="en-US" sz="600" b="1" dirty="0">
                  <a:solidFill>
                    <a:srgbClr val="5B9DFF"/>
                  </a:solidFill>
                  <a:latin typeface="Arial" panose="020B0604020202020204" pitchFamily="34" charset="0"/>
                </a:rPr>
                <a:t>ADMIN</a:t>
              </a:r>
              <a:endParaRPr lang="en-US" sz="600" dirty="0"/>
            </a:p>
          </p:txBody>
        </p:sp>
        <p:sp>
          <p:nvSpPr>
            <p:cNvPr id="103" name="矩形 102"/>
            <p:cNvSpPr/>
            <p:nvPr/>
          </p:nvSpPr>
          <p:spPr>
            <a:xfrm>
              <a:off x="178593" y="907257"/>
              <a:ext cx="1220242" cy="150019"/>
            </a:xfrm>
            <a:prstGeom prst="rect">
              <a:avLst/>
            </a:prstGeom>
            <a:noFill/>
          </p:spPr>
          <p:txBody>
            <a:bodyPr wrap="none" lIns="0"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系统最高权限维护者。</a:t>
              </a:r>
              <a:endParaRPr lang="en-US" sz="700" dirty="0"/>
            </a:p>
          </p:txBody>
        </p:sp>
        <p:sp>
          <p:nvSpPr>
            <p:cNvPr id="104" name="矩形 103"/>
            <p:cNvSpPr/>
            <p:nvPr/>
          </p:nvSpPr>
          <p:spPr>
            <a:xfrm>
              <a:off x="178593" y="1143000"/>
              <a:ext cx="1220242" cy="144661"/>
            </a:xfrm>
            <a:prstGeom prst="rect">
              <a:avLst/>
            </a:prstGeom>
            <a:noFill/>
          </p:spPr>
          <p:txBody>
            <a:bodyPr wrap="none" lIns="132588"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管理系统所有用户角色</a:t>
              </a:r>
              <a:endParaRPr lang="en-US" sz="700" dirty="0"/>
            </a:p>
          </p:txBody>
        </p:sp>
        <p:sp>
          <p:nvSpPr>
            <p:cNvPr id="105" name="矩形 104"/>
            <p:cNvSpPr/>
            <p:nvPr/>
          </p:nvSpPr>
          <p:spPr>
            <a:xfrm>
              <a:off x="178593" y="1344811"/>
              <a:ext cx="1220242" cy="144661"/>
            </a:xfrm>
            <a:prstGeom prst="rect">
              <a:avLst/>
            </a:prstGeom>
            <a:noFill/>
          </p:spPr>
          <p:txBody>
            <a:bodyPr wrap="none" lIns="132588" tIns="0" rIns="0" bIns="0" rtlCol="0" anchor="t"/>
            <a:lstStyle/>
            <a:p>
              <a:pPr marL="0" indent="0">
                <a:lnSpc>
                  <a:spcPct val="150000"/>
                </a:lnSpc>
                <a:buNone/>
              </a:pPr>
              <a:r>
                <a:rPr lang="en-US" sz="700" dirty="0">
                  <a:solidFill>
                    <a:srgbClr val="1F2A37"/>
                  </a:solidFill>
                  <a:latin typeface="Arial" panose="020B0604020202020204" pitchFamily="34" charset="0"/>
                  <a:ea typeface="Arial" panose="020B0604020202020204" pitchFamily="34" charset="-122"/>
                  <a:cs typeface="Arial" panose="020B0604020202020204" pitchFamily="34" charset="-120"/>
                </a:rPr>
                <a:t>维护全部公开</a:t>
              </a:r>
              <a:r>
                <a:rPr lang="en-US" sz="700" dirty="0">
                  <a:solidFill>
                    <a:srgbClr val="1F2A37"/>
                  </a:solidFill>
                  <a:latin typeface="Arial" panose="020B0604020202020204" pitchFamily="34" charset="0"/>
                  <a:ea typeface="Arial" panose="020B0604020202020204" pitchFamily="34" charset="-122"/>
                  <a:cs typeface="Arial" panose="020B0604020202020204" pitchFamily="34" charset="-120"/>
                </a:rPr>
                <a:t>/</a:t>
              </a:r>
              <a:r>
                <a:rPr lang="en-US" sz="700" dirty="0">
                  <a:solidFill>
                    <a:srgbClr val="1F2A37"/>
                  </a:solidFill>
                  <a:latin typeface="Arial" panose="020B0604020202020204" pitchFamily="34" charset="0"/>
                  <a:ea typeface="Arial" panose="020B0604020202020204" pitchFamily="34" charset="-122"/>
                  <a:cs typeface="Arial" panose="020B0604020202020204" pitchFamily="34" charset="-120"/>
                </a:rPr>
                <a:t>私有知识库</a:t>
              </a:r>
              <a:endParaRPr lang="en-US" sz="700" dirty="0"/>
            </a:p>
          </p:txBody>
        </p:sp>
        <p:sp>
          <p:nvSpPr>
            <p:cNvPr id="106" name="矩形 105"/>
            <p:cNvSpPr/>
            <p:nvPr/>
          </p:nvSpPr>
          <p:spPr>
            <a:xfrm>
              <a:off x="178593" y="1546622"/>
              <a:ext cx="1220242" cy="144661"/>
            </a:xfrm>
            <a:prstGeom prst="rect">
              <a:avLst/>
            </a:prstGeom>
            <a:noFill/>
          </p:spPr>
          <p:txBody>
            <a:bodyPr wrap="none" lIns="132588"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监控全系统整体数据看板</a:t>
              </a:r>
              <a:endParaRPr lang="en-US" sz="700" dirty="0"/>
            </a:p>
          </p:txBody>
        </p:sp>
      </p:grpSp>
      <p:pic>
        <p:nvPicPr>
          <p:cNvPr id="7" name="图片 6"/>
          <p:cNvPicPr>
            <a:picLocks noChangeAspect="1"/>
          </p:cNvPicPr>
          <p:nvPr/>
        </p:nvPicPr>
        <p:blipFill>
          <a:blip r:embed="rId2"/>
          <a:srcRect t="37469" r="17108"/>
          <a:stretch>
            <a:fillRect/>
          </a:stretch>
        </p:blipFill>
        <p:spPr>
          <a:xfrm>
            <a:off x="2162175" y="1263015"/>
            <a:ext cx="6430645" cy="3202940"/>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5="http://schemas.microsoft.com/office/powerpoint/2012/main" Requires="p15">
      <p:transition xmlns:p14="http://schemas.microsoft.com/office/powerpoint/2010/main" spd="med" Requires="p14">
        <p15:prstTrans prst="airplan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91"/>
                                        </p:tgtEl>
                                        <p:attrNameLst>
                                          <p:attrName>style.visibility</p:attrName>
                                        </p:attrNameLst>
                                      </p:cBhvr>
                                      <p:to>
                                        <p:strVal val="visible"/>
                                      </p:to>
                                    </p:set>
                                    <p:animEffect transition="in" filter="fade">
                                      <p:cBhvr>
                                        <p:cTn id="7" dur="600"/>
                                        <p:tgtEl>
                                          <p:spTgt spid="91"/>
                                        </p:tgtEl>
                                      </p:cBhvr>
                                    </p:animEffect>
                                  </p:childTnLst>
                                </p:cTn>
                              </p:par>
                              <p:par>
                                <p:cTn id="8" presetID="2" presetClass="entr" presetSubtype="4" fill="hold" grpId="0" nodeType="withEffect">
                                  <p:stCondLst>
                                    <p:cond delay="500"/>
                                  </p:stCondLst>
                                  <p:childTnLst>
                                    <p:set>
                                      <p:cBhvr>
                                        <p:cTn id="9" dur="1" fill="hold">
                                          <p:stCondLst>
                                            <p:cond delay="0"/>
                                          </p:stCondLst>
                                        </p:cTn>
                                        <p:tgtEl>
                                          <p:spTgt spid="91"/>
                                        </p:tgtEl>
                                        <p:attrNameLst>
                                          <p:attrName>style.visibility</p:attrName>
                                        </p:attrNameLst>
                                      </p:cBhvr>
                                      <p:to>
                                        <p:strVal val="visible"/>
                                      </p:to>
                                    </p:set>
                                    <p:anim calcmode="lin" valueType="num">
                                      <p:cBhvr additive="base">
                                        <p:cTn id="10" dur="600" fill="hold"/>
                                        <p:tgtEl>
                                          <p:spTgt spid="91"/>
                                        </p:tgtEl>
                                        <p:attrNameLst>
                                          <p:attrName>ppt_x</p:attrName>
                                        </p:attrNameLst>
                                      </p:cBhvr>
                                      <p:tavLst>
                                        <p:tav tm="0">
                                          <p:val>
                                            <p:strVal val="#ppt_x"/>
                                          </p:val>
                                        </p:tav>
                                        <p:tav tm="100000">
                                          <p:val>
                                            <p:strVal val="#ppt_x"/>
                                          </p:val>
                                        </p:tav>
                                      </p:tavLst>
                                    </p:anim>
                                    <p:anim calcmode="lin" valueType="num">
                                      <p:cBhvr additive="base">
                                        <p:cTn id="11" dur="600" fill="hold"/>
                                        <p:tgtEl>
                                          <p:spTgt spid="9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342900" y="342900"/>
            <a:ext cx="8458200" cy="285750"/>
          </a:xfrm>
          <a:prstGeom prst="rect">
            <a:avLst/>
          </a:prstGeom>
          <a:noFill/>
        </p:spPr>
        <p:txBody>
          <a:bodyPr wrap="none" lIns="0" tIns="0" rIns="0" bIns="0" rtlCol="0" anchor="t"/>
          <a:lstStyle/>
          <a:p>
            <a:pPr marL="0" indent="0" algn="l">
              <a:lnSpc>
                <a:spcPct val="125000"/>
              </a:lnSpc>
              <a:defRPr/>
            </a:pPr>
            <a:r>
              <a:rPr lang="en-US" sz="19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成果展示 -</a:t>
            </a:r>
            <a:r>
              <a:rPr lang="zh-CN" altLang="en-US" sz="19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管理员</a:t>
            </a:r>
            <a:r>
              <a:rPr lang="zh-CN" altLang="en-US" sz="19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端</a:t>
            </a:r>
            <a:endParaRPr lang="zh-CN" altLang="en-US" sz="19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 name="Shape 1"/>
          <p:cNvSpPr/>
          <p:nvPr/>
        </p:nvSpPr>
        <p:spPr>
          <a:xfrm>
            <a:off x="342900" y="771525"/>
            <a:ext cx="685800" cy="28575"/>
          </a:xfrm>
          <a:prstGeom prst="roundRect">
            <a:avLst>
              <a:gd name="adj" fmla="val 50000"/>
            </a:avLst>
          </a:prstGeom>
          <a:solidFill>
            <a:srgbClr val="5B9DFF"/>
          </a:solidFill>
        </p:spPr>
      </p:sp>
      <p:sp>
        <p:nvSpPr>
          <p:cNvPr id="5" name="Text 2"/>
          <p:cNvSpPr/>
          <p:nvPr/>
        </p:nvSpPr>
        <p:spPr>
          <a:xfrm>
            <a:off x="1143000" y="685800"/>
            <a:ext cx="2171700" cy="200025"/>
          </a:xfrm>
          <a:prstGeom prst="rect">
            <a:avLst/>
          </a:prstGeom>
          <a:noFill/>
        </p:spPr>
        <p:txBody>
          <a:bodyPr wrap="none" lIns="0" tIns="0" rIns="0" bIns="0" rtlCol="0" anchor="t"/>
          <a:lstStyle/>
          <a:p>
            <a:pPr marL="0" indent="0">
              <a:lnSpc>
                <a:spcPct val="156000"/>
              </a:lnSpc>
              <a:buNone/>
            </a:pPr>
            <a:r>
              <a:rPr lang="zh-CN" sz="1000" b="1" dirty="0">
                <a:solidFill>
                  <a:srgbClr val="2E6EA6"/>
                </a:solidFill>
                <a:latin typeface="Arial" panose="020B0604020202020204" pitchFamily="34" charset="0"/>
                <a:ea typeface="微软雅黑" panose="020B0503020204020204" pitchFamily="34" charset="-122"/>
              </a:rPr>
              <a:t>临床医疗系统架构部 </a:t>
            </a:r>
            <a:r>
              <a:rPr lang="en-US" sz="1000" b="1" dirty="0">
                <a:solidFill>
                  <a:srgbClr val="2E6EA6"/>
                </a:solidFill>
                <a:latin typeface="Arial" panose="020B0604020202020204" pitchFamily="34" charset="0"/>
              </a:rPr>
              <a:t>· </a:t>
            </a:r>
            <a:r>
              <a:rPr lang="zh-CN" sz="1000" b="1" dirty="0">
                <a:solidFill>
                  <a:srgbClr val="2E6EA6"/>
                </a:solidFill>
                <a:latin typeface="Arial" panose="020B0604020202020204" pitchFamily="34" charset="0"/>
                <a:ea typeface="微软雅黑" panose="020B0503020204020204" pitchFamily="34" charset="-122"/>
              </a:rPr>
              <a:t>部署与权限概览</a:t>
            </a:r>
            <a:endParaRPr lang="en-US" sz="1000" dirty="0"/>
          </a:p>
        </p:txBody>
      </p:sp>
      <p:grpSp>
        <p:nvGrpSpPr>
          <p:cNvPr id="91" name="h2p-grp-h2p-animroot-5"/>
          <p:cNvGrpSpPr/>
          <p:nvPr/>
        </p:nvGrpSpPr>
        <p:grpSpPr>
          <a:xfrm>
            <a:off x="422821" y="1262970"/>
            <a:ext cx="1577429" cy="3303315"/>
            <a:chOff x="0" y="0"/>
            <a:chExt cx="1577429" cy="3303315"/>
          </a:xfrm>
        </p:grpSpPr>
        <p:sp>
          <p:nvSpPr>
            <p:cNvPr id="92" name="圆角矩形 91"/>
            <p:cNvSpPr/>
            <p:nvPr/>
          </p:nvSpPr>
          <p:spPr>
            <a:xfrm>
              <a:off x="0" y="0"/>
              <a:ext cx="1577429" cy="3303315"/>
            </a:xfrm>
            <a:prstGeom prst="roundRect">
              <a:avLst>
                <a:gd name="adj" fmla="val 5434"/>
              </a:avLst>
            </a:prstGeom>
            <a:solidFill>
              <a:srgbClr val="FFFFFF"/>
            </a:solidFill>
            <a:ln w="6350">
              <a:solidFill>
                <a:srgbClr val="DCEAF5"/>
              </a:solidFill>
              <a:prstDash val="solid"/>
            </a:ln>
          </p:spPr>
        </p:sp>
        <p:sp>
          <p:nvSpPr>
            <p:cNvPr id="93" name="圆角矩形 92"/>
            <p:cNvSpPr/>
            <p:nvPr/>
          </p:nvSpPr>
          <p:spPr>
            <a:xfrm>
              <a:off x="178593" y="178594"/>
              <a:ext cx="342900" cy="342900"/>
            </a:xfrm>
            <a:prstGeom prst="roundRect">
              <a:avLst>
                <a:gd name="adj" fmla="val 20833"/>
              </a:avLst>
            </a:prstGeom>
            <a:solidFill>
              <a:srgbClr val="EAF5FF"/>
            </a:solidFill>
          </p:spPr>
        </p:sp>
        <p:sp>
          <p:nvSpPr>
            <p:cNvPr id="94" name="圆角矩形 93"/>
            <p:cNvSpPr/>
            <p:nvPr/>
          </p:nvSpPr>
          <p:spPr>
            <a:xfrm>
              <a:off x="285750" y="342900"/>
              <a:ext cx="128588" cy="71438"/>
            </a:xfrm>
            <a:prstGeom prst="roundRect">
              <a:avLst>
                <a:gd name="adj" fmla="val 20000"/>
              </a:avLst>
            </a:prstGeom>
            <a:noFill/>
            <a:ln w="12700">
              <a:solidFill>
                <a:srgbClr val="2563EB"/>
              </a:solidFill>
              <a:prstDash val="solid"/>
            </a:ln>
          </p:spPr>
        </p:sp>
        <p:sp>
          <p:nvSpPr>
            <p:cNvPr id="95" name="椭圆 94"/>
            <p:cNvSpPr/>
            <p:nvPr/>
          </p:nvSpPr>
          <p:spPr>
            <a:xfrm>
              <a:off x="335756" y="285750"/>
              <a:ext cx="28575" cy="28575"/>
            </a:xfrm>
            <a:prstGeom prst="ellipse">
              <a:avLst/>
            </a:prstGeom>
            <a:noFill/>
            <a:ln w="12700">
              <a:solidFill>
                <a:srgbClr val="2563EB"/>
              </a:solidFill>
              <a:prstDash val="solid"/>
            </a:ln>
          </p:spPr>
        </p:sp>
        <p:sp>
          <p:nvSpPr>
            <p:cNvPr id="96" name="直接连接符 95"/>
            <p:cNvSpPr/>
            <p:nvPr/>
          </p:nvSpPr>
          <p:spPr>
            <a:xfrm>
              <a:off x="350043" y="314325"/>
              <a:ext cx="0" cy="28575"/>
            </a:xfrm>
            <a:prstGeom prst="line">
              <a:avLst/>
            </a:prstGeom>
            <a:noFill/>
            <a:ln w="12700">
              <a:solidFill>
                <a:srgbClr val="2563EB"/>
              </a:solidFill>
              <a:prstDash val="solid"/>
            </a:ln>
          </p:spPr>
        </p:sp>
        <p:sp>
          <p:nvSpPr>
            <p:cNvPr id="97" name="直接连接符 96"/>
            <p:cNvSpPr/>
            <p:nvPr/>
          </p:nvSpPr>
          <p:spPr>
            <a:xfrm>
              <a:off x="321468" y="378619"/>
              <a:ext cx="0" cy="0"/>
            </a:xfrm>
            <a:prstGeom prst="line">
              <a:avLst/>
            </a:prstGeom>
            <a:noFill/>
            <a:ln w="12700">
              <a:solidFill>
                <a:srgbClr val="2563EB"/>
              </a:solidFill>
              <a:prstDash val="solid"/>
            </a:ln>
          </p:spPr>
        </p:sp>
        <p:sp>
          <p:nvSpPr>
            <p:cNvPr id="98" name="直接连接符 97"/>
            <p:cNvSpPr/>
            <p:nvPr/>
          </p:nvSpPr>
          <p:spPr>
            <a:xfrm>
              <a:off x="350043" y="378619"/>
              <a:ext cx="0" cy="0"/>
            </a:xfrm>
            <a:prstGeom prst="line">
              <a:avLst/>
            </a:prstGeom>
            <a:noFill/>
            <a:ln w="12700">
              <a:solidFill>
                <a:srgbClr val="2563EB"/>
              </a:solidFill>
              <a:prstDash val="solid"/>
            </a:ln>
          </p:spPr>
        </p:sp>
        <p:sp>
          <p:nvSpPr>
            <p:cNvPr id="99" name="直接连接符 98"/>
            <p:cNvSpPr/>
            <p:nvPr/>
          </p:nvSpPr>
          <p:spPr>
            <a:xfrm>
              <a:off x="378618" y="378619"/>
              <a:ext cx="0" cy="0"/>
            </a:xfrm>
            <a:prstGeom prst="line">
              <a:avLst/>
            </a:prstGeom>
            <a:noFill/>
            <a:ln w="12700">
              <a:solidFill>
                <a:srgbClr val="2563EB"/>
              </a:solidFill>
              <a:prstDash val="solid"/>
            </a:ln>
          </p:spPr>
        </p:sp>
        <p:sp>
          <p:nvSpPr>
            <p:cNvPr id="100" name="矩形 99"/>
            <p:cNvSpPr/>
            <p:nvPr/>
          </p:nvSpPr>
          <p:spPr>
            <a:xfrm>
              <a:off x="178593" y="664369"/>
              <a:ext cx="428625" cy="157163"/>
            </a:xfrm>
            <a:prstGeom prst="rect">
              <a:avLst/>
            </a:prstGeom>
            <a:noFill/>
          </p:spPr>
          <p:txBody>
            <a:bodyPr wrap="none" lIns="0" tIns="0" rIns="0" bIns="0" rtlCol="0" anchor="ctr"/>
            <a:lstStyle/>
            <a:p>
              <a:pPr marL="0" indent="0">
                <a:lnSpc>
                  <a:spcPct val="150000"/>
                </a:lnSpc>
                <a:buNone/>
              </a:pPr>
              <a:r>
                <a:rPr lang="zh-CN" sz="1100" b="1" dirty="0">
                  <a:solidFill>
                    <a:srgbClr val="2E6EA6"/>
                  </a:solidFill>
                  <a:latin typeface="Arial" panose="020B0604020202020204" pitchFamily="34" charset="0"/>
                  <a:ea typeface="微软雅黑" panose="020B0503020204020204" pitchFamily="34" charset="-122"/>
                </a:rPr>
                <a:t>管理员</a:t>
              </a:r>
              <a:endParaRPr lang="en-US" sz="1100" dirty="0"/>
            </a:p>
          </p:txBody>
        </p:sp>
        <p:sp>
          <p:nvSpPr>
            <p:cNvPr id="101" name="圆角矩形 100"/>
            <p:cNvSpPr/>
            <p:nvPr/>
          </p:nvSpPr>
          <p:spPr>
            <a:xfrm>
              <a:off x="664368" y="664369"/>
              <a:ext cx="395250" cy="157163"/>
            </a:xfrm>
            <a:prstGeom prst="roundRect">
              <a:avLst>
                <a:gd name="adj" fmla="val 18182"/>
              </a:avLst>
            </a:prstGeom>
            <a:solidFill>
              <a:srgbClr val="5B9DFF">
                <a:alpha val="10000"/>
              </a:srgbClr>
            </a:solidFill>
          </p:spPr>
        </p:sp>
        <p:sp>
          <p:nvSpPr>
            <p:cNvPr id="102" name="矩形 101"/>
            <p:cNvSpPr/>
            <p:nvPr/>
          </p:nvSpPr>
          <p:spPr>
            <a:xfrm>
              <a:off x="664368" y="664369"/>
              <a:ext cx="395250" cy="157163"/>
            </a:xfrm>
            <a:prstGeom prst="rect">
              <a:avLst/>
            </a:prstGeom>
            <a:noFill/>
          </p:spPr>
          <p:txBody>
            <a:bodyPr wrap="none" lIns="58928" tIns="14732" rIns="58928" bIns="14732" rtlCol="0" anchor="t"/>
            <a:lstStyle/>
            <a:p>
              <a:pPr marL="0" indent="0">
                <a:lnSpc>
                  <a:spcPct val="150000"/>
                </a:lnSpc>
                <a:buNone/>
              </a:pPr>
              <a:r>
                <a:rPr lang="en-US" sz="600" b="1" dirty="0">
                  <a:solidFill>
                    <a:srgbClr val="5B9DFF"/>
                  </a:solidFill>
                  <a:latin typeface="Arial" panose="020B0604020202020204" pitchFamily="34" charset="0"/>
                </a:rPr>
                <a:t>ADMIN</a:t>
              </a:r>
              <a:endParaRPr lang="en-US" sz="600" dirty="0"/>
            </a:p>
          </p:txBody>
        </p:sp>
        <p:sp>
          <p:nvSpPr>
            <p:cNvPr id="103" name="矩形 102"/>
            <p:cNvSpPr/>
            <p:nvPr/>
          </p:nvSpPr>
          <p:spPr>
            <a:xfrm>
              <a:off x="178593" y="907257"/>
              <a:ext cx="1220242" cy="150019"/>
            </a:xfrm>
            <a:prstGeom prst="rect">
              <a:avLst/>
            </a:prstGeom>
            <a:noFill/>
          </p:spPr>
          <p:txBody>
            <a:bodyPr wrap="none" lIns="0"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系统最高权限维护者。</a:t>
              </a:r>
              <a:endParaRPr lang="en-US" sz="700" dirty="0"/>
            </a:p>
          </p:txBody>
        </p:sp>
        <p:sp>
          <p:nvSpPr>
            <p:cNvPr id="104" name="矩形 103"/>
            <p:cNvSpPr/>
            <p:nvPr/>
          </p:nvSpPr>
          <p:spPr>
            <a:xfrm>
              <a:off x="178593" y="1143000"/>
              <a:ext cx="1220242" cy="144661"/>
            </a:xfrm>
            <a:prstGeom prst="rect">
              <a:avLst/>
            </a:prstGeom>
            <a:noFill/>
          </p:spPr>
          <p:txBody>
            <a:bodyPr wrap="none" lIns="132588"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管理系统所有用户角色</a:t>
              </a:r>
              <a:endParaRPr lang="en-US" sz="700" dirty="0"/>
            </a:p>
          </p:txBody>
        </p:sp>
        <p:sp>
          <p:nvSpPr>
            <p:cNvPr id="105" name="矩形 104"/>
            <p:cNvSpPr/>
            <p:nvPr/>
          </p:nvSpPr>
          <p:spPr>
            <a:xfrm>
              <a:off x="178593" y="1344811"/>
              <a:ext cx="1220242" cy="144661"/>
            </a:xfrm>
            <a:prstGeom prst="rect">
              <a:avLst/>
            </a:prstGeom>
            <a:noFill/>
          </p:spPr>
          <p:txBody>
            <a:bodyPr wrap="none" lIns="132588" tIns="0" rIns="0" bIns="0" rtlCol="0" anchor="t"/>
            <a:lstStyle/>
            <a:p>
              <a:pPr marL="0" indent="0">
                <a:lnSpc>
                  <a:spcPct val="150000"/>
                </a:lnSpc>
                <a:buNone/>
              </a:pPr>
              <a:r>
                <a:rPr lang="en-US" sz="700" dirty="0">
                  <a:solidFill>
                    <a:srgbClr val="1F2A37"/>
                  </a:solidFill>
                  <a:latin typeface="Arial" panose="020B0604020202020204" pitchFamily="34" charset="0"/>
                  <a:ea typeface="Arial" panose="020B0604020202020204" pitchFamily="34" charset="-122"/>
                  <a:cs typeface="Arial" panose="020B0604020202020204" pitchFamily="34" charset="-120"/>
                </a:rPr>
                <a:t>维护全部公开</a:t>
              </a:r>
              <a:r>
                <a:rPr lang="en-US" sz="700" dirty="0">
                  <a:solidFill>
                    <a:srgbClr val="1F2A37"/>
                  </a:solidFill>
                  <a:latin typeface="Arial" panose="020B0604020202020204" pitchFamily="34" charset="0"/>
                  <a:ea typeface="Arial" panose="020B0604020202020204" pitchFamily="34" charset="-122"/>
                  <a:cs typeface="Arial" panose="020B0604020202020204" pitchFamily="34" charset="-120"/>
                </a:rPr>
                <a:t>/</a:t>
              </a:r>
              <a:r>
                <a:rPr lang="en-US" sz="700" dirty="0">
                  <a:solidFill>
                    <a:srgbClr val="1F2A37"/>
                  </a:solidFill>
                  <a:latin typeface="Arial" panose="020B0604020202020204" pitchFamily="34" charset="0"/>
                  <a:ea typeface="Arial" panose="020B0604020202020204" pitchFamily="34" charset="-122"/>
                  <a:cs typeface="Arial" panose="020B0604020202020204" pitchFamily="34" charset="-120"/>
                </a:rPr>
                <a:t>私有知识库</a:t>
              </a:r>
              <a:endParaRPr lang="en-US" sz="700" dirty="0"/>
            </a:p>
          </p:txBody>
        </p:sp>
        <p:sp>
          <p:nvSpPr>
            <p:cNvPr id="106" name="矩形 105"/>
            <p:cNvSpPr/>
            <p:nvPr/>
          </p:nvSpPr>
          <p:spPr>
            <a:xfrm>
              <a:off x="178593" y="1546622"/>
              <a:ext cx="1220242" cy="144661"/>
            </a:xfrm>
            <a:prstGeom prst="rect">
              <a:avLst/>
            </a:prstGeom>
            <a:noFill/>
          </p:spPr>
          <p:txBody>
            <a:bodyPr wrap="none" lIns="132588"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监控全系统整体数据看板</a:t>
              </a:r>
              <a:endParaRPr lang="en-US" sz="700" dirty="0"/>
            </a:p>
          </p:txBody>
        </p:sp>
      </p:grpSp>
      <p:pic>
        <p:nvPicPr>
          <p:cNvPr id="8" name="图片 7"/>
          <p:cNvPicPr>
            <a:picLocks noChangeAspect="1"/>
          </p:cNvPicPr>
          <p:nvPr/>
        </p:nvPicPr>
        <p:blipFill>
          <a:blip r:embed="rId2"/>
          <a:stretch>
            <a:fillRect/>
          </a:stretch>
        </p:blipFill>
        <p:spPr>
          <a:xfrm>
            <a:off x="2523490" y="1441450"/>
            <a:ext cx="5639435" cy="2774950"/>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5="http://schemas.microsoft.com/office/powerpoint/2012/main" Requires="p15">
      <p:transition xmlns:p14="http://schemas.microsoft.com/office/powerpoint/2010/main" spd="med" Requires="p14">
        <p15:prstTrans prst="airplan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91"/>
                                        </p:tgtEl>
                                        <p:attrNameLst>
                                          <p:attrName>style.visibility</p:attrName>
                                        </p:attrNameLst>
                                      </p:cBhvr>
                                      <p:to>
                                        <p:strVal val="visible"/>
                                      </p:to>
                                    </p:set>
                                    <p:animEffect transition="in" filter="fade">
                                      <p:cBhvr>
                                        <p:cTn id="7" dur="600"/>
                                        <p:tgtEl>
                                          <p:spTgt spid="91"/>
                                        </p:tgtEl>
                                      </p:cBhvr>
                                    </p:animEffect>
                                  </p:childTnLst>
                                </p:cTn>
                              </p:par>
                              <p:par>
                                <p:cTn id="8" presetID="2" presetClass="entr" presetSubtype="4" fill="hold" grpId="0" nodeType="withEffect">
                                  <p:stCondLst>
                                    <p:cond delay="500"/>
                                  </p:stCondLst>
                                  <p:childTnLst>
                                    <p:set>
                                      <p:cBhvr>
                                        <p:cTn id="9" dur="1" fill="hold">
                                          <p:stCondLst>
                                            <p:cond delay="0"/>
                                          </p:stCondLst>
                                        </p:cTn>
                                        <p:tgtEl>
                                          <p:spTgt spid="91"/>
                                        </p:tgtEl>
                                        <p:attrNameLst>
                                          <p:attrName>style.visibility</p:attrName>
                                        </p:attrNameLst>
                                      </p:cBhvr>
                                      <p:to>
                                        <p:strVal val="visible"/>
                                      </p:to>
                                    </p:set>
                                    <p:anim calcmode="lin" valueType="num">
                                      <p:cBhvr additive="base">
                                        <p:cTn id="10" dur="600" fill="hold"/>
                                        <p:tgtEl>
                                          <p:spTgt spid="91"/>
                                        </p:tgtEl>
                                        <p:attrNameLst>
                                          <p:attrName>ppt_x</p:attrName>
                                        </p:attrNameLst>
                                      </p:cBhvr>
                                      <p:tavLst>
                                        <p:tav tm="0">
                                          <p:val>
                                            <p:strVal val="#ppt_x"/>
                                          </p:val>
                                        </p:tav>
                                        <p:tav tm="100000">
                                          <p:val>
                                            <p:strVal val="#ppt_x"/>
                                          </p:val>
                                        </p:tav>
                                      </p:tavLst>
                                    </p:anim>
                                    <p:anim calcmode="lin" valueType="num">
                                      <p:cBhvr additive="base">
                                        <p:cTn id="11" dur="600" fill="hold"/>
                                        <p:tgtEl>
                                          <p:spTgt spid="9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342900" y="342900"/>
            <a:ext cx="8458200" cy="285750"/>
          </a:xfrm>
          <a:prstGeom prst="rect">
            <a:avLst/>
          </a:prstGeom>
          <a:noFill/>
        </p:spPr>
        <p:txBody>
          <a:bodyPr wrap="none" lIns="0" tIns="0" rIns="0" bIns="0" rtlCol="0" anchor="t"/>
          <a:lstStyle/>
          <a:p>
            <a:pPr marL="0" indent="0" algn="l">
              <a:lnSpc>
                <a:spcPct val="125000"/>
              </a:lnSpc>
              <a:defRPr/>
            </a:pPr>
            <a:r>
              <a:rPr lang="en-US" sz="19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成果展示 -</a:t>
            </a:r>
            <a:r>
              <a:rPr lang="zh-CN" altLang="en-US" sz="19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医生端</a:t>
            </a:r>
            <a:endParaRPr lang="zh-CN" altLang="en-US" sz="19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 name="Shape 1"/>
          <p:cNvSpPr/>
          <p:nvPr/>
        </p:nvSpPr>
        <p:spPr>
          <a:xfrm>
            <a:off x="342900" y="771525"/>
            <a:ext cx="685800" cy="28575"/>
          </a:xfrm>
          <a:prstGeom prst="roundRect">
            <a:avLst>
              <a:gd name="adj" fmla="val 50000"/>
            </a:avLst>
          </a:prstGeom>
          <a:solidFill>
            <a:srgbClr val="5B9DFF"/>
          </a:solidFill>
        </p:spPr>
      </p:sp>
      <p:grpSp>
        <p:nvGrpSpPr>
          <p:cNvPr id="6" name="h2p-grp-h2p-animroot-3"/>
          <p:cNvGrpSpPr/>
          <p:nvPr/>
        </p:nvGrpSpPr>
        <p:grpSpPr>
          <a:xfrm>
            <a:off x="401910" y="1262970"/>
            <a:ext cx="1577318" cy="3303315"/>
            <a:chOff x="0" y="0"/>
            <a:chExt cx="1577318" cy="3303315"/>
          </a:xfrm>
        </p:grpSpPr>
        <p:sp>
          <p:nvSpPr>
            <p:cNvPr id="7" name="圆角矩形 6"/>
            <p:cNvSpPr/>
            <p:nvPr/>
          </p:nvSpPr>
          <p:spPr>
            <a:xfrm>
              <a:off x="0" y="0"/>
              <a:ext cx="1577318" cy="3303315"/>
            </a:xfrm>
            <a:prstGeom prst="roundRect">
              <a:avLst>
                <a:gd name="adj" fmla="val 5435"/>
              </a:avLst>
            </a:prstGeom>
            <a:solidFill>
              <a:srgbClr val="FFFFFF"/>
            </a:solidFill>
            <a:ln w="6350">
              <a:solidFill>
                <a:srgbClr val="DCEAF5"/>
              </a:solidFill>
              <a:prstDash val="solid"/>
            </a:ln>
          </p:spPr>
        </p:sp>
        <p:sp>
          <p:nvSpPr>
            <p:cNvPr id="9" name="圆角矩形 8"/>
            <p:cNvSpPr/>
            <p:nvPr/>
          </p:nvSpPr>
          <p:spPr>
            <a:xfrm>
              <a:off x="178594" y="178594"/>
              <a:ext cx="342900" cy="342900"/>
            </a:xfrm>
            <a:prstGeom prst="roundRect">
              <a:avLst>
                <a:gd name="adj" fmla="val 20833"/>
              </a:avLst>
            </a:prstGeom>
            <a:solidFill>
              <a:srgbClr val="EAF5FF"/>
            </a:solidFill>
          </p:spPr>
        </p:sp>
        <p:sp>
          <p:nvSpPr>
            <p:cNvPr id="10" name="任意多边形 9"/>
            <p:cNvSpPr/>
            <p:nvPr/>
          </p:nvSpPr>
          <p:spPr>
            <a:xfrm>
              <a:off x="278607" y="278485"/>
              <a:ext cx="25714" cy="66437"/>
            </a:xfrm>
            <a:custGeom>
              <a:avLst/>
              <a:gdLst/>
              <a:ahLst/>
              <a:cxnLst/>
              <a:pathLst>
                <a:path w="21600" h="21600">
                  <a:moveTo>
                    <a:pt x="16802" y="736"/>
                  </a:moveTo>
                  <a:lnTo>
                    <a:pt x="19809" y="181"/>
                  </a:lnTo>
                  <a:lnTo>
                    <a:pt x="12882" y="39"/>
                  </a:lnTo>
                  <a:lnTo>
                    <a:pt x="6096" y="640"/>
                  </a:lnTo>
                  <a:lnTo>
                    <a:pt x="1291" y="2586"/>
                  </a:lnTo>
                  <a:lnTo>
                    <a:pt x="0" y="5238"/>
                  </a:lnTo>
                  <a:lnTo>
                    <a:pt x="0" y="7969"/>
                  </a:lnTo>
                  <a:lnTo>
                    <a:pt x="0" y="10700"/>
                  </a:lnTo>
                  <a:lnTo>
                    <a:pt x="0" y="13430"/>
                  </a:lnTo>
                  <a:lnTo>
                    <a:pt x="0" y="16161"/>
                  </a:lnTo>
                  <a:lnTo>
                    <a:pt x="1821" y="18759"/>
                  </a:lnTo>
                  <a:lnTo>
                    <a:pt x="7056" y="20531"/>
                  </a:lnTo>
                  <a:lnTo>
                    <a:pt x="13960" y="20943"/>
                  </a:lnTo>
                  <a:lnTo>
                    <a:pt x="20085" y="21591"/>
                  </a:lnTo>
                  <a:lnTo>
                    <a:pt x="19151" y="19829"/>
                  </a:lnTo>
                  <a:lnTo>
                    <a:pt x="18816" y="17102"/>
                  </a:lnTo>
                  <a:lnTo>
                    <a:pt x="18480" y="14374"/>
                  </a:lnTo>
                  <a:lnTo>
                    <a:pt x="18144" y="11647"/>
                  </a:lnTo>
                  <a:lnTo>
                    <a:pt x="17809" y="8919"/>
                  </a:lnTo>
                  <a:lnTo>
                    <a:pt x="17473" y="6191"/>
                  </a:lnTo>
                  <a:lnTo>
                    <a:pt x="17138" y="3464"/>
                  </a:lnTo>
                  <a:lnTo>
                    <a:pt x="16802" y="736"/>
                  </a:lnTo>
                </a:path>
              </a:pathLst>
            </a:custGeom>
            <a:ln w="12700">
              <a:solidFill>
                <a:srgbClr val="2563EB"/>
              </a:solidFill>
              <a:prstDash val="solid"/>
            </a:ln>
          </p:spPr>
        </p:sp>
        <p:sp>
          <p:nvSpPr>
            <p:cNvPr id="11" name="任意多边形 10"/>
            <p:cNvSpPr/>
            <p:nvPr/>
          </p:nvSpPr>
          <p:spPr>
            <a:xfrm>
              <a:off x="321469" y="371475"/>
              <a:ext cx="85725" cy="50006"/>
            </a:xfrm>
            <a:custGeom>
              <a:avLst/>
              <a:gdLst/>
              <a:ahLst/>
              <a:cxnLst/>
              <a:pathLst>
                <a:path w="21600" h="21600">
                  <a:moveTo>
                    <a:pt x="0" y="0"/>
                  </a:moveTo>
                  <a:lnTo>
                    <a:pt x="4" y="3575"/>
                  </a:lnTo>
                  <a:lnTo>
                    <a:pt x="257" y="7117"/>
                  </a:lnTo>
                  <a:lnTo>
                    <a:pt x="903" y="10510"/>
                  </a:lnTo>
                  <a:lnTo>
                    <a:pt x="1919" y="13625"/>
                  </a:lnTo>
                  <a:lnTo>
                    <a:pt x="3265" y="16349"/>
                  </a:lnTo>
                  <a:lnTo>
                    <a:pt x="4889" y="18583"/>
                  </a:lnTo>
                  <a:lnTo>
                    <a:pt x="6732" y="20242"/>
                  </a:lnTo>
                  <a:lnTo>
                    <a:pt x="8728" y="21259"/>
                  </a:lnTo>
                  <a:lnTo>
                    <a:pt x="10800" y="21600"/>
                  </a:lnTo>
                  <a:lnTo>
                    <a:pt x="12873" y="21259"/>
                  </a:lnTo>
                  <a:lnTo>
                    <a:pt x="14868" y="20242"/>
                  </a:lnTo>
                  <a:lnTo>
                    <a:pt x="16711" y="18583"/>
                  </a:lnTo>
                  <a:lnTo>
                    <a:pt x="18335" y="16349"/>
                  </a:lnTo>
                  <a:lnTo>
                    <a:pt x="19681" y="13625"/>
                  </a:lnTo>
                  <a:lnTo>
                    <a:pt x="20697" y="10510"/>
                  </a:lnTo>
                  <a:lnTo>
                    <a:pt x="21343" y="7117"/>
                  </a:lnTo>
                  <a:lnTo>
                    <a:pt x="21596" y="3575"/>
                  </a:lnTo>
                  <a:lnTo>
                    <a:pt x="21600" y="0"/>
                  </a:lnTo>
                </a:path>
              </a:pathLst>
            </a:custGeom>
            <a:ln w="12700">
              <a:solidFill>
                <a:srgbClr val="2563EB"/>
              </a:solidFill>
              <a:prstDash val="solid"/>
            </a:ln>
          </p:spPr>
        </p:sp>
        <p:sp>
          <p:nvSpPr>
            <p:cNvPr id="12" name="椭圆 11"/>
            <p:cNvSpPr/>
            <p:nvPr/>
          </p:nvSpPr>
          <p:spPr>
            <a:xfrm>
              <a:off x="335757" y="285750"/>
              <a:ext cx="57150" cy="57150"/>
            </a:xfrm>
            <a:prstGeom prst="ellipse">
              <a:avLst/>
            </a:prstGeom>
            <a:noFill/>
            <a:ln w="12700">
              <a:solidFill>
                <a:srgbClr val="2563EB"/>
              </a:solidFill>
              <a:prstDash val="solid"/>
            </a:ln>
          </p:spPr>
        </p:sp>
        <p:sp>
          <p:nvSpPr>
            <p:cNvPr id="13" name="直接连接符 12"/>
            <p:cNvSpPr/>
            <p:nvPr/>
          </p:nvSpPr>
          <p:spPr>
            <a:xfrm>
              <a:off x="364332" y="342900"/>
              <a:ext cx="0" cy="7144"/>
            </a:xfrm>
            <a:prstGeom prst="line">
              <a:avLst/>
            </a:prstGeom>
            <a:noFill/>
            <a:ln w="12700">
              <a:solidFill>
                <a:srgbClr val="2563EB"/>
              </a:solidFill>
              <a:prstDash val="solid"/>
            </a:ln>
          </p:spPr>
        </p:sp>
        <p:sp>
          <p:nvSpPr>
            <p:cNvPr id="14" name="矩形 13"/>
            <p:cNvSpPr/>
            <p:nvPr/>
          </p:nvSpPr>
          <p:spPr>
            <a:xfrm>
              <a:off x="178594" y="664369"/>
              <a:ext cx="285750" cy="157163"/>
            </a:xfrm>
            <a:prstGeom prst="rect">
              <a:avLst/>
            </a:prstGeom>
            <a:noFill/>
          </p:spPr>
          <p:txBody>
            <a:bodyPr wrap="none" lIns="0" tIns="0" rIns="0" bIns="0" rtlCol="0" anchor="ctr"/>
            <a:lstStyle/>
            <a:p>
              <a:pPr marL="0" indent="0">
                <a:lnSpc>
                  <a:spcPct val="150000"/>
                </a:lnSpc>
                <a:buNone/>
              </a:pPr>
              <a:r>
                <a:rPr lang="zh-CN" sz="1100" b="1" dirty="0">
                  <a:solidFill>
                    <a:srgbClr val="2E6EA6"/>
                  </a:solidFill>
                  <a:latin typeface="Arial" panose="020B0604020202020204" pitchFamily="34" charset="0"/>
                  <a:ea typeface="微软雅黑" panose="020B0503020204020204" pitchFamily="34" charset="-122"/>
                </a:rPr>
                <a:t>医生</a:t>
              </a:r>
              <a:endParaRPr lang="en-US" sz="1100" dirty="0"/>
            </a:p>
          </p:txBody>
        </p:sp>
        <p:sp>
          <p:nvSpPr>
            <p:cNvPr id="15" name="圆角矩形 14"/>
            <p:cNvSpPr/>
            <p:nvPr/>
          </p:nvSpPr>
          <p:spPr>
            <a:xfrm>
              <a:off x="521494" y="664369"/>
              <a:ext cx="484212" cy="157163"/>
            </a:xfrm>
            <a:prstGeom prst="roundRect">
              <a:avLst>
                <a:gd name="adj" fmla="val 18182"/>
              </a:avLst>
            </a:prstGeom>
            <a:solidFill>
              <a:srgbClr val="5B9DFF">
                <a:alpha val="10000"/>
              </a:srgbClr>
            </a:solidFill>
          </p:spPr>
        </p:sp>
        <p:sp>
          <p:nvSpPr>
            <p:cNvPr id="16" name="矩形 15"/>
            <p:cNvSpPr/>
            <p:nvPr/>
          </p:nvSpPr>
          <p:spPr>
            <a:xfrm>
              <a:off x="521494" y="664369"/>
              <a:ext cx="484212" cy="157163"/>
            </a:xfrm>
            <a:prstGeom prst="rect">
              <a:avLst/>
            </a:prstGeom>
            <a:noFill/>
          </p:spPr>
          <p:txBody>
            <a:bodyPr wrap="none" lIns="58928" tIns="14732" rIns="58928" bIns="14732" rtlCol="0" anchor="t"/>
            <a:lstStyle/>
            <a:p>
              <a:pPr marL="0" indent="0">
                <a:lnSpc>
                  <a:spcPct val="150000"/>
                </a:lnSpc>
                <a:buNone/>
              </a:pPr>
              <a:r>
                <a:rPr lang="en-US" sz="600" b="1" dirty="0">
                  <a:solidFill>
                    <a:srgbClr val="5B9DFF"/>
                  </a:solidFill>
                  <a:latin typeface="Arial" panose="020B0604020202020204" pitchFamily="34" charset="0"/>
                </a:rPr>
                <a:t>DOCTOR</a:t>
              </a:r>
              <a:endParaRPr lang="en-US" sz="600" dirty="0"/>
            </a:p>
          </p:txBody>
        </p:sp>
        <p:sp>
          <p:nvSpPr>
            <p:cNvPr id="17" name="矩形 16"/>
            <p:cNvSpPr/>
            <p:nvPr/>
          </p:nvSpPr>
          <p:spPr>
            <a:xfrm>
              <a:off x="178594" y="907257"/>
              <a:ext cx="1220130" cy="150019"/>
            </a:xfrm>
            <a:prstGeom prst="rect">
              <a:avLst/>
            </a:prstGeom>
            <a:noFill/>
          </p:spPr>
          <p:txBody>
            <a:bodyPr wrap="none" lIns="0"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医疗服务提供者与建设者。</a:t>
              </a:r>
              <a:endParaRPr lang="en-US" sz="700" dirty="0"/>
            </a:p>
          </p:txBody>
        </p:sp>
        <p:sp>
          <p:nvSpPr>
            <p:cNvPr id="18" name="矩形 17"/>
            <p:cNvSpPr/>
            <p:nvPr/>
          </p:nvSpPr>
          <p:spPr>
            <a:xfrm>
              <a:off x="178594" y="1143000"/>
              <a:ext cx="1220130" cy="144661"/>
            </a:xfrm>
            <a:prstGeom prst="rect">
              <a:avLst/>
            </a:prstGeom>
            <a:noFill/>
          </p:spPr>
          <p:txBody>
            <a:bodyPr wrap="none" lIns="132588"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创建管理知识库及文档</a:t>
              </a:r>
              <a:endParaRPr lang="en-US" sz="700" dirty="0"/>
            </a:p>
          </p:txBody>
        </p:sp>
        <p:sp>
          <p:nvSpPr>
            <p:cNvPr id="19" name="矩形 18"/>
            <p:cNvSpPr/>
            <p:nvPr/>
          </p:nvSpPr>
          <p:spPr>
            <a:xfrm>
              <a:off x="178594" y="1344811"/>
              <a:ext cx="1220130" cy="144661"/>
            </a:xfrm>
            <a:prstGeom prst="rect">
              <a:avLst/>
            </a:prstGeom>
            <a:noFill/>
          </p:spPr>
          <p:txBody>
            <a:bodyPr wrap="none" lIns="132588" tIns="0" rIns="0" bIns="0" rtlCol="0" anchor="t"/>
            <a:lstStyle/>
            <a:p>
              <a:pPr marL="0" indent="0">
                <a:lnSpc>
                  <a:spcPct val="150000"/>
                </a:lnSpc>
                <a:buNone/>
              </a:pPr>
              <a:r>
                <a:rPr lang="en-US" sz="700" dirty="0">
                  <a:solidFill>
                    <a:srgbClr val="1F2A37"/>
                  </a:solidFill>
                  <a:latin typeface="Arial" panose="020B0604020202020204" pitchFamily="34" charset="0"/>
                  <a:ea typeface="Arial" panose="020B0604020202020204" pitchFamily="34" charset="-122"/>
                  <a:cs typeface="Arial" panose="020B0604020202020204" pitchFamily="34" charset="-120"/>
                </a:rPr>
                <a:t>管理患者信息与住院记录</a:t>
              </a:r>
              <a:endParaRPr lang="en-US" sz="700" dirty="0"/>
            </a:p>
          </p:txBody>
        </p:sp>
        <p:sp>
          <p:nvSpPr>
            <p:cNvPr id="20" name="矩形 19"/>
            <p:cNvSpPr/>
            <p:nvPr/>
          </p:nvSpPr>
          <p:spPr>
            <a:xfrm>
              <a:off x="178594" y="1546622"/>
              <a:ext cx="1220130" cy="144661"/>
            </a:xfrm>
            <a:prstGeom prst="rect">
              <a:avLst/>
            </a:prstGeom>
            <a:noFill/>
          </p:spPr>
          <p:txBody>
            <a:bodyPr wrap="none" lIns="132588"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维护个人排班计划</a:t>
              </a:r>
              <a:endParaRPr lang="en-US" sz="700" dirty="0"/>
            </a:p>
          </p:txBody>
        </p:sp>
        <p:sp>
          <p:nvSpPr>
            <p:cNvPr id="21" name="矩形 20"/>
            <p:cNvSpPr/>
            <p:nvPr/>
          </p:nvSpPr>
          <p:spPr>
            <a:xfrm>
              <a:off x="178594" y="1748433"/>
              <a:ext cx="1220130" cy="144661"/>
            </a:xfrm>
            <a:prstGeom prst="rect">
              <a:avLst/>
            </a:prstGeom>
            <a:noFill/>
          </p:spPr>
          <p:txBody>
            <a:bodyPr wrap="none" lIns="132588" tIns="0" rIns="0" bIns="0" rtlCol="0" anchor="t"/>
            <a:lstStyle/>
            <a:p>
              <a:pPr marL="0" indent="0">
                <a:lnSpc>
                  <a:spcPct val="150000"/>
                </a:lnSpc>
                <a:buNone/>
              </a:pPr>
              <a:r>
                <a:rPr lang="en-US" sz="700" dirty="0">
                  <a:solidFill>
                    <a:srgbClr val="1F2A37"/>
                  </a:solidFill>
                  <a:latin typeface="Arial" panose="020B0604020202020204" pitchFamily="34" charset="0"/>
                  <a:ea typeface="Arial" panose="020B0604020202020204" pitchFamily="34" charset="-122"/>
                  <a:cs typeface="Arial" panose="020B0604020202020204" pitchFamily="34" charset="-120"/>
                </a:rPr>
                <a:t>检索查看私有文档权限</a:t>
              </a:r>
              <a:endParaRPr lang="en-US" sz="700" dirty="0"/>
            </a:p>
          </p:txBody>
        </p:sp>
      </p:grpSp>
      <p:pic>
        <p:nvPicPr>
          <p:cNvPr id="22" name="图片 21"/>
          <p:cNvPicPr>
            <a:picLocks noChangeAspect="1"/>
          </p:cNvPicPr>
          <p:nvPr/>
        </p:nvPicPr>
        <p:blipFill>
          <a:blip r:embed="rId2"/>
          <a:stretch>
            <a:fillRect/>
          </a:stretch>
        </p:blipFill>
        <p:spPr>
          <a:xfrm>
            <a:off x="2285365" y="287020"/>
            <a:ext cx="6372860" cy="2465705"/>
          </a:xfrm>
          <a:prstGeom prst="rect">
            <a:avLst/>
          </a:prstGeom>
        </p:spPr>
      </p:pic>
      <p:pic>
        <p:nvPicPr>
          <p:cNvPr id="23" name="图片 22"/>
          <p:cNvPicPr>
            <a:picLocks noChangeAspect="1"/>
          </p:cNvPicPr>
          <p:nvPr/>
        </p:nvPicPr>
        <p:blipFill>
          <a:blip r:embed="rId3"/>
          <a:stretch>
            <a:fillRect/>
          </a:stretch>
        </p:blipFill>
        <p:spPr>
          <a:xfrm>
            <a:off x="3099435" y="2867660"/>
            <a:ext cx="3505835" cy="1913890"/>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5="http://schemas.microsoft.com/office/powerpoint/2012/main" Requires="p15">
      <p:transition xmlns:p14="http://schemas.microsoft.com/office/powerpoint/2010/main" spd="med" Requires="p14">
        <p15:prstTrans prst="airplan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3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8" presetID="2" presetClass="entr" presetSubtype="4" fill="hold" grpId="0" nodeType="withEffect">
                                  <p:stCondLst>
                                    <p:cond delay="300"/>
                                  </p:stCondLst>
                                  <p:childTnLst>
                                    <p:set>
                                      <p:cBhvr>
                                        <p:cTn id="9" dur="1" fill="hold">
                                          <p:stCondLst>
                                            <p:cond delay="0"/>
                                          </p:stCondLst>
                                        </p:cTn>
                                        <p:tgtEl>
                                          <p:spTgt spid="6"/>
                                        </p:tgtEl>
                                        <p:attrNameLst>
                                          <p:attrName>style.visibility</p:attrName>
                                        </p:attrNameLst>
                                      </p:cBhvr>
                                      <p:to>
                                        <p:strVal val="visible"/>
                                      </p:to>
                                    </p:set>
                                    <p:anim calcmode="lin" valueType="num">
                                      <p:cBhvr additive="base">
                                        <p:cTn id="10" dur="600" fill="hold"/>
                                        <p:tgtEl>
                                          <p:spTgt spid="6"/>
                                        </p:tgtEl>
                                        <p:attrNameLst>
                                          <p:attrName>ppt_x</p:attrName>
                                        </p:attrNameLst>
                                      </p:cBhvr>
                                      <p:tavLst>
                                        <p:tav tm="0">
                                          <p:val>
                                            <p:strVal val="#ppt_x"/>
                                          </p:val>
                                        </p:tav>
                                        <p:tav tm="100000">
                                          <p:val>
                                            <p:strVal val="#ppt_x"/>
                                          </p:val>
                                        </p:tav>
                                      </p:tavLst>
                                    </p:anim>
                                    <p:anim calcmode="lin" valueType="num">
                                      <p:cBhvr additive="base">
                                        <p:cTn id="11" dur="6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342900" y="342900"/>
            <a:ext cx="8458200" cy="285750"/>
          </a:xfrm>
          <a:prstGeom prst="rect">
            <a:avLst/>
          </a:prstGeom>
          <a:noFill/>
        </p:spPr>
        <p:txBody>
          <a:bodyPr wrap="none" lIns="0" tIns="0" rIns="0" bIns="0" rtlCol="0" anchor="t"/>
          <a:lstStyle/>
          <a:p>
            <a:pPr marL="0" indent="0" algn="l">
              <a:lnSpc>
                <a:spcPct val="125000"/>
              </a:lnSpc>
              <a:defRPr/>
            </a:pPr>
            <a:r>
              <a:rPr lang="en-US" sz="19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成果展示 -</a:t>
            </a:r>
            <a:r>
              <a:rPr lang="zh-CN" altLang="en-US" sz="19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医生端</a:t>
            </a:r>
            <a:endParaRPr lang="zh-CN" altLang="en-US" sz="19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 name="Shape 1"/>
          <p:cNvSpPr/>
          <p:nvPr/>
        </p:nvSpPr>
        <p:spPr>
          <a:xfrm>
            <a:off x="342900" y="771525"/>
            <a:ext cx="685800" cy="28575"/>
          </a:xfrm>
          <a:prstGeom prst="roundRect">
            <a:avLst>
              <a:gd name="adj" fmla="val 50000"/>
            </a:avLst>
          </a:prstGeom>
          <a:solidFill>
            <a:srgbClr val="5B9DFF"/>
          </a:solidFill>
        </p:spPr>
      </p:sp>
      <p:grpSp>
        <p:nvGrpSpPr>
          <p:cNvPr id="6" name="h2p-grp-h2p-animroot-3"/>
          <p:cNvGrpSpPr/>
          <p:nvPr/>
        </p:nvGrpSpPr>
        <p:grpSpPr>
          <a:xfrm>
            <a:off x="401955" y="917575"/>
            <a:ext cx="1863090" cy="3648710"/>
            <a:chOff x="0" y="0"/>
            <a:chExt cx="1577318" cy="3303315"/>
          </a:xfrm>
        </p:grpSpPr>
        <p:sp>
          <p:nvSpPr>
            <p:cNvPr id="7" name="圆角矩形 6"/>
            <p:cNvSpPr/>
            <p:nvPr/>
          </p:nvSpPr>
          <p:spPr>
            <a:xfrm>
              <a:off x="0" y="0"/>
              <a:ext cx="1577318" cy="3303315"/>
            </a:xfrm>
            <a:prstGeom prst="roundRect">
              <a:avLst>
                <a:gd name="adj" fmla="val 5435"/>
              </a:avLst>
            </a:prstGeom>
            <a:solidFill>
              <a:srgbClr val="FFFFFF"/>
            </a:solidFill>
            <a:ln w="6350">
              <a:solidFill>
                <a:srgbClr val="DCEAF5"/>
              </a:solidFill>
              <a:prstDash val="solid"/>
            </a:ln>
          </p:spPr>
        </p:sp>
        <p:sp>
          <p:nvSpPr>
            <p:cNvPr id="9" name="圆角矩形 8"/>
            <p:cNvSpPr/>
            <p:nvPr/>
          </p:nvSpPr>
          <p:spPr>
            <a:xfrm>
              <a:off x="178594" y="178594"/>
              <a:ext cx="342900" cy="342900"/>
            </a:xfrm>
            <a:prstGeom prst="roundRect">
              <a:avLst>
                <a:gd name="adj" fmla="val 20833"/>
              </a:avLst>
            </a:prstGeom>
            <a:solidFill>
              <a:srgbClr val="EAF5FF"/>
            </a:solidFill>
          </p:spPr>
        </p:sp>
        <p:sp>
          <p:nvSpPr>
            <p:cNvPr id="10" name="任意多边形 9"/>
            <p:cNvSpPr/>
            <p:nvPr/>
          </p:nvSpPr>
          <p:spPr>
            <a:xfrm>
              <a:off x="278607" y="278485"/>
              <a:ext cx="25714" cy="66437"/>
            </a:xfrm>
            <a:custGeom>
              <a:avLst/>
              <a:gdLst/>
              <a:ahLst/>
              <a:cxnLst/>
              <a:pathLst>
                <a:path w="21600" h="21600">
                  <a:moveTo>
                    <a:pt x="16802" y="736"/>
                  </a:moveTo>
                  <a:lnTo>
                    <a:pt x="19809" y="181"/>
                  </a:lnTo>
                  <a:lnTo>
                    <a:pt x="12882" y="39"/>
                  </a:lnTo>
                  <a:lnTo>
                    <a:pt x="6096" y="640"/>
                  </a:lnTo>
                  <a:lnTo>
                    <a:pt x="1291" y="2586"/>
                  </a:lnTo>
                  <a:lnTo>
                    <a:pt x="0" y="5238"/>
                  </a:lnTo>
                  <a:lnTo>
                    <a:pt x="0" y="7969"/>
                  </a:lnTo>
                  <a:lnTo>
                    <a:pt x="0" y="10700"/>
                  </a:lnTo>
                  <a:lnTo>
                    <a:pt x="0" y="13430"/>
                  </a:lnTo>
                  <a:lnTo>
                    <a:pt x="0" y="16161"/>
                  </a:lnTo>
                  <a:lnTo>
                    <a:pt x="1821" y="18759"/>
                  </a:lnTo>
                  <a:lnTo>
                    <a:pt x="7056" y="20531"/>
                  </a:lnTo>
                  <a:lnTo>
                    <a:pt x="13960" y="20943"/>
                  </a:lnTo>
                  <a:lnTo>
                    <a:pt x="20085" y="21591"/>
                  </a:lnTo>
                  <a:lnTo>
                    <a:pt x="19151" y="19829"/>
                  </a:lnTo>
                  <a:lnTo>
                    <a:pt x="18816" y="17102"/>
                  </a:lnTo>
                  <a:lnTo>
                    <a:pt x="18480" y="14374"/>
                  </a:lnTo>
                  <a:lnTo>
                    <a:pt x="18144" y="11647"/>
                  </a:lnTo>
                  <a:lnTo>
                    <a:pt x="17809" y="8919"/>
                  </a:lnTo>
                  <a:lnTo>
                    <a:pt x="17473" y="6191"/>
                  </a:lnTo>
                  <a:lnTo>
                    <a:pt x="17138" y="3464"/>
                  </a:lnTo>
                  <a:lnTo>
                    <a:pt x="16802" y="736"/>
                  </a:lnTo>
                </a:path>
              </a:pathLst>
            </a:custGeom>
            <a:ln w="12700">
              <a:solidFill>
                <a:srgbClr val="2563EB"/>
              </a:solidFill>
              <a:prstDash val="solid"/>
            </a:ln>
          </p:spPr>
        </p:sp>
        <p:sp>
          <p:nvSpPr>
            <p:cNvPr id="11" name="任意多边形 10"/>
            <p:cNvSpPr/>
            <p:nvPr/>
          </p:nvSpPr>
          <p:spPr>
            <a:xfrm>
              <a:off x="321469" y="371475"/>
              <a:ext cx="85725" cy="50006"/>
            </a:xfrm>
            <a:custGeom>
              <a:avLst/>
              <a:gdLst/>
              <a:ahLst/>
              <a:cxnLst/>
              <a:pathLst>
                <a:path w="21600" h="21600">
                  <a:moveTo>
                    <a:pt x="0" y="0"/>
                  </a:moveTo>
                  <a:lnTo>
                    <a:pt x="4" y="3575"/>
                  </a:lnTo>
                  <a:lnTo>
                    <a:pt x="257" y="7117"/>
                  </a:lnTo>
                  <a:lnTo>
                    <a:pt x="903" y="10510"/>
                  </a:lnTo>
                  <a:lnTo>
                    <a:pt x="1919" y="13625"/>
                  </a:lnTo>
                  <a:lnTo>
                    <a:pt x="3265" y="16349"/>
                  </a:lnTo>
                  <a:lnTo>
                    <a:pt x="4889" y="18583"/>
                  </a:lnTo>
                  <a:lnTo>
                    <a:pt x="6732" y="20242"/>
                  </a:lnTo>
                  <a:lnTo>
                    <a:pt x="8728" y="21259"/>
                  </a:lnTo>
                  <a:lnTo>
                    <a:pt x="10800" y="21600"/>
                  </a:lnTo>
                  <a:lnTo>
                    <a:pt x="12873" y="21259"/>
                  </a:lnTo>
                  <a:lnTo>
                    <a:pt x="14868" y="20242"/>
                  </a:lnTo>
                  <a:lnTo>
                    <a:pt x="16711" y="18583"/>
                  </a:lnTo>
                  <a:lnTo>
                    <a:pt x="18335" y="16349"/>
                  </a:lnTo>
                  <a:lnTo>
                    <a:pt x="19681" y="13625"/>
                  </a:lnTo>
                  <a:lnTo>
                    <a:pt x="20697" y="10510"/>
                  </a:lnTo>
                  <a:lnTo>
                    <a:pt x="21343" y="7117"/>
                  </a:lnTo>
                  <a:lnTo>
                    <a:pt x="21596" y="3575"/>
                  </a:lnTo>
                  <a:lnTo>
                    <a:pt x="21600" y="0"/>
                  </a:lnTo>
                </a:path>
              </a:pathLst>
            </a:custGeom>
            <a:ln w="12700">
              <a:solidFill>
                <a:srgbClr val="2563EB"/>
              </a:solidFill>
              <a:prstDash val="solid"/>
            </a:ln>
          </p:spPr>
        </p:sp>
        <p:sp>
          <p:nvSpPr>
            <p:cNvPr id="12" name="椭圆 11"/>
            <p:cNvSpPr/>
            <p:nvPr/>
          </p:nvSpPr>
          <p:spPr>
            <a:xfrm>
              <a:off x="335757" y="285750"/>
              <a:ext cx="57150" cy="57150"/>
            </a:xfrm>
            <a:prstGeom prst="ellipse">
              <a:avLst/>
            </a:prstGeom>
            <a:noFill/>
            <a:ln w="12700">
              <a:solidFill>
                <a:srgbClr val="2563EB"/>
              </a:solidFill>
              <a:prstDash val="solid"/>
            </a:ln>
          </p:spPr>
        </p:sp>
        <p:sp>
          <p:nvSpPr>
            <p:cNvPr id="13" name="直接连接符 12"/>
            <p:cNvSpPr/>
            <p:nvPr/>
          </p:nvSpPr>
          <p:spPr>
            <a:xfrm>
              <a:off x="364332" y="342900"/>
              <a:ext cx="0" cy="7144"/>
            </a:xfrm>
            <a:prstGeom prst="line">
              <a:avLst/>
            </a:prstGeom>
            <a:noFill/>
            <a:ln w="12700">
              <a:solidFill>
                <a:srgbClr val="2563EB"/>
              </a:solidFill>
              <a:prstDash val="solid"/>
            </a:ln>
          </p:spPr>
        </p:sp>
        <p:sp>
          <p:nvSpPr>
            <p:cNvPr id="14" name="矩形 13"/>
            <p:cNvSpPr/>
            <p:nvPr/>
          </p:nvSpPr>
          <p:spPr>
            <a:xfrm>
              <a:off x="178594" y="664369"/>
              <a:ext cx="285750" cy="157163"/>
            </a:xfrm>
            <a:prstGeom prst="rect">
              <a:avLst/>
            </a:prstGeom>
            <a:noFill/>
          </p:spPr>
          <p:txBody>
            <a:bodyPr wrap="none" lIns="0" tIns="0" rIns="0" bIns="0" rtlCol="0" anchor="ctr"/>
            <a:lstStyle/>
            <a:p>
              <a:pPr marL="0" indent="0">
                <a:lnSpc>
                  <a:spcPct val="150000"/>
                </a:lnSpc>
                <a:buNone/>
              </a:pPr>
              <a:r>
                <a:rPr lang="zh-CN" sz="1100" b="1" dirty="0">
                  <a:solidFill>
                    <a:srgbClr val="2E6EA6"/>
                  </a:solidFill>
                  <a:latin typeface="Arial" panose="020B0604020202020204" pitchFamily="34" charset="0"/>
                  <a:ea typeface="微软雅黑" panose="020B0503020204020204" pitchFamily="34" charset="-122"/>
                </a:rPr>
                <a:t>医生</a:t>
              </a:r>
              <a:endParaRPr lang="en-US" sz="1100" dirty="0"/>
            </a:p>
          </p:txBody>
        </p:sp>
        <p:sp>
          <p:nvSpPr>
            <p:cNvPr id="15" name="圆角矩形 14"/>
            <p:cNvSpPr/>
            <p:nvPr/>
          </p:nvSpPr>
          <p:spPr>
            <a:xfrm>
              <a:off x="521494" y="664369"/>
              <a:ext cx="484212" cy="157163"/>
            </a:xfrm>
            <a:prstGeom prst="roundRect">
              <a:avLst>
                <a:gd name="adj" fmla="val 18182"/>
              </a:avLst>
            </a:prstGeom>
            <a:solidFill>
              <a:srgbClr val="5B9DFF">
                <a:alpha val="10000"/>
              </a:srgbClr>
            </a:solidFill>
          </p:spPr>
        </p:sp>
        <p:sp>
          <p:nvSpPr>
            <p:cNvPr id="16" name="矩形 15"/>
            <p:cNvSpPr/>
            <p:nvPr/>
          </p:nvSpPr>
          <p:spPr>
            <a:xfrm>
              <a:off x="521494" y="664369"/>
              <a:ext cx="484212" cy="157163"/>
            </a:xfrm>
            <a:prstGeom prst="rect">
              <a:avLst/>
            </a:prstGeom>
            <a:noFill/>
          </p:spPr>
          <p:txBody>
            <a:bodyPr wrap="none" lIns="58928" tIns="14732" rIns="58928" bIns="14732" rtlCol="0" anchor="t"/>
            <a:lstStyle/>
            <a:p>
              <a:pPr marL="0" indent="0">
                <a:lnSpc>
                  <a:spcPct val="150000"/>
                </a:lnSpc>
                <a:buNone/>
              </a:pPr>
              <a:r>
                <a:rPr lang="en-US" sz="600" b="1" dirty="0">
                  <a:solidFill>
                    <a:srgbClr val="5B9DFF"/>
                  </a:solidFill>
                  <a:latin typeface="Arial" panose="020B0604020202020204" pitchFamily="34" charset="0"/>
                </a:rPr>
                <a:t>DOCTOR</a:t>
              </a:r>
              <a:endParaRPr lang="en-US" sz="600" dirty="0"/>
            </a:p>
          </p:txBody>
        </p:sp>
        <p:sp>
          <p:nvSpPr>
            <p:cNvPr id="17" name="矩形 16"/>
            <p:cNvSpPr/>
            <p:nvPr/>
          </p:nvSpPr>
          <p:spPr>
            <a:xfrm>
              <a:off x="178594" y="907257"/>
              <a:ext cx="1220130" cy="150019"/>
            </a:xfrm>
            <a:prstGeom prst="rect">
              <a:avLst/>
            </a:prstGeom>
            <a:noFill/>
          </p:spPr>
          <p:txBody>
            <a:bodyPr wrap="none" lIns="0"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医疗服务提供者与建设者。</a:t>
              </a:r>
              <a:endParaRPr lang="en-US" sz="700" dirty="0"/>
            </a:p>
          </p:txBody>
        </p:sp>
        <p:sp>
          <p:nvSpPr>
            <p:cNvPr id="18" name="矩形 17"/>
            <p:cNvSpPr/>
            <p:nvPr/>
          </p:nvSpPr>
          <p:spPr>
            <a:xfrm>
              <a:off x="178594" y="1143000"/>
              <a:ext cx="1220130" cy="144661"/>
            </a:xfrm>
            <a:prstGeom prst="rect">
              <a:avLst/>
            </a:prstGeom>
            <a:noFill/>
          </p:spPr>
          <p:txBody>
            <a:bodyPr wrap="none" lIns="132588"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创建管理知识库及文档</a:t>
              </a:r>
              <a:endParaRPr lang="en-US" sz="700" dirty="0"/>
            </a:p>
          </p:txBody>
        </p:sp>
        <p:sp>
          <p:nvSpPr>
            <p:cNvPr id="19" name="矩形 18"/>
            <p:cNvSpPr/>
            <p:nvPr/>
          </p:nvSpPr>
          <p:spPr>
            <a:xfrm>
              <a:off x="178594" y="1344811"/>
              <a:ext cx="1220130" cy="144661"/>
            </a:xfrm>
            <a:prstGeom prst="rect">
              <a:avLst/>
            </a:prstGeom>
            <a:noFill/>
          </p:spPr>
          <p:txBody>
            <a:bodyPr wrap="none" lIns="132588" tIns="0" rIns="0" bIns="0" rtlCol="0" anchor="t"/>
            <a:lstStyle/>
            <a:p>
              <a:pPr marL="0" indent="0">
                <a:lnSpc>
                  <a:spcPct val="150000"/>
                </a:lnSpc>
                <a:buNone/>
              </a:pPr>
              <a:r>
                <a:rPr lang="en-US" sz="700" dirty="0">
                  <a:solidFill>
                    <a:srgbClr val="1F2A37"/>
                  </a:solidFill>
                  <a:latin typeface="Arial" panose="020B0604020202020204" pitchFamily="34" charset="0"/>
                  <a:ea typeface="Arial" panose="020B0604020202020204" pitchFamily="34" charset="-122"/>
                  <a:cs typeface="Arial" panose="020B0604020202020204" pitchFamily="34" charset="-120"/>
                </a:rPr>
                <a:t>管理患者信息与住院记录</a:t>
              </a:r>
              <a:endParaRPr lang="en-US" sz="700" dirty="0"/>
            </a:p>
          </p:txBody>
        </p:sp>
        <p:sp>
          <p:nvSpPr>
            <p:cNvPr id="20" name="矩形 19"/>
            <p:cNvSpPr/>
            <p:nvPr/>
          </p:nvSpPr>
          <p:spPr>
            <a:xfrm>
              <a:off x="178594" y="1546622"/>
              <a:ext cx="1220130" cy="144661"/>
            </a:xfrm>
            <a:prstGeom prst="rect">
              <a:avLst/>
            </a:prstGeom>
            <a:noFill/>
          </p:spPr>
          <p:txBody>
            <a:bodyPr wrap="none" lIns="132588"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维护个人排班计划</a:t>
              </a:r>
              <a:endParaRPr lang="en-US" sz="700" dirty="0"/>
            </a:p>
          </p:txBody>
        </p:sp>
        <p:sp>
          <p:nvSpPr>
            <p:cNvPr id="21" name="矩形 20"/>
            <p:cNvSpPr/>
            <p:nvPr/>
          </p:nvSpPr>
          <p:spPr>
            <a:xfrm>
              <a:off x="178594" y="1748433"/>
              <a:ext cx="1220130" cy="144661"/>
            </a:xfrm>
            <a:prstGeom prst="rect">
              <a:avLst/>
            </a:prstGeom>
            <a:noFill/>
          </p:spPr>
          <p:txBody>
            <a:bodyPr wrap="none" lIns="132588" tIns="0" rIns="0" bIns="0" rtlCol="0" anchor="t"/>
            <a:lstStyle/>
            <a:p>
              <a:pPr marL="0" indent="0">
                <a:lnSpc>
                  <a:spcPct val="150000"/>
                </a:lnSpc>
                <a:buNone/>
              </a:pPr>
              <a:r>
                <a:rPr lang="en-US" sz="700" dirty="0">
                  <a:solidFill>
                    <a:srgbClr val="1F2A37"/>
                  </a:solidFill>
                  <a:latin typeface="Arial" panose="020B0604020202020204" pitchFamily="34" charset="0"/>
                  <a:ea typeface="Arial" panose="020B0604020202020204" pitchFamily="34" charset="-122"/>
                  <a:cs typeface="Arial" panose="020B0604020202020204" pitchFamily="34" charset="-120"/>
                </a:rPr>
                <a:t>检索查看私有文档权限</a:t>
              </a:r>
              <a:endParaRPr lang="en-US" sz="700" dirty="0"/>
            </a:p>
          </p:txBody>
        </p:sp>
      </p:grpSp>
      <p:pic>
        <p:nvPicPr>
          <p:cNvPr id="8" name="图片 7"/>
          <p:cNvPicPr>
            <a:picLocks noChangeAspect="1"/>
          </p:cNvPicPr>
          <p:nvPr/>
        </p:nvPicPr>
        <p:blipFill>
          <a:blip r:embed="rId2"/>
          <a:stretch>
            <a:fillRect/>
          </a:stretch>
        </p:blipFill>
        <p:spPr>
          <a:xfrm>
            <a:off x="2599690" y="160020"/>
            <a:ext cx="5477510" cy="2447925"/>
          </a:xfrm>
          <a:prstGeom prst="rect">
            <a:avLst/>
          </a:prstGeom>
        </p:spPr>
      </p:pic>
      <p:pic>
        <p:nvPicPr>
          <p:cNvPr id="22" name="图片 21"/>
          <p:cNvPicPr>
            <a:picLocks noChangeAspect="1"/>
          </p:cNvPicPr>
          <p:nvPr/>
        </p:nvPicPr>
        <p:blipFill>
          <a:blip r:embed="rId3"/>
          <a:stretch>
            <a:fillRect/>
          </a:stretch>
        </p:blipFill>
        <p:spPr>
          <a:xfrm>
            <a:off x="2734310" y="2954020"/>
            <a:ext cx="3211195" cy="1955800"/>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5="http://schemas.microsoft.com/office/powerpoint/2012/main" Requires="p15">
      <p:transition xmlns:p14="http://schemas.microsoft.com/office/powerpoint/2010/main" spd="med" Requires="p14">
        <p15:prstTrans prst="airplan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3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8" presetID="2" presetClass="entr" presetSubtype="4" fill="hold" grpId="0" nodeType="withEffect">
                                  <p:stCondLst>
                                    <p:cond delay="300"/>
                                  </p:stCondLst>
                                  <p:childTnLst>
                                    <p:set>
                                      <p:cBhvr>
                                        <p:cTn id="9" dur="1" fill="hold">
                                          <p:stCondLst>
                                            <p:cond delay="0"/>
                                          </p:stCondLst>
                                        </p:cTn>
                                        <p:tgtEl>
                                          <p:spTgt spid="6"/>
                                        </p:tgtEl>
                                        <p:attrNameLst>
                                          <p:attrName>style.visibility</p:attrName>
                                        </p:attrNameLst>
                                      </p:cBhvr>
                                      <p:to>
                                        <p:strVal val="visible"/>
                                      </p:to>
                                    </p:set>
                                    <p:anim calcmode="lin" valueType="num">
                                      <p:cBhvr additive="base">
                                        <p:cTn id="10" dur="600" fill="hold"/>
                                        <p:tgtEl>
                                          <p:spTgt spid="6"/>
                                        </p:tgtEl>
                                        <p:attrNameLst>
                                          <p:attrName>ppt_x</p:attrName>
                                        </p:attrNameLst>
                                      </p:cBhvr>
                                      <p:tavLst>
                                        <p:tav tm="0">
                                          <p:val>
                                            <p:strVal val="#ppt_x"/>
                                          </p:val>
                                        </p:tav>
                                        <p:tav tm="100000">
                                          <p:val>
                                            <p:strVal val="#ppt_x"/>
                                          </p:val>
                                        </p:tav>
                                      </p:tavLst>
                                    </p:anim>
                                    <p:anim calcmode="lin" valueType="num">
                                      <p:cBhvr additive="base">
                                        <p:cTn id="11" dur="6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342900" y="342900"/>
            <a:ext cx="8458200" cy="285750"/>
          </a:xfrm>
          <a:prstGeom prst="rect">
            <a:avLst/>
          </a:prstGeom>
          <a:noFill/>
        </p:spPr>
        <p:txBody>
          <a:bodyPr wrap="none" lIns="0" tIns="0" rIns="0" bIns="0" rtlCol="0" anchor="t"/>
          <a:lstStyle/>
          <a:p>
            <a:pPr marL="0" indent="0" algn="l">
              <a:lnSpc>
                <a:spcPct val="125000"/>
              </a:lnSpc>
              <a:defRPr/>
            </a:pPr>
            <a:r>
              <a:rPr lang="en-US" sz="19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成果展示 -</a:t>
            </a:r>
            <a:r>
              <a:rPr lang="zh-CN" altLang="en-US" sz="19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医生端</a:t>
            </a:r>
            <a:endParaRPr lang="zh-CN" altLang="en-US" sz="19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 name="Shape 1"/>
          <p:cNvSpPr/>
          <p:nvPr/>
        </p:nvSpPr>
        <p:spPr>
          <a:xfrm>
            <a:off x="342900" y="771525"/>
            <a:ext cx="685800" cy="28575"/>
          </a:xfrm>
          <a:prstGeom prst="roundRect">
            <a:avLst>
              <a:gd name="adj" fmla="val 50000"/>
            </a:avLst>
          </a:prstGeom>
          <a:solidFill>
            <a:srgbClr val="5B9DFF"/>
          </a:solidFill>
        </p:spPr>
      </p:sp>
      <p:grpSp>
        <p:nvGrpSpPr>
          <p:cNvPr id="6" name="h2p-grp-h2p-animroot-3"/>
          <p:cNvGrpSpPr/>
          <p:nvPr/>
        </p:nvGrpSpPr>
        <p:grpSpPr>
          <a:xfrm>
            <a:off x="401910" y="1262970"/>
            <a:ext cx="1577318" cy="3303315"/>
            <a:chOff x="0" y="0"/>
            <a:chExt cx="1577318" cy="3303315"/>
          </a:xfrm>
        </p:grpSpPr>
        <p:sp>
          <p:nvSpPr>
            <p:cNvPr id="7" name="圆角矩形 6"/>
            <p:cNvSpPr/>
            <p:nvPr/>
          </p:nvSpPr>
          <p:spPr>
            <a:xfrm>
              <a:off x="0" y="0"/>
              <a:ext cx="1577318" cy="3303315"/>
            </a:xfrm>
            <a:prstGeom prst="roundRect">
              <a:avLst>
                <a:gd name="adj" fmla="val 5435"/>
              </a:avLst>
            </a:prstGeom>
            <a:solidFill>
              <a:srgbClr val="FFFFFF"/>
            </a:solidFill>
            <a:ln w="6350">
              <a:solidFill>
                <a:srgbClr val="DCEAF5"/>
              </a:solidFill>
              <a:prstDash val="solid"/>
            </a:ln>
          </p:spPr>
        </p:sp>
        <p:sp>
          <p:nvSpPr>
            <p:cNvPr id="9" name="圆角矩形 8"/>
            <p:cNvSpPr/>
            <p:nvPr/>
          </p:nvSpPr>
          <p:spPr>
            <a:xfrm>
              <a:off x="178594" y="178594"/>
              <a:ext cx="342900" cy="342900"/>
            </a:xfrm>
            <a:prstGeom prst="roundRect">
              <a:avLst>
                <a:gd name="adj" fmla="val 20833"/>
              </a:avLst>
            </a:prstGeom>
            <a:solidFill>
              <a:srgbClr val="EAF5FF"/>
            </a:solidFill>
          </p:spPr>
        </p:sp>
        <p:sp>
          <p:nvSpPr>
            <p:cNvPr id="10" name="任意多边形 9"/>
            <p:cNvSpPr/>
            <p:nvPr/>
          </p:nvSpPr>
          <p:spPr>
            <a:xfrm>
              <a:off x="278607" y="278485"/>
              <a:ext cx="25714" cy="66437"/>
            </a:xfrm>
            <a:custGeom>
              <a:avLst/>
              <a:gdLst/>
              <a:ahLst/>
              <a:cxnLst/>
              <a:pathLst>
                <a:path w="21600" h="21600">
                  <a:moveTo>
                    <a:pt x="16802" y="736"/>
                  </a:moveTo>
                  <a:lnTo>
                    <a:pt x="19809" y="181"/>
                  </a:lnTo>
                  <a:lnTo>
                    <a:pt x="12882" y="39"/>
                  </a:lnTo>
                  <a:lnTo>
                    <a:pt x="6096" y="640"/>
                  </a:lnTo>
                  <a:lnTo>
                    <a:pt x="1291" y="2586"/>
                  </a:lnTo>
                  <a:lnTo>
                    <a:pt x="0" y="5238"/>
                  </a:lnTo>
                  <a:lnTo>
                    <a:pt x="0" y="7969"/>
                  </a:lnTo>
                  <a:lnTo>
                    <a:pt x="0" y="10700"/>
                  </a:lnTo>
                  <a:lnTo>
                    <a:pt x="0" y="13430"/>
                  </a:lnTo>
                  <a:lnTo>
                    <a:pt x="0" y="16161"/>
                  </a:lnTo>
                  <a:lnTo>
                    <a:pt x="1821" y="18759"/>
                  </a:lnTo>
                  <a:lnTo>
                    <a:pt x="7056" y="20531"/>
                  </a:lnTo>
                  <a:lnTo>
                    <a:pt x="13960" y="20943"/>
                  </a:lnTo>
                  <a:lnTo>
                    <a:pt x="20085" y="21591"/>
                  </a:lnTo>
                  <a:lnTo>
                    <a:pt x="19151" y="19829"/>
                  </a:lnTo>
                  <a:lnTo>
                    <a:pt x="18816" y="17102"/>
                  </a:lnTo>
                  <a:lnTo>
                    <a:pt x="18480" y="14374"/>
                  </a:lnTo>
                  <a:lnTo>
                    <a:pt x="18144" y="11647"/>
                  </a:lnTo>
                  <a:lnTo>
                    <a:pt x="17809" y="8919"/>
                  </a:lnTo>
                  <a:lnTo>
                    <a:pt x="17473" y="6191"/>
                  </a:lnTo>
                  <a:lnTo>
                    <a:pt x="17138" y="3464"/>
                  </a:lnTo>
                  <a:lnTo>
                    <a:pt x="16802" y="736"/>
                  </a:lnTo>
                </a:path>
              </a:pathLst>
            </a:custGeom>
            <a:ln w="12700">
              <a:solidFill>
                <a:srgbClr val="2563EB"/>
              </a:solidFill>
              <a:prstDash val="solid"/>
            </a:ln>
          </p:spPr>
        </p:sp>
        <p:sp>
          <p:nvSpPr>
            <p:cNvPr id="11" name="任意多边形 10"/>
            <p:cNvSpPr/>
            <p:nvPr/>
          </p:nvSpPr>
          <p:spPr>
            <a:xfrm>
              <a:off x="321469" y="371475"/>
              <a:ext cx="85725" cy="50006"/>
            </a:xfrm>
            <a:custGeom>
              <a:avLst/>
              <a:gdLst/>
              <a:ahLst/>
              <a:cxnLst/>
              <a:pathLst>
                <a:path w="21600" h="21600">
                  <a:moveTo>
                    <a:pt x="0" y="0"/>
                  </a:moveTo>
                  <a:lnTo>
                    <a:pt x="4" y="3575"/>
                  </a:lnTo>
                  <a:lnTo>
                    <a:pt x="257" y="7117"/>
                  </a:lnTo>
                  <a:lnTo>
                    <a:pt x="903" y="10510"/>
                  </a:lnTo>
                  <a:lnTo>
                    <a:pt x="1919" y="13625"/>
                  </a:lnTo>
                  <a:lnTo>
                    <a:pt x="3265" y="16349"/>
                  </a:lnTo>
                  <a:lnTo>
                    <a:pt x="4889" y="18583"/>
                  </a:lnTo>
                  <a:lnTo>
                    <a:pt x="6732" y="20242"/>
                  </a:lnTo>
                  <a:lnTo>
                    <a:pt x="8728" y="21259"/>
                  </a:lnTo>
                  <a:lnTo>
                    <a:pt x="10800" y="21600"/>
                  </a:lnTo>
                  <a:lnTo>
                    <a:pt x="12873" y="21259"/>
                  </a:lnTo>
                  <a:lnTo>
                    <a:pt x="14868" y="20242"/>
                  </a:lnTo>
                  <a:lnTo>
                    <a:pt x="16711" y="18583"/>
                  </a:lnTo>
                  <a:lnTo>
                    <a:pt x="18335" y="16349"/>
                  </a:lnTo>
                  <a:lnTo>
                    <a:pt x="19681" y="13625"/>
                  </a:lnTo>
                  <a:lnTo>
                    <a:pt x="20697" y="10510"/>
                  </a:lnTo>
                  <a:lnTo>
                    <a:pt x="21343" y="7117"/>
                  </a:lnTo>
                  <a:lnTo>
                    <a:pt x="21596" y="3575"/>
                  </a:lnTo>
                  <a:lnTo>
                    <a:pt x="21600" y="0"/>
                  </a:lnTo>
                </a:path>
              </a:pathLst>
            </a:custGeom>
            <a:ln w="12700">
              <a:solidFill>
                <a:srgbClr val="2563EB"/>
              </a:solidFill>
              <a:prstDash val="solid"/>
            </a:ln>
          </p:spPr>
        </p:sp>
        <p:sp>
          <p:nvSpPr>
            <p:cNvPr id="12" name="椭圆 11"/>
            <p:cNvSpPr/>
            <p:nvPr/>
          </p:nvSpPr>
          <p:spPr>
            <a:xfrm>
              <a:off x="335757" y="285750"/>
              <a:ext cx="57150" cy="57150"/>
            </a:xfrm>
            <a:prstGeom prst="ellipse">
              <a:avLst/>
            </a:prstGeom>
            <a:noFill/>
            <a:ln w="12700">
              <a:solidFill>
                <a:srgbClr val="2563EB"/>
              </a:solidFill>
              <a:prstDash val="solid"/>
            </a:ln>
          </p:spPr>
        </p:sp>
        <p:sp>
          <p:nvSpPr>
            <p:cNvPr id="13" name="直接连接符 12"/>
            <p:cNvSpPr/>
            <p:nvPr/>
          </p:nvSpPr>
          <p:spPr>
            <a:xfrm>
              <a:off x="364332" y="342900"/>
              <a:ext cx="0" cy="7144"/>
            </a:xfrm>
            <a:prstGeom prst="line">
              <a:avLst/>
            </a:prstGeom>
            <a:noFill/>
            <a:ln w="12700">
              <a:solidFill>
                <a:srgbClr val="2563EB"/>
              </a:solidFill>
              <a:prstDash val="solid"/>
            </a:ln>
          </p:spPr>
        </p:sp>
        <p:sp>
          <p:nvSpPr>
            <p:cNvPr id="14" name="矩形 13"/>
            <p:cNvSpPr/>
            <p:nvPr/>
          </p:nvSpPr>
          <p:spPr>
            <a:xfrm>
              <a:off x="178594" y="664369"/>
              <a:ext cx="285750" cy="157163"/>
            </a:xfrm>
            <a:prstGeom prst="rect">
              <a:avLst/>
            </a:prstGeom>
            <a:noFill/>
          </p:spPr>
          <p:txBody>
            <a:bodyPr wrap="none" lIns="0" tIns="0" rIns="0" bIns="0" rtlCol="0" anchor="ctr"/>
            <a:lstStyle/>
            <a:p>
              <a:pPr marL="0" indent="0">
                <a:lnSpc>
                  <a:spcPct val="150000"/>
                </a:lnSpc>
                <a:buNone/>
              </a:pPr>
              <a:r>
                <a:rPr lang="zh-CN" sz="1100" b="1" dirty="0">
                  <a:solidFill>
                    <a:srgbClr val="2E6EA6"/>
                  </a:solidFill>
                  <a:latin typeface="Arial" panose="020B0604020202020204" pitchFamily="34" charset="0"/>
                  <a:ea typeface="微软雅黑" panose="020B0503020204020204" pitchFamily="34" charset="-122"/>
                </a:rPr>
                <a:t>医生</a:t>
              </a:r>
              <a:endParaRPr lang="en-US" sz="1100" dirty="0"/>
            </a:p>
          </p:txBody>
        </p:sp>
        <p:sp>
          <p:nvSpPr>
            <p:cNvPr id="15" name="圆角矩形 14"/>
            <p:cNvSpPr/>
            <p:nvPr/>
          </p:nvSpPr>
          <p:spPr>
            <a:xfrm>
              <a:off x="521494" y="664369"/>
              <a:ext cx="484212" cy="157163"/>
            </a:xfrm>
            <a:prstGeom prst="roundRect">
              <a:avLst>
                <a:gd name="adj" fmla="val 18182"/>
              </a:avLst>
            </a:prstGeom>
            <a:solidFill>
              <a:srgbClr val="5B9DFF">
                <a:alpha val="10000"/>
              </a:srgbClr>
            </a:solidFill>
          </p:spPr>
        </p:sp>
        <p:sp>
          <p:nvSpPr>
            <p:cNvPr id="16" name="矩形 15"/>
            <p:cNvSpPr/>
            <p:nvPr/>
          </p:nvSpPr>
          <p:spPr>
            <a:xfrm>
              <a:off x="521494" y="664369"/>
              <a:ext cx="484212" cy="157163"/>
            </a:xfrm>
            <a:prstGeom prst="rect">
              <a:avLst/>
            </a:prstGeom>
            <a:noFill/>
          </p:spPr>
          <p:txBody>
            <a:bodyPr wrap="none" lIns="58928" tIns="14732" rIns="58928" bIns="14732" rtlCol="0" anchor="t"/>
            <a:lstStyle/>
            <a:p>
              <a:pPr marL="0" indent="0">
                <a:lnSpc>
                  <a:spcPct val="150000"/>
                </a:lnSpc>
                <a:buNone/>
              </a:pPr>
              <a:r>
                <a:rPr lang="en-US" sz="600" b="1" dirty="0">
                  <a:solidFill>
                    <a:srgbClr val="5B9DFF"/>
                  </a:solidFill>
                  <a:latin typeface="Arial" panose="020B0604020202020204" pitchFamily="34" charset="0"/>
                </a:rPr>
                <a:t>DOCTOR</a:t>
              </a:r>
              <a:endParaRPr lang="en-US" sz="600" dirty="0"/>
            </a:p>
          </p:txBody>
        </p:sp>
        <p:sp>
          <p:nvSpPr>
            <p:cNvPr id="17" name="矩形 16"/>
            <p:cNvSpPr/>
            <p:nvPr/>
          </p:nvSpPr>
          <p:spPr>
            <a:xfrm>
              <a:off x="178594" y="907257"/>
              <a:ext cx="1220130" cy="150019"/>
            </a:xfrm>
            <a:prstGeom prst="rect">
              <a:avLst/>
            </a:prstGeom>
            <a:noFill/>
          </p:spPr>
          <p:txBody>
            <a:bodyPr wrap="none" lIns="0"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医疗服务提供者与建设者。</a:t>
              </a:r>
              <a:endParaRPr lang="en-US" sz="700" dirty="0"/>
            </a:p>
          </p:txBody>
        </p:sp>
        <p:sp>
          <p:nvSpPr>
            <p:cNvPr id="18" name="矩形 17"/>
            <p:cNvSpPr/>
            <p:nvPr/>
          </p:nvSpPr>
          <p:spPr>
            <a:xfrm>
              <a:off x="178594" y="1143000"/>
              <a:ext cx="1220130" cy="144661"/>
            </a:xfrm>
            <a:prstGeom prst="rect">
              <a:avLst/>
            </a:prstGeom>
            <a:noFill/>
          </p:spPr>
          <p:txBody>
            <a:bodyPr wrap="none" lIns="132588"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创建管理知识库及文档</a:t>
              </a:r>
              <a:endParaRPr lang="en-US" sz="700" dirty="0"/>
            </a:p>
          </p:txBody>
        </p:sp>
        <p:sp>
          <p:nvSpPr>
            <p:cNvPr id="19" name="矩形 18"/>
            <p:cNvSpPr/>
            <p:nvPr/>
          </p:nvSpPr>
          <p:spPr>
            <a:xfrm>
              <a:off x="178594" y="1344811"/>
              <a:ext cx="1220130" cy="144661"/>
            </a:xfrm>
            <a:prstGeom prst="rect">
              <a:avLst/>
            </a:prstGeom>
            <a:noFill/>
          </p:spPr>
          <p:txBody>
            <a:bodyPr wrap="none" lIns="132588" tIns="0" rIns="0" bIns="0" rtlCol="0" anchor="t"/>
            <a:lstStyle/>
            <a:p>
              <a:pPr marL="0" indent="0">
                <a:lnSpc>
                  <a:spcPct val="150000"/>
                </a:lnSpc>
                <a:buNone/>
              </a:pPr>
              <a:r>
                <a:rPr lang="en-US" sz="700" dirty="0">
                  <a:solidFill>
                    <a:srgbClr val="1F2A37"/>
                  </a:solidFill>
                  <a:latin typeface="Arial" panose="020B0604020202020204" pitchFamily="34" charset="0"/>
                  <a:ea typeface="Arial" panose="020B0604020202020204" pitchFamily="34" charset="-122"/>
                  <a:cs typeface="Arial" panose="020B0604020202020204" pitchFamily="34" charset="-120"/>
                </a:rPr>
                <a:t>管理患者信息与住院记录</a:t>
              </a:r>
              <a:endParaRPr lang="en-US" sz="700" dirty="0"/>
            </a:p>
          </p:txBody>
        </p:sp>
        <p:sp>
          <p:nvSpPr>
            <p:cNvPr id="20" name="矩形 19"/>
            <p:cNvSpPr/>
            <p:nvPr/>
          </p:nvSpPr>
          <p:spPr>
            <a:xfrm>
              <a:off x="178594" y="1546622"/>
              <a:ext cx="1220130" cy="144661"/>
            </a:xfrm>
            <a:prstGeom prst="rect">
              <a:avLst/>
            </a:prstGeom>
            <a:noFill/>
          </p:spPr>
          <p:txBody>
            <a:bodyPr wrap="none" lIns="132588"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维护个人排班计划</a:t>
              </a:r>
              <a:endParaRPr lang="en-US" sz="700" dirty="0"/>
            </a:p>
          </p:txBody>
        </p:sp>
        <p:sp>
          <p:nvSpPr>
            <p:cNvPr id="21" name="矩形 20"/>
            <p:cNvSpPr/>
            <p:nvPr/>
          </p:nvSpPr>
          <p:spPr>
            <a:xfrm>
              <a:off x="178594" y="1748433"/>
              <a:ext cx="1220130" cy="144661"/>
            </a:xfrm>
            <a:prstGeom prst="rect">
              <a:avLst/>
            </a:prstGeom>
            <a:noFill/>
          </p:spPr>
          <p:txBody>
            <a:bodyPr wrap="none" lIns="132588" tIns="0" rIns="0" bIns="0" rtlCol="0" anchor="t"/>
            <a:lstStyle/>
            <a:p>
              <a:pPr marL="0" indent="0">
                <a:lnSpc>
                  <a:spcPct val="150000"/>
                </a:lnSpc>
                <a:buNone/>
              </a:pPr>
              <a:r>
                <a:rPr lang="en-US" sz="700" dirty="0">
                  <a:solidFill>
                    <a:srgbClr val="1F2A37"/>
                  </a:solidFill>
                  <a:latin typeface="Arial" panose="020B0604020202020204" pitchFamily="34" charset="0"/>
                  <a:ea typeface="Arial" panose="020B0604020202020204" pitchFamily="34" charset="-122"/>
                  <a:cs typeface="Arial" panose="020B0604020202020204" pitchFamily="34" charset="-120"/>
                </a:rPr>
                <a:t>检索查看私有文档权限</a:t>
              </a:r>
              <a:endParaRPr lang="en-US" sz="700" dirty="0"/>
            </a:p>
          </p:txBody>
        </p:sp>
      </p:grpSp>
      <p:pic>
        <p:nvPicPr>
          <p:cNvPr id="8" name="图片 7"/>
          <p:cNvPicPr>
            <a:picLocks noChangeAspect="1"/>
          </p:cNvPicPr>
          <p:nvPr/>
        </p:nvPicPr>
        <p:blipFill>
          <a:blip r:embed="rId2"/>
          <a:stretch>
            <a:fillRect/>
          </a:stretch>
        </p:blipFill>
        <p:spPr>
          <a:xfrm>
            <a:off x="2332990" y="1299845"/>
            <a:ext cx="6135370" cy="2761615"/>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5="http://schemas.microsoft.com/office/powerpoint/2012/main" Requires="p15">
      <p:transition xmlns:p14="http://schemas.microsoft.com/office/powerpoint/2010/main" spd="med" Requires="p14">
        <p15:prstTrans prst="airplan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3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8" presetID="2" presetClass="entr" presetSubtype="4" fill="hold" grpId="0" nodeType="withEffect">
                                  <p:stCondLst>
                                    <p:cond delay="300"/>
                                  </p:stCondLst>
                                  <p:childTnLst>
                                    <p:set>
                                      <p:cBhvr>
                                        <p:cTn id="9" dur="1" fill="hold">
                                          <p:stCondLst>
                                            <p:cond delay="0"/>
                                          </p:stCondLst>
                                        </p:cTn>
                                        <p:tgtEl>
                                          <p:spTgt spid="6"/>
                                        </p:tgtEl>
                                        <p:attrNameLst>
                                          <p:attrName>style.visibility</p:attrName>
                                        </p:attrNameLst>
                                      </p:cBhvr>
                                      <p:to>
                                        <p:strVal val="visible"/>
                                      </p:to>
                                    </p:set>
                                    <p:anim calcmode="lin" valueType="num">
                                      <p:cBhvr additive="base">
                                        <p:cTn id="10" dur="600" fill="hold"/>
                                        <p:tgtEl>
                                          <p:spTgt spid="6"/>
                                        </p:tgtEl>
                                        <p:attrNameLst>
                                          <p:attrName>ppt_x</p:attrName>
                                        </p:attrNameLst>
                                      </p:cBhvr>
                                      <p:tavLst>
                                        <p:tav tm="0">
                                          <p:val>
                                            <p:strVal val="#ppt_x"/>
                                          </p:val>
                                        </p:tav>
                                        <p:tav tm="100000">
                                          <p:val>
                                            <p:strVal val="#ppt_x"/>
                                          </p:val>
                                        </p:tav>
                                      </p:tavLst>
                                    </p:anim>
                                    <p:anim calcmode="lin" valueType="num">
                                      <p:cBhvr additive="base">
                                        <p:cTn id="11" dur="6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342900" y="342900"/>
            <a:ext cx="8458200" cy="285750"/>
          </a:xfrm>
          <a:prstGeom prst="rect">
            <a:avLst/>
          </a:prstGeom>
          <a:noFill/>
        </p:spPr>
        <p:txBody>
          <a:bodyPr wrap="none" lIns="0" tIns="0" rIns="0" bIns="0" rtlCol="0" anchor="t"/>
          <a:lstStyle/>
          <a:p>
            <a:pPr marL="0" indent="0" algn="l">
              <a:lnSpc>
                <a:spcPct val="125000"/>
              </a:lnSpc>
              <a:defRPr/>
            </a:pPr>
            <a:r>
              <a:rPr lang="en-US" sz="19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成果展示 -</a:t>
            </a:r>
            <a:r>
              <a:rPr lang="zh-CN" altLang="en-US" sz="19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护士端</a:t>
            </a:r>
            <a:endParaRPr lang="zh-CN" altLang="en-US" sz="19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 name="Shape 1"/>
          <p:cNvSpPr/>
          <p:nvPr/>
        </p:nvSpPr>
        <p:spPr>
          <a:xfrm>
            <a:off x="342900" y="771525"/>
            <a:ext cx="685800" cy="28575"/>
          </a:xfrm>
          <a:prstGeom prst="roundRect">
            <a:avLst>
              <a:gd name="adj" fmla="val 50000"/>
            </a:avLst>
          </a:prstGeom>
          <a:solidFill>
            <a:srgbClr val="5B9DFF"/>
          </a:solidFill>
        </p:spPr>
      </p:sp>
      <p:grpSp>
        <p:nvGrpSpPr>
          <p:cNvPr id="88" name="h2p-grp-h2p-animroot-4"/>
          <p:cNvGrpSpPr/>
          <p:nvPr/>
        </p:nvGrpSpPr>
        <p:grpSpPr>
          <a:xfrm>
            <a:off x="283778" y="1335360"/>
            <a:ext cx="1577318" cy="3303315"/>
            <a:chOff x="0" y="0"/>
            <a:chExt cx="1577318" cy="3303315"/>
          </a:xfrm>
        </p:grpSpPr>
        <p:sp>
          <p:nvSpPr>
            <p:cNvPr id="52" name="圆角矩形 51"/>
            <p:cNvSpPr/>
            <p:nvPr/>
          </p:nvSpPr>
          <p:spPr>
            <a:xfrm>
              <a:off x="0" y="0"/>
              <a:ext cx="1577318" cy="3303315"/>
            </a:xfrm>
            <a:prstGeom prst="roundRect">
              <a:avLst>
                <a:gd name="adj" fmla="val 5435"/>
              </a:avLst>
            </a:prstGeom>
            <a:solidFill>
              <a:srgbClr val="FFFFFF"/>
            </a:solidFill>
            <a:ln w="6350">
              <a:solidFill>
                <a:srgbClr val="DCEAF5"/>
              </a:solidFill>
              <a:prstDash val="solid"/>
            </a:ln>
          </p:spPr>
        </p:sp>
        <p:sp>
          <p:nvSpPr>
            <p:cNvPr id="53" name="圆角矩形 52"/>
            <p:cNvSpPr/>
            <p:nvPr/>
          </p:nvSpPr>
          <p:spPr>
            <a:xfrm>
              <a:off x="178594" y="178594"/>
              <a:ext cx="342900" cy="342900"/>
            </a:xfrm>
            <a:prstGeom prst="roundRect">
              <a:avLst>
                <a:gd name="adj" fmla="val 20833"/>
              </a:avLst>
            </a:prstGeom>
            <a:solidFill>
              <a:srgbClr val="EAF5FF"/>
            </a:solidFill>
          </p:spPr>
        </p:sp>
        <p:sp>
          <p:nvSpPr>
            <p:cNvPr id="54" name="任意多边形 53"/>
            <p:cNvSpPr/>
            <p:nvPr/>
          </p:nvSpPr>
          <p:spPr>
            <a:xfrm>
              <a:off x="278606" y="278607"/>
              <a:ext cx="157163" cy="142875"/>
            </a:xfrm>
            <a:custGeom>
              <a:avLst/>
              <a:gdLst/>
              <a:ahLst/>
              <a:cxnLst/>
              <a:pathLst>
                <a:path w="21600" h="21600">
                  <a:moveTo>
                    <a:pt x="8836" y="0"/>
                  </a:moveTo>
                  <a:lnTo>
                    <a:pt x="7664" y="85"/>
                  </a:lnTo>
                  <a:lnTo>
                    <a:pt x="6512" y="340"/>
                  </a:lnTo>
                  <a:lnTo>
                    <a:pt x="5402" y="762"/>
                  </a:lnTo>
                  <a:lnTo>
                    <a:pt x="4352" y="1343"/>
                  </a:lnTo>
                  <a:lnTo>
                    <a:pt x="3382" y="2072"/>
                  </a:lnTo>
                  <a:lnTo>
                    <a:pt x="2509" y="2936"/>
                  </a:lnTo>
                  <a:lnTo>
                    <a:pt x="1746" y="3919"/>
                  </a:lnTo>
                  <a:lnTo>
                    <a:pt x="1108" y="5004"/>
                  </a:lnTo>
                  <a:lnTo>
                    <a:pt x="607" y="6173"/>
                  </a:lnTo>
                  <a:lnTo>
                    <a:pt x="252" y="7405"/>
                  </a:lnTo>
                  <a:lnTo>
                    <a:pt x="50" y="8678"/>
                  </a:lnTo>
                  <a:lnTo>
                    <a:pt x="0" y="9969"/>
                  </a:lnTo>
                  <a:lnTo>
                    <a:pt x="0" y="11262"/>
                  </a:lnTo>
                  <a:lnTo>
                    <a:pt x="0" y="12556"/>
                  </a:lnTo>
                  <a:lnTo>
                    <a:pt x="0" y="13849"/>
                  </a:lnTo>
                  <a:lnTo>
                    <a:pt x="0" y="15142"/>
                  </a:lnTo>
                  <a:lnTo>
                    <a:pt x="0" y="16436"/>
                  </a:lnTo>
                  <a:lnTo>
                    <a:pt x="0" y="17729"/>
                  </a:lnTo>
                  <a:lnTo>
                    <a:pt x="0" y="19022"/>
                  </a:lnTo>
                  <a:lnTo>
                    <a:pt x="0" y="20315"/>
                  </a:lnTo>
                  <a:lnTo>
                    <a:pt x="8" y="21598"/>
                  </a:lnTo>
                  <a:lnTo>
                    <a:pt x="1164" y="21367"/>
                  </a:lnTo>
                  <a:lnTo>
                    <a:pt x="2321" y="21136"/>
                  </a:lnTo>
                  <a:lnTo>
                    <a:pt x="3478" y="20904"/>
                  </a:lnTo>
                  <a:lnTo>
                    <a:pt x="4635" y="20673"/>
                  </a:lnTo>
                  <a:lnTo>
                    <a:pt x="5791" y="20442"/>
                  </a:lnTo>
                  <a:lnTo>
                    <a:pt x="6948" y="20210"/>
                  </a:lnTo>
                  <a:lnTo>
                    <a:pt x="8105" y="19979"/>
                  </a:lnTo>
                  <a:lnTo>
                    <a:pt x="9262" y="19748"/>
                  </a:lnTo>
                  <a:lnTo>
                    <a:pt x="10418" y="19516"/>
                  </a:lnTo>
                  <a:lnTo>
                    <a:pt x="11575" y="19595"/>
                  </a:lnTo>
                  <a:lnTo>
                    <a:pt x="12732" y="19826"/>
                  </a:lnTo>
                  <a:lnTo>
                    <a:pt x="13889" y="20058"/>
                  </a:lnTo>
                  <a:lnTo>
                    <a:pt x="15045" y="20289"/>
                  </a:lnTo>
                  <a:lnTo>
                    <a:pt x="16202" y="20520"/>
                  </a:lnTo>
                  <a:lnTo>
                    <a:pt x="17359" y="20752"/>
                  </a:lnTo>
                  <a:lnTo>
                    <a:pt x="18516" y="20983"/>
                  </a:lnTo>
                  <a:lnTo>
                    <a:pt x="19672" y="21214"/>
                  </a:lnTo>
                  <a:lnTo>
                    <a:pt x="20829" y="21446"/>
                  </a:lnTo>
                  <a:lnTo>
                    <a:pt x="21600" y="21169"/>
                  </a:lnTo>
                  <a:lnTo>
                    <a:pt x="21600" y="19875"/>
                  </a:lnTo>
                  <a:lnTo>
                    <a:pt x="21600" y="18582"/>
                  </a:lnTo>
                  <a:lnTo>
                    <a:pt x="21600" y="17289"/>
                  </a:lnTo>
                  <a:lnTo>
                    <a:pt x="21600" y="15995"/>
                  </a:lnTo>
                  <a:lnTo>
                    <a:pt x="21600" y="14702"/>
                  </a:lnTo>
                  <a:lnTo>
                    <a:pt x="21600" y="13409"/>
                  </a:lnTo>
                  <a:lnTo>
                    <a:pt x="21600" y="12116"/>
                  </a:lnTo>
                  <a:lnTo>
                    <a:pt x="21600" y="10822"/>
                  </a:lnTo>
                  <a:lnTo>
                    <a:pt x="21598" y="9529"/>
                  </a:lnTo>
                  <a:lnTo>
                    <a:pt x="21498" y="8241"/>
                  </a:lnTo>
                  <a:lnTo>
                    <a:pt x="21244" y="6980"/>
                  </a:lnTo>
                  <a:lnTo>
                    <a:pt x="20839" y="5767"/>
                  </a:lnTo>
                  <a:lnTo>
                    <a:pt x="20290" y="4624"/>
                  </a:lnTo>
                  <a:lnTo>
                    <a:pt x="19608" y="3572"/>
                  </a:lnTo>
                  <a:lnTo>
                    <a:pt x="18806" y="2627"/>
                  </a:lnTo>
                  <a:lnTo>
                    <a:pt x="17897" y="1808"/>
                  </a:lnTo>
                  <a:lnTo>
                    <a:pt x="16898" y="1128"/>
                  </a:lnTo>
                  <a:lnTo>
                    <a:pt x="15826" y="600"/>
                  </a:lnTo>
                  <a:lnTo>
                    <a:pt x="14699" y="234"/>
                  </a:lnTo>
                  <a:lnTo>
                    <a:pt x="13538" y="37"/>
                  </a:lnTo>
                  <a:lnTo>
                    <a:pt x="12364" y="0"/>
                  </a:lnTo>
                  <a:lnTo>
                    <a:pt x="11188" y="0"/>
                  </a:lnTo>
                  <a:lnTo>
                    <a:pt x="10012" y="0"/>
                  </a:lnTo>
                  <a:lnTo>
                    <a:pt x="8836" y="0"/>
                  </a:lnTo>
                </a:path>
              </a:pathLst>
            </a:custGeom>
            <a:ln w="12700">
              <a:solidFill>
                <a:srgbClr val="2563EB"/>
              </a:solidFill>
              <a:prstDash val="solid"/>
            </a:ln>
          </p:spPr>
        </p:sp>
        <p:sp>
          <p:nvSpPr>
            <p:cNvPr id="55" name="直接连接符 54"/>
            <p:cNvSpPr/>
            <p:nvPr/>
          </p:nvSpPr>
          <p:spPr>
            <a:xfrm>
              <a:off x="328613" y="350044"/>
              <a:ext cx="28575" cy="0"/>
            </a:xfrm>
            <a:prstGeom prst="line">
              <a:avLst/>
            </a:prstGeom>
            <a:noFill/>
            <a:ln w="12700">
              <a:solidFill>
                <a:srgbClr val="2563EB"/>
              </a:solidFill>
              <a:prstDash val="solid"/>
            </a:ln>
          </p:spPr>
        </p:sp>
        <p:sp>
          <p:nvSpPr>
            <p:cNvPr id="56" name="直接连接符 55"/>
            <p:cNvSpPr/>
            <p:nvPr/>
          </p:nvSpPr>
          <p:spPr>
            <a:xfrm>
              <a:off x="342900" y="335757"/>
              <a:ext cx="0" cy="28575"/>
            </a:xfrm>
            <a:prstGeom prst="line">
              <a:avLst/>
            </a:prstGeom>
            <a:noFill/>
            <a:ln w="12700">
              <a:solidFill>
                <a:srgbClr val="2563EB"/>
              </a:solidFill>
              <a:prstDash val="solid"/>
            </a:ln>
          </p:spPr>
        </p:sp>
        <p:sp>
          <p:nvSpPr>
            <p:cNvPr id="57" name="矩形 56"/>
            <p:cNvSpPr/>
            <p:nvPr/>
          </p:nvSpPr>
          <p:spPr>
            <a:xfrm>
              <a:off x="178594" y="664369"/>
              <a:ext cx="285750" cy="157163"/>
            </a:xfrm>
            <a:prstGeom prst="rect">
              <a:avLst/>
            </a:prstGeom>
            <a:noFill/>
          </p:spPr>
          <p:txBody>
            <a:bodyPr wrap="none" lIns="0" tIns="0" rIns="0" bIns="0" rtlCol="0" anchor="ctr"/>
            <a:lstStyle/>
            <a:p>
              <a:pPr marL="0" indent="0">
                <a:lnSpc>
                  <a:spcPct val="150000"/>
                </a:lnSpc>
                <a:buNone/>
              </a:pPr>
              <a:r>
                <a:rPr lang="zh-CN" sz="1100" b="1" dirty="0">
                  <a:solidFill>
                    <a:srgbClr val="2E6EA6"/>
                  </a:solidFill>
                  <a:latin typeface="Arial" panose="020B0604020202020204" pitchFamily="34" charset="0"/>
                  <a:ea typeface="微软雅黑" panose="020B0503020204020204" pitchFamily="34" charset="-122"/>
                </a:rPr>
                <a:t>护士</a:t>
              </a:r>
              <a:endParaRPr lang="en-US" sz="1100" dirty="0"/>
            </a:p>
          </p:txBody>
        </p:sp>
        <p:sp>
          <p:nvSpPr>
            <p:cNvPr id="58" name="圆角矩形 57"/>
            <p:cNvSpPr/>
            <p:nvPr/>
          </p:nvSpPr>
          <p:spPr>
            <a:xfrm>
              <a:off x="521494" y="664369"/>
              <a:ext cx="414449" cy="157163"/>
            </a:xfrm>
            <a:prstGeom prst="roundRect">
              <a:avLst>
                <a:gd name="adj" fmla="val 18182"/>
              </a:avLst>
            </a:prstGeom>
            <a:solidFill>
              <a:srgbClr val="5B9DFF">
                <a:alpha val="10000"/>
              </a:srgbClr>
            </a:solidFill>
          </p:spPr>
        </p:sp>
        <p:sp>
          <p:nvSpPr>
            <p:cNvPr id="59" name="矩形 58"/>
            <p:cNvSpPr/>
            <p:nvPr/>
          </p:nvSpPr>
          <p:spPr>
            <a:xfrm>
              <a:off x="521494" y="664369"/>
              <a:ext cx="414449" cy="157163"/>
            </a:xfrm>
            <a:prstGeom prst="rect">
              <a:avLst/>
            </a:prstGeom>
            <a:noFill/>
          </p:spPr>
          <p:txBody>
            <a:bodyPr wrap="none" lIns="58928" tIns="14732" rIns="58928" bIns="14732" rtlCol="0" anchor="t"/>
            <a:lstStyle/>
            <a:p>
              <a:pPr marL="0" indent="0">
                <a:lnSpc>
                  <a:spcPct val="150000"/>
                </a:lnSpc>
                <a:buNone/>
              </a:pPr>
              <a:r>
                <a:rPr lang="en-US" sz="600" b="1" dirty="0">
                  <a:solidFill>
                    <a:srgbClr val="5B9DFF"/>
                  </a:solidFill>
                  <a:latin typeface="Arial" panose="020B0604020202020204" pitchFamily="34" charset="0"/>
                </a:rPr>
                <a:t>NURSE</a:t>
              </a:r>
              <a:endParaRPr lang="en-US" sz="600" dirty="0"/>
            </a:p>
          </p:txBody>
        </p:sp>
        <p:sp>
          <p:nvSpPr>
            <p:cNvPr id="60" name="矩形 59"/>
            <p:cNvSpPr/>
            <p:nvPr/>
          </p:nvSpPr>
          <p:spPr>
            <a:xfrm>
              <a:off x="178594" y="907257"/>
              <a:ext cx="1220130" cy="150019"/>
            </a:xfrm>
            <a:prstGeom prst="rect">
              <a:avLst/>
            </a:prstGeom>
            <a:noFill/>
          </p:spPr>
          <p:txBody>
            <a:bodyPr wrap="none" lIns="0"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医疗护理的执行者。</a:t>
              </a:r>
              <a:endParaRPr lang="en-US" sz="700" dirty="0"/>
            </a:p>
          </p:txBody>
        </p:sp>
        <p:sp>
          <p:nvSpPr>
            <p:cNvPr id="61" name="矩形 60"/>
            <p:cNvSpPr/>
            <p:nvPr/>
          </p:nvSpPr>
          <p:spPr>
            <a:xfrm>
              <a:off x="178594" y="1143000"/>
              <a:ext cx="1220130" cy="144661"/>
            </a:xfrm>
            <a:prstGeom prst="rect">
              <a:avLst/>
            </a:prstGeom>
            <a:noFill/>
          </p:spPr>
          <p:txBody>
            <a:bodyPr wrap="none" lIns="132588"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查看患者信息与记录护理</a:t>
              </a:r>
              <a:endParaRPr lang="en-US" sz="700" dirty="0"/>
            </a:p>
          </p:txBody>
        </p:sp>
        <p:sp>
          <p:nvSpPr>
            <p:cNvPr id="63" name="矩形 62"/>
            <p:cNvSpPr/>
            <p:nvPr/>
          </p:nvSpPr>
          <p:spPr>
            <a:xfrm>
              <a:off x="178594" y="1344811"/>
              <a:ext cx="1220130" cy="144661"/>
            </a:xfrm>
            <a:prstGeom prst="rect">
              <a:avLst/>
            </a:prstGeom>
            <a:noFill/>
          </p:spPr>
          <p:txBody>
            <a:bodyPr wrap="none" lIns="132588" tIns="0" rIns="0" bIns="0" rtlCol="0" anchor="t"/>
            <a:lstStyle/>
            <a:p>
              <a:pPr marL="0" indent="0">
                <a:lnSpc>
                  <a:spcPct val="150000"/>
                </a:lnSpc>
                <a:buNone/>
              </a:pPr>
              <a:r>
                <a:rPr lang="en-US" sz="700" dirty="0">
                  <a:solidFill>
                    <a:srgbClr val="1F2A37"/>
                  </a:solidFill>
                  <a:latin typeface="Arial" panose="020B0604020202020204" pitchFamily="34" charset="0"/>
                  <a:ea typeface="Arial" panose="020B0604020202020204" pitchFamily="34" charset="-122"/>
                  <a:cs typeface="Arial" panose="020B0604020202020204" pitchFamily="34" charset="-120"/>
                </a:rPr>
                <a:t>查看个人排班</a:t>
              </a:r>
              <a:endParaRPr lang="en-US" sz="700" dirty="0"/>
            </a:p>
          </p:txBody>
        </p:sp>
        <p:sp>
          <p:nvSpPr>
            <p:cNvPr id="65" name="矩形 64"/>
            <p:cNvSpPr/>
            <p:nvPr/>
          </p:nvSpPr>
          <p:spPr>
            <a:xfrm>
              <a:off x="178594" y="1546622"/>
              <a:ext cx="1220130" cy="289322"/>
            </a:xfrm>
            <a:prstGeom prst="rect">
              <a:avLst/>
            </a:prstGeom>
            <a:noFill/>
          </p:spPr>
          <p:txBody>
            <a:bodyPr wrap="square" lIns="132588"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智能咨询受限于公开知识库</a:t>
              </a:r>
              <a:endParaRPr lang="en-US" sz="700" dirty="0"/>
            </a:p>
          </p:txBody>
        </p:sp>
      </p:grpSp>
      <p:pic>
        <p:nvPicPr>
          <p:cNvPr id="6" name="图片 5"/>
          <p:cNvPicPr>
            <a:picLocks noChangeAspect="1"/>
          </p:cNvPicPr>
          <p:nvPr/>
        </p:nvPicPr>
        <p:blipFill>
          <a:blip r:embed="rId2"/>
          <a:stretch>
            <a:fillRect/>
          </a:stretch>
        </p:blipFill>
        <p:spPr>
          <a:xfrm>
            <a:off x="2105660" y="1195070"/>
            <a:ext cx="6600190" cy="3114675"/>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5="http://schemas.microsoft.com/office/powerpoint/2012/main" Requires="p15">
      <p:transition xmlns:p14="http://schemas.microsoft.com/office/powerpoint/2010/main" spd="med" Requires="p14">
        <p15:prstTrans prst="airplan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0"/>
                                  </p:stCondLst>
                                  <p:childTnLst>
                                    <p:set>
                                      <p:cBhvr>
                                        <p:cTn id="6" dur="1" fill="hold">
                                          <p:stCondLst>
                                            <p:cond delay="0"/>
                                          </p:stCondLst>
                                        </p:cTn>
                                        <p:tgtEl>
                                          <p:spTgt spid="88"/>
                                        </p:tgtEl>
                                        <p:attrNameLst>
                                          <p:attrName>style.visibility</p:attrName>
                                        </p:attrNameLst>
                                      </p:cBhvr>
                                      <p:to>
                                        <p:strVal val="visible"/>
                                      </p:to>
                                    </p:set>
                                    <p:animEffect transition="in" filter="fade">
                                      <p:cBhvr>
                                        <p:cTn id="7" dur="600"/>
                                        <p:tgtEl>
                                          <p:spTgt spid="88"/>
                                        </p:tgtEl>
                                      </p:cBhvr>
                                    </p:animEffect>
                                  </p:childTnLst>
                                </p:cTn>
                              </p:par>
                              <p:par>
                                <p:cTn id="8" presetID="2" presetClass="entr" presetSubtype="4" fill="hold" grpId="0" nodeType="withEffect">
                                  <p:stCondLst>
                                    <p:cond delay="400"/>
                                  </p:stCondLst>
                                  <p:childTnLst>
                                    <p:set>
                                      <p:cBhvr>
                                        <p:cTn id="9" dur="1" fill="hold">
                                          <p:stCondLst>
                                            <p:cond delay="0"/>
                                          </p:stCondLst>
                                        </p:cTn>
                                        <p:tgtEl>
                                          <p:spTgt spid="88"/>
                                        </p:tgtEl>
                                        <p:attrNameLst>
                                          <p:attrName>style.visibility</p:attrName>
                                        </p:attrNameLst>
                                      </p:cBhvr>
                                      <p:to>
                                        <p:strVal val="visible"/>
                                      </p:to>
                                    </p:set>
                                    <p:anim calcmode="lin" valueType="num">
                                      <p:cBhvr additive="base">
                                        <p:cTn id="10" dur="600" fill="hold"/>
                                        <p:tgtEl>
                                          <p:spTgt spid="88"/>
                                        </p:tgtEl>
                                        <p:attrNameLst>
                                          <p:attrName>ppt_x</p:attrName>
                                        </p:attrNameLst>
                                      </p:cBhvr>
                                      <p:tavLst>
                                        <p:tav tm="0">
                                          <p:val>
                                            <p:strVal val="#ppt_x"/>
                                          </p:val>
                                        </p:tav>
                                        <p:tav tm="100000">
                                          <p:val>
                                            <p:strVal val="#ppt_x"/>
                                          </p:val>
                                        </p:tav>
                                      </p:tavLst>
                                    </p:anim>
                                    <p:anim calcmode="lin" valueType="num">
                                      <p:cBhvr additive="base">
                                        <p:cTn id="11" dur="600" fill="hold"/>
                                        <p:tgtEl>
                                          <p:spTgt spid="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bldLvl="0"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342900" y="342900"/>
            <a:ext cx="8458200" cy="285750"/>
          </a:xfrm>
          <a:prstGeom prst="rect">
            <a:avLst/>
          </a:prstGeom>
          <a:noFill/>
        </p:spPr>
        <p:txBody>
          <a:bodyPr wrap="none" lIns="0" tIns="0" rIns="0" bIns="0" rtlCol="0" anchor="t"/>
          <a:lstStyle/>
          <a:p>
            <a:pPr marL="0" indent="0" algn="l">
              <a:lnSpc>
                <a:spcPct val="125000"/>
              </a:lnSpc>
              <a:defRPr/>
            </a:pPr>
            <a:r>
              <a:rPr lang="en-US" sz="19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成果展示 -</a:t>
            </a:r>
            <a:r>
              <a:rPr lang="zh-CN" altLang="en-US" sz="19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护士端</a:t>
            </a:r>
            <a:endParaRPr lang="zh-CN" altLang="en-US" sz="19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 name="Shape 1"/>
          <p:cNvSpPr/>
          <p:nvPr/>
        </p:nvSpPr>
        <p:spPr>
          <a:xfrm>
            <a:off x="342900" y="771525"/>
            <a:ext cx="685800" cy="28575"/>
          </a:xfrm>
          <a:prstGeom prst="roundRect">
            <a:avLst>
              <a:gd name="adj" fmla="val 50000"/>
            </a:avLst>
          </a:prstGeom>
          <a:solidFill>
            <a:srgbClr val="5B9DFF"/>
          </a:solidFill>
        </p:spPr>
      </p:sp>
      <p:grpSp>
        <p:nvGrpSpPr>
          <p:cNvPr id="88" name="h2p-grp-h2p-animroot-4"/>
          <p:cNvGrpSpPr/>
          <p:nvPr/>
        </p:nvGrpSpPr>
        <p:grpSpPr>
          <a:xfrm>
            <a:off x="283778" y="1335360"/>
            <a:ext cx="1577318" cy="3303315"/>
            <a:chOff x="0" y="0"/>
            <a:chExt cx="1577318" cy="3303315"/>
          </a:xfrm>
        </p:grpSpPr>
        <p:sp>
          <p:nvSpPr>
            <p:cNvPr id="52" name="圆角矩形 51"/>
            <p:cNvSpPr/>
            <p:nvPr/>
          </p:nvSpPr>
          <p:spPr>
            <a:xfrm>
              <a:off x="0" y="0"/>
              <a:ext cx="1577318" cy="3303315"/>
            </a:xfrm>
            <a:prstGeom prst="roundRect">
              <a:avLst>
                <a:gd name="adj" fmla="val 5435"/>
              </a:avLst>
            </a:prstGeom>
            <a:solidFill>
              <a:srgbClr val="FFFFFF"/>
            </a:solidFill>
            <a:ln w="6350">
              <a:solidFill>
                <a:srgbClr val="DCEAF5"/>
              </a:solidFill>
              <a:prstDash val="solid"/>
            </a:ln>
          </p:spPr>
        </p:sp>
        <p:sp>
          <p:nvSpPr>
            <p:cNvPr id="53" name="圆角矩形 52"/>
            <p:cNvSpPr/>
            <p:nvPr/>
          </p:nvSpPr>
          <p:spPr>
            <a:xfrm>
              <a:off x="178594" y="178594"/>
              <a:ext cx="342900" cy="342900"/>
            </a:xfrm>
            <a:prstGeom prst="roundRect">
              <a:avLst>
                <a:gd name="adj" fmla="val 20833"/>
              </a:avLst>
            </a:prstGeom>
            <a:solidFill>
              <a:srgbClr val="EAF5FF"/>
            </a:solidFill>
          </p:spPr>
        </p:sp>
        <p:sp>
          <p:nvSpPr>
            <p:cNvPr id="54" name="任意多边形 53"/>
            <p:cNvSpPr/>
            <p:nvPr/>
          </p:nvSpPr>
          <p:spPr>
            <a:xfrm>
              <a:off x="278606" y="278607"/>
              <a:ext cx="157163" cy="142875"/>
            </a:xfrm>
            <a:custGeom>
              <a:avLst/>
              <a:gdLst/>
              <a:ahLst/>
              <a:cxnLst/>
              <a:pathLst>
                <a:path w="21600" h="21600">
                  <a:moveTo>
                    <a:pt x="8836" y="0"/>
                  </a:moveTo>
                  <a:lnTo>
                    <a:pt x="7664" y="85"/>
                  </a:lnTo>
                  <a:lnTo>
                    <a:pt x="6512" y="340"/>
                  </a:lnTo>
                  <a:lnTo>
                    <a:pt x="5402" y="762"/>
                  </a:lnTo>
                  <a:lnTo>
                    <a:pt x="4352" y="1343"/>
                  </a:lnTo>
                  <a:lnTo>
                    <a:pt x="3382" y="2072"/>
                  </a:lnTo>
                  <a:lnTo>
                    <a:pt x="2509" y="2936"/>
                  </a:lnTo>
                  <a:lnTo>
                    <a:pt x="1746" y="3919"/>
                  </a:lnTo>
                  <a:lnTo>
                    <a:pt x="1108" y="5004"/>
                  </a:lnTo>
                  <a:lnTo>
                    <a:pt x="607" y="6173"/>
                  </a:lnTo>
                  <a:lnTo>
                    <a:pt x="252" y="7405"/>
                  </a:lnTo>
                  <a:lnTo>
                    <a:pt x="50" y="8678"/>
                  </a:lnTo>
                  <a:lnTo>
                    <a:pt x="0" y="9969"/>
                  </a:lnTo>
                  <a:lnTo>
                    <a:pt x="0" y="11262"/>
                  </a:lnTo>
                  <a:lnTo>
                    <a:pt x="0" y="12556"/>
                  </a:lnTo>
                  <a:lnTo>
                    <a:pt x="0" y="13849"/>
                  </a:lnTo>
                  <a:lnTo>
                    <a:pt x="0" y="15142"/>
                  </a:lnTo>
                  <a:lnTo>
                    <a:pt x="0" y="16436"/>
                  </a:lnTo>
                  <a:lnTo>
                    <a:pt x="0" y="17729"/>
                  </a:lnTo>
                  <a:lnTo>
                    <a:pt x="0" y="19022"/>
                  </a:lnTo>
                  <a:lnTo>
                    <a:pt x="0" y="20315"/>
                  </a:lnTo>
                  <a:lnTo>
                    <a:pt x="8" y="21598"/>
                  </a:lnTo>
                  <a:lnTo>
                    <a:pt x="1164" y="21367"/>
                  </a:lnTo>
                  <a:lnTo>
                    <a:pt x="2321" y="21136"/>
                  </a:lnTo>
                  <a:lnTo>
                    <a:pt x="3478" y="20904"/>
                  </a:lnTo>
                  <a:lnTo>
                    <a:pt x="4635" y="20673"/>
                  </a:lnTo>
                  <a:lnTo>
                    <a:pt x="5791" y="20442"/>
                  </a:lnTo>
                  <a:lnTo>
                    <a:pt x="6948" y="20210"/>
                  </a:lnTo>
                  <a:lnTo>
                    <a:pt x="8105" y="19979"/>
                  </a:lnTo>
                  <a:lnTo>
                    <a:pt x="9262" y="19748"/>
                  </a:lnTo>
                  <a:lnTo>
                    <a:pt x="10418" y="19516"/>
                  </a:lnTo>
                  <a:lnTo>
                    <a:pt x="11575" y="19595"/>
                  </a:lnTo>
                  <a:lnTo>
                    <a:pt x="12732" y="19826"/>
                  </a:lnTo>
                  <a:lnTo>
                    <a:pt x="13889" y="20058"/>
                  </a:lnTo>
                  <a:lnTo>
                    <a:pt x="15045" y="20289"/>
                  </a:lnTo>
                  <a:lnTo>
                    <a:pt x="16202" y="20520"/>
                  </a:lnTo>
                  <a:lnTo>
                    <a:pt x="17359" y="20752"/>
                  </a:lnTo>
                  <a:lnTo>
                    <a:pt x="18516" y="20983"/>
                  </a:lnTo>
                  <a:lnTo>
                    <a:pt x="19672" y="21214"/>
                  </a:lnTo>
                  <a:lnTo>
                    <a:pt x="20829" y="21446"/>
                  </a:lnTo>
                  <a:lnTo>
                    <a:pt x="21600" y="21169"/>
                  </a:lnTo>
                  <a:lnTo>
                    <a:pt x="21600" y="19875"/>
                  </a:lnTo>
                  <a:lnTo>
                    <a:pt x="21600" y="18582"/>
                  </a:lnTo>
                  <a:lnTo>
                    <a:pt x="21600" y="17289"/>
                  </a:lnTo>
                  <a:lnTo>
                    <a:pt x="21600" y="15995"/>
                  </a:lnTo>
                  <a:lnTo>
                    <a:pt x="21600" y="14702"/>
                  </a:lnTo>
                  <a:lnTo>
                    <a:pt x="21600" y="13409"/>
                  </a:lnTo>
                  <a:lnTo>
                    <a:pt x="21600" y="12116"/>
                  </a:lnTo>
                  <a:lnTo>
                    <a:pt x="21600" y="10822"/>
                  </a:lnTo>
                  <a:lnTo>
                    <a:pt x="21598" y="9529"/>
                  </a:lnTo>
                  <a:lnTo>
                    <a:pt x="21498" y="8241"/>
                  </a:lnTo>
                  <a:lnTo>
                    <a:pt x="21244" y="6980"/>
                  </a:lnTo>
                  <a:lnTo>
                    <a:pt x="20839" y="5767"/>
                  </a:lnTo>
                  <a:lnTo>
                    <a:pt x="20290" y="4624"/>
                  </a:lnTo>
                  <a:lnTo>
                    <a:pt x="19608" y="3572"/>
                  </a:lnTo>
                  <a:lnTo>
                    <a:pt x="18806" y="2627"/>
                  </a:lnTo>
                  <a:lnTo>
                    <a:pt x="17897" y="1808"/>
                  </a:lnTo>
                  <a:lnTo>
                    <a:pt x="16898" y="1128"/>
                  </a:lnTo>
                  <a:lnTo>
                    <a:pt x="15826" y="600"/>
                  </a:lnTo>
                  <a:lnTo>
                    <a:pt x="14699" y="234"/>
                  </a:lnTo>
                  <a:lnTo>
                    <a:pt x="13538" y="37"/>
                  </a:lnTo>
                  <a:lnTo>
                    <a:pt x="12364" y="0"/>
                  </a:lnTo>
                  <a:lnTo>
                    <a:pt x="11188" y="0"/>
                  </a:lnTo>
                  <a:lnTo>
                    <a:pt x="10012" y="0"/>
                  </a:lnTo>
                  <a:lnTo>
                    <a:pt x="8836" y="0"/>
                  </a:lnTo>
                </a:path>
              </a:pathLst>
            </a:custGeom>
            <a:ln w="12700">
              <a:solidFill>
                <a:srgbClr val="2563EB"/>
              </a:solidFill>
              <a:prstDash val="solid"/>
            </a:ln>
          </p:spPr>
        </p:sp>
        <p:sp>
          <p:nvSpPr>
            <p:cNvPr id="55" name="直接连接符 54"/>
            <p:cNvSpPr/>
            <p:nvPr/>
          </p:nvSpPr>
          <p:spPr>
            <a:xfrm>
              <a:off x="328613" y="350044"/>
              <a:ext cx="28575" cy="0"/>
            </a:xfrm>
            <a:prstGeom prst="line">
              <a:avLst/>
            </a:prstGeom>
            <a:noFill/>
            <a:ln w="12700">
              <a:solidFill>
                <a:srgbClr val="2563EB"/>
              </a:solidFill>
              <a:prstDash val="solid"/>
            </a:ln>
          </p:spPr>
        </p:sp>
        <p:sp>
          <p:nvSpPr>
            <p:cNvPr id="56" name="直接连接符 55"/>
            <p:cNvSpPr/>
            <p:nvPr/>
          </p:nvSpPr>
          <p:spPr>
            <a:xfrm>
              <a:off x="342900" y="335757"/>
              <a:ext cx="0" cy="28575"/>
            </a:xfrm>
            <a:prstGeom prst="line">
              <a:avLst/>
            </a:prstGeom>
            <a:noFill/>
            <a:ln w="12700">
              <a:solidFill>
                <a:srgbClr val="2563EB"/>
              </a:solidFill>
              <a:prstDash val="solid"/>
            </a:ln>
          </p:spPr>
        </p:sp>
        <p:sp>
          <p:nvSpPr>
            <p:cNvPr id="57" name="矩形 56"/>
            <p:cNvSpPr/>
            <p:nvPr/>
          </p:nvSpPr>
          <p:spPr>
            <a:xfrm>
              <a:off x="178594" y="664369"/>
              <a:ext cx="285750" cy="157163"/>
            </a:xfrm>
            <a:prstGeom prst="rect">
              <a:avLst/>
            </a:prstGeom>
            <a:noFill/>
          </p:spPr>
          <p:txBody>
            <a:bodyPr wrap="none" lIns="0" tIns="0" rIns="0" bIns="0" rtlCol="0" anchor="ctr"/>
            <a:lstStyle/>
            <a:p>
              <a:pPr marL="0" indent="0">
                <a:lnSpc>
                  <a:spcPct val="150000"/>
                </a:lnSpc>
                <a:buNone/>
              </a:pPr>
              <a:r>
                <a:rPr lang="zh-CN" sz="1100" b="1" dirty="0">
                  <a:solidFill>
                    <a:srgbClr val="2E6EA6"/>
                  </a:solidFill>
                  <a:latin typeface="Arial" panose="020B0604020202020204" pitchFamily="34" charset="0"/>
                  <a:ea typeface="微软雅黑" panose="020B0503020204020204" pitchFamily="34" charset="-122"/>
                </a:rPr>
                <a:t>护士</a:t>
              </a:r>
              <a:endParaRPr lang="en-US" sz="1100" dirty="0"/>
            </a:p>
          </p:txBody>
        </p:sp>
        <p:sp>
          <p:nvSpPr>
            <p:cNvPr id="58" name="圆角矩形 57"/>
            <p:cNvSpPr/>
            <p:nvPr/>
          </p:nvSpPr>
          <p:spPr>
            <a:xfrm>
              <a:off x="521494" y="664369"/>
              <a:ext cx="414449" cy="157163"/>
            </a:xfrm>
            <a:prstGeom prst="roundRect">
              <a:avLst>
                <a:gd name="adj" fmla="val 18182"/>
              </a:avLst>
            </a:prstGeom>
            <a:solidFill>
              <a:srgbClr val="5B9DFF">
                <a:alpha val="10000"/>
              </a:srgbClr>
            </a:solidFill>
          </p:spPr>
        </p:sp>
        <p:sp>
          <p:nvSpPr>
            <p:cNvPr id="59" name="矩形 58"/>
            <p:cNvSpPr/>
            <p:nvPr/>
          </p:nvSpPr>
          <p:spPr>
            <a:xfrm>
              <a:off x="521494" y="664369"/>
              <a:ext cx="414449" cy="157163"/>
            </a:xfrm>
            <a:prstGeom prst="rect">
              <a:avLst/>
            </a:prstGeom>
            <a:noFill/>
          </p:spPr>
          <p:txBody>
            <a:bodyPr wrap="none" lIns="58928" tIns="14732" rIns="58928" bIns="14732" rtlCol="0" anchor="t"/>
            <a:lstStyle/>
            <a:p>
              <a:pPr marL="0" indent="0">
                <a:lnSpc>
                  <a:spcPct val="150000"/>
                </a:lnSpc>
                <a:buNone/>
              </a:pPr>
              <a:r>
                <a:rPr lang="en-US" sz="600" b="1" dirty="0">
                  <a:solidFill>
                    <a:srgbClr val="5B9DFF"/>
                  </a:solidFill>
                  <a:latin typeface="Arial" panose="020B0604020202020204" pitchFamily="34" charset="0"/>
                </a:rPr>
                <a:t>NURSE</a:t>
              </a:r>
              <a:endParaRPr lang="en-US" sz="600" dirty="0"/>
            </a:p>
          </p:txBody>
        </p:sp>
        <p:sp>
          <p:nvSpPr>
            <p:cNvPr id="60" name="矩形 59"/>
            <p:cNvSpPr/>
            <p:nvPr/>
          </p:nvSpPr>
          <p:spPr>
            <a:xfrm>
              <a:off x="178594" y="907257"/>
              <a:ext cx="1220130" cy="150019"/>
            </a:xfrm>
            <a:prstGeom prst="rect">
              <a:avLst/>
            </a:prstGeom>
            <a:noFill/>
          </p:spPr>
          <p:txBody>
            <a:bodyPr wrap="none" lIns="0"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医疗护理的执行者。</a:t>
              </a:r>
              <a:endParaRPr lang="en-US" sz="700" dirty="0"/>
            </a:p>
          </p:txBody>
        </p:sp>
        <p:sp>
          <p:nvSpPr>
            <p:cNvPr id="61" name="矩形 60"/>
            <p:cNvSpPr/>
            <p:nvPr/>
          </p:nvSpPr>
          <p:spPr>
            <a:xfrm>
              <a:off x="178594" y="1143000"/>
              <a:ext cx="1220130" cy="144661"/>
            </a:xfrm>
            <a:prstGeom prst="rect">
              <a:avLst/>
            </a:prstGeom>
            <a:noFill/>
          </p:spPr>
          <p:txBody>
            <a:bodyPr wrap="none" lIns="132588"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查看患者信息与记录护理</a:t>
              </a:r>
              <a:endParaRPr lang="en-US" sz="700" dirty="0"/>
            </a:p>
          </p:txBody>
        </p:sp>
        <p:sp>
          <p:nvSpPr>
            <p:cNvPr id="63" name="矩形 62"/>
            <p:cNvSpPr/>
            <p:nvPr/>
          </p:nvSpPr>
          <p:spPr>
            <a:xfrm>
              <a:off x="178594" y="1344811"/>
              <a:ext cx="1220130" cy="144661"/>
            </a:xfrm>
            <a:prstGeom prst="rect">
              <a:avLst/>
            </a:prstGeom>
            <a:noFill/>
          </p:spPr>
          <p:txBody>
            <a:bodyPr wrap="none" lIns="132588" tIns="0" rIns="0" bIns="0" rtlCol="0" anchor="t"/>
            <a:lstStyle/>
            <a:p>
              <a:pPr marL="0" indent="0">
                <a:lnSpc>
                  <a:spcPct val="150000"/>
                </a:lnSpc>
                <a:buNone/>
              </a:pPr>
              <a:r>
                <a:rPr lang="en-US" sz="700" dirty="0">
                  <a:solidFill>
                    <a:srgbClr val="1F2A37"/>
                  </a:solidFill>
                  <a:latin typeface="Arial" panose="020B0604020202020204" pitchFamily="34" charset="0"/>
                  <a:ea typeface="Arial" panose="020B0604020202020204" pitchFamily="34" charset="-122"/>
                  <a:cs typeface="Arial" panose="020B0604020202020204" pitchFamily="34" charset="-120"/>
                </a:rPr>
                <a:t>查看个人排班</a:t>
              </a:r>
              <a:endParaRPr lang="en-US" sz="700" dirty="0"/>
            </a:p>
          </p:txBody>
        </p:sp>
        <p:sp>
          <p:nvSpPr>
            <p:cNvPr id="65" name="矩形 64"/>
            <p:cNvSpPr/>
            <p:nvPr/>
          </p:nvSpPr>
          <p:spPr>
            <a:xfrm>
              <a:off x="178594" y="1546622"/>
              <a:ext cx="1220130" cy="289322"/>
            </a:xfrm>
            <a:prstGeom prst="rect">
              <a:avLst/>
            </a:prstGeom>
            <a:noFill/>
          </p:spPr>
          <p:txBody>
            <a:bodyPr wrap="square" lIns="132588"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智能咨询受限于公开知识库</a:t>
              </a:r>
              <a:endParaRPr lang="en-US" sz="700" dirty="0"/>
            </a:p>
          </p:txBody>
        </p:sp>
      </p:grpSp>
      <p:pic>
        <p:nvPicPr>
          <p:cNvPr id="5" name="图片 4"/>
          <p:cNvPicPr>
            <a:picLocks noChangeAspect="1"/>
          </p:cNvPicPr>
          <p:nvPr/>
        </p:nvPicPr>
        <p:blipFill>
          <a:blip r:embed="rId2"/>
          <a:stretch>
            <a:fillRect/>
          </a:stretch>
        </p:blipFill>
        <p:spPr>
          <a:xfrm>
            <a:off x="2518410" y="807720"/>
            <a:ext cx="5900420" cy="3830955"/>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5="http://schemas.microsoft.com/office/powerpoint/2012/main" Requires="p15">
      <p:transition xmlns:p14="http://schemas.microsoft.com/office/powerpoint/2010/main" spd="med" Requires="p14">
        <p15:prstTrans prst="airplan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0"/>
                                  </p:stCondLst>
                                  <p:childTnLst>
                                    <p:set>
                                      <p:cBhvr>
                                        <p:cTn id="6" dur="1" fill="hold">
                                          <p:stCondLst>
                                            <p:cond delay="0"/>
                                          </p:stCondLst>
                                        </p:cTn>
                                        <p:tgtEl>
                                          <p:spTgt spid="88"/>
                                        </p:tgtEl>
                                        <p:attrNameLst>
                                          <p:attrName>style.visibility</p:attrName>
                                        </p:attrNameLst>
                                      </p:cBhvr>
                                      <p:to>
                                        <p:strVal val="visible"/>
                                      </p:to>
                                    </p:set>
                                    <p:animEffect transition="in" filter="fade">
                                      <p:cBhvr>
                                        <p:cTn id="7" dur="600"/>
                                        <p:tgtEl>
                                          <p:spTgt spid="88"/>
                                        </p:tgtEl>
                                      </p:cBhvr>
                                    </p:animEffect>
                                  </p:childTnLst>
                                </p:cTn>
                              </p:par>
                              <p:par>
                                <p:cTn id="8" presetID="2" presetClass="entr" presetSubtype="4" fill="hold" grpId="0" nodeType="withEffect">
                                  <p:stCondLst>
                                    <p:cond delay="400"/>
                                  </p:stCondLst>
                                  <p:childTnLst>
                                    <p:set>
                                      <p:cBhvr>
                                        <p:cTn id="9" dur="1" fill="hold">
                                          <p:stCondLst>
                                            <p:cond delay="0"/>
                                          </p:stCondLst>
                                        </p:cTn>
                                        <p:tgtEl>
                                          <p:spTgt spid="88"/>
                                        </p:tgtEl>
                                        <p:attrNameLst>
                                          <p:attrName>style.visibility</p:attrName>
                                        </p:attrNameLst>
                                      </p:cBhvr>
                                      <p:to>
                                        <p:strVal val="visible"/>
                                      </p:to>
                                    </p:set>
                                    <p:anim calcmode="lin" valueType="num">
                                      <p:cBhvr additive="base">
                                        <p:cTn id="10" dur="600" fill="hold"/>
                                        <p:tgtEl>
                                          <p:spTgt spid="88"/>
                                        </p:tgtEl>
                                        <p:attrNameLst>
                                          <p:attrName>ppt_x</p:attrName>
                                        </p:attrNameLst>
                                      </p:cBhvr>
                                      <p:tavLst>
                                        <p:tav tm="0">
                                          <p:val>
                                            <p:strVal val="#ppt_x"/>
                                          </p:val>
                                        </p:tav>
                                        <p:tav tm="100000">
                                          <p:val>
                                            <p:strVal val="#ppt_x"/>
                                          </p:val>
                                        </p:tav>
                                      </p:tavLst>
                                    </p:anim>
                                    <p:anim calcmode="lin" valueType="num">
                                      <p:cBhvr additive="base">
                                        <p:cTn id="11" dur="600" fill="hold"/>
                                        <p:tgtEl>
                                          <p:spTgt spid="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bldLvl="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342900" y="342900"/>
            <a:ext cx="8458200" cy="285750"/>
          </a:xfrm>
          <a:prstGeom prst="rect">
            <a:avLst/>
          </a:prstGeom>
          <a:noFill/>
        </p:spPr>
        <p:txBody>
          <a:bodyPr wrap="none" lIns="0" tIns="0" rIns="0" bIns="0" rtlCol="0" anchor="t"/>
          <a:lstStyle/>
          <a:p>
            <a:pPr marL="0" indent="0" algn="l">
              <a:lnSpc>
                <a:spcPct val="125000"/>
              </a:lnSpc>
              <a:defRPr/>
            </a:pPr>
            <a:r>
              <a:rPr lang="en-US" sz="19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成果展示 -</a:t>
            </a:r>
            <a:r>
              <a:rPr lang="zh-CN" altLang="en-US" sz="19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患者端</a:t>
            </a:r>
            <a:endParaRPr lang="zh-CN" altLang="en-US" sz="19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 name="Shape 1"/>
          <p:cNvSpPr/>
          <p:nvPr/>
        </p:nvSpPr>
        <p:spPr>
          <a:xfrm>
            <a:off x="342900" y="771525"/>
            <a:ext cx="685800" cy="28575"/>
          </a:xfrm>
          <a:prstGeom prst="roundRect">
            <a:avLst>
              <a:gd name="adj" fmla="val 50000"/>
            </a:avLst>
          </a:prstGeom>
          <a:solidFill>
            <a:srgbClr val="5B9DFF"/>
          </a:solidFill>
        </p:spPr>
      </p:sp>
      <p:grpSp>
        <p:nvGrpSpPr>
          <p:cNvPr id="86" name="h2p-grp-h2p-animroot-2"/>
          <p:cNvGrpSpPr/>
          <p:nvPr/>
        </p:nvGrpSpPr>
        <p:grpSpPr>
          <a:xfrm>
            <a:off x="272393" y="1335360"/>
            <a:ext cx="1577318" cy="3303315"/>
            <a:chOff x="0" y="0"/>
            <a:chExt cx="1577318" cy="3303315"/>
          </a:xfrm>
        </p:grpSpPr>
        <p:sp>
          <p:nvSpPr>
            <p:cNvPr id="21" name="圆角矩形 20"/>
            <p:cNvSpPr/>
            <p:nvPr/>
          </p:nvSpPr>
          <p:spPr>
            <a:xfrm>
              <a:off x="0" y="0"/>
              <a:ext cx="1577318" cy="3303315"/>
            </a:xfrm>
            <a:prstGeom prst="roundRect">
              <a:avLst>
                <a:gd name="adj" fmla="val 5435"/>
              </a:avLst>
            </a:prstGeom>
            <a:solidFill>
              <a:srgbClr val="FFFFFF"/>
            </a:solidFill>
            <a:ln w="6350">
              <a:solidFill>
                <a:srgbClr val="DCEAF5"/>
              </a:solidFill>
              <a:prstDash val="solid"/>
            </a:ln>
          </p:spPr>
        </p:sp>
        <p:sp>
          <p:nvSpPr>
            <p:cNvPr id="22" name="圆角矩形 21"/>
            <p:cNvSpPr/>
            <p:nvPr/>
          </p:nvSpPr>
          <p:spPr>
            <a:xfrm>
              <a:off x="178593" y="178594"/>
              <a:ext cx="342900" cy="342900"/>
            </a:xfrm>
            <a:prstGeom prst="roundRect">
              <a:avLst>
                <a:gd name="adj" fmla="val 20833"/>
              </a:avLst>
            </a:prstGeom>
            <a:solidFill>
              <a:srgbClr val="EAF5FF"/>
            </a:solidFill>
          </p:spPr>
        </p:sp>
        <p:sp>
          <p:nvSpPr>
            <p:cNvPr id="23" name="任意多边形 22"/>
            <p:cNvSpPr/>
            <p:nvPr/>
          </p:nvSpPr>
          <p:spPr>
            <a:xfrm>
              <a:off x="278606" y="285750"/>
              <a:ext cx="142875" cy="128588"/>
            </a:xfrm>
            <a:custGeom>
              <a:avLst/>
              <a:gdLst/>
              <a:ahLst/>
              <a:cxnLst/>
              <a:pathLst>
                <a:path w="21600" h="21600">
                  <a:moveTo>
                    <a:pt x="18360" y="13200"/>
                  </a:moveTo>
                  <a:lnTo>
                    <a:pt x="19248" y="12186"/>
                  </a:lnTo>
                  <a:lnTo>
                    <a:pt x="20067" y="11103"/>
                  </a:lnTo>
                  <a:lnTo>
                    <a:pt x="20769" y="9925"/>
                  </a:lnTo>
                  <a:lnTo>
                    <a:pt x="21292" y="8637"/>
                  </a:lnTo>
                  <a:lnTo>
                    <a:pt x="21568" y="7258"/>
                  </a:lnTo>
                  <a:lnTo>
                    <a:pt x="21562" y="5846"/>
                  </a:lnTo>
                  <a:lnTo>
                    <a:pt x="21283" y="4469"/>
                  </a:lnTo>
                  <a:lnTo>
                    <a:pt x="20746" y="3189"/>
                  </a:lnTo>
                  <a:lnTo>
                    <a:pt x="19976" y="2065"/>
                  </a:lnTo>
                  <a:lnTo>
                    <a:pt x="19009" y="1148"/>
                  </a:lnTo>
                  <a:lnTo>
                    <a:pt x="17889" y="481"/>
                  </a:lnTo>
                  <a:lnTo>
                    <a:pt x="16667" y="94"/>
                  </a:lnTo>
                  <a:lnTo>
                    <a:pt x="15398" y="4"/>
                  </a:lnTo>
                  <a:lnTo>
                    <a:pt x="14135" y="164"/>
                  </a:lnTo>
                  <a:lnTo>
                    <a:pt x="12933" y="623"/>
                  </a:lnTo>
                  <a:lnTo>
                    <a:pt x="11853" y="1367"/>
                  </a:lnTo>
                  <a:lnTo>
                    <a:pt x="10894" y="2296"/>
                  </a:lnTo>
                  <a:lnTo>
                    <a:pt x="9956" y="1548"/>
                  </a:lnTo>
                  <a:lnTo>
                    <a:pt x="8902" y="757"/>
                  </a:lnTo>
                  <a:lnTo>
                    <a:pt x="7723" y="233"/>
                  </a:lnTo>
                  <a:lnTo>
                    <a:pt x="6466" y="17"/>
                  </a:lnTo>
                  <a:lnTo>
                    <a:pt x="5195" y="51"/>
                  </a:lnTo>
                  <a:lnTo>
                    <a:pt x="3958" y="376"/>
                  </a:lnTo>
                  <a:lnTo>
                    <a:pt x="2813" y="988"/>
                  </a:lnTo>
                  <a:lnTo>
                    <a:pt x="1810" y="1856"/>
                  </a:lnTo>
                  <a:lnTo>
                    <a:pt x="996" y="2940"/>
                  </a:lnTo>
                  <a:lnTo>
                    <a:pt x="408" y="4192"/>
                  </a:lnTo>
                  <a:lnTo>
                    <a:pt x="74" y="5555"/>
                  </a:lnTo>
                  <a:lnTo>
                    <a:pt x="10" y="6965"/>
                  </a:lnTo>
                  <a:lnTo>
                    <a:pt x="228" y="8356"/>
                  </a:lnTo>
                  <a:lnTo>
                    <a:pt x="705" y="9666"/>
                  </a:lnTo>
                  <a:lnTo>
                    <a:pt x="1375" y="10867"/>
                  </a:lnTo>
                  <a:lnTo>
                    <a:pt x="2175" y="11968"/>
                  </a:lnTo>
                  <a:lnTo>
                    <a:pt x="3051" y="12993"/>
                  </a:lnTo>
                  <a:lnTo>
                    <a:pt x="3953" y="13992"/>
                  </a:lnTo>
                  <a:lnTo>
                    <a:pt x="4854" y="14993"/>
                  </a:lnTo>
                  <a:lnTo>
                    <a:pt x="5754" y="15993"/>
                  </a:lnTo>
                  <a:lnTo>
                    <a:pt x="6654" y="16994"/>
                  </a:lnTo>
                  <a:lnTo>
                    <a:pt x="7555" y="17994"/>
                  </a:lnTo>
                  <a:lnTo>
                    <a:pt x="8455" y="18995"/>
                  </a:lnTo>
                  <a:lnTo>
                    <a:pt x="9356" y="19995"/>
                  </a:lnTo>
                  <a:lnTo>
                    <a:pt x="10256" y="20996"/>
                  </a:lnTo>
                  <a:lnTo>
                    <a:pt x="11157" y="21204"/>
                  </a:lnTo>
                  <a:lnTo>
                    <a:pt x="12057" y="20203"/>
                  </a:lnTo>
                  <a:lnTo>
                    <a:pt x="12957" y="19203"/>
                  </a:lnTo>
                  <a:lnTo>
                    <a:pt x="13858" y="18202"/>
                  </a:lnTo>
                  <a:lnTo>
                    <a:pt x="14758" y="17202"/>
                  </a:lnTo>
                  <a:lnTo>
                    <a:pt x="15659" y="16201"/>
                  </a:lnTo>
                  <a:lnTo>
                    <a:pt x="16559" y="15201"/>
                  </a:lnTo>
                  <a:lnTo>
                    <a:pt x="17460" y="14200"/>
                  </a:lnTo>
                  <a:lnTo>
                    <a:pt x="18360" y="13200"/>
                  </a:lnTo>
                </a:path>
              </a:pathLst>
            </a:custGeom>
            <a:ln w="12700">
              <a:solidFill>
                <a:srgbClr val="2563EB"/>
              </a:solidFill>
              <a:prstDash val="solid"/>
            </a:ln>
          </p:spPr>
        </p:sp>
        <p:sp>
          <p:nvSpPr>
            <p:cNvPr id="24" name="矩形 23"/>
            <p:cNvSpPr/>
            <p:nvPr/>
          </p:nvSpPr>
          <p:spPr>
            <a:xfrm>
              <a:off x="178593" y="664369"/>
              <a:ext cx="285750" cy="157163"/>
            </a:xfrm>
            <a:prstGeom prst="rect">
              <a:avLst/>
            </a:prstGeom>
            <a:noFill/>
          </p:spPr>
          <p:txBody>
            <a:bodyPr wrap="none" lIns="0" tIns="0" rIns="0" bIns="0" rtlCol="0" anchor="ctr"/>
            <a:lstStyle/>
            <a:p>
              <a:pPr marL="0" indent="0">
                <a:lnSpc>
                  <a:spcPct val="150000"/>
                </a:lnSpc>
                <a:buNone/>
              </a:pPr>
              <a:r>
                <a:rPr lang="zh-CN" sz="1100" b="1" dirty="0">
                  <a:solidFill>
                    <a:srgbClr val="2E6EA6"/>
                  </a:solidFill>
                  <a:latin typeface="Arial" panose="020B0604020202020204" pitchFamily="34" charset="0"/>
                  <a:ea typeface="微软雅黑" panose="020B0503020204020204" pitchFamily="34" charset="-122"/>
                </a:rPr>
                <a:t>患者</a:t>
              </a:r>
              <a:endParaRPr lang="en-US" sz="1100" dirty="0"/>
            </a:p>
          </p:txBody>
        </p:sp>
        <p:sp>
          <p:nvSpPr>
            <p:cNvPr id="25" name="圆角矩形 24"/>
            <p:cNvSpPr/>
            <p:nvPr/>
          </p:nvSpPr>
          <p:spPr>
            <a:xfrm>
              <a:off x="521493" y="664369"/>
              <a:ext cx="468362" cy="157163"/>
            </a:xfrm>
            <a:prstGeom prst="roundRect">
              <a:avLst>
                <a:gd name="adj" fmla="val 18182"/>
              </a:avLst>
            </a:prstGeom>
            <a:solidFill>
              <a:srgbClr val="5B9DFF">
                <a:alpha val="10000"/>
              </a:srgbClr>
            </a:solidFill>
          </p:spPr>
        </p:sp>
        <p:sp>
          <p:nvSpPr>
            <p:cNvPr id="26" name="矩形 25"/>
            <p:cNvSpPr/>
            <p:nvPr/>
          </p:nvSpPr>
          <p:spPr>
            <a:xfrm>
              <a:off x="521493" y="664369"/>
              <a:ext cx="468362" cy="157163"/>
            </a:xfrm>
            <a:prstGeom prst="rect">
              <a:avLst/>
            </a:prstGeom>
            <a:noFill/>
          </p:spPr>
          <p:txBody>
            <a:bodyPr wrap="none" lIns="58928" tIns="14732" rIns="58928" bIns="14732" rtlCol="0" anchor="t"/>
            <a:lstStyle/>
            <a:p>
              <a:pPr marL="0" indent="0">
                <a:lnSpc>
                  <a:spcPct val="150000"/>
                </a:lnSpc>
                <a:buNone/>
              </a:pPr>
              <a:r>
                <a:rPr lang="en-US" sz="600" b="1" dirty="0">
                  <a:solidFill>
                    <a:srgbClr val="5B9DFF"/>
                  </a:solidFill>
                  <a:latin typeface="Arial" panose="020B0604020202020204" pitchFamily="34" charset="0"/>
                </a:rPr>
                <a:t>PATIENT</a:t>
              </a:r>
              <a:endParaRPr lang="en-US" sz="600" dirty="0"/>
            </a:p>
          </p:txBody>
        </p:sp>
        <p:sp>
          <p:nvSpPr>
            <p:cNvPr id="27" name="矩形 26"/>
            <p:cNvSpPr/>
            <p:nvPr/>
          </p:nvSpPr>
          <p:spPr>
            <a:xfrm>
              <a:off x="178593" y="907257"/>
              <a:ext cx="1220130" cy="150019"/>
            </a:xfrm>
            <a:prstGeom prst="rect">
              <a:avLst/>
            </a:prstGeom>
            <a:noFill/>
          </p:spPr>
          <p:txBody>
            <a:bodyPr wrap="none" lIns="0"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系统服务的核心对象。</a:t>
              </a:r>
              <a:endParaRPr lang="en-US" sz="700" dirty="0"/>
            </a:p>
          </p:txBody>
        </p:sp>
        <p:sp>
          <p:nvSpPr>
            <p:cNvPr id="28" name="矩形 27"/>
            <p:cNvSpPr/>
            <p:nvPr/>
          </p:nvSpPr>
          <p:spPr>
            <a:xfrm>
              <a:off x="178593" y="1143000"/>
              <a:ext cx="1220130" cy="144661"/>
            </a:xfrm>
            <a:prstGeom prst="rect">
              <a:avLst/>
            </a:prstGeom>
            <a:noFill/>
          </p:spPr>
          <p:txBody>
            <a:bodyPr wrap="none" lIns="132588"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享有群众全部公开功能</a:t>
              </a:r>
              <a:endParaRPr lang="en-US" sz="700" dirty="0"/>
            </a:p>
          </p:txBody>
        </p:sp>
        <p:sp>
          <p:nvSpPr>
            <p:cNvPr id="30" name="矩形 29"/>
            <p:cNvSpPr/>
            <p:nvPr/>
          </p:nvSpPr>
          <p:spPr>
            <a:xfrm>
              <a:off x="178593" y="1344811"/>
              <a:ext cx="1220130" cy="289322"/>
            </a:xfrm>
            <a:prstGeom prst="rect">
              <a:avLst/>
            </a:prstGeom>
            <a:noFill/>
          </p:spPr>
          <p:txBody>
            <a:bodyPr wrap="square" lIns="132588" tIns="0" rIns="0" bIns="0" rtlCol="0" anchor="t"/>
            <a:lstStyle/>
            <a:p>
              <a:pPr marL="0" indent="0">
                <a:lnSpc>
                  <a:spcPct val="150000"/>
                </a:lnSpc>
                <a:buNone/>
              </a:pPr>
              <a:r>
                <a:rPr lang="en-US" sz="700" dirty="0">
                  <a:solidFill>
                    <a:srgbClr val="1F2A37"/>
                  </a:solidFill>
                  <a:latin typeface="Arial" panose="020B0604020202020204" pitchFamily="34" charset="0"/>
                  <a:ea typeface="Arial" panose="020B0604020202020204" pitchFamily="34" charset="-122"/>
                  <a:cs typeface="Arial" panose="020B0604020202020204" pitchFamily="34" charset="-120"/>
                </a:rPr>
                <a:t>查询本人住院信息与消费明细</a:t>
              </a:r>
              <a:endParaRPr lang="en-US" sz="700" dirty="0"/>
            </a:p>
          </p:txBody>
        </p:sp>
        <p:sp>
          <p:nvSpPr>
            <p:cNvPr id="32" name="矩形 31"/>
            <p:cNvSpPr/>
            <p:nvPr/>
          </p:nvSpPr>
          <p:spPr>
            <a:xfrm>
              <a:off x="178593" y="1691283"/>
              <a:ext cx="1220130" cy="144661"/>
            </a:xfrm>
            <a:prstGeom prst="rect">
              <a:avLst/>
            </a:prstGeom>
            <a:noFill/>
          </p:spPr>
          <p:txBody>
            <a:bodyPr wrap="none" lIns="132588"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查询历史预约挂号记录</a:t>
              </a:r>
              <a:endParaRPr lang="en-US" sz="700" dirty="0"/>
            </a:p>
          </p:txBody>
        </p:sp>
      </p:grpSp>
      <p:pic>
        <p:nvPicPr>
          <p:cNvPr id="6" name="图片 5"/>
          <p:cNvPicPr>
            <a:picLocks noChangeAspect="1"/>
          </p:cNvPicPr>
          <p:nvPr/>
        </p:nvPicPr>
        <p:blipFill>
          <a:blip r:embed="rId2"/>
          <a:stretch>
            <a:fillRect/>
          </a:stretch>
        </p:blipFill>
        <p:spPr>
          <a:xfrm>
            <a:off x="2171700" y="1621155"/>
            <a:ext cx="6848475" cy="2585085"/>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5="http://schemas.microsoft.com/office/powerpoint/2012/main" Requires="p15">
      <p:transition xmlns:p14="http://schemas.microsoft.com/office/powerpoint/2010/main" spd="med" Requires="p14">
        <p15:prstTrans prst="airplan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00"/>
                                  </p:stCondLst>
                                  <p:childTnLst>
                                    <p:set>
                                      <p:cBhvr>
                                        <p:cTn id="6" dur="1" fill="hold">
                                          <p:stCondLst>
                                            <p:cond delay="0"/>
                                          </p:stCondLst>
                                        </p:cTn>
                                        <p:tgtEl>
                                          <p:spTgt spid="86"/>
                                        </p:tgtEl>
                                        <p:attrNameLst>
                                          <p:attrName>style.visibility</p:attrName>
                                        </p:attrNameLst>
                                      </p:cBhvr>
                                      <p:to>
                                        <p:strVal val="visible"/>
                                      </p:to>
                                    </p:set>
                                    <p:animEffect transition="in" filter="fade">
                                      <p:cBhvr>
                                        <p:cTn id="7" dur="600"/>
                                        <p:tgtEl>
                                          <p:spTgt spid="86"/>
                                        </p:tgtEl>
                                      </p:cBhvr>
                                    </p:animEffect>
                                  </p:childTnLst>
                                </p:cTn>
                              </p:par>
                              <p:par>
                                <p:cTn id="8" presetID="2" presetClass="entr" presetSubtype="4" fill="hold" grpId="0" nodeType="withEffect">
                                  <p:stCondLst>
                                    <p:cond delay="200"/>
                                  </p:stCondLst>
                                  <p:childTnLst>
                                    <p:set>
                                      <p:cBhvr>
                                        <p:cTn id="9" dur="1" fill="hold">
                                          <p:stCondLst>
                                            <p:cond delay="0"/>
                                          </p:stCondLst>
                                        </p:cTn>
                                        <p:tgtEl>
                                          <p:spTgt spid="86"/>
                                        </p:tgtEl>
                                        <p:attrNameLst>
                                          <p:attrName>style.visibility</p:attrName>
                                        </p:attrNameLst>
                                      </p:cBhvr>
                                      <p:to>
                                        <p:strVal val="visible"/>
                                      </p:to>
                                    </p:set>
                                    <p:anim calcmode="lin" valueType="num">
                                      <p:cBhvr additive="base">
                                        <p:cTn id="10" dur="600" fill="hold"/>
                                        <p:tgtEl>
                                          <p:spTgt spid="86"/>
                                        </p:tgtEl>
                                        <p:attrNameLst>
                                          <p:attrName>ppt_x</p:attrName>
                                        </p:attrNameLst>
                                      </p:cBhvr>
                                      <p:tavLst>
                                        <p:tav tm="0">
                                          <p:val>
                                            <p:strVal val="#ppt_x"/>
                                          </p:val>
                                        </p:tav>
                                        <p:tav tm="100000">
                                          <p:val>
                                            <p:strVal val="#ppt_x"/>
                                          </p:val>
                                        </p:tav>
                                      </p:tavLst>
                                    </p:anim>
                                    <p:anim calcmode="lin" valueType="num">
                                      <p:cBhvr additive="base">
                                        <p:cTn id="11" dur="600" fill="hold"/>
                                        <p:tgtEl>
                                          <p:spTgt spid="8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342900" y="342900"/>
            <a:ext cx="8458200" cy="285750"/>
          </a:xfrm>
          <a:prstGeom prst="rect">
            <a:avLst/>
          </a:prstGeom>
          <a:noFill/>
        </p:spPr>
        <p:txBody>
          <a:bodyPr wrap="none" lIns="0" tIns="0" rIns="0" bIns="0" rtlCol="0" anchor="t"/>
          <a:lstStyle/>
          <a:p>
            <a:pPr marL="0" indent="0" algn="l">
              <a:lnSpc>
                <a:spcPct val="125000"/>
              </a:lnSpc>
              <a:defRPr/>
            </a:pPr>
            <a:r>
              <a:rPr lang="en-US" sz="19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成果展示 -</a:t>
            </a:r>
            <a:r>
              <a:rPr lang="zh-CN" altLang="en-US" sz="19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患者端</a:t>
            </a:r>
            <a:endParaRPr lang="zh-CN" altLang="en-US" sz="19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 name="Shape 1"/>
          <p:cNvSpPr/>
          <p:nvPr/>
        </p:nvSpPr>
        <p:spPr>
          <a:xfrm>
            <a:off x="342900" y="771525"/>
            <a:ext cx="685800" cy="28575"/>
          </a:xfrm>
          <a:prstGeom prst="roundRect">
            <a:avLst>
              <a:gd name="adj" fmla="val 50000"/>
            </a:avLst>
          </a:prstGeom>
          <a:solidFill>
            <a:srgbClr val="5B9DFF"/>
          </a:solidFill>
        </p:spPr>
      </p:sp>
      <p:grpSp>
        <p:nvGrpSpPr>
          <p:cNvPr id="86" name="h2p-grp-h2p-animroot-2"/>
          <p:cNvGrpSpPr/>
          <p:nvPr/>
        </p:nvGrpSpPr>
        <p:grpSpPr>
          <a:xfrm>
            <a:off x="272415" y="1250315"/>
            <a:ext cx="1586230" cy="3388360"/>
            <a:chOff x="0" y="0"/>
            <a:chExt cx="1577318" cy="3303315"/>
          </a:xfrm>
        </p:grpSpPr>
        <p:sp>
          <p:nvSpPr>
            <p:cNvPr id="21" name="圆角矩形 20"/>
            <p:cNvSpPr/>
            <p:nvPr/>
          </p:nvSpPr>
          <p:spPr>
            <a:xfrm>
              <a:off x="0" y="0"/>
              <a:ext cx="1577318" cy="3303315"/>
            </a:xfrm>
            <a:prstGeom prst="roundRect">
              <a:avLst>
                <a:gd name="adj" fmla="val 5435"/>
              </a:avLst>
            </a:prstGeom>
            <a:solidFill>
              <a:srgbClr val="FFFFFF"/>
            </a:solidFill>
            <a:ln w="6350">
              <a:solidFill>
                <a:srgbClr val="DCEAF5"/>
              </a:solidFill>
              <a:prstDash val="solid"/>
            </a:ln>
          </p:spPr>
        </p:sp>
        <p:sp>
          <p:nvSpPr>
            <p:cNvPr id="22" name="圆角矩形 21"/>
            <p:cNvSpPr/>
            <p:nvPr/>
          </p:nvSpPr>
          <p:spPr>
            <a:xfrm>
              <a:off x="178593" y="178594"/>
              <a:ext cx="342900" cy="342900"/>
            </a:xfrm>
            <a:prstGeom prst="roundRect">
              <a:avLst>
                <a:gd name="adj" fmla="val 20833"/>
              </a:avLst>
            </a:prstGeom>
            <a:solidFill>
              <a:srgbClr val="EAF5FF"/>
            </a:solidFill>
          </p:spPr>
        </p:sp>
        <p:sp>
          <p:nvSpPr>
            <p:cNvPr id="23" name="任意多边形 22"/>
            <p:cNvSpPr/>
            <p:nvPr/>
          </p:nvSpPr>
          <p:spPr>
            <a:xfrm>
              <a:off x="278606" y="285750"/>
              <a:ext cx="142875" cy="128588"/>
            </a:xfrm>
            <a:custGeom>
              <a:avLst/>
              <a:gdLst/>
              <a:ahLst/>
              <a:cxnLst/>
              <a:pathLst>
                <a:path w="21600" h="21600">
                  <a:moveTo>
                    <a:pt x="18360" y="13200"/>
                  </a:moveTo>
                  <a:lnTo>
                    <a:pt x="19248" y="12186"/>
                  </a:lnTo>
                  <a:lnTo>
                    <a:pt x="20067" y="11103"/>
                  </a:lnTo>
                  <a:lnTo>
                    <a:pt x="20769" y="9925"/>
                  </a:lnTo>
                  <a:lnTo>
                    <a:pt x="21292" y="8637"/>
                  </a:lnTo>
                  <a:lnTo>
                    <a:pt x="21568" y="7258"/>
                  </a:lnTo>
                  <a:lnTo>
                    <a:pt x="21562" y="5846"/>
                  </a:lnTo>
                  <a:lnTo>
                    <a:pt x="21283" y="4469"/>
                  </a:lnTo>
                  <a:lnTo>
                    <a:pt x="20746" y="3189"/>
                  </a:lnTo>
                  <a:lnTo>
                    <a:pt x="19976" y="2065"/>
                  </a:lnTo>
                  <a:lnTo>
                    <a:pt x="19009" y="1148"/>
                  </a:lnTo>
                  <a:lnTo>
                    <a:pt x="17889" y="481"/>
                  </a:lnTo>
                  <a:lnTo>
                    <a:pt x="16667" y="94"/>
                  </a:lnTo>
                  <a:lnTo>
                    <a:pt x="15398" y="4"/>
                  </a:lnTo>
                  <a:lnTo>
                    <a:pt x="14135" y="164"/>
                  </a:lnTo>
                  <a:lnTo>
                    <a:pt x="12933" y="623"/>
                  </a:lnTo>
                  <a:lnTo>
                    <a:pt x="11853" y="1367"/>
                  </a:lnTo>
                  <a:lnTo>
                    <a:pt x="10894" y="2296"/>
                  </a:lnTo>
                  <a:lnTo>
                    <a:pt x="9956" y="1548"/>
                  </a:lnTo>
                  <a:lnTo>
                    <a:pt x="8902" y="757"/>
                  </a:lnTo>
                  <a:lnTo>
                    <a:pt x="7723" y="233"/>
                  </a:lnTo>
                  <a:lnTo>
                    <a:pt x="6466" y="17"/>
                  </a:lnTo>
                  <a:lnTo>
                    <a:pt x="5195" y="51"/>
                  </a:lnTo>
                  <a:lnTo>
                    <a:pt x="3958" y="376"/>
                  </a:lnTo>
                  <a:lnTo>
                    <a:pt x="2813" y="988"/>
                  </a:lnTo>
                  <a:lnTo>
                    <a:pt x="1810" y="1856"/>
                  </a:lnTo>
                  <a:lnTo>
                    <a:pt x="996" y="2940"/>
                  </a:lnTo>
                  <a:lnTo>
                    <a:pt x="408" y="4192"/>
                  </a:lnTo>
                  <a:lnTo>
                    <a:pt x="74" y="5555"/>
                  </a:lnTo>
                  <a:lnTo>
                    <a:pt x="10" y="6965"/>
                  </a:lnTo>
                  <a:lnTo>
                    <a:pt x="228" y="8356"/>
                  </a:lnTo>
                  <a:lnTo>
                    <a:pt x="705" y="9666"/>
                  </a:lnTo>
                  <a:lnTo>
                    <a:pt x="1375" y="10867"/>
                  </a:lnTo>
                  <a:lnTo>
                    <a:pt x="2175" y="11968"/>
                  </a:lnTo>
                  <a:lnTo>
                    <a:pt x="3051" y="12993"/>
                  </a:lnTo>
                  <a:lnTo>
                    <a:pt x="3953" y="13992"/>
                  </a:lnTo>
                  <a:lnTo>
                    <a:pt x="4854" y="14993"/>
                  </a:lnTo>
                  <a:lnTo>
                    <a:pt x="5754" y="15993"/>
                  </a:lnTo>
                  <a:lnTo>
                    <a:pt x="6654" y="16994"/>
                  </a:lnTo>
                  <a:lnTo>
                    <a:pt x="7555" y="17994"/>
                  </a:lnTo>
                  <a:lnTo>
                    <a:pt x="8455" y="18995"/>
                  </a:lnTo>
                  <a:lnTo>
                    <a:pt x="9356" y="19995"/>
                  </a:lnTo>
                  <a:lnTo>
                    <a:pt x="10256" y="20996"/>
                  </a:lnTo>
                  <a:lnTo>
                    <a:pt x="11157" y="21204"/>
                  </a:lnTo>
                  <a:lnTo>
                    <a:pt x="12057" y="20203"/>
                  </a:lnTo>
                  <a:lnTo>
                    <a:pt x="12957" y="19203"/>
                  </a:lnTo>
                  <a:lnTo>
                    <a:pt x="13858" y="18202"/>
                  </a:lnTo>
                  <a:lnTo>
                    <a:pt x="14758" y="17202"/>
                  </a:lnTo>
                  <a:lnTo>
                    <a:pt x="15659" y="16201"/>
                  </a:lnTo>
                  <a:lnTo>
                    <a:pt x="16559" y="15201"/>
                  </a:lnTo>
                  <a:lnTo>
                    <a:pt x="17460" y="14200"/>
                  </a:lnTo>
                  <a:lnTo>
                    <a:pt x="18360" y="13200"/>
                  </a:lnTo>
                </a:path>
              </a:pathLst>
            </a:custGeom>
            <a:ln w="12700">
              <a:solidFill>
                <a:srgbClr val="2563EB"/>
              </a:solidFill>
              <a:prstDash val="solid"/>
            </a:ln>
          </p:spPr>
        </p:sp>
        <p:sp>
          <p:nvSpPr>
            <p:cNvPr id="24" name="矩形 23"/>
            <p:cNvSpPr/>
            <p:nvPr/>
          </p:nvSpPr>
          <p:spPr>
            <a:xfrm>
              <a:off x="178593" y="664369"/>
              <a:ext cx="285750" cy="157163"/>
            </a:xfrm>
            <a:prstGeom prst="rect">
              <a:avLst/>
            </a:prstGeom>
            <a:noFill/>
          </p:spPr>
          <p:txBody>
            <a:bodyPr wrap="none" lIns="0" tIns="0" rIns="0" bIns="0" rtlCol="0" anchor="ctr"/>
            <a:lstStyle/>
            <a:p>
              <a:pPr marL="0" indent="0">
                <a:lnSpc>
                  <a:spcPct val="150000"/>
                </a:lnSpc>
                <a:buNone/>
              </a:pPr>
              <a:r>
                <a:rPr lang="zh-CN" sz="1100" b="1" dirty="0">
                  <a:solidFill>
                    <a:srgbClr val="2E6EA6"/>
                  </a:solidFill>
                  <a:latin typeface="Arial" panose="020B0604020202020204" pitchFamily="34" charset="0"/>
                  <a:ea typeface="微软雅黑" panose="020B0503020204020204" pitchFamily="34" charset="-122"/>
                </a:rPr>
                <a:t>患者</a:t>
              </a:r>
              <a:endParaRPr lang="en-US" sz="1100" dirty="0"/>
            </a:p>
          </p:txBody>
        </p:sp>
        <p:sp>
          <p:nvSpPr>
            <p:cNvPr id="25" name="圆角矩形 24"/>
            <p:cNvSpPr/>
            <p:nvPr/>
          </p:nvSpPr>
          <p:spPr>
            <a:xfrm>
              <a:off x="521493" y="664369"/>
              <a:ext cx="468362" cy="157163"/>
            </a:xfrm>
            <a:prstGeom prst="roundRect">
              <a:avLst>
                <a:gd name="adj" fmla="val 18182"/>
              </a:avLst>
            </a:prstGeom>
            <a:solidFill>
              <a:srgbClr val="5B9DFF">
                <a:alpha val="10000"/>
              </a:srgbClr>
            </a:solidFill>
          </p:spPr>
        </p:sp>
        <p:sp>
          <p:nvSpPr>
            <p:cNvPr id="26" name="矩形 25"/>
            <p:cNvSpPr/>
            <p:nvPr/>
          </p:nvSpPr>
          <p:spPr>
            <a:xfrm>
              <a:off x="521493" y="664369"/>
              <a:ext cx="468362" cy="157163"/>
            </a:xfrm>
            <a:prstGeom prst="rect">
              <a:avLst/>
            </a:prstGeom>
            <a:noFill/>
          </p:spPr>
          <p:txBody>
            <a:bodyPr wrap="none" lIns="58928" tIns="14732" rIns="58928" bIns="14732" rtlCol="0" anchor="t"/>
            <a:lstStyle/>
            <a:p>
              <a:pPr marL="0" indent="0">
                <a:lnSpc>
                  <a:spcPct val="150000"/>
                </a:lnSpc>
                <a:buNone/>
              </a:pPr>
              <a:r>
                <a:rPr lang="en-US" sz="600" b="1" dirty="0">
                  <a:solidFill>
                    <a:srgbClr val="5B9DFF"/>
                  </a:solidFill>
                  <a:latin typeface="Arial" panose="020B0604020202020204" pitchFamily="34" charset="0"/>
                </a:rPr>
                <a:t>PATIENT</a:t>
              </a:r>
              <a:endParaRPr lang="en-US" sz="600" dirty="0"/>
            </a:p>
          </p:txBody>
        </p:sp>
        <p:sp>
          <p:nvSpPr>
            <p:cNvPr id="27" name="矩形 26"/>
            <p:cNvSpPr/>
            <p:nvPr/>
          </p:nvSpPr>
          <p:spPr>
            <a:xfrm>
              <a:off x="178593" y="907257"/>
              <a:ext cx="1220130" cy="150019"/>
            </a:xfrm>
            <a:prstGeom prst="rect">
              <a:avLst/>
            </a:prstGeom>
            <a:noFill/>
          </p:spPr>
          <p:txBody>
            <a:bodyPr wrap="none" lIns="0"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系统服务的核心对象。</a:t>
              </a:r>
              <a:endParaRPr lang="en-US" sz="700" dirty="0"/>
            </a:p>
          </p:txBody>
        </p:sp>
        <p:sp>
          <p:nvSpPr>
            <p:cNvPr id="28" name="矩形 27"/>
            <p:cNvSpPr/>
            <p:nvPr/>
          </p:nvSpPr>
          <p:spPr>
            <a:xfrm>
              <a:off x="178593" y="1143000"/>
              <a:ext cx="1220130" cy="144661"/>
            </a:xfrm>
            <a:prstGeom prst="rect">
              <a:avLst/>
            </a:prstGeom>
            <a:noFill/>
          </p:spPr>
          <p:txBody>
            <a:bodyPr wrap="none" lIns="132588"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享有群众全部公开功能</a:t>
              </a:r>
              <a:endParaRPr lang="en-US" sz="700" dirty="0"/>
            </a:p>
          </p:txBody>
        </p:sp>
        <p:sp>
          <p:nvSpPr>
            <p:cNvPr id="30" name="矩形 29"/>
            <p:cNvSpPr/>
            <p:nvPr/>
          </p:nvSpPr>
          <p:spPr>
            <a:xfrm>
              <a:off x="178593" y="1344811"/>
              <a:ext cx="1220130" cy="289322"/>
            </a:xfrm>
            <a:prstGeom prst="rect">
              <a:avLst/>
            </a:prstGeom>
            <a:noFill/>
          </p:spPr>
          <p:txBody>
            <a:bodyPr wrap="square" lIns="132588" tIns="0" rIns="0" bIns="0" rtlCol="0" anchor="t"/>
            <a:lstStyle/>
            <a:p>
              <a:pPr marL="0" indent="0">
                <a:lnSpc>
                  <a:spcPct val="150000"/>
                </a:lnSpc>
                <a:buNone/>
              </a:pPr>
              <a:r>
                <a:rPr lang="en-US" sz="700" dirty="0">
                  <a:solidFill>
                    <a:srgbClr val="1F2A37"/>
                  </a:solidFill>
                  <a:latin typeface="Arial" panose="020B0604020202020204" pitchFamily="34" charset="0"/>
                  <a:ea typeface="Arial" panose="020B0604020202020204" pitchFamily="34" charset="-122"/>
                  <a:cs typeface="Arial" panose="020B0604020202020204" pitchFamily="34" charset="-120"/>
                </a:rPr>
                <a:t>查询本人住院信息与消费明细</a:t>
              </a:r>
              <a:endParaRPr lang="en-US" sz="700" dirty="0"/>
            </a:p>
          </p:txBody>
        </p:sp>
        <p:sp>
          <p:nvSpPr>
            <p:cNvPr id="32" name="矩形 31"/>
            <p:cNvSpPr/>
            <p:nvPr/>
          </p:nvSpPr>
          <p:spPr>
            <a:xfrm>
              <a:off x="178593" y="1691283"/>
              <a:ext cx="1220130" cy="144661"/>
            </a:xfrm>
            <a:prstGeom prst="rect">
              <a:avLst/>
            </a:prstGeom>
            <a:noFill/>
          </p:spPr>
          <p:txBody>
            <a:bodyPr wrap="none" lIns="132588"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查询历史预约挂号记录</a:t>
              </a:r>
              <a:endParaRPr lang="en-US" sz="700" dirty="0"/>
            </a:p>
          </p:txBody>
        </p:sp>
      </p:grpSp>
      <p:pic>
        <p:nvPicPr>
          <p:cNvPr id="5" name="图片 4"/>
          <p:cNvPicPr>
            <a:picLocks noChangeAspect="1"/>
          </p:cNvPicPr>
          <p:nvPr/>
        </p:nvPicPr>
        <p:blipFill>
          <a:blip r:embed="rId2"/>
          <a:stretch>
            <a:fillRect/>
          </a:stretch>
        </p:blipFill>
        <p:spPr>
          <a:xfrm>
            <a:off x="2493645" y="53975"/>
            <a:ext cx="5955030" cy="2569210"/>
          </a:xfrm>
          <a:prstGeom prst="rect">
            <a:avLst/>
          </a:prstGeom>
        </p:spPr>
      </p:pic>
      <p:pic>
        <p:nvPicPr>
          <p:cNvPr id="7" name="图片 6"/>
          <p:cNvPicPr>
            <a:picLocks noChangeAspect="1"/>
          </p:cNvPicPr>
          <p:nvPr/>
        </p:nvPicPr>
        <p:blipFill>
          <a:blip r:embed="rId3"/>
          <a:stretch>
            <a:fillRect/>
          </a:stretch>
        </p:blipFill>
        <p:spPr>
          <a:xfrm>
            <a:off x="2169795" y="2894965"/>
            <a:ext cx="6448425" cy="1835785"/>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5="http://schemas.microsoft.com/office/powerpoint/2012/main" Requires="p15">
      <p:transition xmlns:p14="http://schemas.microsoft.com/office/powerpoint/2010/main" spd="med" Requires="p14">
        <p15:prstTrans prst="airplan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00"/>
                                  </p:stCondLst>
                                  <p:childTnLst>
                                    <p:set>
                                      <p:cBhvr>
                                        <p:cTn id="6" dur="1" fill="hold">
                                          <p:stCondLst>
                                            <p:cond delay="0"/>
                                          </p:stCondLst>
                                        </p:cTn>
                                        <p:tgtEl>
                                          <p:spTgt spid="86"/>
                                        </p:tgtEl>
                                        <p:attrNameLst>
                                          <p:attrName>style.visibility</p:attrName>
                                        </p:attrNameLst>
                                      </p:cBhvr>
                                      <p:to>
                                        <p:strVal val="visible"/>
                                      </p:to>
                                    </p:set>
                                    <p:animEffect transition="in" filter="fade">
                                      <p:cBhvr>
                                        <p:cTn id="7" dur="600"/>
                                        <p:tgtEl>
                                          <p:spTgt spid="86"/>
                                        </p:tgtEl>
                                      </p:cBhvr>
                                    </p:animEffect>
                                  </p:childTnLst>
                                </p:cTn>
                              </p:par>
                              <p:par>
                                <p:cTn id="8" presetID="2" presetClass="entr" presetSubtype="4" fill="hold" grpId="0" nodeType="withEffect">
                                  <p:stCondLst>
                                    <p:cond delay="200"/>
                                  </p:stCondLst>
                                  <p:childTnLst>
                                    <p:set>
                                      <p:cBhvr>
                                        <p:cTn id="9" dur="1" fill="hold">
                                          <p:stCondLst>
                                            <p:cond delay="0"/>
                                          </p:stCondLst>
                                        </p:cTn>
                                        <p:tgtEl>
                                          <p:spTgt spid="86"/>
                                        </p:tgtEl>
                                        <p:attrNameLst>
                                          <p:attrName>style.visibility</p:attrName>
                                        </p:attrNameLst>
                                      </p:cBhvr>
                                      <p:to>
                                        <p:strVal val="visible"/>
                                      </p:to>
                                    </p:set>
                                    <p:anim calcmode="lin" valueType="num">
                                      <p:cBhvr additive="base">
                                        <p:cTn id="10" dur="600" fill="hold"/>
                                        <p:tgtEl>
                                          <p:spTgt spid="86"/>
                                        </p:tgtEl>
                                        <p:attrNameLst>
                                          <p:attrName>ppt_x</p:attrName>
                                        </p:attrNameLst>
                                      </p:cBhvr>
                                      <p:tavLst>
                                        <p:tav tm="0">
                                          <p:val>
                                            <p:strVal val="#ppt_x"/>
                                          </p:val>
                                        </p:tav>
                                        <p:tav tm="100000">
                                          <p:val>
                                            <p:strVal val="#ppt_x"/>
                                          </p:val>
                                        </p:tav>
                                      </p:tavLst>
                                    </p:anim>
                                    <p:anim calcmode="lin" valueType="num">
                                      <p:cBhvr additive="base">
                                        <p:cTn id="11" dur="600" fill="hold"/>
                                        <p:tgtEl>
                                          <p:spTgt spid="8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342900" y="342900"/>
            <a:ext cx="8458200" cy="285750"/>
          </a:xfrm>
          <a:prstGeom prst="rect">
            <a:avLst/>
          </a:prstGeom>
          <a:noFill/>
        </p:spPr>
        <p:txBody>
          <a:bodyPr wrap="none" lIns="0" tIns="0" rIns="0" bIns="0" rtlCol="0" anchor="t"/>
          <a:lstStyle/>
          <a:p>
            <a:pPr marL="0" indent="0" algn="l">
              <a:lnSpc>
                <a:spcPct val="125000"/>
              </a:lnSpc>
              <a:defRPr/>
            </a:pPr>
            <a:r>
              <a:rPr lang="en-US" sz="19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成果展示 -</a:t>
            </a:r>
            <a:r>
              <a:rPr lang="zh-CN" altLang="en-US" sz="19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群众端</a:t>
            </a:r>
            <a:endParaRPr lang="zh-CN" altLang="en-US" sz="19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 name="Shape 1"/>
          <p:cNvSpPr/>
          <p:nvPr/>
        </p:nvSpPr>
        <p:spPr>
          <a:xfrm>
            <a:off x="342900" y="771525"/>
            <a:ext cx="685800" cy="28575"/>
          </a:xfrm>
          <a:prstGeom prst="roundRect">
            <a:avLst>
              <a:gd name="adj" fmla="val 50000"/>
            </a:avLst>
          </a:prstGeom>
          <a:solidFill>
            <a:srgbClr val="5B9DFF"/>
          </a:solidFill>
        </p:spPr>
      </p:sp>
      <p:grpSp>
        <p:nvGrpSpPr>
          <p:cNvPr id="85" name="h2p-grp-h2p-animroot-1"/>
          <p:cNvGrpSpPr/>
          <p:nvPr/>
        </p:nvGrpSpPr>
        <p:grpSpPr>
          <a:xfrm>
            <a:off x="342900" y="1290910"/>
            <a:ext cx="1577318" cy="3303315"/>
            <a:chOff x="0" y="0"/>
            <a:chExt cx="1577318" cy="3303315"/>
          </a:xfrm>
        </p:grpSpPr>
        <p:sp>
          <p:nvSpPr>
            <p:cNvPr id="6" name="圆角矩形 5"/>
            <p:cNvSpPr/>
            <p:nvPr/>
          </p:nvSpPr>
          <p:spPr>
            <a:xfrm>
              <a:off x="0" y="0"/>
              <a:ext cx="1577318" cy="3303315"/>
            </a:xfrm>
            <a:prstGeom prst="roundRect">
              <a:avLst>
                <a:gd name="adj" fmla="val 5435"/>
              </a:avLst>
            </a:prstGeom>
            <a:solidFill>
              <a:srgbClr val="FFFFFF"/>
            </a:solidFill>
            <a:ln w="6350">
              <a:solidFill>
                <a:srgbClr val="DCEAF5"/>
              </a:solidFill>
              <a:prstDash val="solid"/>
            </a:ln>
          </p:spPr>
        </p:sp>
        <p:sp>
          <p:nvSpPr>
            <p:cNvPr id="8" name="圆角矩形 7"/>
            <p:cNvSpPr/>
            <p:nvPr/>
          </p:nvSpPr>
          <p:spPr>
            <a:xfrm>
              <a:off x="178594" y="178594"/>
              <a:ext cx="342900" cy="342900"/>
            </a:xfrm>
            <a:prstGeom prst="roundRect">
              <a:avLst>
                <a:gd name="adj" fmla="val 20833"/>
              </a:avLst>
            </a:prstGeom>
            <a:solidFill>
              <a:srgbClr val="EAF5FF"/>
            </a:solidFill>
          </p:spPr>
        </p:sp>
        <p:sp>
          <p:nvSpPr>
            <p:cNvPr id="9" name="任意多边形 8"/>
            <p:cNvSpPr/>
            <p:nvPr/>
          </p:nvSpPr>
          <p:spPr>
            <a:xfrm>
              <a:off x="271463" y="371475"/>
              <a:ext cx="114300" cy="42863"/>
            </a:xfrm>
            <a:custGeom>
              <a:avLst/>
              <a:gdLst/>
              <a:ahLst/>
              <a:cxnLst/>
              <a:pathLst>
                <a:path w="21600" h="21600">
                  <a:moveTo>
                    <a:pt x="21600" y="21600"/>
                  </a:moveTo>
                  <a:lnTo>
                    <a:pt x="21600" y="17388"/>
                  </a:lnTo>
                  <a:lnTo>
                    <a:pt x="21581" y="13178"/>
                  </a:lnTo>
                  <a:lnTo>
                    <a:pt x="21221" y="9093"/>
                  </a:lnTo>
                  <a:lnTo>
                    <a:pt x="20433" y="5460"/>
                  </a:lnTo>
                  <a:lnTo>
                    <a:pt x="19287" y="2584"/>
                  </a:lnTo>
                  <a:lnTo>
                    <a:pt x="17879" y="710"/>
                  </a:lnTo>
                  <a:lnTo>
                    <a:pt x="16328" y="4"/>
                  </a:lnTo>
                  <a:lnTo>
                    <a:pt x="14748" y="0"/>
                  </a:lnTo>
                  <a:lnTo>
                    <a:pt x="13169" y="0"/>
                  </a:lnTo>
                  <a:lnTo>
                    <a:pt x="11590" y="0"/>
                  </a:lnTo>
                  <a:lnTo>
                    <a:pt x="10010" y="0"/>
                  </a:lnTo>
                  <a:lnTo>
                    <a:pt x="8431" y="0"/>
                  </a:lnTo>
                  <a:lnTo>
                    <a:pt x="6852" y="0"/>
                  </a:lnTo>
                  <a:lnTo>
                    <a:pt x="5272" y="4"/>
                  </a:lnTo>
                  <a:lnTo>
                    <a:pt x="3721" y="710"/>
                  </a:lnTo>
                  <a:lnTo>
                    <a:pt x="2313" y="2584"/>
                  </a:lnTo>
                  <a:lnTo>
                    <a:pt x="1167" y="5460"/>
                  </a:lnTo>
                  <a:lnTo>
                    <a:pt x="379" y="9093"/>
                  </a:lnTo>
                  <a:lnTo>
                    <a:pt x="19" y="13178"/>
                  </a:lnTo>
                  <a:lnTo>
                    <a:pt x="0" y="17388"/>
                  </a:lnTo>
                  <a:lnTo>
                    <a:pt x="0" y="21600"/>
                  </a:lnTo>
                </a:path>
              </a:pathLst>
            </a:custGeom>
            <a:ln w="12700">
              <a:solidFill>
                <a:srgbClr val="2563EB"/>
              </a:solidFill>
              <a:prstDash val="solid"/>
            </a:ln>
          </p:spPr>
        </p:sp>
        <p:sp>
          <p:nvSpPr>
            <p:cNvPr id="10" name="椭圆 9"/>
            <p:cNvSpPr/>
            <p:nvPr/>
          </p:nvSpPr>
          <p:spPr>
            <a:xfrm>
              <a:off x="300038" y="285750"/>
              <a:ext cx="57150" cy="57150"/>
            </a:xfrm>
            <a:prstGeom prst="ellipse">
              <a:avLst/>
            </a:prstGeom>
            <a:noFill/>
            <a:ln w="12700">
              <a:solidFill>
                <a:srgbClr val="2563EB"/>
              </a:solidFill>
              <a:prstDash val="solid"/>
            </a:ln>
          </p:spPr>
        </p:sp>
        <p:sp>
          <p:nvSpPr>
            <p:cNvPr id="11" name="任意多边形 10"/>
            <p:cNvSpPr/>
            <p:nvPr/>
          </p:nvSpPr>
          <p:spPr>
            <a:xfrm>
              <a:off x="407194" y="372404"/>
              <a:ext cx="21431" cy="41934"/>
            </a:xfrm>
            <a:custGeom>
              <a:avLst/>
              <a:gdLst/>
              <a:ahLst/>
              <a:cxnLst/>
              <a:pathLst>
                <a:path w="21600" h="21600">
                  <a:moveTo>
                    <a:pt x="21600" y="21600"/>
                  </a:moveTo>
                  <a:lnTo>
                    <a:pt x="21600" y="19928"/>
                  </a:lnTo>
                  <a:lnTo>
                    <a:pt x="21600" y="18256"/>
                  </a:lnTo>
                  <a:lnTo>
                    <a:pt x="21600" y="16584"/>
                  </a:lnTo>
                  <a:lnTo>
                    <a:pt x="21600" y="14912"/>
                  </a:lnTo>
                  <a:lnTo>
                    <a:pt x="21533" y="13241"/>
                  </a:lnTo>
                  <a:lnTo>
                    <a:pt x="21125" y="11583"/>
                  </a:lnTo>
                  <a:lnTo>
                    <a:pt x="20351" y="9960"/>
                  </a:lnTo>
                  <a:lnTo>
                    <a:pt x="19221" y="8392"/>
                  </a:lnTo>
                  <a:lnTo>
                    <a:pt x="17750" y="6899"/>
                  </a:lnTo>
                  <a:lnTo>
                    <a:pt x="15958" y="5502"/>
                  </a:lnTo>
                  <a:lnTo>
                    <a:pt x="13869" y="4216"/>
                  </a:lnTo>
                  <a:lnTo>
                    <a:pt x="11508" y="3060"/>
                  </a:lnTo>
                  <a:lnTo>
                    <a:pt x="8907" y="2048"/>
                  </a:lnTo>
                  <a:lnTo>
                    <a:pt x="6097" y="1194"/>
                  </a:lnTo>
                  <a:lnTo>
                    <a:pt x="3115" y="508"/>
                  </a:lnTo>
                  <a:lnTo>
                    <a:pt x="0" y="0"/>
                  </a:lnTo>
                </a:path>
              </a:pathLst>
            </a:custGeom>
            <a:ln w="12700">
              <a:solidFill>
                <a:srgbClr val="2563EB"/>
              </a:solidFill>
              <a:prstDash val="solid"/>
            </a:ln>
          </p:spPr>
        </p:sp>
        <p:sp>
          <p:nvSpPr>
            <p:cNvPr id="12" name="任意多边形 11"/>
            <p:cNvSpPr/>
            <p:nvPr/>
          </p:nvSpPr>
          <p:spPr>
            <a:xfrm>
              <a:off x="378619" y="286679"/>
              <a:ext cx="21487" cy="55364"/>
            </a:xfrm>
            <a:custGeom>
              <a:avLst/>
              <a:gdLst/>
              <a:ahLst/>
              <a:cxnLst/>
              <a:pathLst>
                <a:path w="21600" h="21600">
                  <a:moveTo>
                    <a:pt x="0" y="0"/>
                  </a:moveTo>
                  <a:lnTo>
                    <a:pt x="4475" y="600"/>
                  </a:lnTo>
                  <a:lnTo>
                    <a:pt x="8635" y="1478"/>
                  </a:lnTo>
                  <a:lnTo>
                    <a:pt x="12365" y="2610"/>
                  </a:lnTo>
                  <a:lnTo>
                    <a:pt x="15566" y="3964"/>
                  </a:lnTo>
                  <a:lnTo>
                    <a:pt x="18152" y="5504"/>
                  </a:lnTo>
                  <a:lnTo>
                    <a:pt x="20052" y="7187"/>
                  </a:lnTo>
                  <a:lnTo>
                    <a:pt x="21212" y="8969"/>
                  </a:lnTo>
                  <a:lnTo>
                    <a:pt x="21600" y="10800"/>
                  </a:lnTo>
                  <a:lnTo>
                    <a:pt x="21212" y="12631"/>
                  </a:lnTo>
                  <a:lnTo>
                    <a:pt x="20052" y="14413"/>
                  </a:lnTo>
                  <a:lnTo>
                    <a:pt x="18152" y="16096"/>
                  </a:lnTo>
                  <a:lnTo>
                    <a:pt x="15566" y="17636"/>
                  </a:lnTo>
                  <a:lnTo>
                    <a:pt x="12365" y="18990"/>
                  </a:lnTo>
                  <a:lnTo>
                    <a:pt x="8635" y="20122"/>
                  </a:lnTo>
                  <a:lnTo>
                    <a:pt x="4475" y="21000"/>
                  </a:lnTo>
                  <a:lnTo>
                    <a:pt x="0" y="21600"/>
                  </a:lnTo>
                </a:path>
              </a:pathLst>
            </a:custGeom>
            <a:ln w="12700">
              <a:solidFill>
                <a:srgbClr val="2563EB"/>
              </a:solidFill>
              <a:prstDash val="solid"/>
            </a:ln>
          </p:spPr>
        </p:sp>
        <p:sp>
          <p:nvSpPr>
            <p:cNvPr id="13" name="矩形 12"/>
            <p:cNvSpPr/>
            <p:nvPr/>
          </p:nvSpPr>
          <p:spPr>
            <a:xfrm>
              <a:off x="178594" y="664369"/>
              <a:ext cx="285750" cy="157163"/>
            </a:xfrm>
            <a:prstGeom prst="rect">
              <a:avLst/>
            </a:prstGeom>
            <a:noFill/>
          </p:spPr>
          <p:txBody>
            <a:bodyPr wrap="none" lIns="0" tIns="0" rIns="0" bIns="0" rtlCol="0" anchor="ctr"/>
            <a:lstStyle/>
            <a:p>
              <a:pPr marL="0" indent="0">
                <a:lnSpc>
                  <a:spcPct val="150000"/>
                </a:lnSpc>
                <a:buNone/>
              </a:pPr>
              <a:r>
                <a:rPr lang="zh-CN" sz="1100" b="1" dirty="0">
                  <a:solidFill>
                    <a:srgbClr val="2E6EA6"/>
                  </a:solidFill>
                  <a:latin typeface="Arial" panose="020B0604020202020204" pitchFamily="34" charset="0"/>
                  <a:ea typeface="微软雅黑" panose="020B0503020204020204" pitchFamily="34" charset="-122"/>
                </a:rPr>
                <a:t>群众</a:t>
              </a:r>
              <a:endParaRPr lang="en-US" sz="1100" dirty="0"/>
            </a:p>
          </p:txBody>
        </p:sp>
        <p:sp>
          <p:nvSpPr>
            <p:cNvPr id="14" name="圆角矩形 13"/>
            <p:cNvSpPr/>
            <p:nvPr/>
          </p:nvSpPr>
          <p:spPr>
            <a:xfrm>
              <a:off x="521494" y="664369"/>
              <a:ext cx="433425" cy="157163"/>
            </a:xfrm>
            <a:prstGeom prst="roundRect">
              <a:avLst>
                <a:gd name="adj" fmla="val 18182"/>
              </a:avLst>
            </a:prstGeom>
            <a:solidFill>
              <a:srgbClr val="5B9DFF">
                <a:alpha val="10000"/>
              </a:srgbClr>
            </a:solidFill>
          </p:spPr>
        </p:sp>
        <p:sp>
          <p:nvSpPr>
            <p:cNvPr id="15" name="矩形 14"/>
            <p:cNvSpPr/>
            <p:nvPr/>
          </p:nvSpPr>
          <p:spPr>
            <a:xfrm>
              <a:off x="521494" y="664369"/>
              <a:ext cx="433425" cy="157163"/>
            </a:xfrm>
            <a:prstGeom prst="rect">
              <a:avLst/>
            </a:prstGeom>
            <a:noFill/>
          </p:spPr>
          <p:txBody>
            <a:bodyPr wrap="none" lIns="58928" tIns="14732" rIns="58928" bIns="14732" rtlCol="0" anchor="t"/>
            <a:lstStyle/>
            <a:p>
              <a:pPr marL="0" indent="0">
                <a:lnSpc>
                  <a:spcPct val="150000"/>
                </a:lnSpc>
                <a:buNone/>
              </a:pPr>
              <a:r>
                <a:rPr lang="en-US" sz="600" b="1" dirty="0">
                  <a:solidFill>
                    <a:srgbClr val="5B9DFF"/>
                  </a:solidFill>
                  <a:latin typeface="Arial" panose="020B0604020202020204" pitchFamily="34" charset="0"/>
                </a:rPr>
                <a:t>PUBLIC</a:t>
              </a:r>
              <a:endParaRPr lang="en-US" sz="600" dirty="0"/>
            </a:p>
          </p:txBody>
        </p:sp>
        <p:sp>
          <p:nvSpPr>
            <p:cNvPr id="16" name="矩形 15"/>
            <p:cNvSpPr/>
            <p:nvPr/>
          </p:nvSpPr>
          <p:spPr>
            <a:xfrm>
              <a:off x="178594" y="907257"/>
              <a:ext cx="1220130" cy="150019"/>
            </a:xfrm>
            <a:prstGeom prst="rect">
              <a:avLst/>
            </a:prstGeom>
            <a:noFill/>
          </p:spPr>
          <p:txBody>
            <a:bodyPr wrap="none" lIns="0"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主要访问公开信息。</a:t>
              </a:r>
              <a:endParaRPr lang="en-US" sz="700" dirty="0"/>
            </a:p>
          </p:txBody>
        </p:sp>
        <p:sp>
          <p:nvSpPr>
            <p:cNvPr id="17" name="矩形 16"/>
            <p:cNvSpPr/>
            <p:nvPr/>
          </p:nvSpPr>
          <p:spPr>
            <a:xfrm>
              <a:off x="178594" y="1143000"/>
              <a:ext cx="1220130" cy="289322"/>
            </a:xfrm>
            <a:prstGeom prst="rect">
              <a:avLst/>
            </a:prstGeom>
            <a:noFill/>
          </p:spPr>
          <p:txBody>
            <a:bodyPr wrap="square" lIns="132588"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基于公开知识库进行智能咨询</a:t>
              </a:r>
              <a:endParaRPr lang="en-US" sz="700" dirty="0"/>
            </a:p>
          </p:txBody>
        </p:sp>
        <p:sp>
          <p:nvSpPr>
            <p:cNvPr id="18" name="矩形 17"/>
            <p:cNvSpPr/>
            <p:nvPr/>
          </p:nvSpPr>
          <p:spPr>
            <a:xfrm>
              <a:off x="178594" y="1489472"/>
              <a:ext cx="1220130" cy="144661"/>
            </a:xfrm>
            <a:prstGeom prst="rect">
              <a:avLst/>
            </a:prstGeom>
            <a:noFill/>
          </p:spPr>
          <p:txBody>
            <a:bodyPr wrap="none" lIns="132588" tIns="0" rIns="0" bIns="0" rtlCol="0" anchor="t"/>
            <a:lstStyle/>
            <a:p>
              <a:pPr marL="0" indent="0">
                <a:lnSpc>
                  <a:spcPct val="150000"/>
                </a:lnSpc>
                <a:buNone/>
              </a:pPr>
              <a:r>
                <a:rPr lang="en-US" sz="700" dirty="0">
                  <a:solidFill>
                    <a:srgbClr val="1F2A37"/>
                  </a:solidFill>
                  <a:latin typeface="Arial" panose="020B0604020202020204" pitchFamily="34" charset="0"/>
                  <a:ea typeface="Arial" panose="020B0604020202020204" pitchFamily="34" charset="-122"/>
                  <a:cs typeface="Arial" panose="020B0604020202020204" pitchFamily="34" charset="-120"/>
                </a:rPr>
                <a:t>浏览健康资讯与就诊指南</a:t>
              </a:r>
              <a:endParaRPr lang="en-US" sz="700" dirty="0"/>
            </a:p>
          </p:txBody>
        </p:sp>
        <p:sp>
          <p:nvSpPr>
            <p:cNvPr id="19" name="矩形 18"/>
            <p:cNvSpPr/>
            <p:nvPr/>
          </p:nvSpPr>
          <p:spPr>
            <a:xfrm>
              <a:off x="178594" y="1691283"/>
              <a:ext cx="1220130" cy="144661"/>
            </a:xfrm>
            <a:prstGeom prst="rect">
              <a:avLst/>
            </a:prstGeom>
            <a:noFill/>
          </p:spPr>
          <p:txBody>
            <a:bodyPr wrap="none" lIns="132588"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进行在线预约挂号</a:t>
              </a:r>
              <a:endParaRPr lang="en-US" sz="700" dirty="0"/>
            </a:p>
          </p:txBody>
        </p:sp>
      </p:grpSp>
      <p:pic>
        <p:nvPicPr>
          <p:cNvPr id="20" name="图片 19"/>
          <p:cNvPicPr>
            <a:picLocks noChangeAspect="1"/>
          </p:cNvPicPr>
          <p:nvPr/>
        </p:nvPicPr>
        <p:blipFill>
          <a:blip r:embed="rId2"/>
          <a:stretch>
            <a:fillRect/>
          </a:stretch>
        </p:blipFill>
        <p:spPr>
          <a:xfrm>
            <a:off x="2087245" y="1385570"/>
            <a:ext cx="6961505" cy="3208655"/>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5="http://schemas.microsoft.com/office/powerpoint/2012/main" Requires="p15">
      <p:transition xmlns:p14="http://schemas.microsoft.com/office/powerpoint/2010/main" spd="med" Requires="p14">
        <p15:prstTrans prst="airplan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
                                  </p:stCondLst>
                                  <p:childTnLst>
                                    <p:set>
                                      <p:cBhvr>
                                        <p:cTn id="6" dur="1" fill="hold">
                                          <p:stCondLst>
                                            <p:cond delay="0"/>
                                          </p:stCondLst>
                                        </p:cTn>
                                        <p:tgtEl>
                                          <p:spTgt spid="85"/>
                                        </p:tgtEl>
                                        <p:attrNameLst>
                                          <p:attrName>style.visibility</p:attrName>
                                        </p:attrNameLst>
                                      </p:cBhvr>
                                      <p:to>
                                        <p:strVal val="visible"/>
                                      </p:to>
                                    </p:set>
                                    <p:animEffect transition="in" filter="fade">
                                      <p:cBhvr>
                                        <p:cTn id="7" dur="600"/>
                                        <p:tgtEl>
                                          <p:spTgt spid="85"/>
                                        </p:tgtEl>
                                      </p:cBhvr>
                                    </p:animEffect>
                                  </p:childTnLst>
                                </p:cTn>
                              </p:par>
                              <p:par>
                                <p:cTn id="8" presetID="2" presetClass="entr" presetSubtype="4" fill="hold" grpId="0" nodeType="withEffect">
                                  <p:stCondLst>
                                    <p:cond delay="100"/>
                                  </p:stCondLst>
                                  <p:childTnLst>
                                    <p:set>
                                      <p:cBhvr>
                                        <p:cTn id="9" dur="1" fill="hold">
                                          <p:stCondLst>
                                            <p:cond delay="0"/>
                                          </p:stCondLst>
                                        </p:cTn>
                                        <p:tgtEl>
                                          <p:spTgt spid="85"/>
                                        </p:tgtEl>
                                        <p:attrNameLst>
                                          <p:attrName>style.visibility</p:attrName>
                                        </p:attrNameLst>
                                      </p:cBhvr>
                                      <p:to>
                                        <p:strVal val="visible"/>
                                      </p:to>
                                    </p:set>
                                    <p:anim calcmode="lin" valueType="num">
                                      <p:cBhvr additive="base">
                                        <p:cTn id="10" dur="600" fill="hold"/>
                                        <p:tgtEl>
                                          <p:spTgt spid="85"/>
                                        </p:tgtEl>
                                        <p:attrNameLst>
                                          <p:attrName>ppt_x</p:attrName>
                                        </p:attrNameLst>
                                      </p:cBhvr>
                                      <p:tavLst>
                                        <p:tav tm="0">
                                          <p:val>
                                            <p:strVal val="#ppt_x"/>
                                          </p:val>
                                        </p:tav>
                                        <p:tav tm="100000">
                                          <p:val>
                                            <p:strVal val="#ppt_x"/>
                                          </p:val>
                                        </p:tav>
                                      </p:tavLst>
                                    </p:anim>
                                    <p:anim calcmode="lin" valueType="num">
                                      <p:cBhvr additive="base">
                                        <p:cTn id="11" dur="600" fill="hold"/>
                                        <p:tgtEl>
                                          <p:spTgt spid="8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342900" y="342900"/>
            <a:ext cx="8458200" cy="285750"/>
          </a:xfrm>
          <a:prstGeom prst="rect">
            <a:avLst/>
          </a:prstGeom>
          <a:noFill/>
        </p:spPr>
        <p:txBody>
          <a:bodyPr wrap="none" lIns="0" tIns="0" rIns="0" bIns="0" rtlCol="0" anchor="t"/>
          <a:lstStyle/>
          <a:p>
            <a:pPr marL="0" indent="0" algn="l">
              <a:lnSpc>
                <a:spcPct val="125000"/>
              </a:lnSpc>
              <a:defRPr/>
            </a:pPr>
            <a:r>
              <a:rPr lang="en-US" sz="19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成果展示 -</a:t>
            </a:r>
            <a:r>
              <a:rPr lang="zh-CN" altLang="en-US" sz="19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群众端</a:t>
            </a:r>
            <a:endParaRPr lang="zh-CN" altLang="en-US" sz="19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 name="Shape 1"/>
          <p:cNvSpPr/>
          <p:nvPr/>
        </p:nvSpPr>
        <p:spPr>
          <a:xfrm>
            <a:off x="342900" y="771525"/>
            <a:ext cx="685800" cy="28575"/>
          </a:xfrm>
          <a:prstGeom prst="roundRect">
            <a:avLst>
              <a:gd name="adj" fmla="val 50000"/>
            </a:avLst>
          </a:prstGeom>
          <a:solidFill>
            <a:srgbClr val="5B9DFF"/>
          </a:solidFill>
        </p:spPr>
      </p:sp>
      <p:grpSp>
        <p:nvGrpSpPr>
          <p:cNvPr id="85" name="h2p-grp-h2p-animroot-1"/>
          <p:cNvGrpSpPr/>
          <p:nvPr/>
        </p:nvGrpSpPr>
        <p:grpSpPr>
          <a:xfrm>
            <a:off x="292100" y="1040085"/>
            <a:ext cx="1577318" cy="3303315"/>
            <a:chOff x="0" y="0"/>
            <a:chExt cx="1577318" cy="3303315"/>
          </a:xfrm>
        </p:grpSpPr>
        <p:sp>
          <p:nvSpPr>
            <p:cNvPr id="6" name="圆角矩形 5"/>
            <p:cNvSpPr/>
            <p:nvPr/>
          </p:nvSpPr>
          <p:spPr>
            <a:xfrm>
              <a:off x="0" y="0"/>
              <a:ext cx="1577318" cy="3303315"/>
            </a:xfrm>
            <a:prstGeom prst="roundRect">
              <a:avLst>
                <a:gd name="adj" fmla="val 5435"/>
              </a:avLst>
            </a:prstGeom>
            <a:solidFill>
              <a:srgbClr val="FFFFFF"/>
            </a:solidFill>
            <a:ln w="6350">
              <a:solidFill>
                <a:srgbClr val="DCEAF5"/>
              </a:solidFill>
              <a:prstDash val="solid"/>
            </a:ln>
          </p:spPr>
        </p:sp>
        <p:sp>
          <p:nvSpPr>
            <p:cNvPr id="8" name="圆角矩形 7"/>
            <p:cNvSpPr/>
            <p:nvPr/>
          </p:nvSpPr>
          <p:spPr>
            <a:xfrm>
              <a:off x="178594" y="178594"/>
              <a:ext cx="342900" cy="342900"/>
            </a:xfrm>
            <a:prstGeom prst="roundRect">
              <a:avLst>
                <a:gd name="adj" fmla="val 20833"/>
              </a:avLst>
            </a:prstGeom>
            <a:solidFill>
              <a:srgbClr val="EAF5FF"/>
            </a:solidFill>
          </p:spPr>
        </p:sp>
        <p:sp>
          <p:nvSpPr>
            <p:cNvPr id="9" name="任意多边形 8"/>
            <p:cNvSpPr/>
            <p:nvPr/>
          </p:nvSpPr>
          <p:spPr>
            <a:xfrm>
              <a:off x="271463" y="371475"/>
              <a:ext cx="114300" cy="42863"/>
            </a:xfrm>
            <a:custGeom>
              <a:avLst/>
              <a:gdLst/>
              <a:ahLst/>
              <a:cxnLst/>
              <a:pathLst>
                <a:path w="21600" h="21600">
                  <a:moveTo>
                    <a:pt x="21600" y="21600"/>
                  </a:moveTo>
                  <a:lnTo>
                    <a:pt x="21600" y="17388"/>
                  </a:lnTo>
                  <a:lnTo>
                    <a:pt x="21581" y="13178"/>
                  </a:lnTo>
                  <a:lnTo>
                    <a:pt x="21221" y="9093"/>
                  </a:lnTo>
                  <a:lnTo>
                    <a:pt x="20433" y="5460"/>
                  </a:lnTo>
                  <a:lnTo>
                    <a:pt x="19287" y="2584"/>
                  </a:lnTo>
                  <a:lnTo>
                    <a:pt x="17879" y="710"/>
                  </a:lnTo>
                  <a:lnTo>
                    <a:pt x="16328" y="4"/>
                  </a:lnTo>
                  <a:lnTo>
                    <a:pt x="14748" y="0"/>
                  </a:lnTo>
                  <a:lnTo>
                    <a:pt x="13169" y="0"/>
                  </a:lnTo>
                  <a:lnTo>
                    <a:pt x="11590" y="0"/>
                  </a:lnTo>
                  <a:lnTo>
                    <a:pt x="10010" y="0"/>
                  </a:lnTo>
                  <a:lnTo>
                    <a:pt x="8431" y="0"/>
                  </a:lnTo>
                  <a:lnTo>
                    <a:pt x="6852" y="0"/>
                  </a:lnTo>
                  <a:lnTo>
                    <a:pt x="5272" y="4"/>
                  </a:lnTo>
                  <a:lnTo>
                    <a:pt x="3721" y="710"/>
                  </a:lnTo>
                  <a:lnTo>
                    <a:pt x="2313" y="2584"/>
                  </a:lnTo>
                  <a:lnTo>
                    <a:pt x="1167" y="5460"/>
                  </a:lnTo>
                  <a:lnTo>
                    <a:pt x="379" y="9093"/>
                  </a:lnTo>
                  <a:lnTo>
                    <a:pt x="19" y="13178"/>
                  </a:lnTo>
                  <a:lnTo>
                    <a:pt x="0" y="17388"/>
                  </a:lnTo>
                  <a:lnTo>
                    <a:pt x="0" y="21600"/>
                  </a:lnTo>
                </a:path>
              </a:pathLst>
            </a:custGeom>
            <a:ln w="12700">
              <a:solidFill>
                <a:srgbClr val="2563EB"/>
              </a:solidFill>
              <a:prstDash val="solid"/>
            </a:ln>
          </p:spPr>
        </p:sp>
        <p:sp>
          <p:nvSpPr>
            <p:cNvPr id="10" name="椭圆 9"/>
            <p:cNvSpPr/>
            <p:nvPr/>
          </p:nvSpPr>
          <p:spPr>
            <a:xfrm>
              <a:off x="300038" y="285750"/>
              <a:ext cx="57150" cy="57150"/>
            </a:xfrm>
            <a:prstGeom prst="ellipse">
              <a:avLst/>
            </a:prstGeom>
            <a:noFill/>
            <a:ln w="12700">
              <a:solidFill>
                <a:srgbClr val="2563EB"/>
              </a:solidFill>
              <a:prstDash val="solid"/>
            </a:ln>
          </p:spPr>
        </p:sp>
        <p:sp>
          <p:nvSpPr>
            <p:cNvPr id="11" name="任意多边形 10"/>
            <p:cNvSpPr/>
            <p:nvPr/>
          </p:nvSpPr>
          <p:spPr>
            <a:xfrm>
              <a:off x="407194" y="372404"/>
              <a:ext cx="21431" cy="41934"/>
            </a:xfrm>
            <a:custGeom>
              <a:avLst/>
              <a:gdLst/>
              <a:ahLst/>
              <a:cxnLst/>
              <a:pathLst>
                <a:path w="21600" h="21600">
                  <a:moveTo>
                    <a:pt x="21600" y="21600"/>
                  </a:moveTo>
                  <a:lnTo>
                    <a:pt x="21600" y="19928"/>
                  </a:lnTo>
                  <a:lnTo>
                    <a:pt x="21600" y="18256"/>
                  </a:lnTo>
                  <a:lnTo>
                    <a:pt x="21600" y="16584"/>
                  </a:lnTo>
                  <a:lnTo>
                    <a:pt x="21600" y="14912"/>
                  </a:lnTo>
                  <a:lnTo>
                    <a:pt x="21533" y="13241"/>
                  </a:lnTo>
                  <a:lnTo>
                    <a:pt x="21125" y="11583"/>
                  </a:lnTo>
                  <a:lnTo>
                    <a:pt x="20351" y="9960"/>
                  </a:lnTo>
                  <a:lnTo>
                    <a:pt x="19221" y="8392"/>
                  </a:lnTo>
                  <a:lnTo>
                    <a:pt x="17750" y="6899"/>
                  </a:lnTo>
                  <a:lnTo>
                    <a:pt x="15958" y="5502"/>
                  </a:lnTo>
                  <a:lnTo>
                    <a:pt x="13869" y="4216"/>
                  </a:lnTo>
                  <a:lnTo>
                    <a:pt x="11508" y="3060"/>
                  </a:lnTo>
                  <a:lnTo>
                    <a:pt x="8907" y="2048"/>
                  </a:lnTo>
                  <a:lnTo>
                    <a:pt x="6097" y="1194"/>
                  </a:lnTo>
                  <a:lnTo>
                    <a:pt x="3115" y="508"/>
                  </a:lnTo>
                  <a:lnTo>
                    <a:pt x="0" y="0"/>
                  </a:lnTo>
                </a:path>
              </a:pathLst>
            </a:custGeom>
            <a:ln w="12700">
              <a:solidFill>
                <a:srgbClr val="2563EB"/>
              </a:solidFill>
              <a:prstDash val="solid"/>
            </a:ln>
          </p:spPr>
        </p:sp>
        <p:sp>
          <p:nvSpPr>
            <p:cNvPr id="12" name="任意多边形 11"/>
            <p:cNvSpPr/>
            <p:nvPr/>
          </p:nvSpPr>
          <p:spPr>
            <a:xfrm>
              <a:off x="378619" y="286679"/>
              <a:ext cx="21487" cy="55364"/>
            </a:xfrm>
            <a:custGeom>
              <a:avLst/>
              <a:gdLst/>
              <a:ahLst/>
              <a:cxnLst/>
              <a:pathLst>
                <a:path w="21600" h="21600">
                  <a:moveTo>
                    <a:pt x="0" y="0"/>
                  </a:moveTo>
                  <a:lnTo>
                    <a:pt x="4475" y="600"/>
                  </a:lnTo>
                  <a:lnTo>
                    <a:pt x="8635" y="1478"/>
                  </a:lnTo>
                  <a:lnTo>
                    <a:pt x="12365" y="2610"/>
                  </a:lnTo>
                  <a:lnTo>
                    <a:pt x="15566" y="3964"/>
                  </a:lnTo>
                  <a:lnTo>
                    <a:pt x="18152" y="5504"/>
                  </a:lnTo>
                  <a:lnTo>
                    <a:pt x="20052" y="7187"/>
                  </a:lnTo>
                  <a:lnTo>
                    <a:pt x="21212" y="8969"/>
                  </a:lnTo>
                  <a:lnTo>
                    <a:pt x="21600" y="10800"/>
                  </a:lnTo>
                  <a:lnTo>
                    <a:pt x="21212" y="12631"/>
                  </a:lnTo>
                  <a:lnTo>
                    <a:pt x="20052" y="14413"/>
                  </a:lnTo>
                  <a:lnTo>
                    <a:pt x="18152" y="16096"/>
                  </a:lnTo>
                  <a:lnTo>
                    <a:pt x="15566" y="17636"/>
                  </a:lnTo>
                  <a:lnTo>
                    <a:pt x="12365" y="18990"/>
                  </a:lnTo>
                  <a:lnTo>
                    <a:pt x="8635" y="20122"/>
                  </a:lnTo>
                  <a:lnTo>
                    <a:pt x="4475" y="21000"/>
                  </a:lnTo>
                  <a:lnTo>
                    <a:pt x="0" y="21600"/>
                  </a:lnTo>
                </a:path>
              </a:pathLst>
            </a:custGeom>
            <a:ln w="12700">
              <a:solidFill>
                <a:srgbClr val="2563EB"/>
              </a:solidFill>
              <a:prstDash val="solid"/>
            </a:ln>
          </p:spPr>
        </p:sp>
        <p:sp>
          <p:nvSpPr>
            <p:cNvPr id="13" name="矩形 12"/>
            <p:cNvSpPr/>
            <p:nvPr/>
          </p:nvSpPr>
          <p:spPr>
            <a:xfrm>
              <a:off x="178594" y="664369"/>
              <a:ext cx="285750" cy="157163"/>
            </a:xfrm>
            <a:prstGeom prst="rect">
              <a:avLst/>
            </a:prstGeom>
            <a:noFill/>
          </p:spPr>
          <p:txBody>
            <a:bodyPr wrap="none" lIns="0" tIns="0" rIns="0" bIns="0" rtlCol="0" anchor="ctr"/>
            <a:lstStyle/>
            <a:p>
              <a:pPr marL="0" indent="0">
                <a:lnSpc>
                  <a:spcPct val="150000"/>
                </a:lnSpc>
                <a:buNone/>
              </a:pPr>
              <a:r>
                <a:rPr lang="zh-CN" sz="1100" b="1" dirty="0">
                  <a:solidFill>
                    <a:srgbClr val="2E6EA6"/>
                  </a:solidFill>
                  <a:latin typeface="Arial" panose="020B0604020202020204" pitchFamily="34" charset="0"/>
                  <a:ea typeface="微软雅黑" panose="020B0503020204020204" pitchFamily="34" charset="-122"/>
                </a:rPr>
                <a:t>群众</a:t>
              </a:r>
              <a:endParaRPr lang="en-US" sz="1100" dirty="0"/>
            </a:p>
          </p:txBody>
        </p:sp>
        <p:sp>
          <p:nvSpPr>
            <p:cNvPr id="14" name="圆角矩形 13"/>
            <p:cNvSpPr/>
            <p:nvPr/>
          </p:nvSpPr>
          <p:spPr>
            <a:xfrm>
              <a:off x="521494" y="664369"/>
              <a:ext cx="433425" cy="157163"/>
            </a:xfrm>
            <a:prstGeom prst="roundRect">
              <a:avLst>
                <a:gd name="adj" fmla="val 18182"/>
              </a:avLst>
            </a:prstGeom>
            <a:solidFill>
              <a:srgbClr val="5B9DFF">
                <a:alpha val="10000"/>
              </a:srgbClr>
            </a:solidFill>
          </p:spPr>
        </p:sp>
        <p:sp>
          <p:nvSpPr>
            <p:cNvPr id="15" name="矩形 14"/>
            <p:cNvSpPr/>
            <p:nvPr/>
          </p:nvSpPr>
          <p:spPr>
            <a:xfrm>
              <a:off x="521494" y="664369"/>
              <a:ext cx="433425" cy="157163"/>
            </a:xfrm>
            <a:prstGeom prst="rect">
              <a:avLst/>
            </a:prstGeom>
            <a:noFill/>
          </p:spPr>
          <p:txBody>
            <a:bodyPr wrap="none" lIns="58928" tIns="14732" rIns="58928" bIns="14732" rtlCol="0" anchor="t"/>
            <a:lstStyle/>
            <a:p>
              <a:pPr marL="0" indent="0">
                <a:lnSpc>
                  <a:spcPct val="150000"/>
                </a:lnSpc>
                <a:buNone/>
              </a:pPr>
              <a:r>
                <a:rPr lang="en-US" sz="600" b="1" dirty="0">
                  <a:solidFill>
                    <a:srgbClr val="5B9DFF"/>
                  </a:solidFill>
                  <a:latin typeface="Arial" panose="020B0604020202020204" pitchFamily="34" charset="0"/>
                </a:rPr>
                <a:t>PUBLIC</a:t>
              </a:r>
              <a:endParaRPr lang="en-US" sz="600" dirty="0"/>
            </a:p>
          </p:txBody>
        </p:sp>
        <p:sp>
          <p:nvSpPr>
            <p:cNvPr id="16" name="矩形 15"/>
            <p:cNvSpPr/>
            <p:nvPr/>
          </p:nvSpPr>
          <p:spPr>
            <a:xfrm>
              <a:off x="178594" y="907257"/>
              <a:ext cx="1220130" cy="150019"/>
            </a:xfrm>
            <a:prstGeom prst="rect">
              <a:avLst/>
            </a:prstGeom>
            <a:noFill/>
          </p:spPr>
          <p:txBody>
            <a:bodyPr wrap="none" lIns="0"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主要访问公开信息。</a:t>
              </a:r>
              <a:endParaRPr lang="en-US" sz="700" dirty="0"/>
            </a:p>
          </p:txBody>
        </p:sp>
        <p:sp>
          <p:nvSpPr>
            <p:cNvPr id="17" name="矩形 16"/>
            <p:cNvSpPr/>
            <p:nvPr/>
          </p:nvSpPr>
          <p:spPr>
            <a:xfrm>
              <a:off x="178594" y="1143000"/>
              <a:ext cx="1220130" cy="289322"/>
            </a:xfrm>
            <a:prstGeom prst="rect">
              <a:avLst/>
            </a:prstGeom>
            <a:noFill/>
          </p:spPr>
          <p:txBody>
            <a:bodyPr wrap="square" lIns="132588"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基于公开知识库进行智能咨询</a:t>
              </a:r>
              <a:endParaRPr lang="en-US" sz="700" dirty="0"/>
            </a:p>
          </p:txBody>
        </p:sp>
        <p:sp>
          <p:nvSpPr>
            <p:cNvPr id="18" name="矩形 17"/>
            <p:cNvSpPr/>
            <p:nvPr/>
          </p:nvSpPr>
          <p:spPr>
            <a:xfrm>
              <a:off x="178594" y="1489472"/>
              <a:ext cx="1220130" cy="144661"/>
            </a:xfrm>
            <a:prstGeom prst="rect">
              <a:avLst/>
            </a:prstGeom>
            <a:noFill/>
          </p:spPr>
          <p:txBody>
            <a:bodyPr wrap="none" lIns="132588" tIns="0" rIns="0" bIns="0" rtlCol="0" anchor="t"/>
            <a:lstStyle/>
            <a:p>
              <a:pPr marL="0" indent="0">
                <a:lnSpc>
                  <a:spcPct val="150000"/>
                </a:lnSpc>
                <a:buNone/>
              </a:pPr>
              <a:r>
                <a:rPr lang="en-US" sz="700" dirty="0">
                  <a:solidFill>
                    <a:srgbClr val="1F2A37"/>
                  </a:solidFill>
                  <a:latin typeface="Arial" panose="020B0604020202020204" pitchFamily="34" charset="0"/>
                  <a:ea typeface="Arial" panose="020B0604020202020204" pitchFamily="34" charset="-122"/>
                  <a:cs typeface="Arial" panose="020B0604020202020204" pitchFamily="34" charset="-120"/>
                </a:rPr>
                <a:t>浏览健康资讯与就诊指南</a:t>
              </a:r>
              <a:endParaRPr lang="en-US" sz="700" dirty="0"/>
            </a:p>
          </p:txBody>
        </p:sp>
        <p:sp>
          <p:nvSpPr>
            <p:cNvPr id="19" name="矩形 18"/>
            <p:cNvSpPr/>
            <p:nvPr/>
          </p:nvSpPr>
          <p:spPr>
            <a:xfrm>
              <a:off x="178594" y="1691283"/>
              <a:ext cx="1220130" cy="144661"/>
            </a:xfrm>
            <a:prstGeom prst="rect">
              <a:avLst/>
            </a:prstGeom>
            <a:noFill/>
          </p:spPr>
          <p:txBody>
            <a:bodyPr wrap="none" lIns="132588"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进行在线预约挂号</a:t>
              </a:r>
              <a:endParaRPr lang="en-US" sz="700" dirty="0"/>
            </a:p>
          </p:txBody>
        </p:sp>
      </p:grpSp>
      <p:pic>
        <p:nvPicPr>
          <p:cNvPr id="20" name="图片 19"/>
          <p:cNvPicPr>
            <a:picLocks noChangeAspect="1"/>
          </p:cNvPicPr>
          <p:nvPr/>
        </p:nvPicPr>
        <p:blipFill>
          <a:blip r:embed="rId2"/>
          <a:stretch>
            <a:fillRect/>
          </a:stretch>
        </p:blipFill>
        <p:spPr>
          <a:xfrm>
            <a:off x="2725420" y="771525"/>
            <a:ext cx="4345940" cy="3811905"/>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5="http://schemas.microsoft.com/office/powerpoint/2012/main" Requires="p15">
      <p:transition xmlns:p14="http://schemas.microsoft.com/office/powerpoint/2010/main" spd="med" Requires="p14">
        <p15:prstTrans prst="airplan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
                                  </p:stCondLst>
                                  <p:childTnLst>
                                    <p:set>
                                      <p:cBhvr>
                                        <p:cTn id="6" dur="1" fill="hold">
                                          <p:stCondLst>
                                            <p:cond delay="0"/>
                                          </p:stCondLst>
                                        </p:cTn>
                                        <p:tgtEl>
                                          <p:spTgt spid="85"/>
                                        </p:tgtEl>
                                        <p:attrNameLst>
                                          <p:attrName>style.visibility</p:attrName>
                                        </p:attrNameLst>
                                      </p:cBhvr>
                                      <p:to>
                                        <p:strVal val="visible"/>
                                      </p:to>
                                    </p:set>
                                    <p:animEffect transition="in" filter="fade">
                                      <p:cBhvr>
                                        <p:cTn id="7" dur="600"/>
                                        <p:tgtEl>
                                          <p:spTgt spid="85"/>
                                        </p:tgtEl>
                                      </p:cBhvr>
                                    </p:animEffect>
                                  </p:childTnLst>
                                </p:cTn>
                              </p:par>
                              <p:par>
                                <p:cTn id="8" presetID="2" presetClass="entr" presetSubtype="4" fill="hold" grpId="0" nodeType="withEffect">
                                  <p:stCondLst>
                                    <p:cond delay="100"/>
                                  </p:stCondLst>
                                  <p:childTnLst>
                                    <p:set>
                                      <p:cBhvr>
                                        <p:cTn id="9" dur="1" fill="hold">
                                          <p:stCondLst>
                                            <p:cond delay="0"/>
                                          </p:stCondLst>
                                        </p:cTn>
                                        <p:tgtEl>
                                          <p:spTgt spid="85"/>
                                        </p:tgtEl>
                                        <p:attrNameLst>
                                          <p:attrName>style.visibility</p:attrName>
                                        </p:attrNameLst>
                                      </p:cBhvr>
                                      <p:to>
                                        <p:strVal val="visible"/>
                                      </p:to>
                                    </p:set>
                                    <p:anim calcmode="lin" valueType="num">
                                      <p:cBhvr additive="base">
                                        <p:cTn id="10" dur="600" fill="hold"/>
                                        <p:tgtEl>
                                          <p:spTgt spid="85"/>
                                        </p:tgtEl>
                                        <p:attrNameLst>
                                          <p:attrName>ppt_x</p:attrName>
                                        </p:attrNameLst>
                                      </p:cBhvr>
                                      <p:tavLst>
                                        <p:tav tm="0">
                                          <p:val>
                                            <p:strVal val="#ppt_x"/>
                                          </p:val>
                                        </p:tav>
                                        <p:tav tm="100000">
                                          <p:val>
                                            <p:strVal val="#ppt_x"/>
                                          </p:val>
                                        </p:tav>
                                      </p:tavLst>
                                    </p:anim>
                                    <p:anim calcmode="lin" valueType="num">
                                      <p:cBhvr additive="base">
                                        <p:cTn id="11" dur="600" fill="hold"/>
                                        <p:tgtEl>
                                          <p:spTgt spid="8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342900" y="342900"/>
            <a:ext cx="8458200" cy="285750"/>
          </a:xfrm>
          <a:prstGeom prst="rect">
            <a:avLst/>
          </a:prstGeom>
          <a:noFill/>
        </p:spPr>
        <p:txBody>
          <a:bodyPr wrap="none" lIns="0" tIns="0" rIns="0" bIns="0" rtlCol="0" anchor="t"/>
          <a:lstStyle/>
          <a:p>
            <a:pPr marL="0" indent="0" algn="l">
              <a:lnSpc>
                <a:spcPct val="125000"/>
              </a:lnSpc>
              <a:defRPr/>
            </a:pPr>
            <a:r>
              <a:rPr lang="en-US" sz="19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成果展示 -</a:t>
            </a:r>
            <a:r>
              <a:rPr lang="zh-CN" altLang="en-US" sz="19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群众端</a:t>
            </a:r>
            <a:endParaRPr lang="zh-CN" altLang="en-US" sz="19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 name="Shape 1"/>
          <p:cNvSpPr/>
          <p:nvPr/>
        </p:nvSpPr>
        <p:spPr>
          <a:xfrm>
            <a:off x="342900" y="771525"/>
            <a:ext cx="685800" cy="28575"/>
          </a:xfrm>
          <a:prstGeom prst="roundRect">
            <a:avLst>
              <a:gd name="adj" fmla="val 50000"/>
            </a:avLst>
          </a:prstGeom>
          <a:solidFill>
            <a:srgbClr val="5B9DFF"/>
          </a:solidFill>
        </p:spPr>
      </p:sp>
      <p:grpSp>
        <p:nvGrpSpPr>
          <p:cNvPr id="85" name="h2p-grp-h2p-animroot-1"/>
          <p:cNvGrpSpPr/>
          <p:nvPr/>
        </p:nvGrpSpPr>
        <p:grpSpPr>
          <a:xfrm>
            <a:off x="292100" y="1040085"/>
            <a:ext cx="1577318" cy="3303315"/>
            <a:chOff x="0" y="0"/>
            <a:chExt cx="1577318" cy="3303315"/>
          </a:xfrm>
        </p:grpSpPr>
        <p:sp>
          <p:nvSpPr>
            <p:cNvPr id="6" name="圆角矩形 5"/>
            <p:cNvSpPr/>
            <p:nvPr/>
          </p:nvSpPr>
          <p:spPr>
            <a:xfrm>
              <a:off x="0" y="0"/>
              <a:ext cx="1577318" cy="3303315"/>
            </a:xfrm>
            <a:prstGeom prst="roundRect">
              <a:avLst>
                <a:gd name="adj" fmla="val 5435"/>
              </a:avLst>
            </a:prstGeom>
            <a:solidFill>
              <a:srgbClr val="FFFFFF"/>
            </a:solidFill>
            <a:ln w="6350">
              <a:solidFill>
                <a:srgbClr val="DCEAF5"/>
              </a:solidFill>
              <a:prstDash val="solid"/>
            </a:ln>
          </p:spPr>
        </p:sp>
        <p:sp>
          <p:nvSpPr>
            <p:cNvPr id="8" name="圆角矩形 7"/>
            <p:cNvSpPr/>
            <p:nvPr/>
          </p:nvSpPr>
          <p:spPr>
            <a:xfrm>
              <a:off x="178594" y="178594"/>
              <a:ext cx="342900" cy="342900"/>
            </a:xfrm>
            <a:prstGeom prst="roundRect">
              <a:avLst>
                <a:gd name="adj" fmla="val 20833"/>
              </a:avLst>
            </a:prstGeom>
            <a:solidFill>
              <a:srgbClr val="EAF5FF"/>
            </a:solidFill>
          </p:spPr>
        </p:sp>
        <p:sp>
          <p:nvSpPr>
            <p:cNvPr id="9" name="任意多边形 8"/>
            <p:cNvSpPr/>
            <p:nvPr/>
          </p:nvSpPr>
          <p:spPr>
            <a:xfrm>
              <a:off x="271463" y="371475"/>
              <a:ext cx="114300" cy="42863"/>
            </a:xfrm>
            <a:custGeom>
              <a:avLst/>
              <a:gdLst/>
              <a:ahLst/>
              <a:cxnLst/>
              <a:pathLst>
                <a:path w="21600" h="21600">
                  <a:moveTo>
                    <a:pt x="21600" y="21600"/>
                  </a:moveTo>
                  <a:lnTo>
                    <a:pt x="21600" y="17388"/>
                  </a:lnTo>
                  <a:lnTo>
                    <a:pt x="21581" y="13178"/>
                  </a:lnTo>
                  <a:lnTo>
                    <a:pt x="21221" y="9093"/>
                  </a:lnTo>
                  <a:lnTo>
                    <a:pt x="20433" y="5460"/>
                  </a:lnTo>
                  <a:lnTo>
                    <a:pt x="19287" y="2584"/>
                  </a:lnTo>
                  <a:lnTo>
                    <a:pt x="17879" y="710"/>
                  </a:lnTo>
                  <a:lnTo>
                    <a:pt x="16328" y="4"/>
                  </a:lnTo>
                  <a:lnTo>
                    <a:pt x="14748" y="0"/>
                  </a:lnTo>
                  <a:lnTo>
                    <a:pt x="13169" y="0"/>
                  </a:lnTo>
                  <a:lnTo>
                    <a:pt x="11590" y="0"/>
                  </a:lnTo>
                  <a:lnTo>
                    <a:pt x="10010" y="0"/>
                  </a:lnTo>
                  <a:lnTo>
                    <a:pt x="8431" y="0"/>
                  </a:lnTo>
                  <a:lnTo>
                    <a:pt x="6852" y="0"/>
                  </a:lnTo>
                  <a:lnTo>
                    <a:pt x="5272" y="4"/>
                  </a:lnTo>
                  <a:lnTo>
                    <a:pt x="3721" y="710"/>
                  </a:lnTo>
                  <a:lnTo>
                    <a:pt x="2313" y="2584"/>
                  </a:lnTo>
                  <a:lnTo>
                    <a:pt x="1167" y="5460"/>
                  </a:lnTo>
                  <a:lnTo>
                    <a:pt x="379" y="9093"/>
                  </a:lnTo>
                  <a:lnTo>
                    <a:pt x="19" y="13178"/>
                  </a:lnTo>
                  <a:lnTo>
                    <a:pt x="0" y="17388"/>
                  </a:lnTo>
                  <a:lnTo>
                    <a:pt x="0" y="21600"/>
                  </a:lnTo>
                </a:path>
              </a:pathLst>
            </a:custGeom>
            <a:ln w="12700">
              <a:solidFill>
                <a:srgbClr val="2563EB"/>
              </a:solidFill>
              <a:prstDash val="solid"/>
            </a:ln>
          </p:spPr>
        </p:sp>
        <p:sp>
          <p:nvSpPr>
            <p:cNvPr id="10" name="椭圆 9"/>
            <p:cNvSpPr/>
            <p:nvPr/>
          </p:nvSpPr>
          <p:spPr>
            <a:xfrm>
              <a:off x="300038" y="285750"/>
              <a:ext cx="57150" cy="57150"/>
            </a:xfrm>
            <a:prstGeom prst="ellipse">
              <a:avLst/>
            </a:prstGeom>
            <a:noFill/>
            <a:ln w="12700">
              <a:solidFill>
                <a:srgbClr val="2563EB"/>
              </a:solidFill>
              <a:prstDash val="solid"/>
            </a:ln>
          </p:spPr>
        </p:sp>
        <p:sp>
          <p:nvSpPr>
            <p:cNvPr id="11" name="任意多边形 10"/>
            <p:cNvSpPr/>
            <p:nvPr/>
          </p:nvSpPr>
          <p:spPr>
            <a:xfrm>
              <a:off x="407194" y="372404"/>
              <a:ext cx="21431" cy="41934"/>
            </a:xfrm>
            <a:custGeom>
              <a:avLst/>
              <a:gdLst/>
              <a:ahLst/>
              <a:cxnLst/>
              <a:pathLst>
                <a:path w="21600" h="21600">
                  <a:moveTo>
                    <a:pt x="21600" y="21600"/>
                  </a:moveTo>
                  <a:lnTo>
                    <a:pt x="21600" y="19928"/>
                  </a:lnTo>
                  <a:lnTo>
                    <a:pt x="21600" y="18256"/>
                  </a:lnTo>
                  <a:lnTo>
                    <a:pt x="21600" y="16584"/>
                  </a:lnTo>
                  <a:lnTo>
                    <a:pt x="21600" y="14912"/>
                  </a:lnTo>
                  <a:lnTo>
                    <a:pt x="21533" y="13241"/>
                  </a:lnTo>
                  <a:lnTo>
                    <a:pt x="21125" y="11583"/>
                  </a:lnTo>
                  <a:lnTo>
                    <a:pt x="20351" y="9960"/>
                  </a:lnTo>
                  <a:lnTo>
                    <a:pt x="19221" y="8392"/>
                  </a:lnTo>
                  <a:lnTo>
                    <a:pt x="17750" y="6899"/>
                  </a:lnTo>
                  <a:lnTo>
                    <a:pt x="15958" y="5502"/>
                  </a:lnTo>
                  <a:lnTo>
                    <a:pt x="13869" y="4216"/>
                  </a:lnTo>
                  <a:lnTo>
                    <a:pt x="11508" y="3060"/>
                  </a:lnTo>
                  <a:lnTo>
                    <a:pt x="8907" y="2048"/>
                  </a:lnTo>
                  <a:lnTo>
                    <a:pt x="6097" y="1194"/>
                  </a:lnTo>
                  <a:lnTo>
                    <a:pt x="3115" y="508"/>
                  </a:lnTo>
                  <a:lnTo>
                    <a:pt x="0" y="0"/>
                  </a:lnTo>
                </a:path>
              </a:pathLst>
            </a:custGeom>
            <a:ln w="12700">
              <a:solidFill>
                <a:srgbClr val="2563EB"/>
              </a:solidFill>
              <a:prstDash val="solid"/>
            </a:ln>
          </p:spPr>
        </p:sp>
        <p:sp>
          <p:nvSpPr>
            <p:cNvPr id="12" name="任意多边形 11"/>
            <p:cNvSpPr/>
            <p:nvPr/>
          </p:nvSpPr>
          <p:spPr>
            <a:xfrm>
              <a:off x="378619" y="286679"/>
              <a:ext cx="21487" cy="55364"/>
            </a:xfrm>
            <a:custGeom>
              <a:avLst/>
              <a:gdLst/>
              <a:ahLst/>
              <a:cxnLst/>
              <a:pathLst>
                <a:path w="21600" h="21600">
                  <a:moveTo>
                    <a:pt x="0" y="0"/>
                  </a:moveTo>
                  <a:lnTo>
                    <a:pt x="4475" y="600"/>
                  </a:lnTo>
                  <a:lnTo>
                    <a:pt x="8635" y="1478"/>
                  </a:lnTo>
                  <a:lnTo>
                    <a:pt x="12365" y="2610"/>
                  </a:lnTo>
                  <a:lnTo>
                    <a:pt x="15566" y="3964"/>
                  </a:lnTo>
                  <a:lnTo>
                    <a:pt x="18152" y="5504"/>
                  </a:lnTo>
                  <a:lnTo>
                    <a:pt x="20052" y="7187"/>
                  </a:lnTo>
                  <a:lnTo>
                    <a:pt x="21212" y="8969"/>
                  </a:lnTo>
                  <a:lnTo>
                    <a:pt x="21600" y="10800"/>
                  </a:lnTo>
                  <a:lnTo>
                    <a:pt x="21212" y="12631"/>
                  </a:lnTo>
                  <a:lnTo>
                    <a:pt x="20052" y="14413"/>
                  </a:lnTo>
                  <a:lnTo>
                    <a:pt x="18152" y="16096"/>
                  </a:lnTo>
                  <a:lnTo>
                    <a:pt x="15566" y="17636"/>
                  </a:lnTo>
                  <a:lnTo>
                    <a:pt x="12365" y="18990"/>
                  </a:lnTo>
                  <a:lnTo>
                    <a:pt x="8635" y="20122"/>
                  </a:lnTo>
                  <a:lnTo>
                    <a:pt x="4475" y="21000"/>
                  </a:lnTo>
                  <a:lnTo>
                    <a:pt x="0" y="21600"/>
                  </a:lnTo>
                </a:path>
              </a:pathLst>
            </a:custGeom>
            <a:ln w="12700">
              <a:solidFill>
                <a:srgbClr val="2563EB"/>
              </a:solidFill>
              <a:prstDash val="solid"/>
            </a:ln>
          </p:spPr>
        </p:sp>
        <p:sp>
          <p:nvSpPr>
            <p:cNvPr id="13" name="矩形 12"/>
            <p:cNvSpPr/>
            <p:nvPr/>
          </p:nvSpPr>
          <p:spPr>
            <a:xfrm>
              <a:off x="178594" y="664369"/>
              <a:ext cx="285750" cy="157163"/>
            </a:xfrm>
            <a:prstGeom prst="rect">
              <a:avLst/>
            </a:prstGeom>
            <a:noFill/>
          </p:spPr>
          <p:txBody>
            <a:bodyPr wrap="none" lIns="0" tIns="0" rIns="0" bIns="0" rtlCol="0" anchor="ctr"/>
            <a:lstStyle/>
            <a:p>
              <a:pPr marL="0" indent="0">
                <a:lnSpc>
                  <a:spcPct val="150000"/>
                </a:lnSpc>
                <a:buNone/>
              </a:pPr>
              <a:r>
                <a:rPr lang="zh-CN" sz="1100" b="1" dirty="0">
                  <a:solidFill>
                    <a:srgbClr val="2E6EA6"/>
                  </a:solidFill>
                  <a:latin typeface="Arial" panose="020B0604020202020204" pitchFamily="34" charset="0"/>
                  <a:ea typeface="微软雅黑" panose="020B0503020204020204" pitchFamily="34" charset="-122"/>
                </a:rPr>
                <a:t>群众</a:t>
              </a:r>
              <a:endParaRPr lang="en-US" sz="1100" dirty="0"/>
            </a:p>
          </p:txBody>
        </p:sp>
        <p:sp>
          <p:nvSpPr>
            <p:cNvPr id="14" name="圆角矩形 13"/>
            <p:cNvSpPr/>
            <p:nvPr/>
          </p:nvSpPr>
          <p:spPr>
            <a:xfrm>
              <a:off x="521494" y="664369"/>
              <a:ext cx="433425" cy="157163"/>
            </a:xfrm>
            <a:prstGeom prst="roundRect">
              <a:avLst>
                <a:gd name="adj" fmla="val 18182"/>
              </a:avLst>
            </a:prstGeom>
            <a:solidFill>
              <a:srgbClr val="5B9DFF">
                <a:alpha val="10000"/>
              </a:srgbClr>
            </a:solidFill>
          </p:spPr>
        </p:sp>
        <p:sp>
          <p:nvSpPr>
            <p:cNvPr id="15" name="矩形 14"/>
            <p:cNvSpPr/>
            <p:nvPr/>
          </p:nvSpPr>
          <p:spPr>
            <a:xfrm>
              <a:off x="521494" y="664369"/>
              <a:ext cx="433425" cy="157163"/>
            </a:xfrm>
            <a:prstGeom prst="rect">
              <a:avLst/>
            </a:prstGeom>
            <a:noFill/>
          </p:spPr>
          <p:txBody>
            <a:bodyPr wrap="none" lIns="58928" tIns="14732" rIns="58928" bIns="14732" rtlCol="0" anchor="t"/>
            <a:lstStyle/>
            <a:p>
              <a:pPr marL="0" indent="0">
                <a:lnSpc>
                  <a:spcPct val="150000"/>
                </a:lnSpc>
                <a:buNone/>
              </a:pPr>
              <a:r>
                <a:rPr lang="en-US" sz="600" b="1" dirty="0">
                  <a:solidFill>
                    <a:srgbClr val="5B9DFF"/>
                  </a:solidFill>
                  <a:latin typeface="Arial" panose="020B0604020202020204" pitchFamily="34" charset="0"/>
                </a:rPr>
                <a:t>PUBLIC</a:t>
              </a:r>
              <a:endParaRPr lang="en-US" sz="600" dirty="0"/>
            </a:p>
          </p:txBody>
        </p:sp>
        <p:sp>
          <p:nvSpPr>
            <p:cNvPr id="16" name="矩形 15"/>
            <p:cNvSpPr/>
            <p:nvPr/>
          </p:nvSpPr>
          <p:spPr>
            <a:xfrm>
              <a:off x="178594" y="907257"/>
              <a:ext cx="1220130" cy="150019"/>
            </a:xfrm>
            <a:prstGeom prst="rect">
              <a:avLst/>
            </a:prstGeom>
            <a:noFill/>
          </p:spPr>
          <p:txBody>
            <a:bodyPr wrap="none" lIns="0"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主要访问公开信息。</a:t>
              </a:r>
              <a:endParaRPr lang="en-US" sz="700" dirty="0"/>
            </a:p>
          </p:txBody>
        </p:sp>
        <p:sp>
          <p:nvSpPr>
            <p:cNvPr id="17" name="矩形 16"/>
            <p:cNvSpPr/>
            <p:nvPr/>
          </p:nvSpPr>
          <p:spPr>
            <a:xfrm>
              <a:off x="178594" y="1143000"/>
              <a:ext cx="1220130" cy="289322"/>
            </a:xfrm>
            <a:prstGeom prst="rect">
              <a:avLst/>
            </a:prstGeom>
            <a:noFill/>
          </p:spPr>
          <p:txBody>
            <a:bodyPr wrap="square" lIns="132588"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基于公开知识库进行智能咨询</a:t>
              </a:r>
              <a:endParaRPr lang="en-US" sz="700" dirty="0"/>
            </a:p>
          </p:txBody>
        </p:sp>
        <p:sp>
          <p:nvSpPr>
            <p:cNvPr id="18" name="矩形 17"/>
            <p:cNvSpPr/>
            <p:nvPr/>
          </p:nvSpPr>
          <p:spPr>
            <a:xfrm>
              <a:off x="178594" y="1489472"/>
              <a:ext cx="1220130" cy="144661"/>
            </a:xfrm>
            <a:prstGeom prst="rect">
              <a:avLst/>
            </a:prstGeom>
            <a:noFill/>
          </p:spPr>
          <p:txBody>
            <a:bodyPr wrap="none" lIns="132588" tIns="0" rIns="0" bIns="0" rtlCol="0" anchor="t"/>
            <a:lstStyle/>
            <a:p>
              <a:pPr marL="0" indent="0">
                <a:lnSpc>
                  <a:spcPct val="150000"/>
                </a:lnSpc>
                <a:buNone/>
              </a:pPr>
              <a:r>
                <a:rPr lang="en-US" sz="700" dirty="0">
                  <a:solidFill>
                    <a:srgbClr val="1F2A37"/>
                  </a:solidFill>
                  <a:latin typeface="Arial" panose="020B0604020202020204" pitchFamily="34" charset="0"/>
                  <a:ea typeface="Arial" panose="020B0604020202020204" pitchFamily="34" charset="-122"/>
                  <a:cs typeface="Arial" panose="020B0604020202020204" pitchFamily="34" charset="-120"/>
                </a:rPr>
                <a:t>浏览健康资讯与就诊指南</a:t>
              </a:r>
              <a:endParaRPr lang="en-US" sz="700" dirty="0"/>
            </a:p>
          </p:txBody>
        </p:sp>
        <p:sp>
          <p:nvSpPr>
            <p:cNvPr id="19" name="矩形 18"/>
            <p:cNvSpPr/>
            <p:nvPr/>
          </p:nvSpPr>
          <p:spPr>
            <a:xfrm>
              <a:off x="178594" y="1691283"/>
              <a:ext cx="1220130" cy="144661"/>
            </a:xfrm>
            <a:prstGeom prst="rect">
              <a:avLst/>
            </a:prstGeom>
            <a:noFill/>
          </p:spPr>
          <p:txBody>
            <a:bodyPr wrap="none" lIns="132588" tIns="0" rIns="0" bIns="0" rtlCol="0" anchor="t"/>
            <a:lstStyle/>
            <a:p>
              <a:pPr marL="0" indent="0">
                <a:lnSpc>
                  <a:spcPct val="150000"/>
                </a:lnSpc>
                <a:buNone/>
              </a:pPr>
              <a:r>
                <a:rPr lang="zh-CN" sz="700" dirty="0">
                  <a:solidFill>
                    <a:srgbClr val="1F2A37"/>
                  </a:solidFill>
                  <a:latin typeface="Arial" panose="020B0604020202020204" pitchFamily="34" charset="0"/>
                  <a:ea typeface="微软雅黑" panose="020B0503020204020204" pitchFamily="34" charset="-122"/>
                </a:rPr>
                <a:t>进行在线预约挂号</a:t>
              </a:r>
              <a:endParaRPr lang="en-US" sz="700" dirty="0"/>
            </a:p>
          </p:txBody>
        </p:sp>
      </p:grpSp>
      <p:pic>
        <p:nvPicPr>
          <p:cNvPr id="29" name="图片 28"/>
          <p:cNvPicPr>
            <a:picLocks noChangeAspect="1"/>
          </p:cNvPicPr>
          <p:nvPr/>
        </p:nvPicPr>
        <p:blipFill>
          <a:blip r:embed="rId2"/>
          <a:stretch>
            <a:fillRect/>
          </a:stretch>
        </p:blipFill>
        <p:spPr>
          <a:xfrm>
            <a:off x="2743200" y="252730"/>
            <a:ext cx="4725035" cy="2277110"/>
          </a:xfrm>
          <a:prstGeom prst="rect">
            <a:avLst/>
          </a:prstGeom>
        </p:spPr>
      </p:pic>
      <p:pic>
        <p:nvPicPr>
          <p:cNvPr id="5" name="图片 4"/>
          <p:cNvPicPr>
            <a:picLocks noChangeAspect="1"/>
          </p:cNvPicPr>
          <p:nvPr/>
        </p:nvPicPr>
        <p:blipFill>
          <a:blip r:embed="rId3"/>
          <a:stretch>
            <a:fillRect/>
          </a:stretch>
        </p:blipFill>
        <p:spPr>
          <a:xfrm>
            <a:off x="2052955" y="2933065"/>
            <a:ext cx="6400800" cy="1816735"/>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5="http://schemas.microsoft.com/office/powerpoint/2012/main" Requires="p15">
      <p:transition xmlns:p14="http://schemas.microsoft.com/office/powerpoint/2010/main" spd="med" Requires="p14">
        <p15:prstTrans prst="airplan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
                                  </p:stCondLst>
                                  <p:childTnLst>
                                    <p:set>
                                      <p:cBhvr>
                                        <p:cTn id="6" dur="1" fill="hold">
                                          <p:stCondLst>
                                            <p:cond delay="0"/>
                                          </p:stCondLst>
                                        </p:cTn>
                                        <p:tgtEl>
                                          <p:spTgt spid="85"/>
                                        </p:tgtEl>
                                        <p:attrNameLst>
                                          <p:attrName>style.visibility</p:attrName>
                                        </p:attrNameLst>
                                      </p:cBhvr>
                                      <p:to>
                                        <p:strVal val="visible"/>
                                      </p:to>
                                    </p:set>
                                    <p:animEffect transition="in" filter="fade">
                                      <p:cBhvr>
                                        <p:cTn id="7" dur="600"/>
                                        <p:tgtEl>
                                          <p:spTgt spid="85"/>
                                        </p:tgtEl>
                                      </p:cBhvr>
                                    </p:animEffect>
                                  </p:childTnLst>
                                </p:cTn>
                              </p:par>
                              <p:par>
                                <p:cTn id="8" presetID="2" presetClass="entr" presetSubtype="4" fill="hold" grpId="0" nodeType="withEffect">
                                  <p:stCondLst>
                                    <p:cond delay="100"/>
                                  </p:stCondLst>
                                  <p:childTnLst>
                                    <p:set>
                                      <p:cBhvr>
                                        <p:cTn id="9" dur="1" fill="hold">
                                          <p:stCondLst>
                                            <p:cond delay="0"/>
                                          </p:stCondLst>
                                        </p:cTn>
                                        <p:tgtEl>
                                          <p:spTgt spid="85"/>
                                        </p:tgtEl>
                                        <p:attrNameLst>
                                          <p:attrName>style.visibility</p:attrName>
                                        </p:attrNameLst>
                                      </p:cBhvr>
                                      <p:to>
                                        <p:strVal val="visible"/>
                                      </p:to>
                                    </p:set>
                                    <p:anim calcmode="lin" valueType="num">
                                      <p:cBhvr additive="base">
                                        <p:cTn id="10" dur="600" fill="hold"/>
                                        <p:tgtEl>
                                          <p:spTgt spid="85"/>
                                        </p:tgtEl>
                                        <p:attrNameLst>
                                          <p:attrName>ppt_x</p:attrName>
                                        </p:attrNameLst>
                                      </p:cBhvr>
                                      <p:tavLst>
                                        <p:tav tm="0">
                                          <p:val>
                                            <p:strVal val="#ppt_x"/>
                                          </p:val>
                                        </p:tav>
                                        <p:tav tm="100000">
                                          <p:val>
                                            <p:strVal val="#ppt_x"/>
                                          </p:val>
                                        </p:tav>
                                      </p:tavLst>
                                    </p:anim>
                                    <p:anim calcmode="lin" valueType="num">
                                      <p:cBhvr additive="base">
                                        <p:cTn id="11" dur="600" fill="hold"/>
                                        <p:tgtEl>
                                          <p:spTgt spid="8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grpSp>
        <p:nvGrpSpPr>
          <p:cNvPr id="37" name="h2p-grp-h2p-animroot-1"/>
          <p:cNvGrpSpPr/>
          <p:nvPr/>
        </p:nvGrpSpPr>
        <p:grpSpPr>
          <a:xfrm>
            <a:off x="457200" y="342900"/>
            <a:ext cx="8229601" cy="571500"/>
            <a:chOff x="0" y="0"/>
            <a:chExt cx="8229601" cy="571500"/>
          </a:xfrm>
        </p:grpSpPr>
        <p:sp>
          <p:nvSpPr>
            <p:cNvPr id="3" name="矩形 2"/>
            <p:cNvSpPr/>
            <p:nvPr/>
          </p:nvSpPr>
          <p:spPr>
            <a:xfrm>
              <a:off x="0" y="0"/>
              <a:ext cx="8229600" cy="571500"/>
            </a:xfrm>
            <a:prstGeom prst="rect">
              <a:avLst/>
            </a:prstGeom>
            <a:noFill/>
          </p:spPr>
        </p:sp>
        <p:sp>
          <p:nvSpPr>
            <p:cNvPr id="4" name="矩形 3"/>
            <p:cNvSpPr/>
            <p:nvPr/>
          </p:nvSpPr>
          <p:spPr>
            <a:xfrm>
              <a:off x="0" y="0"/>
              <a:ext cx="42863" cy="571500"/>
            </a:xfrm>
            <a:prstGeom prst="rect">
              <a:avLst/>
            </a:prstGeom>
            <a:solidFill>
              <a:srgbClr val="5B9DFF"/>
            </a:solidFill>
          </p:spPr>
        </p:sp>
        <p:sp>
          <p:nvSpPr>
            <p:cNvPr id="5" name="矩形 4"/>
            <p:cNvSpPr/>
            <p:nvPr/>
          </p:nvSpPr>
          <p:spPr>
            <a:xfrm>
              <a:off x="185738" y="0"/>
              <a:ext cx="8043863" cy="342900"/>
            </a:xfrm>
            <a:prstGeom prst="rect">
              <a:avLst/>
            </a:prstGeom>
            <a:noFill/>
          </p:spPr>
          <p:txBody>
            <a:bodyPr wrap="none" lIns="0" tIns="0" rIns="0" bIns="0" rtlCol="0" anchor="t"/>
            <a:lstStyle/>
            <a:p>
              <a:pPr marL="0" indent="0">
                <a:lnSpc>
                  <a:spcPct val="150000"/>
                </a:lnSpc>
                <a:buNone/>
              </a:pPr>
              <a:r>
                <a:rPr lang="zh-CN" sz="1700" b="1" dirty="0">
                  <a:solidFill>
                    <a:srgbClr val="1F2A37"/>
                  </a:solidFill>
                  <a:latin typeface="Arial" panose="020B0604020202020204" pitchFamily="34" charset="0"/>
                  <a:ea typeface="微软雅黑" panose="020B0503020204020204" pitchFamily="34" charset="-122"/>
                </a:rPr>
                <a:t>项目总结与免责声明</a:t>
              </a:r>
              <a:endParaRPr lang="en-US" sz="1700" dirty="0"/>
            </a:p>
          </p:txBody>
        </p:sp>
        <p:sp>
          <p:nvSpPr>
            <p:cNvPr id="6" name="矩形 5"/>
            <p:cNvSpPr/>
            <p:nvPr/>
          </p:nvSpPr>
          <p:spPr>
            <a:xfrm>
              <a:off x="185738" y="400050"/>
              <a:ext cx="8043863" cy="171450"/>
            </a:xfrm>
            <a:prstGeom prst="rect">
              <a:avLst/>
            </a:prstGeom>
            <a:noFill/>
          </p:spPr>
          <p:txBody>
            <a:bodyPr wrap="none" lIns="0" tIns="0" rIns="0" bIns="0" rtlCol="0" anchor="t"/>
            <a:lstStyle/>
            <a:p>
              <a:pPr marL="0" indent="0">
                <a:lnSpc>
                  <a:spcPct val="150000"/>
                </a:lnSpc>
                <a:buNone/>
              </a:pPr>
              <a:r>
                <a:rPr lang="zh-CN" sz="900" b="1" dirty="0">
                  <a:solidFill>
                    <a:srgbClr val="2E6EA6"/>
                  </a:solidFill>
                  <a:latin typeface="Arial" panose="020B0604020202020204" pitchFamily="34" charset="0"/>
                  <a:ea typeface="微软雅黑" panose="020B0503020204020204" pitchFamily="34" charset="-122"/>
                </a:rPr>
                <a:t>医疗健康信息辅助理解与教学演示平台</a:t>
              </a:r>
              <a:endParaRPr lang="en-US" sz="900" dirty="0"/>
            </a:p>
          </p:txBody>
        </p:sp>
      </p:grpSp>
      <p:sp>
        <p:nvSpPr>
          <p:cNvPr id="7" name="Text 4"/>
          <p:cNvSpPr/>
          <p:nvPr/>
        </p:nvSpPr>
        <p:spPr>
          <a:xfrm>
            <a:off x="675084" y="1221581"/>
            <a:ext cx="1285875" cy="157163"/>
          </a:xfrm>
          <a:prstGeom prst="rect">
            <a:avLst/>
          </a:prstGeom>
          <a:noFill/>
        </p:spPr>
        <p:txBody>
          <a:bodyPr wrap="none" lIns="0" tIns="0" rIns="0" bIns="0" rtlCol="0" anchor="ctr"/>
          <a:lstStyle/>
          <a:p>
            <a:pPr marL="0" indent="0">
              <a:lnSpc>
                <a:spcPct val="140000"/>
              </a:lnSpc>
              <a:buNone/>
            </a:pPr>
            <a:r>
              <a:rPr lang="zh-CN" sz="1100" b="1" dirty="0">
                <a:solidFill>
                  <a:srgbClr val="1F2A37"/>
                </a:solidFill>
                <a:latin typeface="Arial" panose="020B0604020202020204" pitchFamily="34" charset="0"/>
                <a:ea typeface="微软雅黑" panose="020B0503020204020204" pitchFamily="34" charset="-122"/>
              </a:rPr>
              <a:t>系统特色与交付价值</a:t>
            </a:r>
            <a:endParaRPr lang="en-US" sz="1100" dirty="0"/>
          </a:p>
        </p:txBody>
      </p:sp>
      <p:sp>
        <p:nvSpPr>
          <p:cNvPr id="8" name="Text 5"/>
          <p:cNvSpPr/>
          <p:nvPr/>
        </p:nvSpPr>
        <p:spPr>
          <a:xfrm>
            <a:off x="457200" y="1228725"/>
            <a:ext cx="160734" cy="142875"/>
          </a:xfrm>
          <a:prstGeom prst="rect">
            <a:avLst/>
          </a:prstGeom>
          <a:noFill/>
        </p:spPr>
        <p:txBody>
          <a:bodyPr wrap="none" lIns="0" tIns="0" rIns="0" bIns="0" rtlCol="0" anchor="t"/>
          <a:lstStyle/>
          <a:p>
            <a:pPr marL="0" indent="0">
              <a:lnSpc>
                <a:spcPct val="100000"/>
              </a:lnSpc>
              <a:buNone/>
            </a:pPr>
            <a:r>
              <a:rPr lang="en-US" sz="1100" dirty="0">
                <a:solidFill>
                  <a:srgbClr val="60A5FA"/>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1100" dirty="0"/>
          </a:p>
        </p:txBody>
      </p:sp>
      <p:grpSp>
        <p:nvGrpSpPr>
          <p:cNvPr id="38" name="h2p-grp-h2p-animroot-2"/>
          <p:cNvGrpSpPr/>
          <p:nvPr/>
        </p:nvGrpSpPr>
        <p:grpSpPr>
          <a:xfrm>
            <a:off x="457200" y="1571625"/>
            <a:ext cx="4600463" cy="814388"/>
            <a:chOff x="0" y="0"/>
            <a:chExt cx="4600463" cy="814388"/>
          </a:xfrm>
        </p:grpSpPr>
        <p:sp>
          <p:nvSpPr>
            <p:cNvPr id="9" name="圆角矩形 8"/>
            <p:cNvSpPr/>
            <p:nvPr/>
          </p:nvSpPr>
          <p:spPr>
            <a:xfrm>
              <a:off x="0" y="0"/>
              <a:ext cx="4600463" cy="814388"/>
            </a:xfrm>
            <a:prstGeom prst="roundRect">
              <a:avLst>
                <a:gd name="adj" fmla="val 10526"/>
              </a:avLst>
            </a:prstGeom>
            <a:solidFill>
              <a:srgbClr val="FFFFFF"/>
            </a:solidFill>
            <a:ln w="6350">
              <a:solidFill>
                <a:srgbClr val="DCEAF5"/>
              </a:solidFill>
              <a:prstDash val="solid"/>
            </a:ln>
          </p:spPr>
        </p:sp>
        <p:sp>
          <p:nvSpPr>
            <p:cNvPr id="10" name="圆角矩形 9"/>
            <p:cNvSpPr/>
            <p:nvPr/>
          </p:nvSpPr>
          <p:spPr>
            <a:xfrm>
              <a:off x="178594" y="178594"/>
              <a:ext cx="342900" cy="342900"/>
            </a:xfrm>
            <a:prstGeom prst="roundRect">
              <a:avLst>
                <a:gd name="adj" fmla="val 16667"/>
              </a:avLst>
            </a:prstGeom>
            <a:solidFill>
              <a:srgbClr val="EAF5FF"/>
            </a:solidFill>
          </p:spPr>
        </p:sp>
        <p:sp>
          <p:nvSpPr>
            <p:cNvPr id="11" name="矩形 10"/>
            <p:cNvSpPr/>
            <p:nvPr/>
          </p:nvSpPr>
          <p:spPr>
            <a:xfrm>
              <a:off x="269677" y="278606"/>
              <a:ext cx="160734" cy="142875"/>
            </a:xfrm>
            <a:prstGeom prst="rect">
              <a:avLst/>
            </a:prstGeom>
            <a:noFill/>
          </p:spPr>
          <p:txBody>
            <a:bodyPr wrap="none" lIns="0" tIns="0" rIns="0" bIns="0" rtlCol="0" anchor="t"/>
            <a:lstStyle/>
            <a:p>
              <a:pPr marL="0" indent="0">
                <a:lnSpc>
                  <a:spcPct val="100000"/>
                </a:lnSpc>
                <a:buNone/>
              </a:pPr>
              <a:r>
                <a:rPr lang="en-US" sz="1100" dirty="0">
                  <a:solidFill>
                    <a:srgbClr val="2E6EA6"/>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1100" dirty="0"/>
            </a:p>
          </p:txBody>
        </p:sp>
        <p:sp>
          <p:nvSpPr>
            <p:cNvPr id="12" name="矩形 11"/>
            <p:cNvSpPr/>
            <p:nvPr/>
          </p:nvSpPr>
          <p:spPr>
            <a:xfrm>
              <a:off x="635794" y="178594"/>
              <a:ext cx="3683050" cy="214313"/>
            </a:xfrm>
            <a:prstGeom prst="rect">
              <a:avLst/>
            </a:prstGeom>
            <a:noFill/>
          </p:spPr>
          <p:txBody>
            <a:bodyPr wrap="none" lIns="0" tIns="0" rIns="0" bIns="0" rtlCol="0" anchor="t"/>
            <a:lstStyle/>
            <a:p>
              <a:pPr marL="0" indent="0">
                <a:lnSpc>
                  <a:spcPct val="150000"/>
                </a:lnSpc>
                <a:buNone/>
              </a:pPr>
              <a:r>
                <a:rPr lang="zh-CN" sz="1100" b="1" dirty="0">
                  <a:solidFill>
                    <a:srgbClr val="2E6EA6"/>
                  </a:solidFill>
                  <a:latin typeface="Arial" panose="020B0604020202020204" pitchFamily="34" charset="0"/>
                  <a:ea typeface="微软雅黑" panose="020B0503020204020204" pitchFamily="34" charset="-122"/>
                </a:rPr>
                <a:t>生态拟真度高</a:t>
              </a:r>
              <a:endParaRPr lang="en-US" sz="1100" dirty="0"/>
            </a:p>
          </p:txBody>
        </p:sp>
        <p:sp>
          <p:nvSpPr>
            <p:cNvPr id="13" name="矩形 12"/>
            <p:cNvSpPr/>
            <p:nvPr/>
          </p:nvSpPr>
          <p:spPr>
            <a:xfrm>
              <a:off x="635794" y="450056"/>
              <a:ext cx="3683050" cy="182835"/>
            </a:xfrm>
            <a:prstGeom prst="rect">
              <a:avLst/>
            </a:prstGeom>
            <a:noFill/>
          </p:spPr>
          <p:txBody>
            <a:bodyPr wrap="none" lIns="0" tIns="0" rIns="0" bIns="0" rtlCol="0" anchor="t"/>
            <a:lstStyle/>
            <a:p>
              <a:pPr marL="0" indent="0">
                <a:lnSpc>
                  <a:spcPct val="160000"/>
                </a:lnSpc>
                <a:buNone/>
              </a:pPr>
              <a:r>
                <a:rPr lang="zh-CN" sz="900" dirty="0">
                  <a:solidFill>
                    <a:srgbClr val="1F2A37"/>
                  </a:solidFill>
                  <a:latin typeface="Arial" panose="020B0604020202020204" pitchFamily="34" charset="0"/>
                  <a:ea typeface="微软雅黑" panose="020B0503020204020204" pitchFamily="34" charset="-122"/>
                </a:rPr>
                <a:t>完整模拟 </a:t>
              </a:r>
              <a:r>
                <a:rPr lang="en-US" sz="900" dirty="0">
                  <a:solidFill>
                    <a:srgbClr val="1F2A37"/>
                  </a:solidFill>
                  <a:latin typeface="Arial" panose="020B0604020202020204" pitchFamily="34" charset="0"/>
                </a:rPr>
                <a:t>HIS </a:t>
              </a:r>
              <a:r>
                <a:rPr lang="zh-CN" sz="900" dirty="0">
                  <a:solidFill>
                    <a:srgbClr val="1F2A37"/>
                  </a:solidFill>
                  <a:latin typeface="Arial" panose="020B0604020202020204" pitchFamily="34" charset="0"/>
                  <a:ea typeface="微软雅黑" panose="020B0503020204020204" pitchFamily="34" charset="-122"/>
                </a:rPr>
                <a:t>系统中的挂号、住院、护理、账单和排班等真实业务链路。</a:t>
              </a:r>
              <a:endParaRPr lang="en-US" sz="900" dirty="0"/>
            </a:p>
          </p:txBody>
        </p:sp>
      </p:grpSp>
      <p:grpSp>
        <p:nvGrpSpPr>
          <p:cNvPr id="39" name="h2p-grp-h2p-animroot-3"/>
          <p:cNvGrpSpPr/>
          <p:nvPr/>
        </p:nvGrpSpPr>
        <p:grpSpPr>
          <a:xfrm>
            <a:off x="457200" y="2528888"/>
            <a:ext cx="4600463" cy="994321"/>
            <a:chOff x="0" y="0"/>
            <a:chExt cx="4600463" cy="994321"/>
          </a:xfrm>
        </p:grpSpPr>
        <p:sp>
          <p:nvSpPr>
            <p:cNvPr id="14" name="圆角矩形 13"/>
            <p:cNvSpPr/>
            <p:nvPr/>
          </p:nvSpPr>
          <p:spPr>
            <a:xfrm>
              <a:off x="0" y="0"/>
              <a:ext cx="4600463" cy="994321"/>
            </a:xfrm>
            <a:prstGeom prst="roundRect">
              <a:avLst>
                <a:gd name="adj" fmla="val 8621"/>
              </a:avLst>
            </a:prstGeom>
            <a:solidFill>
              <a:srgbClr val="FFFFFF"/>
            </a:solidFill>
            <a:ln w="6350">
              <a:solidFill>
                <a:srgbClr val="DCEAF5"/>
              </a:solidFill>
              <a:prstDash val="solid"/>
            </a:ln>
          </p:spPr>
        </p:sp>
        <p:sp>
          <p:nvSpPr>
            <p:cNvPr id="15" name="圆角矩形 14"/>
            <p:cNvSpPr/>
            <p:nvPr/>
          </p:nvSpPr>
          <p:spPr>
            <a:xfrm>
              <a:off x="178594" y="178593"/>
              <a:ext cx="342900" cy="342900"/>
            </a:xfrm>
            <a:prstGeom prst="roundRect">
              <a:avLst>
                <a:gd name="adj" fmla="val 16667"/>
              </a:avLst>
            </a:prstGeom>
            <a:solidFill>
              <a:srgbClr val="EAF5FF"/>
            </a:solidFill>
          </p:spPr>
        </p:sp>
        <p:sp>
          <p:nvSpPr>
            <p:cNvPr id="16" name="矩形 15"/>
            <p:cNvSpPr/>
            <p:nvPr/>
          </p:nvSpPr>
          <p:spPr>
            <a:xfrm>
              <a:off x="278606" y="278606"/>
              <a:ext cx="142875" cy="142875"/>
            </a:xfrm>
            <a:prstGeom prst="rect">
              <a:avLst/>
            </a:prstGeom>
            <a:noFill/>
          </p:spPr>
          <p:txBody>
            <a:bodyPr wrap="none" lIns="0" tIns="0" rIns="0" bIns="0" rtlCol="0" anchor="t"/>
            <a:lstStyle/>
            <a:p>
              <a:pPr marL="0" indent="0">
                <a:lnSpc>
                  <a:spcPct val="100000"/>
                </a:lnSpc>
                <a:buNone/>
              </a:pPr>
              <a:r>
                <a:rPr lang="en-US" sz="1100" dirty="0">
                  <a:solidFill>
                    <a:srgbClr val="2E6EA6"/>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1100" dirty="0"/>
            </a:p>
          </p:txBody>
        </p:sp>
        <p:sp>
          <p:nvSpPr>
            <p:cNvPr id="17" name="矩形 16"/>
            <p:cNvSpPr/>
            <p:nvPr/>
          </p:nvSpPr>
          <p:spPr>
            <a:xfrm>
              <a:off x="635794" y="178593"/>
              <a:ext cx="3786076" cy="214313"/>
            </a:xfrm>
            <a:prstGeom prst="rect">
              <a:avLst/>
            </a:prstGeom>
            <a:noFill/>
          </p:spPr>
          <p:txBody>
            <a:bodyPr wrap="none" lIns="0" tIns="0" rIns="0" bIns="0" rtlCol="0" anchor="t"/>
            <a:lstStyle/>
            <a:p>
              <a:pPr marL="0" indent="0">
                <a:lnSpc>
                  <a:spcPct val="150000"/>
                </a:lnSpc>
                <a:buNone/>
              </a:pPr>
              <a:r>
                <a:rPr lang="en-US" sz="1100" b="1" dirty="0">
                  <a:solidFill>
                    <a:srgbClr val="2E6EA6"/>
                  </a:solidFill>
                  <a:latin typeface="Arial" panose="020B0604020202020204" pitchFamily="34" charset="0"/>
                </a:rPr>
                <a:t>RAG </a:t>
              </a:r>
              <a:r>
                <a:rPr lang="zh-CN" sz="1100" b="1" dirty="0">
                  <a:solidFill>
                    <a:srgbClr val="2E6EA6"/>
                  </a:solidFill>
                  <a:latin typeface="Arial" panose="020B0604020202020204" pitchFamily="34" charset="0"/>
                  <a:ea typeface="微软雅黑" panose="020B0503020204020204" pitchFamily="34" charset="-122"/>
                </a:rPr>
                <a:t>架构健壮成熟</a:t>
              </a:r>
              <a:endParaRPr lang="en-US" sz="1100" dirty="0"/>
            </a:p>
          </p:txBody>
        </p:sp>
        <p:sp>
          <p:nvSpPr>
            <p:cNvPr id="18" name="矩形 17"/>
            <p:cNvSpPr/>
            <p:nvPr/>
          </p:nvSpPr>
          <p:spPr>
            <a:xfrm>
              <a:off x="635794" y="450056"/>
              <a:ext cx="3786076" cy="365671"/>
            </a:xfrm>
            <a:prstGeom prst="rect">
              <a:avLst/>
            </a:prstGeom>
            <a:noFill/>
          </p:spPr>
          <p:txBody>
            <a:bodyPr wrap="square" lIns="0" tIns="0" rIns="0" bIns="0" rtlCol="0" anchor="t"/>
            <a:lstStyle/>
            <a:p>
              <a:pPr marL="0" indent="0">
                <a:lnSpc>
                  <a:spcPct val="160000"/>
                </a:lnSpc>
                <a:buNone/>
              </a:pPr>
              <a:r>
                <a:rPr lang="zh-CN" sz="900" dirty="0">
                  <a:solidFill>
                    <a:srgbClr val="1F2A37"/>
                  </a:solidFill>
                  <a:latin typeface="Arial" panose="020B0604020202020204" pitchFamily="34" charset="0"/>
                  <a:ea typeface="微软雅黑" panose="020B0503020204020204" pitchFamily="34" charset="-122"/>
                </a:rPr>
                <a:t>采用双向量库、双引擎（在线</a:t>
              </a:r>
              <a:r>
                <a:rPr lang="en-US" sz="900" dirty="0">
                  <a:solidFill>
                    <a:srgbClr val="1F2A37"/>
                  </a:solidFill>
                  <a:latin typeface="Arial" panose="020B0604020202020204" pitchFamily="34" charset="0"/>
                </a:rPr>
                <a:t>/</a:t>
              </a:r>
              <a:r>
                <a:rPr lang="zh-CN" sz="900" dirty="0">
                  <a:solidFill>
                    <a:srgbClr val="1F2A37"/>
                  </a:solidFill>
                  <a:latin typeface="Arial" panose="020B0604020202020204" pitchFamily="34" charset="0"/>
                  <a:ea typeface="微软雅黑" panose="020B0503020204020204" pitchFamily="34" charset="-122"/>
                </a:rPr>
                <a:t>本地）兜底设计，确保在</a:t>
              </a:r>
              <a:r>
                <a:rPr lang="zh-CN" sz="900" dirty="0">
                  <a:solidFill>
                    <a:srgbClr val="1F2A37"/>
                  </a:solidFill>
                  <a:latin typeface="Arial" panose="020B0604020202020204" pitchFamily="34" charset="0"/>
                  <a:ea typeface="微软雅黑" panose="020B0503020204020204" pitchFamily="34" charset="-122"/>
                </a:rPr>
                <a:t>真实环境中高可用。</a:t>
              </a:r>
              <a:endParaRPr lang="en-US" sz="900" dirty="0"/>
            </a:p>
          </p:txBody>
        </p:sp>
      </p:grpSp>
      <p:grpSp>
        <p:nvGrpSpPr>
          <p:cNvPr id="40" name="h2p-grp-h2p-animroot-4"/>
          <p:cNvGrpSpPr/>
          <p:nvPr/>
        </p:nvGrpSpPr>
        <p:grpSpPr>
          <a:xfrm>
            <a:off x="457200" y="3666083"/>
            <a:ext cx="4600463" cy="814388"/>
            <a:chOff x="0" y="0"/>
            <a:chExt cx="4600463" cy="814388"/>
          </a:xfrm>
        </p:grpSpPr>
        <p:sp>
          <p:nvSpPr>
            <p:cNvPr id="19" name="圆角矩形 18"/>
            <p:cNvSpPr/>
            <p:nvPr/>
          </p:nvSpPr>
          <p:spPr>
            <a:xfrm>
              <a:off x="0" y="0"/>
              <a:ext cx="4600463" cy="814388"/>
            </a:xfrm>
            <a:prstGeom prst="roundRect">
              <a:avLst>
                <a:gd name="adj" fmla="val 10526"/>
              </a:avLst>
            </a:prstGeom>
            <a:solidFill>
              <a:srgbClr val="FFFFFF"/>
            </a:solidFill>
            <a:ln w="6350">
              <a:solidFill>
                <a:srgbClr val="DCEAF5"/>
              </a:solidFill>
              <a:prstDash val="solid"/>
            </a:ln>
          </p:spPr>
        </p:sp>
        <p:sp>
          <p:nvSpPr>
            <p:cNvPr id="20" name="圆角矩形 19"/>
            <p:cNvSpPr/>
            <p:nvPr/>
          </p:nvSpPr>
          <p:spPr>
            <a:xfrm>
              <a:off x="178594" y="178594"/>
              <a:ext cx="342900" cy="342900"/>
            </a:xfrm>
            <a:prstGeom prst="roundRect">
              <a:avLst>
                <a:gd name="adj" fmla="val 16667"/>
              </a:avLst>
            </a:prstGeom>
            <a:solidFill>
              <a:srgbClr val="EAF5FF"/>
            </a:solidFill>
          </p:spPr>
        </p:sp>
        <p:sp>
          <p:nvSpPr>
            <p:cNvPr id="21" name="矩形 20"/>
            <p:cNvSpPr/>
            <p:nvPr/>
          </p:nvSpPr>
          <p:spPr>
            <a:xfrm>
              <a:off x="296466" y="278606"/>
              <a:ext cx="107156" cy="142875"/>
            </a:xfrm>
            <a:prstGeom prst="rect">
              <a:avLst/>
            </a:prstGeom>
            <a:noFill/>
          </p:spPr>
          <p:txBody>
            <a:bodyPr wrap="none" lIns="0" tIns="0" rIns="0" bIns="0" rtlCol="0" anchor="t"/>
            <a:lstStyle/>
            <a:p>
              <a:pPr marL="0" indent="0">
                <a:lnSpc>
                  <a:spcPct val="100000"/>
                </a:lnSpc>
                <a:buNone/>
              </a:pPr>
              <a:r>
                <a:rPr lang="en-US" sz="1100" dirty="0">
                  <a:solidFill>
                    <a:srgbClr val="2E6EA6"/>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1100" dirty="0"/>
            </a:p>
          </p:txBody>
        </p:sp>
        <p:sp>
          <p:nvSpPr>
            <p:cNvPr id="22" name="矩形 21"/>
            <p:cNvSpPr/>
            <p:nvPr/>
          </p:nvSpPr>
          <p:spPr>
            <a:xfrm>
              <a:off x="635794" y="178594"/>
              <a:ext cx="2425973" cy="214313"/>
            </a:xfrm>
            <a:prstGeom prst="rect">
              <a:avLst/>
            </a:prstGeom>
            <a:noFill/>
          </p:spPr>
          <p:txBody>
            <a:bodyPr wrap="none" lIns="0" tIns="0" rIns="0" bIns="0" rtlCol="0" anchor="t"/>
            <a:lstStyle/>
            <a:p>
              <a:pPr marL="0" indent="0">
                <a:lnSpc>
                  <a:spcPct val="150000"/>
                </a:lnSpc>
                <a:buNone/>
              </a:pPr>
              <a:r>
                <a:rPr lang="zh-CN" sz="1100" b="1" dirty="0">
                  <a:solidFill>
                    <a:srgbClr val="2E6EA6"/>
                  </a:solidFill>
                  <a:latin typeface="Arial" panose="020B0604020202020204" pitchFamily="34" charset="0"/>
                  <a:ea typeface="微软雅黑" panose="020B0503020204020204" pitchFamily="34" charset="-122"/>
                </a:rPr>
                <a:t>数据结构完备</a:t>
              </a:r>
              <a:endParaRPr lang="en-US" sz="1100" dirty="0"/>
            </a:p>
          </p:txBody>
        </p:sp>
        <p:sp>
          <p:nvSpPr>
            <p:cNvPr id="23" name="矩形 22"/>
            <p:cNvSpPr/>
            <p:nvPr/>
          </p:nvSpPr>
          <p:spPr>
            <a:xfrm>
              <a:off x="635794" y="450056"/>
              <a:ext cx="2425973" cy="182835"/>
            </a:xfrm>
            <a:prstGeom prst="rect">
              <a:avLst/>
            </a:prstGeom>
            <a:noFill/>
          </p:spPr>
          <p:txBody>
            <a:bodyPr wrap="none" lIns="0" tIns="0" rIns="0" bIns="0" rtlCol="0" anchor="t"/>
            <a:lstStyle/>
            <a:p>
              <a:pPr marL="0" indent="0">
                <a:lnSpc>
                  <a:spcPct val="160000"/>
                </a:lnSpc>
                <a:buNone/>
              </a:pPr>
              <a:r>
                <a:rPr lang="zh-CN" sz="900" dirty="0">
                  <a:solidFill>
                    <a:srgbClr val="1F2A37"/>
                  </a:solidFill>
                  <a:latin typeface="Arial" panose="020B0604020202020204" pitchFamily="34" charset="0"/>
                  <a:ea typeface="微软雅黑" panose="020B0503020204020204" pitchFamily="34" charset="-122"/>
                </a:rPr>
                <a:t>内置大于 </a:t>
              </a:r>
              <a:r>
                <a:rPr lang="en-US" sz="900" dirty="0">
                  <a:solidFill>
                    <a:srgbClr val="1F2A37"/>
                  </a:solidFill>
                  <a:latin typeface="Arial" panose="020B0604020202020204" pitchFamily="34" charset="0"/>
                </a:rPr>
                <a:t>240 </a:t>
              </a:r>
              <a:r>
                <a:rPr lang="zh-CN" sz="900" dirty="0">
                  <a:solidFill>
                    <a:srgbClr val="1F2A37"/>
                  </a:solidFill>
                  <a:latin typeface="Arial" panose="020B0604020202020204" pitchFamily="34" charset="0"/>
                  <a:ea typeface="微软雅黑" panose="020B0503020204020204" pitchFamily="34" charset="-122"/>
                </a:rPr>
                <a:t>篇专业医学文档，支持开箱即用。</a:t>
              </a:r>
              <a:endParaRPr lang="en-US" sz="900" dirty="0"/>
            </a:p>
          </p:txBody>
        </p:sp>
      </p:grpSp>
      <p:grpSp>
        <p:nvGrpSpPr>
          <p:cNvPr id="41" name="h2p-grp-h2p-animroot-5"/>
          <p:cNvGrpSpPr/>
          <p:nvPr/>
        </p:nvGrpSpPr>
        <p:grpSpPr>
          <a:xfrm>
            <a:off x="5324363" y="200025"/>
            <a:ext cx="3286125" cy="2907506"/>
            <a:chOff x="0" y="0"/>
            <a:chExt cx="3286125" cy="2907506"/>
          </a:xfrm>
        </p:grpSpPr>
        <p:sp>
          <p:nvSpPr>
            <p:cNvPr id="24" name="圆角矩形 23"/>
            <p:cNvSpPr/>
            <p:nvPr/>
          </p:nvSpPr>
          <p:spPr>
            <a:xfrm>
              <a:off x="0" y="0"/>
              <a:ext cx="3286125" cy="2907506"/>
            </a:xfrm>
            <a:prstGeom prst="roundRect">
              <a:avLst>
                <a:gd name="adj" fmla="val 2948"/>
              </a:avLst>
            </a:prstGeom>
            <a:solidFill>
              <a:srgbClr val="DCEAF5">
                <a:alpha val="40000"/>
              </a:srgbClr>
            </a:solidFill>
            <a:ln w="6350">
              <a:solidFill>
                <a:srgbClr val="2E6EA6"/>
              </a:solidFill>
              <a:prstDash val="dash"/>
            </a:ln>
          </p:spPr>
        </p:sp>
        <p:sp>
          <p:nvSpPr>
            <p:cNvPr id="25" name="矩形 24"/>
            <p:cNvSpPr/>
            <p:nvPr/>
          </p:nvSpPr>
          <p:spPr>
            <a:xfrm>
              <a:off x="464344" y="264319"/>
              <a:ext cx="571500" cy="157163"/>
            </a:xfrm>
            <a:prstGeom prst="rect">
              <a:avLst/>
            </a:prstGeom>
            <a:noFill/>
          </p:spPr>
          <p:txBody>
            <a:bodyPr wrap="none" lIns="0" tIns="0" rIns="0" bIns="0" rtlCol="0" anchor="ctr"/>
            <a:lstStyle/>
            <a:p>
              <a:pPr marL="0" indent="0">
                <a:lnSpc>
                  <a:spcPct val="150000"/>
                </a:lnSpc>
                <a:buNone/>
              </a:pPr>
              <a:r>
                <a:rPr lang="zh-CN" sz="1100" b="1" dirty="0">
                  <a:solidFill>
                    <a:srgbClr val="2563EB"/>
                  </a:solidFill>
                  <a:latin typeface="Arial" panose="020B0604020202020204" pitchFamily="34" charset="0"/>
                  <a:ea typeface="微软雅黑" panose="020B0503020204020204" pitchFamily="34" charset="-122"/>
                </a:rPr>
                <a:t>免责声明</a:t>
              </a:r>
              <a:endParaRPr lang="en-US" sz="1100" dirty="0"/>
            </a:p>
          </p:txBody>
        </p:sp>
        <p:sp>
          <p:nvSpPr>
            <p:cNvPr id="26" name="矩形 25"/>
            <p:cNvSpPr/>
            <p:nvPr/>
          </p:nvSpPr>
          <p:spPr>
            <a:xfrm>
              <a:off x="235744" y="271463"/>
              <a:ext cx="142875" cy="142875"/>
            </a:xfrm>
            <a:prstGeom prst="rect">
              <a:avLst/>
            </a:prstGeom>
            <a:noFill/>
          </p:spPr>
          <p:txBody>
            <a:bodyPr wrap="none" lIns="0" tIns="0" rIns="0" bIns="0" rtlCol="0" anchor="t"/>
            <a:lstStyle/>
            <a:p>
              <a:pPr marL="0" indent="0">
                <a:lnSpc>
                  <a:spcPct val="100000"/>
                </a:lnSpc>
                <a:buNone/>
              </a:pPr>
              <a:r>
                <a:rPr lang="en-US" sz="1100" dirty="0">
                  <a:solidFill>
                    <a:srgbClr val="2563EB"/>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1100" dirty="0"/>
            </a:p>
          </p:txBody>
        </p:sp>
        <p:sp>
          <p:nvSpPr>
            <p:cNvPr id="27" name="矩形 26"/>
            <p:cNvSpPr/>
            <p:nvPr/>
          </p:nvSpPr>
          <p:spPr>
            <a:xfrm>
              <a:off x="392907" y="642938"/>
              <a:ext cx="1060512" cy="121444"/>
            </a:xfrm>
            <a:prstGeom prst="rect">
              <a:avLst/>
            </a:prstGeom>
            <a:noFill/>
          </p:spPr>
          <p:txBody>
            <a:bodyPr wrap="none" lIns="0" tIns="0" rIns="0" bIns="0" rtlCol="0" anchor="t"/>
            <a:lstStyle/>
            <a:p>
              <a:pPr marL="0" indent="0">
                <a:lnSpc>
                  <a:spcPct val="150000"/>
                </a:lnSpc>
                <a:buNone/>
              </a:pPr>
              <a:r>
                <a:rPr lang="zh-CN" sz="900" b="1" dirty="0">
                  <a:solidFill>
                    <a:srgbClr val="1F2A37"/>
                  </a:solidFill>
                  <a:latin typeface="Arial" panose="020B0604020202020204" pitchFamily="34" charset="0"/>
                  <a:ea typeface="微软雅黑" panose="020B0503020204020204" pitchFamily="34" charset="-122"/>
                </a:rPr>
                <a:t>非专业医疗诊断建议</a:t>
              </a:r>
              <a:endParaRPr lang="en-US" sz="900" dirty="0"/>
            </a:p>
          </p:txBody>
        </p:sp>
        <p:sp>
          <p:nvSpPr>
            <p:cNvPr id="28" name="矩形 27"/>
            <p:cNvSpPr/>
            <p:nvPr/>
          </p:nvSpPr>
          <p:spPr>
            <a:xfrm>
              <a:off x="235744" y="642938"/>
              <a:ext cx="100013" cy="114300"/>
            </a:xfrm>
            <a:prstGeom prst="rect">
              <a:avLst/>
            </a:prstGeom>
            <a:noFill/>
          </p:spPr>
          <p:txBody>
            <a:bodyPr wrap="none" lIns="0" tIns="0" rIns="0" bIns="0" rtlCol="0" anchor="t"/>
            <a:lstStyle/>
            <a:p>
              <a:pPr marL="0" indent="0">
                <a:lnSpc>
                  <a:spcPct val="100000"/>
                </a:lnSpc>
                <a:buNone/>
              </a:pPr>
              <a:r>
                <a:rPr lang="en-US" sz="900" dirty="0">
                  <a:solidFill>
                    <a:srgbClr val="5B9DFF"/>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900" dirty="0"/>
            </a:p>
          </p:txBody>
        </p:sp>
        <p:sp>
          <p:nvSpPr>
            <p:cNvPr id="29" name="矩形 28"/>
            <p:cNvSpPr/>
            <p:nvPr/>
          </p:nvSpPr>
          <p:spPr>
            <a:xfrm>
              <a:off x="235744" y="835819"/>
              <a:ext cx="2814638" cy="450056"/>
            </a:xfrm>
            <a:prstGeom prst="rect">
              <a:avLst/>
            </a:prstGeom>
            <a:noFill/>
          </p:spPr>
          <p:txBody>
            <a:bodyPr wrap="square" lIns="0" tIns="0" rIns="0" bIns="0" rtlCol="0" anchor="t"/>
            <a:lstStyle/>
            <a:p>
              <a:pPr marL="0" indent="0">
                <a:lnSpc>
                  <a:spcPct val="150000"/>
                </a:lnSpc>
                <a:buNone/>
              </a:pPr>
              <a:r>
                <a:rPr lang="zh-CN" sz="700" dirty="0">
                  <a:solidFill>
                    <a:srgbClr val="4B5563"/>
                  </a:solidFill>
                  <a:latin typeface="Arial" panose="020B0604020202020204" pitchFamily="34" charset="0"/>
                  <a:ea typeface="微软雅黑" panose="020B0503020204020204" pitchFamily="34" charset="-122"/>
                </a:rPr>
                <a:t>本平台内所有大模型输出及检索到的医疗知识库内容，仅用于医疗健康信息辅助理解、软件演示和学术探讨，不构成任何临床诊断、处方、用药或治疗建议。</a:t>
              </a:r>
              <a:endParaRPr lang="en-US" sz="700" dirty="0"/>
            </a:p>
          </p:txBody>
        </p:sp>
        <p:sp>
          <p:nvSpPr>
            <p:cNvPr id="30" name="矩形 29"/>
            <p:cNvSpPr/>
            <p:nvPr/>
          </p:nvSpPr>
          <p:spPr>
            <a:xfrm>
              <a:off x="435769" y="1478756"/>
              <a:ext cx="717612" cy="121444"/>
            </a:xfrm>
            <a:prstGeom prst="rect">
              <a:avLst/>
            </a:prstGeom>
            <a:noFill/>
          </p:spPr>
          <p:txBody>
            <a:bodyPr wrap="none" lIns="0" tIns="0" rIns="0" bIns="0" rtlCol="0" anchor="t"/>
            <a:lstStyle/>
            <a:p>
              <a:pPr marL="0" indent="0">
                <a:lnSpc>
                  <a:spcPct val="150000"/>
                </a:lnSpc>
                <a:buNone/>
              </a:pPr>
              <a:r>
                <a:rPr lang="zh-CN" sz="900" b="1" dirty="0">
                  <a:solidFill>
                    <a:srgbClr val="1F2A37"/>
                  </a:solidFill>
                  <a:latin typeface="Arial" panose="020B0604020202020204" pitchFamily="34" charset="0"/>
                  <a:ea typeface="微软雅黑" panose="020B0503020204020204" pitchFamily="34" charset="-122"/>
                </a:rPr>
                <a:t>医疗纠纷免责</a:t>
              </a:r>
              <a:endParaRPr lang="en-US" sz="900" dirty="0"/>
            </a:p>
          </p:txBody>
        </p:sp>
        <p:sp>
          <p:nvSpPr>
            <p:cNvPr id="31" name="矩形 30"/>
            <p:cNvSpPr/>
            <p:nvPr/>
          </p:nvSpPr>
          <p:spPr>
            <a:xfrm>
              <a:off x="235744" y="1478756"/>
              <a:ext cx="142875" cy="114300"/>
            </a:xfrm>
            <a:prstGeom prst="rect">
              <a:avLst/>
            </a:prstGeom>
            <a:noFill/>
          </p:spPr>
          <p:txBody>
            <a:bodyPr wrap="none" lIns="0" tIns="0" rIns="0" bIns="0" rtlCol="0" anchor="t"/>
            <a:lstStyle/>
            <a:p>
              <a:pPr marL="0" indent="0">
                <a:lnSpc>
                  <a:spcPct val="100000"/>
                </a:lnSpc>
                <a:buNone/>
              </a:pPr>
              <a:r>
                <a:rPr lang="en-US" sz="900" dirty="0">
                  <a:solidFill>
                    <a:srgbClr val="5B9DFF"/>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900" dirty="0"/>
            </a:p>
          </p:txBody>
        </p:sp>
        <p:sp>
          <p:nvSpPr>
            <p:cNvPr id="32" name="矩形 31"/>
            <p:cNvSpPr/>
            <p:nvPr/>
          </p:nvSpPr>
          <p:spPr>
            <a:xfrm>
              <a:off x="235744" y="1671638"/>
              <a:ext cx="2814638" cy="450056"/>
            </a:xfrm>
            <a:prstGeom prst="rect">
              <a:avLst/>
            </a:prstGeom>
            <a:noFill/>
          </p:spPr>
          <p:txBody>
            <a:bodyPr wrap="square" lIns="0" tIns="0" rIns="0" bIns="0" rtlCol="0" anchor="t"/>
            <a:lstStyle/>
            <a:p>
              <a:pPr marL="0" indent="0">
                <a:lnSpc>
                  <a:spcPct val="150000"/>
                </a:lnSpc>
                <a:buNone/>
              </a:pPr>
              <a:r>
                <a:rPr lang="zh-CN" sz="700" dirty="0">
                  <a:solidFill>
                    <a:srgbClr val="4B5563"/>
                  </a:solidFill>
                  <a:latin typeface="Arial" panose="020B0604020202020204" pitchFamily="34" charset="0"/>
                  <a:ea typeface="微软雅黑" panose="020B0503020204020204" pitchFamily="34" charset="-122"/>
                </a:rPr>
                <a:t>实际医疗问题与病症必须咨询具有执业资格的专业医生。用户因参考本系统展示的内容进行自我诊断或治疗而产生的任何后果，系统开发及运营团队不承担任何法律责任。</a:t>
              </a:r>
              <a:endParaRPr lang="en-US" sz="700" dirty="0"/>
            </a:p>
          </p:txBody>
        </p:sp>
        <p:sp>
          <p:nvSpPr>
            <p:cNvPr id="33" name="矩形 32"/>
            <p:cNvSpPr/>
            <p:nvPr/>
          </p:nvSpPr>
          <p:spPr>
            <a:xfrm>
              <a:off x="235744" y="2350294"/>
              <a:ext cx="2814638" cy="321469"/>
            </a:xfrm>
            <a:prstGeom prst="rect">
              <a:avLst/>
            </a:prstGeom>
            <a:noFill/>
          </p:spPr>
        </p:sp>
        <p:sp>
          <p:nvSpPr>
            <p:cNvPr id="34" name="矩形 33"/>
            <p:cNvSpPr/>
            <p:nvPr/>
          </p:nvSpPr>
          <p:spPr>
            <a:xfrm>
              <a:off x="235744" y="2350294"/>
              <a:ext cx="2814638" cy="7144"/>
            </a:xfrm>
            <a:prstGeom prst="rect">
              <a:avLst/>
            </a:prstGeom>
            <a:solidFill>
              <a:srgbClr val="DCEAF5"/>
            </a:solidFill>
          </p:spPr>
        </p:sp>
        <p:sp>
          <p:nvSpPr>
            <p:cNvPr id="35" name="矩形 34"/>
            <p:cNvSpPr/>
            <p:nvPr/>
          </p:nvSpPr>
          <p:spPr>
            <a:xfrm>
              <a:off x="235744" y="2550319"/>
              <a:ext cx="100013" cy="100013"/>
            </a:xfrm>
            <a:prstGeom prst="rect">
              <a:avLst/>
            </a:prstGeom>
            <a:noFill/>
          </p:spPr>
          <p:txBody>
            <a:bodyPr wrap="none" lIns="0" tIns="0" rIns="0" bIns="0" rtlCol="0" anchor="t"/>
            <a:lstStyle/>
            <a:p>
              <a:pPr marL="0" indent="0">
                <a:lnSpc>
                  <a:spcPct val="100000"/>
                </a:lnSpc>
                <a:buNone/>
              </a:pPr>
              <a:r>
                <a:rPr lang="en-US" sz="700" dirty="0">
                  <a:solidFill>
                    <a:srgbClr val="2E6EA6"/>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700" dirty="0"/>
            </a:p>
          </p:txBody>
        </p:sp>
        <p:sp>
          <p:nvSpPr>
            <p:cNvPr id="36" name="矩形 35"/>
            <p:cNvSpPr/>
            <p:nvPr/>
          </p:nvSpPr>
          <p:spPr>
            <a:xfrm>
              <a:off x="421482" y="2528888"/>
              <a:ext cx="1200150" cy="142875"/>
            </a:xfrm>
            <a:prstGeom prst="rect">
              <a:avLst/>
            </a:prstGeom>
            <a:noFill/>
          </p:spPr>
          <p:txBody>
            <a:bodyPr wrap="none" lIns="0" tIns="0" rIns="0" bIns="0" rtlCol="0" anchor="t"/>
            <a:lstStyle/>
            <a:p>
              <a:pPr marL="0" indent="0">
                <a:lnSpc>
                  <a:spcPct val="143000"/>
                </a:lnSpc>
                <a:buNone/>
              </a:pPr>
              <a:r>
                <a:rPr lang="zh-CN" sz="700" b="1" dirty="0">
                  <a:solidFill>
                    <a:srgbClr val="2E6EA6"/>
                  </a:solidFill>
                  <a:latin typeface="Arial" panose="020B0604020202020204" pitchFamily="34" charset="0"/>
                  <a:ea typeface="微软雅黑" panose="020B0503020204020204" pitchFamily="34" charset="-122"/>
                </a:rPr>
                <a:t>请在专业环境下演示与学习</a:t>
              </a:r>
              <a:endParaRPr lang="en-US" sz="700" dirty="0"/>
            </a:p>
          </p:txBody>
        </p:sp>
      </p:grpSp>
      <p:sp>
        <p:nvSpPr>
          <p:cNvPr id="42" name="文本框 41"/>
          <p:cNvSpPr txBox="1"/>
          <p:nvPr/>
        </p:nvSpPr>
        <p:spPr>
          <a:xfrm>
            <a:off x="5210175" y="3314700"/>
            <a:ext cx="3665220" cy="1158240"/>
          </a:xfrm>
          <a:prstGeom prst="rect">
            <a:avLst/>
          </a:prstGeom>
          <a:noFill/>
        </p:spPr>
        <p:txBody>
          <a:bodyPr wrap="square" rtlCol="0" anchor="t">
            <a:noAutofit/>
          </a:bodyPr>
          <a:p>
            <a:pPr indent="0">
              <a:buFont typeface="Arial" panose="020B0604020202020204" pitchFamily="34" charset="0"/>
              <a:buNone/>
            </a:pPr>
            <a:r>
              <a:rPr lang="zh-CN" altLang="en-US" sz="1200"/>
              <a:t>项目地址：</a:t>
            </a:r>
            <a:endParaRPr lang="zh-CN" altLang="en-US" sz="1200"/>
          </a:p>
          <a:p>
            <a:pPr indent="0">
              <a:buFont typeface="Arial" panose="020B0604020202020204" pitchFamily="34" charset="0"/>
              <a:buNone/>
            </a:pPr>
            <a:endParaRPr lang="zh-CN" altLang="en-US" sz="1200"/>
          </a:p>
          <a:p>
            <a:pPr indent="0">
              <a:buFont typeface="Arial" panose="020B0604020202020204" pitchFamily="34" charset="0"/>
              <a:buNone/>
            </a:pPr>
            <a:endParaRPr lang="zh-CN" altLang="en-US" sz="1200"/>
          </a:p>
          <a:p>
            <a:pPr marL="171450" indent="-171450">
              <a:buFont typeface="Arial" panose="020B0604020202020204" pitchFamily="34" charset="0"/>
              <a:buChar char="•"/>
            </a:pPr>
            <a:r>
              <a:rPr lang="en-US" altLang="zh-CN" sz="1000">
                <a:solidFill>
                  <a:srgbClr val="FF0000"/>
                </a:solidFill>
                <a:sym typeface="+mn-ea"/>
              </a:rPr>
              <a:t>https://gitee.com/BLOGSFan/medical_assistant-master</a:t>
            </a:r>
            <a:endParaRPr lang="zh-CN" altLang="en-US" sz="1000">
              <a:solidFill>
                <a:srgbClr val="FF0000"/>
              </a:solidFill>
            </a:endParaRPr>
          </a:p>
          <a:p>
            <a:pPr marL="171450" indent="-171450">
              <a:buFont typeface="Arial" panose="020B0604020202020204" pitchFamily="34" charset="0"/>
              <a:buChar char="•"/>
            </a:pPr>
            <a:r>
              <a:rPr lang="en-US" altLang="zh-CN" sz="1000">
                <a:solidFill>
                  <a:srgbClr val="002060"/>
                </a:solidFill>
                <a:hlinkClick r:id="rId2" action="ppaction://hlinkfile"/>
              </a:rPr>
              <a:t>https://github.com/SFANBLOG/medical-assistant-master</a:t>
            </a:r>
            <a:endParaRPr lang="en-US" altLang="zh-CN" sz="1000">
              <a:solidFill>
                <a:srgbClr val="002060"/>
              </a:solidFill>
            </a:endParaRPr>
          </a:p>
          <a:p>
            <a:pPr indent="0">
              <a:buFont typeface="Arial" panose="020B0604020202020204" pitchFamily="34" charset="0"/>
              <a:buNone/>
            </a:pPr>
            <a:endParaRPr lang="en-US" altLang="zh-CN" sz="1000">
              <a:solidFill>
                <a:srgbClr val="002060"/>
              </a:solidFill>
            </a:endParaRP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5="http://schemas.microsoft.com/office/powerpoint/2012/main" Requires="p15">
      <p:transition xmlns:p14="http://schemas.microsoft.com/office/powerpoint/2010/main" spd="med" Requires="p14">
        <p15:prstTrans prst="wind"/>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800"/>
                                        <p:tgtEl>
                                          <p:spTgt spid="37"/>
                                        </p:tgtEl>
                                      </p:cBhvr>
                                    </p:animEffect>
                                  </p:childTnLst>
                                </p:cTn>
                              </p:par>
                              <p:par>
                                <p:cTn id="8" presetID="2" presetClass="entr" presetSubtype="4" fill="hold" grpId="0" nodeType="withEffect">
                                  <p:stCondLst>
                                    <p:cond delay="0"/>
                                  </p:stCondLst>
                                  <p:childTnLst>
                                    <p:set>
                                      <p:cBhvr>
                                        <p:cTn id="9" dur="1" fill="hold">
                                          <p:stCondLst>
                                            <p:cond delay="0"/>
                                          </p:stCondLst>
                                        </p:cTn>
                                        <p:tgtEl>
                                          <p:spTgt spid="37"/>
                                        </p:tgtEl>
                                        <p:attrNameLst>
                                          <p:attrName>style.visibility</p:attrName>
                                        </p:attrNameLst>
                                      </p:cBhvr>
                                      <p:to>
                                        <p:strVal val="visible"/>
                                      </p:to>
                                    </p:set>
                                    <p:anim calcmode="lin" valueType="num">
                                      <p:cBhvr additive="base">
                                        <p:cTn id="10" dur="800" fill="hold"/>
                                        <p:tgtEl>
                                          <p:spTgt spid="37"/>
                                        </p:tgtEl>
                                        <p:attrNameLst>
                                          <p:attrName>ppt_x</p:attrName>
                                        </p:attrNameLst>
                                      </p:cBhvr>
                                      <p:tavLst>
                                        <p:tav tm="0">
                                          <p:val>
                                            <p:strVal val="#ppt_x"/>
                                          </p:val>
                                        </p:tav>
                                        <p:tav tm="100000">
                                          <p:val>
                                            <p:strVal val="#ppt_x"/>
                                          </p:val>
                                        </p:tav>
                                      </p:tavLst>
                                    </p:anim>
                                    <p:anim calcmode="lin" valueType="num">
                                      <p:cBhvr additive="base">
                                        <p:cTn id="11" dur="800" fill="hold"/>
                                        <p:tgtEl>
                                          <p:spTgt spid="37"/>
                                        </p:tgtEl>
                                        <p:attrNameLst>
                                          <p:attrName>ppt_y</p:attrName>
                                        </p:attrNameLst>
                                      </p:cBhvr>
                                      <p:tavLst>
                                        <p:tav tm="0">
                                          <p:val>
                                            <p:strVal val="1+#ppt_h/2"/>
                                          </p:val>
                                        </p:tav>
                                        <p:tav tm="100000">
                                          <p:val>
                                            <p:strVal val="#ppt_y"/>
                                          </p:val>
                                        </p:tav>
                                      </p:tavLst>
                                    </p:anim>
                                  </p:childTnLst>
                                </p:cTn>
                              </p:par>
                            </p:childTnLst>
                          </p:cTn>
                        </p:par>
                        <p:par>
                          <p:cTn id="12" fill="hold">
                            <p:stCondLst>
                              <p:cond delay="1000"/>
                            </p:stCondLst>
                            <p:childTnLst>
                              <p:par>
                                <p:cTn id="13" presetID="10" presetClass="entr" presetSubtype="0" fill="hold" grpId="0" nodeType="afterEffect">
                                  <p:stCondLst>
                                    <p:cond delay="100"/>
                                  </p:stCondLst>
                                  <p:childTnLst>
                                    <p:set>
                                      <p:cBhvr>
                                        <p:cTn id="14" dur="1" fill="hold">
                                          <p:stCondLst>
                                            <p:cond delay="0"/>
                                          </p:stCondLst>
                                        </p:cTn>
                                        <p:tgtEl>
                                          <p:spTgt spid="38"/>
                                        </p:tgtEl>
                                        <p:attrNameLst>
                                          <p:attrName>style.visibility</p:attrName>
                                        </p:attrNameLst>
                                      </p:cBhvr>
                                      <p:to>
                                        <p:strVal val="visible"/>
                                      </p:to>
                                    </p:set>
                                    <p:animEffect transition="in" filter="fade">
                                      <p:cBhvr>
                                        <p:cTn id="15" dur="800"/>
                                        <p:tgtEl>
                                          <p:spTgt spid="38"/>
                                        </p:tgtEl>
                                      </p:cBhvr>
                                    </p:animEffect>
                                  </p:childTnLst>
                                </p:cTn>
                              </p:par>
                              <p:par>
                                <p:cTn id="16" presetID="2" presetClass="entr" presetSubtype="4" fill="hold" grpId="0" nodeType="withEffect">
                                  <p:stCondLst>
                                    <p:cond delay="100"/>
                                  </p:stCondLst>
                                  <p:childTnLst>
                                    <p:set>
                                      <p:cBhvr>
                                        <p:cTn id="17" dur="1" fill="hold">
                                          <p:stCondLst>
                                            <p:cond delay="0"/>
                                          </p:stCondLst>
                                        </p:cTn>
                                        <p:tgtEl>
                                          <p:spTgt spid="38"/>
                                        </p:tgtEl>
                                        <p:attrNameLst>
                                          <p:attrName>style.visibility</p:attrName>
                                        </p:attrNameLst>
                                      </p:cBhvr>
                                      <p:to>
                                        <p:strVal val="visible"/>
                                      </p:to>
                                    </p:set>
                                    <p:anim calcmode="lin" valueType="num">
                                      <p:cBhvr additive="base">
                                        <p:cTn id="18" dur="800" fill="hold"/>
                                        <p:tgtEl>
                                          <p:spTgt spid="38"/>
                                        </p:tgtEl>
                                        <p:attrNameLst>
                                          <p:attrName>ppt_x</p:attrName>
                                        </p:attrNameLst>
                                      </p:cBhvr>
                                      <p:tavLst>
                                        <p:tav tm="0">
                                          <p:val>
                                            <p:strVal val="#ppt_x"/>
                                          </p:val>
                                        </p:tav>
                                        <p:tav tm="100000">
                                          <p:val>
                                            <p:strVal val="#ppt_x"/>
                                          </p:val>
                                        </p:tav>
                                      </p:tavLst>
                                    </p:anim>
                                    <p:anim calcmode="lin" valueType="num">
                                      <p:cBhvr additive="base">
                                        <p:cTn id="19" dur="800" fill="hold"/>
                                        <p:tgtEl>
                                          <p:spTgt spid="38"/>
                                        </p:tgtEl>
                                        <p:attrNameLst>
                                          <p:attrName>ppt_y</p:attrName>
                                        </p:attrNameLst>
                                      </p:cBhvr>
                                      <p:tavLst>
                                        <p:tav tm="0">
                                          <p:val>
                                            <p:strVal val="1+#ppt_h/2"/>
                                          </p:val>
                                        </p:tav>
                                        <p:tav tm="100000">
                                          <p:val>
                                            <p:strVal val="#ppt_y"/>
                                          </p:val>
                                        </p:tav>
                                      </p:tavLst>
                                    </p:anim>
                                  </p:childTnLst>
                                </p:cTn>
                              </p:par>
                            </p:childTnLst>
                          </p:cTn>
                        </p:par>
                        <p:par>
                          <p:cTn id="20" fill="hold">
                            <p:stCondLst>
                              <p:cond delay="2100"/>
                            </p:stCondLst>
                            <p:childTnLst>
                              <p:par>
                                <p:cTn id="21" presetID="10" presetClass="entr" presetSubtype="0" fill="hold" grpId="0" nodeType="afterEffect">
                                  <p:stCondLst>
                                    <p:cond delay="200"/>
                                  </p:stCondLst>
                                  <p:childTnLst>
                                    <p:set>
                                      <p:cBhvr>
                                        <p:cTn id="22" dur="1" fill="hold">
                                          <p:stCondLst>
                                            <p:cond delay="0"/>
                                          </p:stCondLst>
                                        </p:cTn>
                                        <p:tgtEl>
                                          <p:spTgt spid="39"/>
                                        </p:tgtEl>
                                        <p:attrNameLst>
                                          <p:attrName>style.visibility</p:attrName>
                                        </p:attrNameLst>
                                      </p:cBhvr>
                                      <p:to>
                                        <p:strVal val="visible"/>
                                      </p:to>
                                    </p:set>
                                    <p:animEffect transition="in" filter="fade">
                                      <p:cBhvr>
                                        <p:cTn id="23" dur="800"/>
                                        <p:tgtEl>
                                          <p:spTgt spid="39"/>
                                        </p:tgtEl>
                                      </p:cBhvr>
                                    </p:animEffect>
                                  </p:childTnLst>
                                </p:cTn>
                              </p:par>
                              <p:par>
                                <p:cTn id="24" presetID="2" presetClass="entr" presetSubtype="4" fill="hold" grpId="0" nodeType="withEffect">
                                  <p:stCondLst>
                                    <p:cond delay="200"/>
                                  </p:stCondLst>
                                  <p:childTnLst>
                                    <p:set>
                                      <p:cBhvr>
                                        <p:cTn id="25" dur="1" fill="hold">
                                          <p:stCondLst>
                                            <p:cond delay="0"/>
                                          </p:stCondLst>
                                        </p:cTn>
                                        <p:tgtEl>
                                          <p:spTgt spid="39"/>
                                        </p:tgtEl>
                                        <p:attrNameLst>
                                          <p:attrName>style.visibility</p:attrName>
                                        </p:attrNameLst>
                                      </p:cBhvr>
                                      <p:to>
                                        <p:strVal val="visible"/>
                                      </p:to>
                                    </p:set>
                                    <p:anim calcmode="lin" valueType="num">
                                      <p:cBhvr additive="base">
                                        <p:cTn id="26" dur="800" fill="hold"/>
                                        <p:tgtEl>
                                          <p:spTgt spid="39"/>
                                        </p:tgtEl>
                                        <p:attrNameLst>
                                          <p:attrName>ppt_x</p:attrName>
                                        </p:attrNameLst>
                                      </p:cBhvr>
                                      <p:tavLst>
                                        <p:tav tm="0">
                                          <p:val>
                                            <p:strVal val="#ppt_x"/>
                                          </p:val>
                                        </p:tav>
                                        <p:tav tm="100000">
                                          <p:val>
                                            <p:strVal val="#ppt_x"/>
                                          </p:val>
                                        </p:tav>
                                      </p:tavLst>
                                    </p:anim>
                                    <p:anim calcmode="lin" valueType="num">
                                      <p:cBhvr additive="base">
                                        <p:cTn id="27" dur="800" fill="hold"/>
                                        <p:tgtEl>
                                          <p:spTgt spid="39"/>
                                        </p:tgtEl>
                                        <p:attrNameLst>
                                          <p:attrName>ppt_y</p:attrName>
                                        </p:attrNameLst>
                                      </p:cBhvr>
                                      <p:tavLst>
                                        <p:tav tm="0">
                                          <p:val>
                                            <p:strVal val="1+#ppt_h/2"/>
                                          </p:val>
                                        </p:tav>
                                        <p:tav tm="100000">
                                          <p:val>
                                            <p:strVal val="#ppt_y"/>
                                          </p:val>
                                        </p:tav>
                                      </p:tavLst>
                                    </p:anim>
                                  </p:childTnLst>
                                </p:cTn>
                              </p:par>
                            </p:childTnLst>
                          </p:cTn>
                        </p:par>
                        <p:par>
                          <p:cTn id="28" fill="hold">
                            <p:stCondLst>
                              <p:cond delay="3300"/>
                            </p:stCondLst>
                            <p:childTnLst>
                              <p:par>
                                <p:cTn id="29" presetID="10" presetClass="entr" presetSubtype="0" fill="hold" grpId="0" nodeType="afterEffect">
                                  <p:stCondLst>
                                    <p:cond delay="300"/>
                                  </p:stCondLst>
                                  <p:childTnLst>
                                    <p:set>
                                      <p:cBhvr>
                                        <p:cTn id="30" dur="1" fill="hold">
                                          <p:stCondLst>
                                            <p:cond delay="0"/>
                                          </p:stCondLst>
                                        </p:cTn>
                                        <p:tgtEl>
                                          <p:spTgt spid="40"/>
                                        </p:tgtEl>
                                        <p:attrNameLst>
                                          <p:attrName>style.visibility</p:attrName>
                                        </p:attrNameLst>
                                      </p:cBhvr>
                                      <p:to>
                                        <p:strVal val="visible"/>
                                      </p:to>
                                    </p:set>
                                    <p:animEffect transition="in" filter="fade">
                                      <p:cBhvr>
                                        <p:cTn id="31" dur="800"/>
                                        <p:tgtEl>
                                          <p:spTgt spid="40"/>
                                        </p:tgtEl>
                                      </p:cBhvr>
                                    </p:animEffect>
                                  </p:childTnLst>
                                </p:cTn>
                              </p:par>
                              <p:par>
                                <p:cTn id="32" presetID="2" presetClass="entr" presetSubtype="4" fill="hold" grpId="0" nodeType="withEffect">
                                  <p:stCondLst>
                                    <p:cond delay="300"/>
                                  </p:stCondLst>
                                  <p:childTnLst>
                                    <p:set>
                                      <p:cBhvr>
                                        <p:cTn id="33" dur="1" fill="hold">
                                          <p:stCondLst>
                                            <p:cond delay="0"/>
                                          </p:stCondLst>
                                        </p:cTn>
                                        <p:tgtEl>
                                          <p:spTgt spid="40"/>
                                        </p:tgtEl>
                                        <p:attrNameLst>
                                          <p:attrName>style.visibility</p:attrName>
                                        </p:attrNameLst>
                                      </p:cBhvr>
                                      <p:to>
                                        <p:strVal val="visible"/>
                                      </p:to>
                                    </p:set>
                                    <p:anim calcmode="lin" valueType="num">
                                      <p:cBhvr additive="base">
                                        <p:cTn id="34" dur="800" fill="hold"/>
                                        <p:tgtEl>
                                          <p:spTgt spid="40"/>
                                        </p:tgtEl>
                                        <p:attrNameLst>
                                          <p:attrName>ppt_x</p:attrName>
                                        </p:attrNameLst>
                                      </p:cBhvr>
                                      <p:tavLst>
                                        <p:tav tm="0">
                                          <p:val>
                                            <p:strVal val="#ppt_x"/>
                                          </p:val>
                                        </p:tav>
                                        <p:tav tm="100000">
                                          <p:val>
                                            <p:strVal val="#ppt_x"/>
                                          </p:val>
                                        </p:tav>
                                      </p:tavLst>
                                    </p:anim>
                                    <p:anim calcmode="lin" valueType="num">
                                      <p:cBhvr additive="base">
                                        <p:cTn id="35" dur="800" fill="hold"/>
                                        <p:tgtEl>
                                          <p:spTgt spid="40"/>
                                        </p:tgtEl>
                                        <p:attrNameLst>
                                          <p:attrName>ppt_y</p:attrName>
                                        </p:attrNameLst>
                                      </p:cBhvr>
                                      <p:tavLst>
                                        <p:tav tm="0">
                                          <p:val>
                                            <p:strVal val="1+#ppt_h/2"/>
                                          </p:val>
                                        </p:tav>
                                        <p:tav tm="100000">
                                          <p:val>
                                            <p:strVal val="#ppt_y"/>
                                          </p:val>
                                        </p:tav>
                                      </p:tavLst>
                                    </p:anim>
                                  </p:childTnLst>
                                </p:cTn>
                              </p:par>
                            </p:childTnLst>
                          </p:cTn>
                        </p:par>
                        <p:par>
                          <p:cTn id="36" fill="hold">
                            <p:stCondLst>
                              <p:cond delay="4600"/>
                            </p:stCondLst>
                            <p:childTnLst>
                              <p:par>
                                <p:cTn id="37" presetID="10" presetClass="entr" presetSubtype="0" fill="hold" grpId="0" nodeType="afterEffect">
                                  <p:stCondLst>
                                    <p:cond delay="40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800"/>
                                        <p:tgtEl>
                                          <p:spTgt spid="41"/>
                                        </p:tgtEl>
                                      </p:cBhvr>
                                    </p:animEffect>
                                  </p:childTnLst>
                                </p:cTn>
                              </p:par>
                              <p:par>
                                <p:cTn id="40" presetID="2" presetClass="entr" presetSubtype="4" fill="hold" grpId="0" nodeType="withEffect">
                                  <p:stCondLst>
                                    <p:cond delay="400"/>
                                  </p:stCondLst>
                                  <p:childTnLst>
                                    <p:set>
                                      <p:cBhvr>
                                        <p:cTn id="41" dur="1" fill="hold">
                                          <p:stCondLst>
                                            <p:cond delay="0"/>
                                          </p:stCondLst>
                                        </p:cTn>
                                        <p:tgtEl>
                                          <p:spTgt spid="41"/>
                                        </p:tgtEl>
                                        <p:attrNameLst>
                                          <p:attrName>style.visibility</p:attrName>
                                        </p:attrNameLst>
                                      </p:cBhvr>
                                      <p:to>
                                        <p:strVal val="visible"/>
                                      </p:to>
                                    </p:set>
                                    <p:anim calcmode="lin" valueType="num">
                                      <p:cBhvr additive="base">
                                        <p:cTn id="42" dur="800" fill="hold"/>
                                        <p:tgtEl>
                                          <p:spTgt spid="41"/>
                                        </p:tgtEl>
                                        <p:attrNameLst>
                                          <p:attrName>ppt_x</p:attrName>
                                        </p:attrNameLst>
                                      </p:cBhvr>
                                      <p:tavLst>
                                        <p:tav tm="0">
                                          <p:val>
                                            <p:strVal val="#ppt_x"/>
                                          </p:val>
                                        </p:tav>
                                        <p:tav tm="100000">
                                          <p:val>
                                            <p:strVal val="#ppt_x"/>
                                          </p:val>
                                        </p:tav>
                                      </p:tavLst>
                                    </p:anim>
                                    <p:anim calcmode="lin" valueType="num">
                                      <p:cBhvr additive="base">
                                        <p:cTn id="43" dur="800" fill="hold"/>
                                        <p:tgtEl>
                                          <p:spTgt spid="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9" grpId="0" animBg="1"/>
      <p:bldP spid="40" grpId="0" animBg="1"/>
      <p:bldP spid="41" grpId="0" bldLvl="0" animBg="1"/>
    </p:bldLst>
  </p:timing>
</p:sld>
</file>

<file path=ppt/theme/theme1.xml><?xml version="1.0" encoding="utf-8"?>
<a:theme xmlns:a="http://schemas.openxmlformats.org/drawingml/2006/main" name="ɡ3ζ#3">
  <a:themeElements>
    <a:clrScheme name="自定义 9">
      <a:dk1>
        <a:srgbClr val="000000"/>
      </a:dk1>
      <a:lt1>
        <a:srgbClr val="FFFFFF"/>
      </a:lt1>
      <a:dk2>
        <a:srgbClr val="778495"/>
      </a:dk2>
      <a:lt2>
        <a:srgbClr val="F0F0F0"/>
      </a:lt2>
      <a:accent1>
        <a:srgbClr val="2C49D4"/>
      </a:accent1>
      <a:accent2>
        <a:srgbClr val="2C49D3"/>
      </a:accent2>
      <a:accent3>
        <a:srgbClr val="2C49D3"/>
      </a:accent3>
      <a:accent4>
        <a:srgbClr val="2C49D3"/>
      </a:accent4>
      <a:accent5>
        <a:srgbClr val="667FD3"/>
      </a:accent5>
      <a:accent6>
        <a:srgbClr val="89A5D8"/>
      </a:accent6>
      <a:hlink>
        <a:srgbClr val="F03854"/>
      </a:hlink>
      <a:folHlink>
        <a:srgbClr val="BFBFBF"/>
      </a:folHlink>
    </a:clrScheme>
    <a:fontScheme name="主题标准">
      <a:majorFont>
        <a:latin typeface="Calibri"/>
        <a:ea typeface="黑体"/>
        <a:cs typeface="Calibri"/>
      </a:majorFont>
      <a:minorFont>
        <a:latin typeface="Calibri"/>
        <a:ea typeface="黑体"/>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ɡ3ζ#3">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自定义 9">
    <a:dk1>
      <a:srgbClr val="000000"/>
    </a:dk1>
    <a:lt1>
      <a:srgbClr val="FFFFFF"/>
    </a:lt1>
    <a:dk2>
      <a:srgbClr val="778495"/>
    </a:dk2>
    <a:lt2>
      <a:srgbClr val="F0F0F0"/>
    </a:lt2>
    <a:accent1>
      <a:srgbClr val="2C49D4"/>
    </a:accent1>
    <a:accent2>
      <a:srgbClr val="2C49D3"/>
    </a:accent2>
    <a:accent3>
      <a:srgbClr val="2C49D3"/>
    </a:accent3>
    <a:accent4>
      <a:srgbClr val="2C49D3"/>
    </a:accent4>
    <a:accent5>
      <a:srgbClr val="667FD3"/>
    </a:accent5>
    <a:accent6>
      <a:srgbClr val="89A5D8"/>
    </a:accent6>
    <a:hlink>
      <a:srgbClr val="F03854"/>
    </a:hlink>
    <a:folHlink>
      <a:srgbClr val="BFBFBF"/>
    </a:folHlink>
  </a:clrScheme>
</a:themeOverride>
</file>

<file path=ppt/theme/themeOverride2.xml><?xml version="1.0" encoding="utf-8"?>
<a:themeOverride xmlns:a="http://schemas.openxmlformats.org/drawingml/2006/main">
  <a:clrScheme name="自定义 9">
    <a:dk1>
      <a:srgbClr val="000000"/>
    </a:dk1>
    <a:lt1>
      <a:srgbClr val="FFFFFF"/>
    </a:lt1>
    <a:dk2>
      <a:srgbClr val="778495"/>
    </a:dk2>
    <a:lt2>
      <a:srgbClr val="F0F0F0"/>
    </a:lt2>
    <a:accent1>
      <a:srgbClr val="2C49D4"/>
    </a:accent1>
    <a:accent2>
      <a:srgbClr val="2C49D3"/>
    </a:accent2>
    <a:accent3>
      <a:srgbClr val="2C49D3"/>
    </a:accent3>
    <a:accent4>
      <a:srgbClr val="2C49D3"/>
    </a:accent4>
    <a:accent5>
      <a:srgbClr val="667FD3"/>
    </a:accent5>
    <a:accent6>
      <a:srgbClr val="89A5D8"/>
    </a:accent6>
    <a:hlink>
      <a:srgbClr val="F03854"/>
    </a:hlink>
    <a:folHlink>
      <a:srgbClr val="BFBFBF"/>
    </a:folHlink>
  </a:clrScheme>
</a:themeOverride>
</file>

<file path=ppt/theme/themeOverride3.xml><?xml version="1.0" encoding="utf-8"?>
<a:themeOverride xmlns:a="http://schemas.openxmlformats.org/drawingml/2006/main">
  <a:clrScheme name="自定义 9">
    <a:dk1>
      <a:srgbClr val="000000"/>
    </a:dk1>
    <a:lt1>
      <a:srgbClr val="FFFFFF"/>
    </a:lt1>
    <a:dk2>
      <a:srgbClr val="778495"/>
    </a:dk2>
    <a:lt2>
      <a:srgbClr val="F0F0F0"/>
    </a:lt2>
    <a:accent1>
      <a:srgbClr val="2C49D4"/>
    </a:accent1>
    <a:accent2>
      <a:srgbClr val="2C49D3"/>
    </a:accent2>
    <a:accent3>
      <a:srgbClr val="2C49D3"/>
    </a:accent3>
    <a:accent4>
      <a:srgbClr val="2C49D3"/>
    </a:accent4>
    <a:accent5>
      <a:srgbClr val="667FD3"/>
    </a:accent5>
    <a:accent6>
      <a:srgbClr val="89A5D8"/>
    </a:accent6>
    <a:hlink>
      <a:srgbClr val="F03854"/>
    </a:hlink>
    <a:folHlink>
      <a:srgbClr val="BFBFBF"/>
    </a:folHlink>
  </a:clrScheme>
</a:themeOverride>
</file>

<file path=ppt/theme/themeOverride4.xml><?xml version="1.0" encoding="utf-8"?>
<a:themeOverride xmlns:a="http://schemas.openxmlformats.org/drawingml/2006/main">
  <a:clrScheme name="自定义 9">
    <a:dk1>
      <a:srgbClr val="000000"/>
    </a:dk1>
    <a:lt1>
      <a:srgbClr val="FFFFFF"/>
    </a:lt1>
    <a:dk2>
      <a:srgbClr val="778495"/>
    </a:dk2>
    <a:lt2>
      <a:srgbClr val="F0F0F0"/>
    </a:lt2>
    <a:accent1>
      <a:srgbClr val="2C49D4"/>
    </a:accent1>
    <a:accent2>
      <a:srgbClr val="2C49D3"/>
    </a:accent2>
    <a:accent3>
      <a:srgbClr val="2C49D3"/>
    </a:accent3>
    <a:accent4>
      <a:srgbClr val="2C49D3"/>
    </a:accent4>
    <a:accent5>
      <a:srgbClr val="667FD3"/>
    </a:accent5>
    <a:accent6>
      <a:srgbClr val="89A5D8"/>
    </a:accent6>
    <a:hlink>
      <a:srgbClr val="F03854"/>
    </a:hlink>
    <a:folHlink>
      <a:srgbClr val="BFBFBF"/>
    </a:folHlink>
  </a:clrScheme>
</a:themeOverride>
</file>

<file path=ppt/theme/themeOverride5.xml><?xml version="1.0" encoding="utf-8"?>
<a:themeOverride xmlns:a="http://schemas.openxmlformats.org/drawingml/2006/main">
  <a:clrScheme name="自定义 9">
    <a:dk1>
      <a:srgbClr val="000000"/>
    </a:dk1>
    <a:lt1>
      <a:srgbClr val="FFFFFF"/>
    </a:lt1>
    <a:dk2>
      <a:srgbClr val="778495"/>
    </a:dk2>
    <a:lt2>
      <a:srgbClr val="F0F0F0"/>
    </a:lt2>
    <a:accent1>
      <a:srgbClr val="2C49D4"/>
    </a:accent1>
    <a:accent2>
      <a:srgbClr val="2C49D3"/>
    </a:accent2>
    <a:accent3>
      <a:srgbClr val="2C49D3"/>
    </a:accent3>
    <a:accent4>
      <a:srgbClr val="2C49D3"/>
    </a:accent4>
    <a:accent5>
      <a:srgbClr val="667FD3"/>
    </a:accent5>
    <a:accent6>
      <a:srgbClr val="89A5D8"/>
    </a:accent6>
    <a:hlink>
      <a:srgbClr val="F03854"/>
    </a:hlink>
    <a:folHlink>
      <a:srgbClr val="BFBFBF"/>
    </a:folHlink>
  </a:clrScheme>
</a:themeOverride>
</file>

<file path=ppt/theme/themeOverride6.xml><?xml version="1.0" encoding="utf-8"?>
<a:themeOverride xmlns:a="http://schemas.openxmlformats.org/drawingml/2006/main">
  <a:clrScheme name="自定义 9">
    <a:dk1>
      <a:srgbClr val="000000"/>
    </a:dk1>
    <a:lt1>
      <a:srgbClr val="FFFFFF"/>
    </a:lt1>
    <a:dk2>
      <a:srgbClr val="778495"/>
    </a:dk2>
    <a:lt2>
      <a:srgbClr val="F0F0F0"/>
    </a:lt2>
    <a:accent1>
      <a:srgbClr val="2C49D4"/>
    </a:accent1>
    <a:accent2>
      <a:srgbClr val="2C49D3"/>
    </a:accent2>
    <a:accent3>
      <a:srgbClr val="2C49D3"/>
    </a:accent3>
    <a:accent4>
      <a:srgbClr val="2C49D3"/>
    </a:accent4>
    <a:accent5>
      <a:srgbClr val="667FD3"/>
    </a:accent5>
    <a:accent6>
      <a:srgbClr val="89A5D8"/>
    </a:accent6>
    <a:hlink>
      <a:srgbClr val="F03854"/>
    </a:hlink>
    <a:folHlink>
      <a:srgbClr val="BFBFBF"/>
    </a:folHlink>
  </a:clrScheme>
</a:themeOverride>
</file>

<file path=ppt/theme/themeOverride7.xml><?xml version="1.0" encoding="utf-8"?>
<a:themeOverride xmlns:a="http://schemas.openxmlformats.org/drawingml/2006/main">
  <a:clrScheme name="自定义 9">
    <a:dk1>
      <a:srgbClr val="000000"/>
    </a:dk1>
    <a:lt1>
      <a:srgbClr val="FFFFFF"/>
    </a:lt1>
    <a:dk2>
      <a:srgbClr val="778495"/>
    </a:dk2>
    <a:lt2>
      <a:srgbClr val="F0F0F0"/>
    </a:lt2>
    <a:accent1>
      <a:srgbClr val="2C49D4"/>
    </a:accent1>
    <a:accent2>
      <a:srgbClr val="2C49D3"/>
    </a:accent2>
    <a:accent3>
      <a:srgbClr val="2C49D3"/>
    </a:accent3>
    <a:accent4>
      <a:srgbClr val="2C49D3"/>
    </a:accent4>
    <a:accent5>
      <a:srgbClr val="667FD3"/>
    </a:accent5>
    <a:accent6>
      <a:srgbClr val="89A5D8"/>
    </a:accent6>
    <a:hlink>
      <a:srgbClr val="F03854"/>
    </a:hlink>
    <a:folHlink>
      <a:srgbClr val="BFBFBF"/>
    </a:folHlink>
  </a:clrScheme>
</a:themeOverride>
</file>

<file path=ppt/theme/themeOverride8.xml><?xml version="1.0" encoding="utf-8"?>
<a:themeOverride xmlns:a="http://schemas.openxmlformats.org/drawingml/2006/main">
  <a:clrScheme name="自定义 9">
    <a:dk1>
      <a:srgbClr val="000000"/>
    </a:dk1>
    <a:lt1>
      <a:srgbClr val="FFFFFF"/>
    </a:lt1>
    <a:dk2>
      <a:srgbClr val="778495"/>
    </a:dk2>
    <a:lt2>
      <a:srgbClr val="F0F0F0"/>
    </a:lt2>
    <a:accent1>
      <a:srgbClr val="2C49D4"/>
    </a:accent1>
    <a:accent2>
      <a:srgbClr val="2C49D3"/>
    </a:accent2>
    <a:accent3>
      <a:srgbClr val="2C49D3"/>
    </a:accent3>
    <a:accent4>
      <a:srgbClr val="2C49D3"/>
    </a:accent4>
    <a:accent5>
      <a:srgbClr val="667FD3"/>
    </a:accent5>
    <a:accent6>
      <a:srgbClr val="89A5D8"/>
    </a:accent6>
    <a:hlink>
      <a:srgbClr val="F03854"/>
    </a:hlink>
    <a:folHlink>
      <a:srgbClr val="BFBFBF"/>
    </a:folHlink>
  </a:clrScheme>
</a:themeOverride>
</file>

<file path=ppt/theme/themeOverride9.xml><?xml version="1.0" encoding="utf-8"?>
<a:themeOverride xmlns:a="http://schemas.openxmlformats.org/drawingml/2006/main">
  <a:clrScheme name="自定义 9">
    <a:dk1>
      <a:srgbClr val="000000"/>
    </a:dk1>
    <a:lt1>
      <a:srgbClr val="FFFFFF"/>
    </a:lt1>
    <a:dk2>
      <a:srgbClr val="778495"/>
    </a:dk2>
    <a:lt2>
      <a:srgbClr val="F0F0F0"/>
    </a:lt2>
    <a:accent1>
      <a:srgbClr val="2C49D4"/>
    </a:accent1>
    <a:accent2>
      <a:srgbClr val="2C49D3"/>
    </a:accent2>
    <a:accent3>
      <a:srgbClr val="2C49D3"/>
    </a:accent3>
    <a:accent4>
      <a:srgbClr val="2C49D3"/>
    </a:accent4>
    <a:accent5>
      <a:srgbClr val="667FD3"/>
    </a:accent5>
    <a:accent6>
      <a:srgbClr val="89A5D8"/>
    </a:accent6>
    <a:hlink>
      <a:srgbClr val="F03854"/>
    </a:hlink>
    <a:folHlink>
      <a:srgbClr val="BFBFBF"/>
    </a:folHlink>
  </a:clrScheme>
</a:themeOverride>
</file>

<file path=ppt/theme/themeOverride10.xml><?xml version="1.0" encoding="utf-8"?>
<a:themeOverride xmlns:a="http://schemas.openxmlformats.org/drawingml/2006/main">
  <a:clrScheme name="自定义 9">
    <a:dk1>
      <a:srgbClr val="000000"/>
    </a:dk1>
    <a:lt1>
      <a:srgbClr val="FFFFFF"/>
    </a:lt1>
    <a:dk2>
      <a:srgbClr val="778495"/>
    </a:dk2>
    <a:lt2>
      <a:srgbClr val="F0F0F0"/>
    </a:lt2>
    <a:accent1>
      <a:srgbClr val="2C49D4"/>
    </a:accent1>
    <a:accent2>
      <a:srgbClr val="2C49D3"/>
    </a:accent2>
    <a:accent3>
      <a:srgbClr val="2C49D3"/>
    </a:accent3>
    <a:accent4>
      <a:srgbClr val="2C49D3"/>
    </a:accent4>
    <a:accent5>
      <a:srgbClr val="667FD3"/>
    </a:accent5>
    <a:accent6>
      <a:srgbClr val="89A5D8"/>
    </a:accent6>
    <a:hlink>
      <a:srgbClr val="F03854"/>
    </a:hlink>
    <a:folHlink>
      <a:srgbClr val="BFBFBF"/>
    </a:folHlink>
  </a:clrScheme>
</a:themeOverride>
</file>

<file path=ppt/theme/themeOverride11.xml><?xml version="1.0" encoding="utf-8"?>
<a:themeOverride xmlns:a="http://schemas.openxmlformats.org/drawingml/2006/main">
  <a:clrScheme name="自定义 9">
    <a:dk1>
      <a:srgbClr val="000000"/>
    </a:dk1>
    <a:lt1>
      <a:srgbClr val="FFFFFF"/>
    </a:lt1>
    <a:dk2>
      <a:srgbClr val="778495"/>
    </a:dk2>
    <a:lt2>
      <a:srgbClr val="F0F0F0"/>
    </a:lt2>
    <a:accent1>
      <a:srgbClr val="2C49D4"/>
    </a:accent1>
    <a:accent2>
      <a:srgbClr val="2C49D3"/>
    </a:accent2>
    <a:accent3>
      <a:srgbClr val="2C49D3"/>
    </a:accent3>
    <a:accent4>
      <a:srgbClr val="2C49D3"/>
    </a:accent4>
    <a:accent5>
      <a:srgbClr val="667FD3"/>
    </a:accent5>
    <a:accent6>
      <a:srgbClr val="89A5D8"/>
    </a:accent6>
    <a:hlink>
      <a:srgbClr val="F03854"/>
    </a:hlink>
    <a:folHlink>
      <a:srgbClr val="BFBFBF"/>
    </a:folHlink>
  </a:clrScheme>
</a:themeOverride>
</file>

<file path=ppt/theme/themeOverride12.xml><?xml version="1.0" encoding="utf-8"?>
<a:themeOverride xmlns:a="http://schemas.openxmlformats.org/drawingml/2006/main">
  <a:clrScheme name="自定义 9">
    <a:dk1>
      <a:srgbClr val="000000"/>
    </a:dk1>
    <a:lt1>
      <a:srgbClr val="FFFFFF"/>
    </a:lt1>
    <a:dk2>
      <a:srgbClr val="778495"/>
    </a:dk2>
    <a:lt2>
      <a:srgbClr val="F0F0F0"/>
    </a:lt2>
    <a:accent1>
      <a:srgbClr val="2C49D4"/>
    </a:accent1>
    <a:accent2>
      <a:srgbClr val="2C49D3"/>
    </a:accent2>
    <a:accent3>
      <a:srgbClr val="2C49D3"/>
    </a:accent3>
    <a:accent4>
      <a:srgbClr val="2C49D3"/>
    </a:accent4>
    <a:accent5>
      <a:srgbClr val="667FD3"/>
    </a:accent5>
    <a:accent6>
      <a:srgbClr val="89A5D8"/>
    </a:accent6>
    <a:hlink>
      <a:srgbClr val="F03854"/>
    </a:hlink>
    <a:folHlink>
      <a:srgbClr val="BFBFBF"/>
    </a:folHlink>
  </a:clrScheme>
</a:themeOverride>
</file>

<file path=ppt/theme/themeOverride13.xml><?xml version="1.0" encoding="utf-8"?>
<a:themeOverride xmlns:a="http://schemas.openxmlformats.org/drawingml/2006/main">
  <a:clrScheme name="自定义 9">
    <a:dk1>
      <a:srgbClr val="000000"/>
    </a:dk1>
    <a:lt1>
      <a:srgbClr val="FFFFFF"/>
    </a:lt1>
    <a:dk2>
      <a:srgbClr val="778495"/>
    </a:dk2>
    <a:lt2>
      <a:srgbClr val="F0F0F0"/>
    </a:lt2>
    <a:accent1>
      <a:srgbClr val="2C49D4"/>
    </a:accent1>
    <a:accent2>
      <a:srgbClr val="2C49D3"/>
    </a:accent2>
    <a:accent3>
      <a:srgbClr val="2C49D3"/>
    </a:accent3>
    <a:accent4>
      <a:srgbClr val="2C49D3"/>
    </a:accent4>
    <a:accent5>
      <a:srgbClr val="667FD3"/>
    </a:accent5>
    <a:accent6>
      <a:srgbClr val="89A5D8"/>
    </a:accent6>
    <a:hlink>
      <a:srgbClr val="F03854"/>
    </a:hlink>
    <a:folHlink>
      <a:srgbClr val="BFBFBF"/>
    </a:folHlink>
  </a:clrScheme>
</a:themeOverride>
</file>

<file path=ppt/theme/themeOverride14.xml><?xml version="1.0" encoding="utf-8"?>
<a:themeOverride xmlns:a="http://schemas.openxmlformats.org/drawingml/2006/main">
  <a:clrScheme name="自定义 9">
    <a:dk1>
      <a:srgbClr val="000000"/>
    </a:dk1>
    <a:lt1>
      <a:srgbClr val="FFFFFF"/>
    </a:lt1>
    <a:dk2>
      <a:srgbClr val="778495"/>
    </a:dk2>
    <a:lt2>
      <a:srgbClr val="F0F0F0"/>
    </a:lt2>
    <a:accent1>
      <a:srgbClr val="2C49D4"/>
    </a:accent1>
    <a:accent2>
      <a:srgbClr val="2C49D3"/>
    </a:accent2>
    <a:accent3>
      <a:srgbClr val="2C49D3"/>
    </a:accent3>
    <a:accent4>
      <a:srgbClr val="2C49D3"/>
    </a:accent4>
    <a:accent5>
      <a:srgbClr val="667FD3"/>
    </a:accent5>
    <a:accent6>
      <a:srgbClr val="89A5D8"/>
    </a:accent6>
    <a:hlink>
      <a:srgbClr val="F03854"/>
    </a:hlink>
    <a:folHlink>
      <a:srgbClr val="BFBFBF"/>
    </a:folHlink>
  </a:clrScheme>
</a:themeOverride>
</file>

<file path=ppt/theme/themeOverride15.xml><?xml version="1.0" encoding="utf-8"?>
<a:themeOverride xmlns:a="http://schemas.openxmlformats.org/drawingml/2006/main">
  <a:clrScheme name="自定义 9">
    <a:dk1>
      <a:srgbClr val="000000"/>
    </a:dk1>
    <a:lt1>
      <a:srgbClr val="FFFFFF"/>
    </a:lt1>
    <a:dk2>
      <a:srgbClr val="778495"/>
    </a:dk2>
    <a:lt2>
      <a:srgbClr val="F0F0F0"/>
    </a:lt2>
    <a:accent1>
      <a:srgbClr val="2C49D4"/>
    </a:accent1>
    <a:accent2>
      <a:srgbClr val="2C49D3"/>
    </a:accent2>
    <a:accent3>
      <a:srgbClr val="2C49D3"/>
    </a:accent3>
    <a:accent4>
      <a:srgbClr val="2C49D3"/>
    </a:accent4>
    <a:accent5>
      <a:srgbClr val="667FD3"/>
    </a:accent5>
    <a:accent6>
      <a:srgbClr val="89A5D8"/>
    </a:accent6>
    <a:hlink>
      <a:srgbClr val="F03854"/>
    </a:hlink>
    <a:folHlink>
      <a:srgbClr val="BFBFBF"/>
    </a:folHlink>
  </a:clrScheme>
</a:themeOverride>
</file>

<file path=ppt/theme/themeOverride16.xml><?xml version="1.0" encoding="utf-8"?>
<a:themeOverride xmlns:a="http://schemas.openxmlformats.org/drawingml/2006/main">
  <a:clrScheme name="自定义 9">
    <a:dk1>
      <a:srgbClr val="000000"/>
    </a:dk1>
    <a:lt1>
      <a:srgbClr val="FFFFFF"/>
    </a:lt1>
    <a:dk2>
      <a:srgbClr val="778495"/>
    </a:dk2>
    <a:lt2>
      <a:srgbClr val="F0F0F0"/>
    </a:lt2>
    <a:accent1>
      <a:srgbClr val="2C49D4"/>
    </a:accent1>
    <a:accent2>
      <a:srgbClr val="2C49D3"/>
    </a:accent2>
    <a:accent3>
      <a:srgbClr val="2C49D3"/>
    </a:accent3>
    <a:accent4>
      <a:srgbClr val="2C49D3"/>
    </a:accent4>
    <a:accent5>
      <a:srgbClr val="667FD3"/>
    </a:accent5>
    <a:accent6>
      <a:srgbClr val="89A5D8"/>
    </a:accent6>
    <a:hlink>
      <a:srgbClr val="F03854"/>
    </a:hlink>
    <a:folHlink>
      <a:srgbClr val="BFBFBF"/>
    </a:folHlink>
  </a:clrScheme>
</a:themeOverride>
</file>

<file path=ppt/theme/themeOverride17.xml><?xml version="1.0" encoding="utf-8"?>
<a:themeOverride xmlns:a="http://schemas.openxmlformats.org/drawingml/2006/main">
  <a:clrScheme name="自定义 9">
    <a:dk1>
      <a:srgbClr val="000000"/>
    </a:dk1>
    <a:lt1>
      <a:srgbClr val="FFFFFF"/>
    </a:lt1>
    <a:dk2>
      <a:srgbClr val="778495"/>
    </a:dk2>
    <a:lt2>
      <a:srgbClr val="F0F0F0"/>
    </a:lt2>
    <a:accent1>
      <a:srgbClr val="2C49D4"/>
    </a:accent1>
    <a:accent2>
      <a:srgbClr val="2C49D3"/>
    </a:accent2>
    <a:accent3>
      <a:srgbClr val="2C49D3"/>
    </a:accent3>
    <a:accent4>
      <a:srgbClr val="2C49D3"/>
    </a:accent4>
    <a:accent5>
      <a:srgbClr val="667FD3"/>
    </a:accent5>
    <a:accent6>
      <a:srgbClr val="89A5D8"/>
    </a:accent6>
    <a:hlink>
      <a:srgbClr val="F03854"/>
    </a:hlink>
    <a:folHlink>
      <a:srgbClr val="BFBFBF"/>
    </a:folHlink>
  </a:clrScheme>
</a:themeOverride>
</file>

<file path=ppt/theme/themeOverride18.xml><?xml version="1.0" encoding="utf-8"?>
<a:themeOverride xmlns:a="http://schemas.openxmlformats.org/drawingml/2006/main">
  <a:clrScheme name="自定义 9">
    <a:dk1>
      <a:srgbClr val="000000"/>
    </a:dk1>
    <a:lt1>
      <a:srgbClr val="FFFFFF"/>
    </a:lt1>
    <a:dk2>
      <a:srgbClr val="778495"/>
    </a:dk2>
    <a:lt2>
      <a:srgbClr val="F0F0F0"/>
    </a:lt2>
    <a:accent1>
      <a:srgbClr val="2C49D4"/>
    </a:accent1>
    <a:accent2>
      <a:srgbClr val="2C49D3"/>
    </a:accent2>
    <a:accent3>
      <a:srgbClr val="2C49D3"/>
    </a:accent3>
    <a:accent4>
      <a:srgbClr val="2C49D3"/>
    </a:accent4>
    <a:accent5>
      <a:srgbClr val="667FD3"/>
    </a:accent5>
    <a:accent6>
      <a:srgbClr val="89A5D8"/>
    </a:accent6>
    <a:hlink>
      <a:srgbClr val="F03854"/>
    </a:hlink>
    <a:folHlink>
      <a:srgbClr val="BFBFBF"/>
    </a:folHlink>
  </a:clrScheme>
</a:themeOverride>
</file>

<file path=ppt/theme/themeOverride19.xml><?xml version="1.0" encoding="utf-8"?>
<a:themeOverride xmlns:a="http://schemas.openxmlformats.org/drawingml/2006/main">
  <a:clrScheme name="自定义 9">
    <a:dk1>
      <a:srgbClr val="000000"/>
    </a:dk1>
    <a:lt1>
      <a:srgbClr val="FFFFFF"/>
    </a:lt1>
    <a:dk2>
      <a:srgbClr val="778495"/>
    </a:dk2>
    <a:lt2>
      <a:srgbClr val="F0F0F0"/>
    </a:lt2>
    <a:accent1>
      <a:srgbClr val="2C49D4"/>
    </a:accent1>
    <a:accent2>
      <a:srgbClr val="2C49D3"/>
    </a:accent2>
    <a:accent3>
      <a:srgbClr val="2C49D3"/>
    </a:accent3>
    <a:accent4>
      <a:srgbClr val="2C49D3"/>
    </a:accent4>
    <a:accent5>
      <a:srgbClr val="667FD3"/>
    </a:accent5>
    <a:accent6>
      <a:srgbClr val="89A5D8"/>
    </a:accent6>
    <a:hlink>
      <a:srgbClr val="F03854"/>
    </a:hlink>
    <a:folHlink>
      <a:srgbClr val="BFBFBF"/>
    </a:folHlink>
  </a:clrScheme>
</a:themeOverride>
</file>

<file path=ppt/theme/themeOverride20.xml><?xml version="1.0" encoding="utf-8"?>
<a:themeOverride xmlns:a="http://schemas.openxmlformats.org/drawingml/2006/main">
  <a:clrScheme name="自定义 9">
    <a:dk1>
      <a:srgbClr val="000000"/>
    </a:dk1>
    <a:lt1>
      <a:srgbClr val="FFFFFF"/>
    </a:lt1>
    <a:dk2>
      <a:srgbClr val="778495"/>
    </a:dk2>
    <a:lt2>
      <a:srgbClr val="F0F0F0"/>
    </a:lt2>
    <a:accent1>
      <a:srgbClr val="2C49D4"/>
    </a:accent1>
    <a:accent2>
      <a:srgbClr val="2C49D3"/>
    </a:accent2>
    <a:accent3>
      <a:srgbClr val="2C49D3"/>
    </a:accent3>
    <a:accent4>
      <a:srgbClr val="2C49D3"/>
    </a:accent4>
    <a:accent5>
      <a:srgbClr val="667FD3"/>
    </a:accent5>
    <a:accent6>
      <a:srgbClr val="89A5D8"/>
    </a:accent6>
    <a:hlink>
      <a:srgbClr val="F03854"/>
    </a:hlink>
    <a:folHlink>
      <a:srgbClr val="BFBFBF"/>
    </a:folHlink>
  </a:clrScheme>
</a:themeOverride>
</file>

<file path=ppt/theme/themeOverride21.xml><?xml version="1.0" encoding="utf-8"?>
<a:themeOverride xmlns:a="http://schemas.openxmlformats.org/drawingml/2006/main">
  <a:clrScheme name="自定义 9">
    <a:dk1>
      <a:srgbClr val="000000"/>
    </a:dk1>
    <a:lt1>
      <a:srgbClr val="FFFFFF"/>
    </a:lt1>
    <a:dk2>
      <a:srgbClr val="778495"/>
    </a:dk2>
    <a:lt2>
      <a:srgbClr val="F0F0F0"/>
    </a:lt2>
    <a:accent1>
      <a:srgbClr val="2C49D4"/>
    </a:accent1>
    <a:accent2>
      <a:srgbClr val="2C49D3"/>
    </a:accent2>
    <a:accent3>
      <a:srgbClr val="2C49D3"/>
    </a:accent3>
    <a:accent4>
      <a:srgbClr val="2C49D3"/>
    </a:accent4>
    <a:accent5>
      <a:srgbClr val="667FD3"/>
    </a:accent5>
    <a:accent6>
      <a:srgbClr val="89A5D8"/>
    </a:accent6>
    <a:hlink>
      <a:srgbClr val="F03854"/>
    </a:hlink>
    <a:folHlink>
      <a:srgbClr val="BFBFBF"/>
    </a:folHlink>
  </a:clrScheme>
</a:themeOverride>
</file>

<file path=docProps/app.xml><?xml version="1.0" encoding="utf-8"?>
<Properties xmlns="http://schemas.openxmlformats.org/officeDocument/2006/extended-properties" xmlns:vt="http://schemas.openxmlformats.org/officeDocument/2006/docPropsVTypes">
  <TotalTime>0</TotalTime>
  <Words>4849</Words>
  <Application>WPS 演示</Application>
  <PresentationFormat>On-screen Show (16:9)</PresentationFormat>
  <Paragraphs>843</Paragraphs>
  <Slides>22</Slides>
  <Notes>1</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22</vt:i4>
      </vt:variant>
    </vt:vector>
  </HeadingPairs>
  <TitlesOfParts>
    <vt:vector size="38" baseType="lpstr">
      <vt:lpstr>Arial</vt:lpstr>
      <vt:lpstr>宋体</vt:lpstr>
      <vt:lpstr>Wingdings</vt:lpstr>
      <vt:lpstr>微软雅黑</vt:lpstr>
      <vt:lpstr>Font Awesome 6 Free Solid</vt:lpstr>
      <vt:lpstr>Font Awesome 6 Free Solid</vt:lpstr>
      <vt:lpstr>Font Awesome 6 Free Solid</vt:lpstr>
      <vt:lpstr>Arial</vt:lpstr>
      <vt:lpstr>Arial</vt:lpstr>
      <vt:lpstr>Consolas</vt:lpstr>
      <vt:lpstr>Noto Sans SC</vt:lpstr>
      <vt:lpstr>Calibri</vt:lpstr>
      <vt:lpstr>黑体</vt:lpstr>
      <vt:lpstr>Arial Unicode MS</vt:lpstr>
      <vt:lpstr>等线</vt:lpstr>
      <vt:lpstr>ɡ3ζ#3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何朋伟</cp:lastModifiedBy>
  <cp:revision>10</cp:revision>
  <dcterms:created xsi:type="dcterms:W3CDTF">2026-08-18T12:04:00Z</dcterms:created>
  <dcterms:modified xsi:type="dcterms:W3CDTF">2026-08-18T13:28:25Z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ICV">
    <vt:lpwstr>69A97A6B943647698BDB81C5C7E1A76E_12</vt:lpwstr>
  </property>
</Properties>
</file>