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5"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6" r:id="rId28"/>
    <p:sldId id="284" r:id="rId29"/>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8" name="矩形 7"/>
          <p:cNvSpPr/>
          <p:nvPr userDrawn="1"/>
        </p:nvSpPr>
        <p:spPr>
          <a:xfrm>
            <a:off x="0" y="8976139"/>
            <a:ext cx="16255153" cy="1678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hyperlink" Target="https://gezhe.com/?utm_source=gezhe&amp;utm_medium=pptx&amp;utm_campaign=watermark&amp;utm_content=slide_footer" TargetMode="Externa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7" Type="http://schemas.openxmlformats.org/officeDocument/2006/relationships/slideLayout" Target="../slideLayouts/slideLayout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1" Type="http://schemas.openxmlformats.org/officeDocument/2006/relationships/slideLayout" Target="../slideLayouts/slideLayout7.xml"/><Relationship Id="rId20" Type="http://schemas.openxmlformats.org/officeDocument/2006/relationships/tags" Target="../tags/tag36.xml"/><Relationship Id="rId2" Type="http://schemas.openxmlformats.org/officeDocument/2006/relationships/tags" Target="../tags/tag18.xml"/><Relationship Id="rId19" Type="http://schemas.openxmlformats.org/officeDocument/2006/relationships/tags" Target="../tags/tag35.xml"/><Relationship Id="rId18" Type="http://schemas.openxmlformats.org/officeDocument/2006/relationships/tags" Target="../tags/tag34.xml"/><Relationship Id="rId17" Type="http://schemas.openxmlformats.org/officeDocument/2006/relationships/tags" Target="../tags/tag33.xml"/><Relationship Id="rId16" Type="http://schemas.openxmlformats.org/officeDocument/2006/relationships/tags" Target="../tags/tag32.xml"/><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hyperlink" Target="https://github.com/SFANBLOG/medical-assistant-master" TargetMode="Externa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179"/>
            <a:ext cx="12191365" cy="6857643"/>
          </a:xfrm>
          <a:prstGeom prst="rect">
            <a:avLst/>
          </a:prstGeom>
        </p:spPr>
      </p:pic>
      <p:sp>
        <p:nvSpPr>
          <p:cNvPr id="4" name="Shape 1"/>
          <p:cNvSpPr/>
          <p:nvPr/>
        </p:nvSpPr>
        <p:spPr>
          <a:xfrm>
            <a:off x="8133927" y="884477"/>
            <a:ext cx="2857351" cy="2857351"/>
          </a:xfrm>
          <a:prstGeom prst="ellipse">
            <a:avLst/>
          </a:prstGeom>
          <a:noFill/>
          <a:ln w="254000">
            <a:solidFill>
              <a:srgbClr val="2E6EA6"/>
            </a:solidFill>
            <a:prstDash val="solid"/>
          </a:ln>
        </p:spPr>
      </p:sp>
      <p:sp>
        <p:nvSpPr>
          <p:cNvPr id="11" name="Shape 7"/>
          <p:cNvSpPr/>
          <p:nvPr/>
        </p:nvSpPr>
        <p:spPr>
          <a:xfrm>
            <a:off x="761960" y="1650001"/>
            <a:ext cx="761960" cy="76196"/>
          </a:xfrm>
          <a:prstGeom prst="roundRect">
            <a:avLst>
              <a:gd name="adj" fmla="val 50000"/>
            </a:avLst>
          </a:prstGeom>
          <a:solidFill>
            <a:srgbClr val="2563EB"/>
          </a:solidFill>
        </p:spPr>
      </p:sp>
      <p:sp>
        <p:nvSpPr>
          <p:cNvPr id="12" name="Text 8"/>
          <p:cNvSpPr/>
          <p:nvPr/>
        </p:nvSpPr>
        <p:spPr>
          <a:xfrm>
            <a:off x="761960" y="1954785"/>
            <a:ext cx="8572054" cy="1279855"/>
          </a:xfrm>
          <a:prstGeom prst="rect">
            <a:avLst/>
          </a:prstGeom>
          <a:noFill/>
        </p:spPr>
        <p:txBody>
          <a:bodyPr wrap="none" lIns="0" tIns="0" rIns="0" bIns="0" rtlCol="0" anchor="t"/>
          <a:lstStyle/>
          <a:p>
            <a:pPr marL="0" indent="0">
              <a:lnSpc>
                <a:spcPct val="120000"/>
              </a:lnSpc>
              <a:buNone/>
            </a:pPr>
            <a:r>
              <a:rPr lang="zh-CN" sz="4000" b="1" dirty="0">
                <a:solidFill>
                  <a:srgbClr val="1F2A37"/>
                </a:solidFill>
                <a:latin typeface="Arial" panose="020B0604020202020204" pitchFamily="34" charset="0"/>
                <a:ea typeface="微软雅黑" panose="020B0503020204020204" charset="-122"/>
              </a:rPr>
              <a:t>医智助手</a:t>
            </a:r>
            <a:endParaRPr lang="en-US" sz="4000" dirty="0"/>
          </a:p>
        </p:txBody>
      </p:sp>
      <p:sp>
        <p:nvSpPr>
          <p:cNvPr id="13" name="Text 9"/>
          <p:cNvSpPr/>
          <p:nvPr/>
        </p:nvSpPr>
        <p:spPr>
          <a:xfrm>
            <a:off x="761960" y="3387033"/>
            <a:ext cx="8572054" cy="373242"/>
          </a:xfrm>
          <a:prstGeom prst="rect">
            <a:avLst/>
          </a:prstGeom>
          <a:noFill/>
        </p:spPr>
        <p:txBody>
          <a:bodyPr wrap="none" lIns="235699" tIns="0" rIns="0" bIns="0" rtlCol="0" anchor="t"/>
          <a:lstStyle/>
          <a:p>
            <a:pPr marL="0" indent="0">
              <a:lnSpc>
                <a:spcPct val="140000"/>
              </a:lnSpc>
              <a:buNone/>
            </a:pPr>
            <a:r>
              <a:rPr lang="zh-CN" sz="2000" b="1" dirty="0">
                <a:solidFill>
                  <a:srgbClr val="2E6EA6"/>
                </a:solidFill>
                <a:latin typeface="Arial" panose="020B0604020202020204" pitchFamily="34" charset="0"/>
                <a:ea typeface="微软雅黑" panose="020B0503020204020204" charset="-122"/>
              </a:rPr>
              <a:t>面向医疗信息化建设的智能问答平台</a:t>
            </a:r>
            <a:endParaRPr lang="en-US" sz="2000" dirty="0"/>
          </a:p>
        </p:txBody>
      </p:sp>
      <p:sp>
        <p:nvSpPr>
          <p:cNvPr id="14" name="Shape 10"/>
          <p:cNvSpPr/>
          <p:nvPr/>
        </p:nvSpPr>
        <p:spPr>
          <a:xfrm>
            <a:off x="761960" y="3387033"/>
            <a:ext cx="38098" cy="373242"/>
          </a:xfrm>
          <a:prstGeom prst="rect">
            <a:avLst/>
          </a:prstGeom>
          <a:solidFill>
            <a:srgbClr val="5B9DFF"/>
          </a:solidFill>
        </p:spPr>
      </p:sp>
      <p:sp>
        <p:nvSpPr>
          <p:cNvPr id="15" name="Shape 11"/>
          <p:cNvSpPr/>
          <p:nvPr/>
        </p:nvSpPr>
        <p:spPr>
          <a:xfrm>
            <a:off x="761960" y="4331745"/>
            <a:ext cx="8572054" cy="876254"/>
          </a:xfrm>
          <a:prstGeom prst="rect">
            <a:avLst/>
          </a:prstGeom>
          <a:noFill/>
        </p:spPr>
      </p:sp>
      <p:sp>
        <p:nvSpPr>
          <p:cNvPr id="16" name="Shape 12"/>
          <p:cNvSpPr/>
          <p:nvPr/>
        </p:nvSpPr>
        <p:spPr>
          <a:xfrm>
            <a:off x="761960" y="4331745"/>
            <a:ext cx="8572054" cy="9525"/>
          </a:xfrm>
          <a:prstGeom prst="rect">
            <a:avLst/>
          </a:prstGeom>
          <a:solidFill>
            <a:srgbClr val="DCEAF5"/>
          </a:solidFill>
        </p:spPr>
      </p:sp>
      <p:sp>
        <p:nvSpPr>
          <p:cNvPr id="17" name="Text 13"/>
          <p:cNvSpPr/>
          <p:nvPr/>
        </p:nvSpPr>
        <p:spPr>
          <a:xfrm>
            <a:off x="761960" y="4722249"/>
            <a:ext cx="3220472" cy="180965"/>
          </a:xfrm>
          <a:prstGeom prst="rect">
            <a:avLst/>
          </a:prstGeom>
          <a:noFill/>
        </p:spPr>
        <p:txBody>
          <a:bodyPr wrap="none" lIns="0" tIns="0" rIns="0" bIns="0" rtlCol="0" anchor="t"/>
          <a:lstStyle/>
          <a:p>
            <a:pPr marL="0" indent="0">
              <a:buNone/>
            </a:pPr>
            <a:r>
              <a:rPr lang="zh-CN" sz="935" b="1" kern="0" spc="78" dirty="0">
                <a:solidFill>
                  <a:srgbClr val="5B9DFF"/>
                </a:solidFill>
                <a:latin typeface="Arial" panose="020B0604020202020204" pitchFamily="34" charset="0"/>
                <a:ea typeface="微软雅黑" panose="020B0503020204020204" charset="-122"/>
              </a:rPr>
              <a:t>汇报人 </a:t>
            </a:r>
            <a:r>
              <a:rPr lang="en-US" sz="935" b="1" kern="0" spc="78" dirty="0">
                <a:solidFill>
                  <a:srgbClr val="5B9DFF"/>
                </a:solidFill>
                <a:latin typeface="Arial" panose="020B0604020202020204" pitchFamily="34" charset="0"/>
              </a:rPr>
              <a:t>/ PRESENTER</a:t>
            </a:r>
            <a:endParaRPr lang="en-US" sz="935" dirty="0"/>
          </a:p>
        </p:txBody>
      </p:sp>
      <p:sp>
        <p:nvSpPr>
          <p:cNvPr id="18" name="Text 14"/>
          <p:cNvSpPr/>
          <p:nvPr/>
        </p:nvSpPr>
        <p:spPr>
          <a:xfrm>
            <a:off x="761960" y="4979411"/>
            <a:ext cx="3220472" cy="228588"/>
          </a:xfrm>
          <a:prstGeom prst="rect">
            <a:avLst/>
          </a:prstGeom>
          <a:noFill/>
        </p:spPr>
        <p:txBody>
          <a:bodyPr wrap="none" lIns="0" tIns="0" rIns="0" bIns="0" rtlCol="0" anchor="t"/>
          <a:lstStyle/>
          <a:p>
            <a:pPr marL="0" indent="0">
              <a:buNone/>
            </a:pPr>
            <a:r>
              <a:rPr lang="zh-CN" sz="1335" dirty="0">
                <a:solidFill>
                  <a:srgbClr val="1F2A37"/>
                </a:solidFill>
                <a:latin typeface="Arial" panose="020B0604020202020204" pitchFamily="34" charset="0"/>
                <a:ea typeface="微软雅黑" panose="020B0503020204020204" charset="-122"/>
              </a:rPr>
              <a:t>第七组：全体成员</a:t>
            </a:r>
            <a:endParaRPr lang="zh-CN" sz="1335" dirty="0">
              <a:solidFill>
                <a:srgbClr val="1F2A37"/>
              </a:solidFill>
              <a:latin typeface="Arial" panose="020B0604020202020204" pitchFamily="34" charset="0"/>
              <a:ea typeface="微软雅黑" panose="020B0503020204020204" charset="-122"/>
            </a:endParaRPr>
          </a:p>
        </p:txBody>
      </p:sp>
      <p:sp>
        <p:nvSpPr>
          <p:cNvPr id="19" name="Text 15"/>
          <p:cNvSpPr/>
          <p:nvPr/>
        </p:nvSpPr>
        <p:spPr>
          <a:xfrm>
            <a:off x="4363413" y="4722249"/>
            <a:ext cx="4970601" cy="180965"/>
          </a:xfrm>
          <a:prstGeom prst="rect">
            <a:avLst/>
          </a:prstGeom>
          <a:noFill/>
        </p:spPr>
        <p:txBody>
          <a:bodyPr wrap="none" lIns="0" tIns="0" rIns="0" bIns="0" rtlCol="0" anchor="t"/>
          <a:lstStyle/>
          <a:p>
            <a:pPr marL="0" indent="0">
              <a:buNone/>
            </a:pPr>
            <a:r>
              <a:rPr lang="zh-CN" sz="935" b="1" kern="0" spc="78" dirty="0">
                <a:solidFill>
                  <a:srgbClr val="5B9DFF"/>
                </a:solidFill>
                <a:latin typeface="Arial" panose="020B0604020202020204" pitchFamily="34" charset="0"/>
                <a:ea typeface="微软雅黑" panose="020B0503020204020204" charset="-122"/>
              </a:rPr>
              <a:t>适用场景 </a:t>
            </a:r>
            <a:r>
              <a:rPr lang="en-US" sz="935" b="1" kern="0" spc="78" dirty="0">
                <a:solidFill>
                  <a:srgbClr val="5B9DFF"/>
                </a:solidFill>
                <a:latin typeface="Arial" panose="020B0604020202020204" pitchFamily="34" charset="0"/>
              </a:rPr>
              <a:t>/ SCENARIOS</a:t>
            </a:r>
            <a:endParaRPr lang="en-US" sz="935" dirty="0"/>
          </a:p>
        </p:txBody>
      </p:sp>
      <p:sp>
        <p:nvSpPr>
          <p:cNvPr id="20" name="Text 16"/>
          <p:cNvSpPr/>
          <p:nvPr/>
        </p:nvSpPr>
        <p:spPr>
          <a:xfrm>
            <a:off x="4363413" y="4979411"/>
            <a:ext cx="4970601" cy="228588"/>
          </a:xfrm>
          <a:prstGeom prst="rect">
            <a:avLst/>
          </a:prstGeom>
          <a:noFill/>
        </p:spPr>
        <p:txBody>
          <a:bodyPr wrap="none" lIns="0" tIns="0" rIns="0" bIns="0" rtlCol="0" anchor="t"/>
          <a:lstStyle/>
          <a:p>
            <a:pPr marL="0" indent="0">
              <a:buNone/>
            </a:pPr>
            <a:r>
              <a:rPr lang="zh-CN" sz="1335" dirty="0">
                <a:solidFill>
                  <a:srgbClr val="1F2A37"/>
                </a:solidFill>
                <a:latin typeface="Arial" panose="020B0604020202020204" pitchFamily="34" charset="0"/>
                <a:ea typeface="微软雅黑" panose="020B0503020204020204" charset="-122"/>
              </a:rPr>
              <a:t>医疗信息化系统建设</a:t>
            </a:r>
            <a:endParaRPr lang="zh-CN" sz="1335" dirty="0">
              <a:solidFill>
                <a:srgbClr val="1F2A37"/>
              </a:solidFill>
              <a:latin typeface="Arial" panose="020B0604020202020204" pitchFamily="34" charset="0"/>
              <a:ea typeface="微软雅黑" panose="020B0503020204020204" charset="-122"/>
            </a:endParaRPr>
          </a:p>
        </p:txBody>
      </p:sp>
      <p:sp>
        <p:nvSpPr>
          <p:cNvPr id="21" name="Brand">
            <a:hlinkClick r:id="rId2"/>
          </p:cNvPr>
          <p:cNvSpPr/>
          <p:nvPr/>
        </p:nvSpPr>
        <p:spPr>
          <a:xfrm>
            <a:off x="7864637" y="4731520"/>
            <a:ext cx="2879850" cy="460641"/>
          </a:xfrm>
          <a:prstGeom prst="roundRect">
            <a:avLst>
              <a:gd name="adj" fmla="val 50000"/>
            </a:avLst>
          </a:prstGeom>
          <a:solidFill>
            <a:srgbClr val="FFFFFF">
              <a:alpha val="14902"/>
            </a:srgbClr>
          </a:solidFill>
          <a:ln w="12700">
            <a:solidFill>
              <a:srgbClr val="FFFFFF">
                <a:alpha val="50196"/>
              </a:srgbClr>
            </a:solidFill>
          </a:ln>
          <a:effectLst>
            <a:outerShdw blurRad="127000" sx="102000" sy="102000" algn="ctr" rotWithShape="0">
              <a:prstClr val="black">
                <a:alpha val="20000"/>
              </a:prstClr>
            </a:outerShdw>
          </a:effectLst>
        </p:spPr>
        <p:txBody>
          <a:bodyPr wrap="square" lIns="239987" rIns="239987" rtlCol="0" anchor="ctr">
            <a:spAutoFit/>
          </a:bodyPr>
          <a:lstStyle/>
          <a:p>
            <a:pPr algn="ctr"/>
            <a:r>
              <a:rPr kumimoji="1" lang="en-US" altLang="zh-CN" sz="1465" dirty="0">
                <a:solidFill>
                  <a:srgbClr val="CCCCCC"/>
                </a:solidFill>
              </a:rPr>
              <a:t>© Designed </a:t>
            </a:r>
            <a:r>
              <a:rPr kumimoji="1" lang="zh-CN" altLang="en-US" sz="1465" dirty="0">
                <a:solidFill>
                  <a:srgbClr val="CCCCCC"/>
                </a:solidFill>
              </a:rPr>
              <a:t>何朋伟</a:t>
            </a:r>
            <a:endParaRPr kumimoji="1" lang="zh-CN" altLang="en-US" sz="1465" dirty="0">
              <a:solidFill>
                <a:srgbClr val="CCCCCC"/>
              </a:solidFill>
            </a:endParaRPr>
          </a:p>
        </p:txBody>
      </p:sp>
    </p:spTree>
  </p:cSld>
  <p:clrMapOvr>
    <a:masterClrMapping/>
  </p:clrMapOvr>
  <p:transition spd="med">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54864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目录</a:t>
            </a:r>
            <a:endParaRPr sz="2300" b="1" i="0">
              <a:solidFill>
                <a:srgbClr val="1E293B"/>
              </a:solidFill>
              <a:latin typeface="微软雅黑" panose="020B0503020204020204" charset="-122"/>
              <a:ea typeface="微软雅黑" panose="020B0503020204020204" charset="-122"/>
            </a:endParaRPr>
          </a:p>
        </p:txBody>
      </p:sp>
      <p:sp>
        <p:nvSpPr>
          <p:cNvPr id="5" name="TextBox 4"/>
          <p:cNvSpPr txBox="1"/>
          <p:nvPr/>
        </p:nvSpPr>
        <p:spPr>
          <a:xfrm>
            <a:off x="713232" y="960120"/>
            <a:ext cx="5486400" cy="365760"/>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94A3B8"/>
                </a:solidFill>
                <a:latin typeface="微软雅黑" panose="020B0503020204020204" charset="-122"/>
                <a:ea typeface="微软雅黑" panose="020B0503020204020204" charset="-122"/>
              </a:rPr>
              <a:t>CONTENTS</a:t>
            </a:r>
            <a:endParaRPr sz="1200" b="1" i="0">
              <a:solidFill>
                <a:srgbClr val="94A3B8"/>
              </a:solidFill>
              <a:latin typeface="微软雅黑" panose="020B0503020204020204" charset="-122"/>
              <a:ea typeface="微软雅黑" panose="020B0503020204020204" charset="-122"/>
            </a:endParaRPr>
          </a:p>
        </p:txBody>
      </p:sp>
      <p:sp>
        <p:nvSpPr>
          <p:cNvPr id="6" name="Oval 5"/>
          <p:cNvSpPr/>
          <p:nvPr/>
        </p:nvSpPr>
        <p:spPr>
          <a:xfrm>
            <a:off x="8503920" y="1463040"/>
            <a:ext cx="3291840" cy="3291840"/>
          </a:xfrm>
          <a:prstGeom prst="ellipse">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784080" y="2651760"/>
            <a:ext cx="1463040" cy="1463040"/>
          </a:xfrm>
          <a:prstGeom prst="ellipse">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600200"/>
            <a:ext cx="7223760" cy="786384"/>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09928"/>
            <a:ext cx="822960" cy="548640"/>
          </a:xfrm>
          <a:prstGeom prst="rect">
            <a:avLst/>
          </a:prstGeom>
          <a:noFill/>
        </p:spPr>
        <p:txBody>
          <a:bodyPr wrap="square" lIns="0" tIns="0" rIns="0" bIns="0" anchor="t">
            <a:spAutoFit/>
          </a:bodyPr>
          <a:lstStyle/>
          <a:p>
            <a:pPr algn="l">
              <a:lnSpc>
                <a:spcPct val="100000"/>
              </a:lnSpc>
              <a:spcBef>
                <a:spcPts val="0"/>
              </a:spcBef>
              <a:spcAft>
                <a:spcPts val="0"/>
              </a:spcAft>
            </a:pPr>
            <a:r>
              <a:rPr sz="2400" b="1" i="0">
                <a:solidFill>
                  <a:srgbClr val="0F766E"/>
                </a:solidFill>
                <a:latin typeface="微软雅黑" panose="020B0503020204020204" charset="-122"/>
                <a:ea typeface="微软雅黑" panose="020B0503020204020204" charset="-122"/>
              </a:rPr>
              <a:t>01</a:t>
            </a:r>
            <a:endParaRPr sz="2400" b="1" i="0">
              <a:solidFill>
                <a:srgbClr val="0F766E"/>
              </a:solidFill>
              <a:latin typeface="微软雅黑" panose="020B0503020204020204" charset="-122"/>
              <a:ea typeface="微软雅黑" panose="020B0503020204020204" charset="-122"/>
            </a:endParaRPr>
          </a:p>
        </p:txBody>
      </p:sp>
      <p:sp>
        <p:nvSpPr>
          <p:cNvPr id="10" name="TextBox 9"/>
          <p:cNvSpPr txBox="1"/>
          <p:nvPr/>
        </p:nvSpPr>
        <p:spPr>
          <a:xfrm>
            <a:off x="1920240" y="1673352"/>
            <a:ext cx="585216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1E293B"/>
                </a:solidFill>
                <a:latin typeface="微软雅黑" panose="020B0503020204020204" charset="-122"/>
                <a:ea typeface="微软雅黑" panose="020B0503020204020204" charset="-122"/>
              </a:rPr>
              <a:t>项目背景与需求分析</a:t>
            </a:r>
            <a:endParaRPr sz="1700" b="1" i="0">
              <a:solidFill>
                <a:srgbClr val="1E293B"/>
              </a:solidFill>
              <a:latin typeface="微软雅黑" panose="020B0503020204020204" charset="-122"/>
              <a:ea typeface="微软雅黑" panose="020B0503020204020204" charset="-122"/>
            </a:endParaRPr>
          </a:p>
        </p:txBody>
      </p:sp>
      <p:sp>
        <p:nvSpPr>
          <p:cNvPr id="11" name="TextBox 10"/>
          <p:cNvSpPr txBox="1"/>
          <p:nvPr/>
        </p:nvSpPr>
        <p:spPr>
          <a:xfrm>
            <a:off x="1920240" y="2029967"/>
            <a:ext cx="5852160" cy="320040"/>
          </a:xfrm>
          <a:prstGeom prst="rect">
            <a:avLst/>
          </a:prstGeom>
          <a:noFill/>
        </p:spPr>
        <p:txBody>
          <a:bodyPr wrap="square" lIns="0" tIns="0" rIns="0" bIns="0" anchor="t">
            <a:spAutoFit/>
          </a:bodyPr>
          <a:lstStyle/>
          <a:p>
            <a:pPr algn="l">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背景意义 · 系统简介 · 角色权限 · 功能/非功能需求</a:t>
            </a:r>
            <a:endParaRPr sz="1050" b="0" i="0">
              <a:solidFill>
                <a:srgbClr val="64748B"/>
              </a:solidFill>
              <a:latin typeface="微软雅黑" panose="020B0503020204020204" charset="-122"/>
              <a:ea typeface="微软雅黑" panose="020B0503020204020204" charset="-122"/>
            </a:endParaRPr>
          </a:p>
        </p:txBody>
      </p:sp>
      <p:sp>
        <p:nvSpPr>
          <p:cNvPr id="12" name="Rounded Rectangle 11"/>
          <p:cNvSpPr/>
          <p:nvPr/>
        </p:nvSpPr>
        <p:spPr>
          <a:xfrm>
            <a:off x="731520" y="2514600"/>
            <a:ext cx="7223760" cy="786384"/>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624328"/>
            <a:ext cx="822960" cy="548640"/>
          </a:xfrm>
          <a:prstGeom prst="rect">
            <a:avLst/>
          </a:prstGeom>
          <a:noFill/>
        </p:spPr>
        <p:txBody>
          <a:bodyPr wrap="square" lIns="0" tIns="0" rIns="0" bIns="0" anchor="t">
            <a:spAutoFit/>
          </a:bodyPr>
          <a:lstStyle/>
          <a:p>
            <a:pPr algn="l">
              <a:lnSpc>
                <a:spcPct val="100000"/>
              </a:lnSpc>
              <a:spcBef>
                <a:spcPts val="0"/>
              </a:spcBef>
              <a:spcAft>
                <a:spcPts val="0"/>
              </a:spcAft>
            </a:pPr>
            <a:r>
              <a:rPr sz="2400" b="1" i="0">
                <a:solidFill>
                  <a:srgbClr val="0F766E"/>
                </a:solidFill>
                <a:latin typeface="微软雅黑" panose="020B0503020204020204" charset="-122"/>
                <a:ea typeface="微软雅黑" panose="020B0503020204020204" charset="-122"/>
              </a:rPr>
              <a:t>02</a:t>
            </a:r>
            <a:endParaRPr sz="2400" b="1" i="0">
              <a:solidFill>
                <a:srgbClr val="0F766E"/>
              </a:solidFill>
              <a:latin typeface="微软雅黑" panose="020B0503020204020204" charset="-122"/>
              <a:ea typeface="微软雅黑" panose="020B0503020204020204" charset="-122"/>
            </a:endParaRPr>
          </a:p>
        </p:txBody>
      </p:sp>
      <p:sp>
        <p:nvSpPr>
          <p:cNvPr id="14" name="TextBox 13"/>
          <p:cNvSpPr txBox="1"/>
          <p:nvPr/>
        </p:nvSpPr>
        <p:spPr>
          <a:xfrm>
            <a:off x="1920240" y="2587752"/>
            <a:ext cx="585216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1E293B"/>
                </a:solidFill>
                <a:latin typeface="微软雅黑" panose="020B0503020204020204" charset="-122"/>
                <a:ea typeface="微软雅黑" panose="020B0503020204020204" charset="-122"/>
              </a:rPr>
              <a:t>系统总体设计</a:t>
            </a:r>
            <a:endParaRPr sz="1700" b="1" i="0">
              <a:solidFill>
                <a:srgbClr val="1E293B"/>
              </a:solidFill>
              <a:latin typeface="微软雅黑" panose="020B0503020204020204" charset="-122"/>
              <a:ea typeface="微软雅黑" panose="020B0503020204020204" charset="-122"/>
            </a:endParaRPr>
          </a:p>
        </p:txBody>
      </p:sp>
      <p:sp>
        <p:nvSpPr>
          <p:cNvPr id="15" name="TextBox 14"/>
          <p:cNvSpPr txBox="1"/>
          <p:nvPr/>
        </p:nvSpPr>
        <p:spPr>
          <a:xfrm>
            <a:off x="1920240" y="2944368"/>
            <a:ext cx="5852160" cy="320040"/>
          </a:xfrm>
          <a:prstGeom prst="rect">
            <a:avLst/>
          </a:prstGeom>
          <a:noFill/>
        </p:spPr>
        <p:txBody>
          <a:bodyPr wrap="square" lIns="0" tIns="0" rIns="0" bIns="0" anchor="t">
            <a:spAutoFit/>
          </a:bodyPr>
          <a:lstStyle/>
          <a:p>
            <a:pPr algn="l">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总体架构 · 技术栈 · 数据库 · 权限安全 · RAG 设计</a:t>
            </a:r>
            <a:endParaRPr sz="1050" b="0" i="0">
              <a:solidFill>
                <a:srgbClr val="64748B"/>
              </a:solidFill>
              <a:latin typeface="微软雅黑" panose="020B0503020204020204" charset="-122"/>
              <a:ea typeface="微软雅黑" panose="020B0503020204020204" charset="-122"/>
            </a:endParaRPr>
          </a:p>
        </p:txBody>
      </p:sp>
      <p:sp>
        <p:nvSpPr>
          <p:cNvPr id="16" name="Rounded Rectangle 15"/>
          <p:cNvSpPr/>
          <p:nvPr/>
        </p:nvSpPr>
        <p:spPr>
          <a:xfrm>
            <a:off x="731520" y="3429000"/>
            <a:ext cx="7223760" cy="786384"/>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538728"/>
            <a:ext cx="822960" cy="548640"/>
          </a:xfrm>
          <a:prstGeom prst="rect">
            <a:avLst/>
          </a:prstGeom>
          <a:noFill/>
        </p:spPr>
        <p:txBody>
          <a:bodyPr wrap="square" lIns="0" tIns="0" rIns="0" bIns="0" anchor="t">
            <a:spAutoFit/>
          </a:bodyPr>
          <a:lstStyle/>
          <a:p>
            <a:pPr algn="l">
              <a:lnSpc>
                <a:spcPct val="100000"/>
              </a:lnSpc>
              <a:spcBef>
                <a:spcPts val="0"/>
              </a:spcBef>
              <a:spcAft>
                <a:spcPts val="0"/>
              </a:spcAft>
            </a:pPr>
            <a:r>
              <a:rPr sz="2400" b="1" i="0">
                <a:solidFill>
                  <a:srgbClr val="0F766E"/>
                </a:solidFill>
                <a:latin typeface="微软雅黑" panose="020B0503020204020204" charset="-122"/>
                <a:ea typeface="微软雅黑" panose="020B0503020204020204" charset="-122"/>
              </a:rPr>
              <a:t>03</a:t>
            </a:r>
            <a:endParaRPr sz="2400" b="1" i="0">
              <a:solidFill>
                <a:srgbClr val="0F766E"/>
              </a:solidFill>
              <a:latin typeface="微软雅黑" panose="020B0503020204020204" charset="-122"/>
              <a:ea typeface="微软雅黑" panose="020B0503020204020204" charset="-122"/>
            </a:endParaRPr>
          </a:p>
        </p:txBody>
      </p:sp>
      <p:sp>
        <p:nvSpPr>
          <p:cNvPr id="18" name="TextBox 17"/>
          <p:cNvSpPr txBox="1"/>
          <p:nvPr/>
        </p:nvSpPr>
        <p:spPr>
          <a:xfrm>
            <a:off x="1920240" y="3502152"/>
            <a:ext cx="585216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1E293B"/>
                </a:solidFill>
                <a:latin typeface="微软雅黑" panose="020B0503020204020204" charset="-122"/>
                <a:ea typeface="微软雅黑" panose="020B0503020204020204" charset="-122"/>
              </a:rPr>
              <a:t>系统详细实现</a:t>
            </a:r>
            <a:endParaRPr sz="1700" b="1" i="0">
              <a:solidFill>
                <a:srgbClr val="1E293B"/>
              </a:solidFill>
              <a:latin typeface="微软雅黑" panose="020B0503020204020204" charset="-122"/>
              <a:ea typeface="微软雅黑" panose="020B0503020204020204" charset="-122"/>
            </a:endParaRPr>
          </a:p>
        </p:txBody>
      </p:sp>
      <p:sp>
        <p:nvSpPr>
          <p:cNvPr id="19" name="TextBox 18"/>
          <p:cNvSpPr txBox="1"/>
          <p:nvPr/>
        </p:nvSpPr>
        <p:spPr>
          <a:xfrm>
            <a:off x="1920240" y="3858768"/>
            <a:ext cx="5852160" cy="320040"/>
          </a:xfrm>
          <a:prstGeom prst="rect">
            <a:avLst/>
          </a:prstGeom>
          <a:noFill/>
        </p:spPr>
        <p:txBody>
          <a:bodyPr wrap="square" lIns="0" tIns="0" rIns="0" bIns="0" anchor="t">
            <a:spAutoFit/>
          </a:bodyPr>
          <a:lstStyle/>
          <a:p>
            <a:pPr algn="l">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后端架构 · 前端架构 · 四大核心功能</a:t>
            </a:r>
            <a:endParaRPr sz="1050" b="0" i="0">
              <a:solidFill>
                <a:srgbClr val="64748B"/>
              </a:solidFill>
              <a:latin typeface="微软雅黑" panose="020B0503020204020204" charset="-122"/>
              <a:ea typeface="微软雅黑" panose="020B0503020204020204" charset="-122"/>
            </a:endParaRPr>
          </a:p>
        </p:txBody>
      </p:sp>
      <p:sp>
        <p:nvSpPr>
          <p:cNvPr id="20" name="Rounded Rectangle 19"/>
          <p:cNvSpPr/>
          <p:nvPr/>
        </p:nvSpPr>
        <p:spPr>
          <a:xfrm>
            <a:off x="731520" y="4343400"/>
            <a:ext cx="7223760" cy="786384"/>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53128"/>
            <a:ext cx="822960" cy="548640"/>
          </a:xfrm>
          <a:prstGeom prst="rect">
            <a:avLst/>
          </a:prstGeom>
          <a:noFill/>
        </p:spPr>
        <p:txBody>
          <a:bodyPr wrap="square" lIns="0" tIns="0" rIns="0" bIns="0" anchor="t">
            <a:spAutoFit/>
          </a:bodyPr>
          <a:lstStyle/>
          <a:p>
            <a:pPr algn="l">
              <a:lnSpc>
                <a:spcPct val="100000"/>
              </a:lnSpc>
              <a:spcBef>
                <a:spcPts val="0"/>
              </a:spcBef>
              <a:spcAft>
                <a:spcPts val="0"/>
              </a:spcAft>
            </a:pPr>
            <a:r>
              <a:rPr sz="2400" b="1" i="0">
                <a:solidFill>
                  <a:srgbClr val="0F766E"/>
                </a:solidFill>
                <a:latin typeface="微软雅黑" panose="020B0503020204020204" charset="-122"/>
                <a:ea typeface="微软雅黑" panose="020B0503020204020204" charset="-122"/>
              </a:rPr>
              <a:t>04</a:t>
            </a:r>
            <a:endParaRPr sz="2400" b="1" i="0">
              <a:solidFill>
                <a:srgbClr val="0F766E"/>
              </a:solidFill>
              <a:latin typeface="微软雅黑" panose="020B0503020204020204" charset="-122"/>
              <a:ea typeface="微软雅黑" panose="020B0503020204020204" charset="-122"/>
            </a:endParaRPr>
          </a:p>
        </p:txBody>
      </p:sp>
      <p:sp>
        <p:nvSpPr>
          <p:cNvPr id="22" name="TextBox 21"/>
          <p:cNvSpPr txBox="1"/>
          <p:nvPr/>
        </p:nvSpPr>
        <p:spPr>
          <a:xfrm>
            <a:off x="1920240" y="4416552"/>
            <a:ext cx="585216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1E293B"/>
                </a:solidFill>
                <a:latin typeface="微软雅黑" panose="020B0503020204020204" charset="-122"/>
                <a:ea typeface="微软雅黑" panose="020B0503020204020204" charset="-122"/>
              </a:rPr>
              <a:t>系统运行与测试</a:t>
            </a:r>
            <a:endParaRPr sz="1700" b="1" i="0">
              <a:solidFill>
                <a:srgbClr val="1E293B"/>
              </a:solidFill>
              <a:latin typeface="微软雅黑" panose="020B0503020204020204" charset="-122"/>
              <a:ea typeface="微软雅黑" panose="020B0503020204020204" charset="-122"/>
            </a:endParaRPr>
          </a:p>
        </p:txBody>
      </p:sp>
      <p:sp>
        <p:nvSpPr>
          <p:cNvPr id="23" name="TextBox 22"/>
          <p:cNvSpPr txBox="1"/>
          <p:nvPr/>
        </p:nvSpPr>
        <p:spPr>
          <a:xfrm>
            <a:off x="1920240" y="4773168"/>
            <a:ext cx="5852160" cy="320040"/>
          </a:xfrm>
          <a:prstGeom prst="rect">
            <a:avLst/>
          </a:prstGeom>
          <a:noFill/>
        </p:spPr>
        <p:txBody>
          <a:bodyPr wrap="square" lIns="0" tIns="0" rIns="0" bIns="0" anchor="t">
            <a:spAutoFit/>
          </a:bodyPr>
          <a:lstStyle/>
          <a:p>
            <a:pPr algn="l">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运行效果 · 测试用例</a:t>
            </a:r>
            <a:endParaRPr sz="1050" b="0" i="0">
              <a:solidFill>
                <a:srgbClr val="64748B"/>
              </a:solidFill>
              <a:latin typeface="微软雅黑" panose="020B0503020204020204" charset="-122"/>
              <a:ea typeface="微软雅黑" panose="020B0503020204020204" charset="-122"/>
            </a:endParaRPr>
          </a:p>
        </p:txBody>
      </p:sp>
      <p:sp>
        <p:nvSpPr>
          <p:cNvPr id="24" name="Rounded Rectangle 23"/>
          <p:cNvSpPr/>
          <p:nvPr/>
        </p:nvSpPr>
        <p:spPr>
          <a:xfrm>
            <a:off x="731520" y="5257800"/>
            <a:ext cx="7223760" cy="786384"/>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367528"/>
            <a:ext cx="822960" cy="548640"/>
          </a:xfrm>
          <a:prstGeom prst="rect">
            <a:avLst/>
          </a:prstGeom>
          <a:noFill/>
        </p:spPr>
        <p:txBody>
          <a:bodyPr wrap="square" lIns="0" tIns="0" rIns="0" bIns="0" anchor="t">
            <a:spAutoFit/>
          </a:bodyPr>
          <a:lstStyle/>
          <a:p>
            <a:pPr algn="l">
              <a:lnSpc>
                <a:spcPct val="100000"/>
              </a:lnSpc>
              <a:spcBef>
                <a:spcPts val="0"/>
              </a:spcBef>
              <a:spcAft>
                <a:spcPts val="0"/>
              </a:spcAft>
            </a:pPr>
            <a:r>
              <a:rPr sz="2400" b="1" i="0">
                <a:solidFill>
                  <a:srgbClr val="0F766E"/>
                </a:solidFill>
                <a:latin typeface="微软雅黑" panose="020B0503020204020204" charset="-122"/>
                <a:ea typeface="微软雅黑" panose="020B0503020204020204" charset="-122"/>
              </a:rPr>
              <a:t>05</a:t>
            </a:r>
            <a:endParaRPr sz="2400" b="1" i="0">
              <a:solidFill>
                <a:srgbClr val="0F766E"/>
              </a:solidFill>
              <a:latin typeface="微软雅黑" panose="020B0503020204020204" charset="-122"/>
              <a:ea typeface="微软雅黑" panose="020B0503020204020204" charset="-122"/>
            </a:endParaRPr>
          </a:p>
        </p:txBody>
      </p:sp>
      <p:sp>
        <p:nvSpPr>
          <p:cNvPr id="26" name="TextBox 25"/>
          <p:cNvSpPr txBox="1"/>
          <p:nvPr/>
        </p:nvSpPr>
        <p:spPr>
          <a:xfrm>
            <a:off x="1920240" y="5330952"/>
            <a:ext cx="585216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1E293B"/>
                </a:solidFill>
                <a:latin typeface="微软雅黑" panose="020B0503020204020204" charset="-122"/>
                <a:ea typeface="微软雅黑" panose="020B0503020204020204" charset="-122"/>
              </a:rPr>
              <a:t>项目总结</a:t>
            </a:r>
            <a:endParaRPr sz="1700" b="1" i="0">
              <a:solidFill>
                <a:srgbClr val="1E293B"/>
              </a:solidFill>
              <a:latin typeface="微软雅黑" panose="020B0503020204020204" charset="-122"/>
              <a:ea typeface="微软雅黑" panose="020B0503020204020204" charset="-122"/>
            </a:endParaRPr>
          </a:p>
        </p:txBody>
      </p:sp>
      <p:sp>
        <p:nvSpPr>
          <p:cNvPr id="27" name="TextBox 26"/>
          <p:cNvSpPr txBox="1"/>
          <p:nvPr/>
        </p:nvSpPr>
        <p:spPr>
          <a:xfrm>
            <a:off x="1920240" y="5687568"/>
            <a:ext cx="5852160" cy="320040"/>
          </a:xfrm>
          <a:prstGeom prst="rect">
            <a:avLst/>
          </a:prstGeom>
          <a:noFill/>
        </p:spPr>
        <p:txBody>
          <a:bodyPr wrap="square" lIns="0" tIns="0" rIns="0" bIns="0" anchor="t">
            <a:spAutoFit/>
          </a:bodyPr>
          <a:lstStyle/>
          <a:p>
            <a:pPr algn="l">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亮点与难点 · 总结展望</a:t>
            </a:r>
            <a:endParaRPr sz="1050" b="0" i="0">
              <a:solidFill>
                <a:srgbClr val="64748B"/>
              </a:solidFill>
              <a:latin typeface="微软雅黑" panose="020B0503020204020204" charset="-122"/>
              <a:ea typeface="微软雅黑" panose="020B0503020204020204" charset="-122"/>
            </a:endParaRPr>
          </a:p>
        </p:txBody>
      </p:sp>
      <p:sp>
        <p:nvSpPr>
          <p:cNvPr id="28" name="TextBox 27"/>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29" name="TextBox 28"/>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02</a:t>
            </a:r>
            <a:endParaRPr sz="1000" b="1" i="0">
              <a:solidFill>
                <a:srgbClr val="64748B"/>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34440"/>
            <a:ext cx="4114800" cy="2194560"/>
          </a:xfrm>
          <a:prstGeom prst="rect">
            <a:avLst/>
          </a:prstGeom>
          <a:noFill/>
        </p:spPr>
        <p:txBody>
          <a:bodyPr wrap="square" lIns="0" tIns="0" rIns="0" bIns="0" anchor="t">
            <a:spAutoFit/>
          </a:bodyPr>
          <a:lstStyle/>
          <a:p>
            <a:pPr algn="l">
              <a:lnSpc>
                <a:spcPct val="100000"/>
              </a:lnSpc>
              <a:spcBef>
                <a:spcPts val="0"/>
              </a:spcBef>
              <a:spcAft>
                <a:spcPts val="0"/>
              </a:spcAft>
            </a:pPr>
            <a:r>
              <a:rPr sz="15000" b="1" i="0">
                <a:solidFill>
                  <a:srgbClr val="E0F2FE"/>
                </a:solidFill>
                <a:latin typeface="微软雅黑" panose="020B0503020204020204" charset="-122"/>
                <a:ea typeface="微软雅黑" panose="020B0503020204020204" charset="-122"/>
              </a:rPr>
              <a:t>01</a:t>
            </a:r>
            <a:endParaRPr sz="15000" b="1" i="0">
              <a:solidFill>
                <a:srgbClr val="E0F2FE"/>
              </a:solidFill>
              <a:latin typeface="微软雅黑" panose="020B0503020204020204" charset="-122"/>
              <a:ea typeface="微软雅黑" panose="020B0503020204020204" charset="-122"/>
            </a:endParaRPr>
          </a:p>
        </p:txBody>
      </p:sp>
      <p:sp>
        <p:nvSpPr>
          <p:cNvPr id="5" name="TextBox 4"/>
          <p:cNvSpPr txBox="1"/>
          <p:nvPr/>
        </p:nvSpPr>
        <p:spPr>
          <a:xfrm>
            <a:off x="1143000" y="3200400"/>
            <a:ext cx="4434840" cy="914400"/>
          </a:xfrm>
          <a:prstGeom prst="rect">
            <a:avLst/>
          </a:prstGeom>
          <a:noFill/>
        </p:spPr>
        <p:txBody>
          <a:bodyPr wrap="square" lIns="0" tIns="0" rIns="0" bIns="0" anchor="t">
            <a:spAutoFit/>
          </a:bodyPr>
          <a:lstStyle/>
          <a:p>
            <a:pPr algn="l">
              <a:lnSpc>
                <a:spcPct val="100000"/>
              </a:lnSpc>
              <a:spcBef>
                <a:spcPts val="0"/>
              </a:spcBef>
              <a:spcAft>
                <a:spcPts val="0"/>
              </a:spcAft>
            </a:pPr>
            <a:r>
              <a:rPr sz="3400" b="1" i="0">
                <a:solidFill>
                  <a:srgbClr val="134E4A"/>
                </a:solidFill>
                <a:latin typeface="微软雅黑" panose="020B0503020204020204" charset="-122"/>
                <a:ea typeface="微软雅黑" panose="020B0503020204020204" charset="-122"/>
              </a:rPr>
              <a:t>项目背景与需求分析</a:t>
            </a:r>
            <a:endParaRPr sz="3400" b="1" i="0">
              <a:solidFill>
                <a:srgbClr val="134E4A"/>
              </a:solidFill>
              <a:latin typeface="微软雅黑" panose="020B0503020204020204" charset="-122"/>
              <a:ea typeface="微软雅黑" panose="020B0503020204020204" charset="-122"/>
            </a:endParaRPr>
          </a:p>
        </p:txBody>
      </p:sp>
      <p:sp>
        <p:nvSpPr>
          <p:cNvPr id="6" name="TextBox 5"/>
          <p:cNvSpPr txBox="1"/>
          <p:nvPr/>
        </p:nvSpPr>
        <p:spPr>
          <a:xfrm>
            <a:off x="1170432" y="4224528"/>
            <a:ext cx="4434840" cy="45720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94A3B8"/>
                </a:solidFill>
                <a:latin typeface="微软雅黑" panose="020B0503020204020204" charset="-122"/>
                <a:ea typeface="微软雅黑" panose="020B0503020204020204" charset="-122"/>
              </a:rPr>
              <a:t>BACKGROUND &amp; REQUIREMENTS</a:t>
            </a:r>
            <a:endParaRPr sz="1500" b="1" i="0">
              <a:solidFill>
                <a:srgbClr val="94A3B8"/>
              </a:solidFill>
              <a:latin typeface="微软雅黑" panose="020B0503020204020204" charset="-122"/>
              <a:ea typeface="微软雅黑" panose="020B0503020204020204" charset="-122"/>
            </a:endParaRPr>
          </a:p>
        </p:txBody>
      </p:sp>
      <p:sp>
        <p:nvSpPr>
          <p:cNvPr id="7" name="Rounded Rectangle 6"/>
          <p:cNvSpPr/>
          <p:nvPr/>
        </p:nvSpPr>
        <p:spPr>
          <a:xfrm>
            <a:off x="5669280" y="1371600"/>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89320" y="1499616"/>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01</a:t>
            </a:r>
            <a:endParaRPr sz="1700" b="1" i="0">
              <a:solidFill>
                <a:srgbClr val="0F766E"/>
              </a:solidFill>
              <a:latin typeface="微软雅黑" panose="020B0503020204020204" charset="-122"/>
              <a:ea typeface="微软雅黑" panose="020B0503020204020204" charset="-122"/>
            </a:endParaRPr>
          </a:p>
        </p:txBody>
      </p:sp>
      <p:sp>
        <p:nvSpPr>
          <p:cNvPr id="9" name="TextBox 8"/>
          <p:cNvSpPr txBox="1"/>
          <p:nvPr/>
        </p:nvSpPr>
        <p:spPr>
          <a:xfrm>
            <a:off x="6492240" y="1508760"/>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项目背景与意义</a:t>
            </a:r>
            <a:endParaRPr sz="1450" b="0" i="0">
              <a:solidFill>
                <a:srgbClr val="1E293B"/>
              </a:solidFill>
              <a:latin typeface="微软雅黑" panose="020B0503020204020204" charset="-122"/>
              <a:ea typeface="微软雅黑" panose="020B0503020204020204" charset="-122"/>
            </a:endParaRPr>
          </a:p>
        </p:txBody>
      </p:sp>
      <p:sp>
        <p:nvSpPr>
          <p:cNvPr id="10" name="Rounded Rectangle 9"/>
          <p:cNvSpPr/>
          <p:nvPr/>
        </p:nvSpPr>
        <p:spPr>
          <a:xfrm>
            <a:off x="5669280" y="2176272"/>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2304288"/>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02</a:t>
            </a:r>
            <a:endParaRPr sz="1700" b="1" i="0">
              <a:solidFill>
                <a:srgbClr val="0F766E"/>
              </a:solidFill>
              <a:latin typeface="微软雅黑" panose="020B0503020204020204" charset="-122"/>
              <a:ea typeface="微软雅黑" panose="020B0503020204020204" charset="-122"/>
            </a:endParaRPr>
          </a:p>
        </p:txBody>
      </p:sp>
      <p:sp>
        <p:nvSpPr>
          <p:cNvPr id="12" name="TextBox 11"/>
          <p:cNvSpPr txBox="1"/>
          <p:nvPr/>
        </p:nvSpPr>
        <p:spPr>
          <a:xfrm>
            <a:off x="6492240" y="2313432"/>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系统简介</a:t>
            </a:r>
            <a:endParaRPr sz="1450" b="0" i="0">
              <a:solidFill>
                <a:srgbClr val="1E293B"/>
              </a:solidFill>
              <a:latin typeface="微软雅黑" panose="020B0503020204020204" charset="-122"/>
              <a:ea typeface="微软雅黑" panose="020B0503020204020204" charset="-122"/>
            </a:endParaRPr>
          </a:p>
        </p:txBody>
      </p:sp>
      <p:sp>
        <p:nvSpPr>
          <p:cNvPr id="13" name="Rounded Rectangle 12"/>
          <p:cNvSpPr/>
          <p:nvPr/>
        </p:nvSpPr>
        <p:spPr>
          <a:xfrm>
            <a:off x="5669280" y="2980944"/>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3108960"/>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03</a:t>
            </a:r>
            <a:endParaRPr sz="1700" b="1" i="0">
              <a:solidFill>
                <a:srgbClr val="0F766E"/>
              </a:solidFill>
              <a:latin typeface="微软雅黑" panose="020B0503020204020204" charset="-122"/>
              <a:ea typeface="微软雅黑" panose="020B0503020204020204" charset="-122"/>
            </a:endParaRPr>
          </a:p>
        </p:txBody>
      </p:sp>
      <p:sp>
        <p:nvSpPr>
          <p:cNvPr id="15" name="TextBox 14"/>
          <p:cNvSpPr txBox="1"/>
          <p:nvPr/>
        </p:nvSpPr>
        <p:spPr>
          <a:xfrm>
            <a:off x="6492240" y="3118103"/>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用户角色与权限分析</a:t>
            </a:r>
            <a:endParaRPr sz="1450" b="0" i="0">
              <a:solidFill>
                <a:srgbClr val="1E293B"/>
              </a:solidFill>
              <a:latin typeface="微软雅黑" panose="020B0503020204020204" charset="-122"/>
              <a:ea typeface="微软雅黑" panose="020B0503020204020204" charset="-122"/>
            </a:endParaRPr>
          </a:p>
        </p:txBody>
      </p:sp>
      <p:sp>
        <p:nvSpPr>
          <p:cNvPr id="16" name="Rounded Rectangle 15"/>
          <p:cNvSpPr/>
          <p:nvPr/>
        </p:nvSpPr>
        <p:spPr>
          <a:xfrm>
            <a:off x="5669280" y="3785615"/>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3913631"/>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04</a:t>
            </a:r>
            <a:endParaRPr sz="1700" b="1" i="0">
              <a:solidFill>
                <a:srgbClr val="0F766E"/>
              </a:solidFill>
              <a:latin typeface="微软雅黑" panose="020B0503020204020204" charset="-122"/>
              <a:ea typeface="微软雅黑" panose="020B0503020204020204" charset="-122"/>
            </a:endParaRPr>
          </a:p>
        </p:txBody>
      </p:sp>
      <p:sp>
        <p:nvSpPr>
          <p:cNvPr id="18" name="TextBox 17"/>
          <p:cNvSpPr txBox="1"/>
          <p:nvPr/>
        </p:nvSpPr>
        <p:spPr>
          <a:xfrm>
            <a:off x="6492240" y="3922776"/>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功能性需求</a:t>
            </a:r>
            <a:endParaRPr sz="1450" b="0" i="0">
              <a:solidFill>
                <a:srgbClr val="1E293B"/>
              </a:solidFill>
              <a:latin typeface="微软雅黑" panose="020B0503020204020204" charset="-122"/>
              <a:ea typeface="微软雅黑" panose="020B0503020204020204" charset="-122"/>
            </a:endParaRPr>
          </a:p>
        </p:txBody>
      </p:sp>
      <p:sp>
        <p:nvSpPr>
          <p:cNvPr id="19" name="Rounded Rectangle 18"/>
          <p:cNvSpPr/>
          <p:nvPr/>
        </p:nvSpPr>
        <p:spPr>
          <a:xfrm>
            <a:off x="5669280" y="4590288"/>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4718303"/>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05</a:t>
            </a:r>
            <a:endParaRPr sz="1700" b="1" i="0">
              <a:solidFill>
                <a:srgbClr val="0F766E"/>
              </a:solidFill>
              <a:latin typeface="微软雅黑" panose="020B0503020204020204" charset="-122"/>
              <a:ea typeface="微软雅黑" panose="020B0503020204020204" charset="-122"/>
            </a:endParaRPr>
          </a:p>
        </p:txBody>
      </p:sp>
      <p:sp>
        <p:nvSpPr>
          <p:cNvPr id="21" name="TextBox 20"/>
          <p:cNvSpPr txBox="1"/>
          <p:nvPr/>
        </p:nvSpPr>
        <p:spPr>
          <a:xfrm>
            <a:off x="6492240" y="4727448"/>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非功能性需求</a:t>
            </a:r>
            <a:endParaRPr sz="14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项目背景与意义</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9978847" y="384048"/>
            <a:ext cx="1709928"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01 · 背景与需求</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04</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nvSpPr>
        <p:spPr>
          <a:xfrm>
            <a:off x="502920" y="1234440"/>
            <a:ext cx="5440680" cy="4983480"/>
          </a:xfrm>
          <a:prstGeom prst="roundRect">
            <a:avLst>
              <a:gd name="adj" fmla="val 5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481328"/>
            <a:ext cx="4846320" cy="45720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134E4A"/>
                </a:solidFill>
                <a:latin typeface="微软雅黑" panose="020B0503020204020204" charset="-122"/>
                <a:ea typeface="微软雅黑" panose="020B0503020204020204" charset="-122"/>
              </a:rPr>
              <a:t>医疗信息化现状</a:t>
            </a:r>
            <a:endParaRPr sz="1700" b="1" i="0">
              <a:solidFill>
                <a:srgbClr val="134E4A"/>
              </a:solidFill>
              <a:latin typeface="微软雅黑" panose="020B0503020204020204" charset="-122"/>
              <a:ea typeface="微软雅黑" panose="020B0503020204020204" charset="-122"/>
            </a:endParaRPr>
          </a:p>
        </p:txBody>
      </p:sp>
      <p:sp>
        <p:nvSpPr>
          <p:cNvPr id="11" name="TextBox 10"/>
          <p:cNvSpPr txBox="1"/>
          <p:nvPr/>
        </p:nvSpPr>
        <p:spPr>
          <a:xfrm>
            <a:off x="841248" y="2029968"/>
            <a:ext cx="4846320" cy="4023360"/>
          </a:xfrm>
          <a:prstGeom prst="rect">
            <a:avLst/>
          </a:prstGeom>
          <a:noFill/>
        </p:spPr>
        <p:txBody>
          <a:bodyPr wrap="square" lIns="0" tIns="0" rIns="0" bIns="0">
            <a:spAutoFit/>
          </a:bodyPr>
          <a:lstStyle/>
          <a:p>
            <a:pPr>
              <a:lnSpc>
                <a:spcPct val="100000"/>
              </a:lnSpc>
              <a:spcAft>
                <a:spcPts val="13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医疗信息化是医院管理与患者服务的核心支撑</a:t>
            </a:r>
            <a:endParaRPr sz="1400" b="0" i="0">
              <a:solidFill>
                <a:srgbClr val="1E293B"/>
              </a:solidFill>
              <a:latin typeface="微软雅黑" panose="020B0503020204020204" charset="-122"/>
              <a:ea typeface="微软雅黑" panose="020B0503020204020204" charset="-122"/>
            </a:endParaRPr>
          </a:p>
          <a:p>
            <a:pPr>
              <a:lnSpc>
                <a:spcPct val="100000"/>
              </a:lnSpc>
              <a:spcAft>
                <a:spcPts val="13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传统医疗信息咨询痛点：资料分散、检索困难、缺乏个性化</a:t>
            </a:r>
            <a:endParaRPr sz="1400" b="0" i="0">
              <a:solidFill>
                <a:srgbClr val="1E293B"/>
              </a:solidFill>
              <a:latin typeface="微软雅黑" panose="020B0503020204020204" charset="-122"/>
              <a:ea typeface="微软雅黑" panose="020B0503020204020204" charset="-122"/>
            </a:endParaRPr>
          </a:p>
          <a:p>
            <a:pPr>
              <a:lnSpc>
                <a:spcPct val="100000"/>
              </a:lnSpc>
              <a:spcAft>
                <a:spcPts val="13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缺乏面向教学场景的医学知识服务平台</a:t>
            </a:r>
            <a:endParaRPr sz="1400" b="0" i="0">
              <a:solidFill>
                <a:srgbClr val="1E293B"/>
              </a:solidFill>
              <a:latin typeface="微软雅黑" panose="020B0503020204020204" charset="-122"/>
              <a:ea typeface="微软雅黑" panose="020B0503020204020204" charset="-122"/>
            </a:endParaRPr>
          </a:p>
          <a:p>
            <a:pPr>
              <a:lnSpc>
                <a:spcPct val="100000"/>
              </a:lnSpc>
              <a:spcAft>
                <a:spcPts val="13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大模型与 RAG 技术为医学知识服务带来新可能</a:t>
            </a:r>
            <a:endParaRPr sz="1400" b="0" i="0">
              <a:solidFill>
                <a:srgbClr val="1E293B"/>
              </a:solidFill>
              <a:latin typeface="微软雅黑" panose="020B0503020204020204" charset="-122"/>
              <a:ea typeface="微软雅黑" panose="020B0503020204020204" charset="-122"/>
            </a:endParaRPr>
          </a:p>
        </p:txBody>
      </p:sp>
      <p:sp>
        <p:nvSpPr>
          <p:cNvPr id="12" name="Rounded Rectangle 11"/>
          <p:cNvSpPr/>
          <p:nvPr/>
        </p:nvSpPr>
        <p:spPr>
          <a:xfrm>
            <a:off x="6263640" y="1234440"/>
            <a:ext cx="5440680" cy="2331720"/>
          </a:xfrm>
          <a:prstGeom prst="roundRect">
            <a:avLst>
              <a:gd name="adj" fmla="val 6000"/>
            </a:avLst>
          </a:prstGeom>
          <a:solidFill>
            <a:srgbClr val="EA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481328"/>
            <a:ext cx="4846320" cy="45720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2563EB"/>
                </a:solidFill>
                <a:latin typeface="微软雅黑" panose="020B0503020204020204" charset="-122"/>
                <a:ea typeface="微软雅黑" panose="020B0503020204020204" charset="-122"/>
              </a:rPr>
              <a:t>设计思路</a:t>
            </a:r>
            <a:endParaRPr sz="1700" b="1" i="0">
              <a:solidFill>
                <a:srgbClr val="2563EB"/>
              </a:solidFill>
              <a:latin typeface="微软雅黑" panose="020B0503020204020204" charset="-122"/>
              <a:ea typeface="微软雅黑" panose="020B0503020204020204" charset="-122"/>
            </a:endParaRPr>
          </a:p>
        </p:txBody>
      </p:sp>
      <p:sp>
        <p:nvSpPr>
          <p:cNvPr id="14" name="TextBox 13"/>
          <p:cNvSpPr txBox="1"/>
          <p:nvPr/>
        </p:nvSpPr>
        <p:spPr>
          <a:xfrm>
            <a:off x="6601968" y="2029968"/>
            <a:ext cx="4846320" cy="1463040"/>
          </a:xfrm>
          <a:prstGeom prst="rect">
            <a:avLst/>
          </a:prstGeom>
          <a:noFill/>
        </p:spPr>
        <p:txBody>
          <a:bodyPr wrap="square" lIns="0" tIns="0" rIns="0" bIns="0">
            <a:spAutoFit/>
          </a:bodyPr>
          <a:lstStyle/>
          <a:p>
            <a:pPr>
              <a:lnSpc>
                <a:spcPct val="100000"/>
              </a:lnSpc>
              <a:spcAft>
                <a:spcPts val="10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以"医学知识库 + 智能问答"为切入点</a:t>
            </a:r>
            <a:endParaRPr sz="1400" b="0" i="0">
              <a:solidFill>
                <a:srgbClr val="1E293B"/>
              </a:solidFill>
              <a:latin typeface="微软雅黑" panose="020B0503020204020204" charset="-122"/>
              <a:ea typeface="微软雅黑" panose="020B0503020204020204" charset="-122"/>
            </a:endParaRPr>
          </a:p>
          <a:p>
            <a:pPr>
              <a:lnSpc>
                <a:spcPct val="100000"/>
              </a:lnSpc>
              <a:spcAft>
                <a:spcPts val="10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参考医院信息系统（HIS）的真实用户角色划分</a:t>
            </a:r>
            <a:endParaRPr sz="1400" b="0" i="0">
              <a:solidFill>
                <a:srgbClr val="1E293B"/>
              </a:solidFill>
              <a:latin typeface="微软雅黑" panose="020B0503020204020204" charset="-122"/>
              <a:ea typeface="微软雅黑" panose="020B0503020204020204" charset="-122"/>
            </a:endParaRPr>
          </a:p>
        </p:txBody>
      </p:sp>
      <p:sp>
        <p:nvSpPr>
          <p:cNvPr id="15" name="Rounded Rectangle 14"/>
          <p:cNvSpPr/>
          <p:nvPr/>
        </p:nvSpPr>
        <p:spPr>
          <a:xfrm>
            <a:off x="6263640" y="3794760"/>
            <a:ext cx="5440680" cy="2423160"/>
          </a:xfrm>
          <a:prstGeom prst="roundRect">
            <a:avLst>
              <a:gd name="adj" fmla="val 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4023360"/>
            <a:ext cx="4846320" cy="45720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D97706"/>
                </a:solidFill>
                <a:latin typeface="微软雅黑" panose="020B0503020204020204" charset="-122"/>
                <a:ea typeface="微软雅黑" panose="020B0503020204020204" charset="-122"/>
              </a:rPr>
              <a:t>项目意义</a:t>
            </a:r>
            <a:endParaRPr sz="1700" b="1" i="0">
              <a:solidFill>
                <a:srgbClr val="D97706"/>
              </a:solidFill>
              <a:latin typeface="微软雅黑" panose="020B0503020204020204" charset="-122"/>
              <a:ea typeface="微软雅黑" panose="020B0503020204020204" charset="-122"/>
            </a:endParaRPr>
          </a:p>
        </p:txBody>
      </p:sp>
      <p:sp>
        <p:nvSpPr>
          <p:cNvPr id="17" name="TextBox 16"/>
          <p:cNvSpPr txBox="1"/>
          <p:nvPr/>
        </p:nvSpPr>
        <p:spPr>
          <a:xfrm>
            <a:off x="6601968" y="4572000"/>
            <a:ext cx="4846320" cy="1554480"/>
          </a:xfrm>
          <a:prstGeom prst="rect">
            <a:avLst/>
          </a:prstGeom>
          <a:noFill/>
        </p:spPr>
        <p:txBody>
          <a:bodyPr wrap="square" lIns="0" tIns="0" rIns="0" bIns="0">
            <a:spAutoFit/>
          </a:bodyPr>
          <a:lstStyle/>
          <a:p>
            <a:pPr>
              <a:lnSpc>
                <a:spcPct val="100000"/>
              </a:lnSpc>
              <a:spcAft>
                <a:spcPts val="10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为数据库 / 软件工程课程提供完整工程样例</a:t>
            </a:r>
            <a:endParaRPr sz="1400" b="0" i="0">
              <a:solidFill>
                <a:srgbClr val="1E293B"/>
              </a:solidFill>
              <a:latin typeface="微软雅黑" panose="020B0503020204020204" charset="-122"/>
              <a:ea typeface="微软雅黑" panose="020B0503020204020204" charset="-122"/>
            </a:endParaRPr>
          </a:p>
          <a:p>
            <a:pPr>
              <a:lnSpc>
                <a:spcPct val="100000"/>
              </a:lnSpc>
              <a:spcAft>
                <a:spcPts val="10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面向公众的医学知识科普与辅助理解平台</a:t>
            </a:r>
            <a:endParaRPr sz="140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系统简介</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9978847" y="384048"/>
            <a:ext cx="1709928"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01 · 背景与需求</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05</a:t>
            </a:r>
            <a:endParaRPr sz="1000" b="1" i="0">
              <a:solidFill>
                <a:srgbClr val="64748B"/>
              </a:solidFill>
              <a:latin typeface="微软雅黑" panose="020B0503020204020204" charset="-122"/>
              <a:ea typeface="微软雅黑" panose="020B0503020204020204" charset="-122"/>
            </a:endParaRPr>
          </a:p>
        </p:txBody>
      </p:sp>
      <p:sp>
        <p:nvSpPr>
          <p:cNvPr id="9" name="TextBox 8"/>
          <p:cNvSpPr txBox="1"/>
          <p:nvPr/>
        </p:nvSpPr>
        <p:spPr>
          <a:xfrm>
            <a:off x="502920" y="1188720"/>
            <a:ext cx="11155680" cy="457200"/>
          </a:xfrm>
          <a:prstGeom prst="rect">
            <a:avLst/>
          </a:prstGeom>
          <a:noFill/>
        </p:spPr>
        <p:txBody>
          <a:bodyPr wrap="square" lIns="0" tIns="0" rIns="0" bIns="0" anchor="t">
            <a:spAutoFit/>
          </a:bodyPr>
          <a:lstStyle/>
          <a:p>
            <a:pPr algn="l">
              <a:lnSpc>
                <a:spcPct val="100000"/>
              </a:lnSpc>
              <a:spcBef>
                <a:spcPts val="0"/>
              </a:spcBef>
              <a:spcAft>
                <a:spcPts val="0"/>
              </a:spcAft>
            </a:pPr>
            <a:r>
              <a:rPr sz="1500" b="0" i="0">
                <a:solidFill>
                  <a:srgbClr val="64748B"/>
                </a:solidFill>
                <a:latin typeface="微软雅黑" panose="020B0503020204020204" charset="-122"/>
                <a:ea typeface="微软雅黑" panose="020B0503020204020204" charset="-122"/>
              </a:rPr>
              <a:t>医智助手：面向医院信息系统教学场景的医学知识库智能问答平台</a:t>
            </a:r>
            <a:endParaRPr sz="1500" b="0" i="0">
              <a:solidFill>
                <a:srgbClr val="64748B"/>
              </a:solidFill>
              <a:latin typeface="微软雅黑" panose="020B0503020204020204" charset="-122"/>
              <a:ea typeface="微软雅黑" panose="020B0503020204020204" charset="-122"/>
            </a:endParaRPr>
          </a:p>
        </p:txBody>
      </p:sp>
      <p:sp>
        <p:nvSpPr>
          <p:cNvPr id="10" name="Rounded Rectangle 9"/>
          <p:cNvSpPr/>
          <p:nvPr/>
        </p:nvSpPr>
        <p:spPr>
          <a:xfrm>
            <a:off x="502920" y="1783080"/>
            <a:ext cx="2679192" cy="13716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011680"/>
            <a:ext cx="2679192" cy="640080"/>
          </a:xfrm>
          <a:prstGeom prst="rect">
            <a:avLst/>
          </a:prstGeom>
          <a:noFill/>
        </p:spPr>
        <p:txBody>
          <a:bodyPr wrap="square" lIns="0" tIns="0" rIns="0" bIns="0" anchor="t">
            <a:spAutoFit/>
          </a:bodyPr>
          <a:lstStyle/>
          <a:p>
            <a:pPr algn="ctr">
              <a:lnSpc>
                <a:spcPct val="100000"/>
              </a:lnSpc>
              <a:spcBef>
                <a:spcPts val="0"/>
              </a:spcBef>
              <a:spcAft>
                <a:spcPts val="0"/>
              </a:spcAft>
            </a:pPr>
            <a:r>
              <a:rPr sz="3600" b="1" i="0">
                <a:solidFill>
                  <a:srgbClr val="0F766E"/>
                </a:solidFill>
                <a:latin typeface="微软雅黑" panose="020B0503020204020204" charset="-122"/>
                <a:ea typeface="微软雅黑" panose="020B0503020204020204" charset="-122"/>
              </a:rPr>
              <a:t>12</a:t>
            </a:r>
            <a:endParaRPr sz="3600" b="1" i="0">
              <a:solidFill>
                <a:srgbClr val="0F766E"/>
              </a:solidFill>
              <a:latin typeface="微软雅黑" panose="020B0503020204020204" charset="-122"/>
              <a:ea typeface="微软雅黑" panose="020B0503020204020204" charset="-122"/>
            </a:endParaRPr>
          </a:p>
        </p:txBody>
      </p:sp>
      <p:sp>
        <p:nvSpPr>
          <p:cNvPr id="12" name="TextBox 11"/>
          <p:cNvSpPr txBox="1"/>
          <p:nvPr/>
        </p:nvSpPr>
        <p:spPr>
          <a:xfrm>
            <a:off x="594360" y="2697480"/>
            <a:ext cx="2496312" cy="411480"/>
          </a:xfrm>
          <a:prstGeom prst="rect">
            <a:avLst/>
          </a:prstGeom>
          <a:noFill/>
        </p:spPr>
        <p:txBody>
          <a:bodyPr wrap="square" lIns="0" tIns="0" rIns="0" bIns="0" anchor="t">
            <a:spAutoFit/>
          </a:bodyPr>
          <a:lstStyle/>
          <a:p>
            <a:pPr algn="ctr">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个疾病知识库</a:t>
            </a:r>
            <a:endParaRPr sz="1150" b="0" i="0">
              <a:solidFill>
                <a:srgbClr val="64748B"/>
              </a:solidFill>
              <a:latin typeface="微软雅黑" panose="020B0503020204020204" charset="-122"/>
              <a:ea typeface="微软雅黑" panose="020B0503020204020204" charset="-122"/>
            </a:endParaRPr>
          </a:p>
        </p:txBody>
      </p:sp>
      <p:sp>
        <p:nvSpPr>
          <p:cNvPr id="13" name="Rounded Rectangle 12"/>
          <p:cNvSpPr/>
          <p:nvPr/>
        </p:nvSpPr>
        <p:spPr>
          <a:xfrm>
            <a:off x="3337560" y="1783080"/>
            <a:ext cx="2679192" cy="13716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011680"/>
            <a:ext cx="2679192" cy="640080"/>
          </a:xfrm>
          <a:prstGeom prst="rect">
            <a:avLst/>
          </a:prstGeom>
          <a:noFill/>
        </p:spPr>
        <p:txBody>
          <a:bodyPr wrap="square" lIns="0" tIns="0" rIns="0" bIns="0" anchor="t">
            <a:spAutoFit/>
          </a:bodyPr>
          <a:lstStyle/>
          <a:p>
            <a:pPr algn="ctr">
              <a:lnSpc>
                <a:spcPct val="100000"/>
              </a:lnSpc>
              <a:spcBef>
                <a:spcPts val="0"/>
              </a:spcBef>
              <a:spcAft>
                <a:spcPts val="0"/>
              </a:spcAft>
            </a:pPr>
            <a:r>
              <a:rPr sz="3600" b="1" i="0">
                <a:solidFill>
                  <a:srgbClr val="0F766E"/>
                </a:solidFill>
                <a:latin typeface="微软雅黑" panose="020B0503020204020204" charset="-122"/>
                <a:ea typeface="微软雅黑" panose="020B0503020204020204" charset="-122"/>
              </a:rPr>
              <a:t>240</a:t>
            </a:r>
            <a:endParaRPr sz="3600" b="1" i="0">
              <a:solidFill>
                <a:srgbClr val="0F766E"/>
              </a:solidFill>
              <a:latin typeface="微软雅黑" panose="020B0503020204020204" charset="-122"/>
              <a:ea typeface="微软雅黑" panose="020B0503020204020204" charset="-122"/>
            </a:endParaRPr>
          </a:p>
        </p:txBody>
      </p:sp>
      <p:sp>
        <p:nvSpPr>
          <p:cNvPr id="15" name="TextBox 14"/>
          <p:cNvSpPr txBox="1"/>
          <p:nvPr/>
        </p:nvSpPr>
        <p:spPr>
          <a:xfrm>
            <a:off x="3429000" y="2697480"/>
            <a:ext cx="2496312" cy="411480"/>
          </a:xfrm>
          <a:prstGeom prst="rect">
            <a:avLst/>
          </a:prstGeom>
          <a:noFill/>
        </p:spPr>
        <p:txBody>
          <a:bodyPr wrap="square" lIns="0" tIns="0" rIns="0" bIns="0" anchor="t">
            <a:spAutoFit/>
          </a:bodyPr>
          <a:lstStyle/>
          <a:p>
            <a:pPr algn="ctr">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篇医学文档（公开 + 私有）</a:t>
            </a:r>
            <a:endParaRPr sz="1150" b="0" i="0">
              <a:solidFill>
                <a:srgbClr val="64748B"/>
              </a:solidFill>
              <a:latin typeface="微软雅黑" panose="020B0503020204020204" charset="-122"/>
              <a:ea typeface="微软雅黑" panose="020B0503020204020204" charset="-122"/>
            </a:endParaRPr>
          </a:p>
        </p:txBody>
      </p:sp>
      <p:sp>
        <p:nvSpPr>
          <p:cNvPr id="16" name="Rounded Rectangle 15"/>
          <p:cNvSpPr/>
          <p:nvPr/>
        </p:nvSpPr>
        <p:spPr>
          <a:xfrm>
            <a:off x="6172200" y="1783080"/>
            <a:ext cx="2679192" cy="13716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2011680"/>
            <a:ext cx="2679192" cy="640080"/>
          </a:xfrm>
          <a:prstGeom prst="rect">
            <a:avLst/>
          </a:prstGeom>
          <a:noFill/>
        </p:spPr>
        <p:txBody>
          <a:bodyPr wrap="square" lIns="0" tIns="0" rIns="0" bIns="0" anchor="t">
            <a:spAutoFit/>
          </a:bodyPr>
          <a:lstStyle/>
          <a:p>
            <a:pPr algn="ctr">
              <a:lnSpc>
                <a:spcPct val="100000"/>
              </a:lnSpc>
              <a:spcBef>
                <a:spcPts val="0"/>
              </a:spcBef>
              <a:spcAft>
                <a:spcPts val="0"/>
              </a:spcAft>
            </a:pPr>
            <a:r>
              <a:rPr sz="3600" b="1" i="0">
                <a:solidFill>
                  <a:srgbClr val="0F766E"/>
                </a:solidFill>
                <a:latin typeface="微软雅黑" panose="020B0503020204020204" charset="-122"/>
                <a:ea typeface="微软雅黑" panose="020B0503020204020204" charset="-122"/>
              </a:rPr>
              <a:t>5</a:t>
            </a:r>
            <a:endParaRPr sz="3600" b="1" i="0">
              <a:solidFill>
                <a:srgbClr val="0F766E"/>
              </a:solidFill>
              <a:latin typeface="微软雅黑" panose="020B0503020204020204" charset="-122"/>
              <a:ea typeface="微软雅黑" panose="020B0503020204020204" charset="-122"/>
            </a:endParaRPr>
          </a:p>
        </p:txBody>
      </p:sp>
      <p:sp>
        <p:nvSpPr>
          <p:cNvPr id="18" name="TextBox 17"/>
          <p:cNvSpPr txBox="1"/>
          <p:nvPr/>
        </p:nvSpPr>
        <p:spPr>
          <a:xfrm>
            <a:off x="6263640" y="2697480"/>
            <a:ext cx="2496312" cy="411480"/>
          </a:xfrm>
          <a:prstGeom prst="rect">
            <a:avLst/>
          </a:prstGeom>
          <a:noFill/>
        </p:spPr>
        <p:txBody>
          <a:bodyPr wrap="square" lIns="0" tIns="0" rIns="0" bIns="0" anchor="t">
            <a:spAutoFit/>
          </a:bodyPr>
          <a:lstStyle/>
          <a:p>
            <a:pPr algn="ctr">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种用户角色门户</a:t>
            </a:r>
            <a:endParaRPr sz="1150" b="0" i="0">
              <a:solidFill>
                <a:srgbClr val="64748B"/>
              </a:solidFill>
              <a:latin typeface="微软雅黑" panose="020B0503020204020204" charset="-122"/>
              <a:ea typeface="微软雅黑" panose="020B0503020204020204" charset="-122"/>
            </a:endParaRPr>
          </a:p>
        </p:txBody>
      </p:sp>
      <p:sp>
        <p:nvSpPr>
          <p:cNvPr id="19" name="Rounded Rectangle 18"/>
          <p:cNvSpPr/>
          <p:nvPr/>
        </p:nvSpPr>
        <p:spPr>
          <a:xfrm>
            <a:off x="9006840" y="1783080"/>
            <a:ext cx="2679192" cy="13716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2011680"/>
            <a:ext cx="2679192" cy="640080"/>
          </a:xfrm>
          <a:prstGeom prst="rect">
            <a:avLst/>
          </a:prstGeom>
          <a:noFill/>
        </p:spPr>
        <p:txBody>
          <a:bodyPr wrap="square" lIns="0" tIns="0" rIns="0" bIns="0" anchor="t">
            <a:spAutoFit/>
          </a:bodyPr>
          <a:lstStyle/>
          <a:p>
            <a:pPr algn="ctr">
              <a:lnSpc>
                <a:spcPct val="100000"/>
              </a:lnSpc>
              <a:spcBef>
                <a:spcPts val="0"/>
              </a:spcBef>
              <a:spcAft>
                <a:spcPts val="0"/>
              </a:spcAft>
            </a:pPr>
            <a:r>
              <a:rPr sz="3600" b="1" i="0">
                <a:solidFill>
                  <a:srgbClr val="0F766E"/>
                </a:solidFill>
                <a:latin typeface="微软雅黑" panose="020B0503020204020204" charset="-122"/>
                <a:ea typeface="微软雅黑" panose="020B0503020204020204" charset="-122"/>
              </a:rPr>
              <a:t>11</a:t>
            </a:r>
            <a:endParaRPr sz="3600" b="1" i="0">
              <a:solidFill>
                <a:srgbClr val="0F766E"/>
              </a:solidFill>
              <a:latin typeface="微软雅黑" panose="020B0503020204020204" charset="-122"/>
              <a:ea typeface="微软雅黑" panose="020B0503020204020204" charset="-122"/>
            </a:endParaRPr>
          </a:p>
        </p:txBody>
      </p:sp>
      <p:sp>
        <p:nvSpPr>
          <p:cNvPr id="21" name="TextBox 20"/>
          <p:cNvSpPr txBox="1"/>
          <p:nvPr/>
        </p:nvSpPr>
        <p:spPr>
          <a:xfrm>
            <a:off x="9098280" y="2697480"/>
            <a:ext cx="2496312" cy="411480"/>
          </a:xfrm>
          <a:prstGeom prst="rect">
            <a:avLst/>
          </a:prstGeom>
          <a:noFill/>
        </p:spPr>
        <p:txBody>
          <a:bodyPr wrap="square" lIns="0" tIns="0" rIns="0" bIns="0" anchor="t">
            <a:spAutoFit/>
          </a:bodyPr>
          <a:lstStyle/>
          <a:p>
            <a:pPr algn="ctr">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张 MySQL 数据表</a:t>
            </a:r>
            <a:endParaRPr sz="1150" b="0" i="0">
              <a:solidFill>
                <a:srgbClr val="64748B"/>
              </a:solidFill>
              <a:latin typeface="微软雅黑" panose="020B0503020204020204" charset="-122"/>
              <a:ea typeface="微软雅黑" panose="020B0503020204020204" charset="-122"/>
            </a:endParaRPr>
          </a:p>
        </p:txBody>
      </p:sp>
      <p:sp>
        <p:nvSpPr>
          <p:cNvPr id="22" name="Rounded Rectangle 21"/>
          <p:cNvSpPr/>
          <p:nvPr/>
        </p:nvSpPr>
        <p:spPr>
          <a:xfrm>
            <a:off x="502920" y="3429000"/>
            <a:ext cx="11183112" cy="2834640"/>
          </a:xfrm>
          <a:prstGeom prst="roundRect">
            <a:avLst>
              <a:gd name="adj" fmla="val 4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639312"/>
            <a:ext cx="10515600" cy="411480"/>
          </a:xfrm>
          <a:prstGeom prst="rect">
            <a:avLst/>
          </a:prstGeom>
          <a:noFill/>
        </p:spPr>
        <p:txBody>
          <a:bodyPr wrap="square" lIns="0" tIns="0" rIns="0" bIns="0" anchor="t">
            <a:spAutoFit/>
          </a:bodyPr>
          <a:lstStyle/>
          <a:p>
            <a:pPr algn="l">
              <a:lnSpc>
                <a:spcPct val="100000"/>
              </a:lnSpc>
              <a:spcBef>
                <a:spcPts val="0"/>
              </a:spcBef>
              <a:spcAft>
                <a:spcPts val="0"/>
              </a:spcAft>
            </a:pPr>
            <a:r>
              <a:rPr sz="1600" b="1" i="0">
                <a:solidFill>
                  <a:srgbClr val="134E4A"/>
                </a:solidFill>
                <a:latin typeface="微软雅黑" panose="020B0503020204020204" charset="-122"/>
                <a:ea typeface="微软雅黑" panose="020B0503020204020204" charset="-122"/>
              </a:rPr>
              <a:t>核心能力</a:t>
            </a:r>
            <a:endParaRPr sz="1600" b="1" i="0">
              <a:solidFill>
                <a:srgbClr val="134E4A"/>
              </a:solidFill>
              <a:latin typeface="微软雅黑" panose="020B0503020204020204" charset="-122"/>
              <a:ea typeface="微软雅黑" panose="020B0503020204020204" charset="-122"/>
            </a:endParaRPr>
          </a:p>
        </p:txBody>
      </p:sp>
      <p:sp>
        <p:nvSpPr>
          <p:cNvPr id="24" name="TextBox 23"/>
          <p:cNvSpPr txBox="1"/>
          <p:nvPr/>
        </p:nvSpPr>
        <p:spPr>
          <a:xfrm>
            <a:off x="841248" y="4160520"/>
            <a:ext cx="5212080" cy="2011680"/>
          </a:xfrm>
          <a:prstGeom prst="rect">
            <a:avLst/>
          </a:prstGeom>
          <a:noFill/>
        </p:spPr>
        <p:txBody>
          <a:bodyPr wrap="square" lIns="0" tIns="0" rIns="0" bIns="0">
            <a:spAutoFit/>
          </a:bodyPr>
          <a:lstStyle/>
          <a:p>
            <a:pPr>
              <a:lnSpc>
                <a:spcPct val="100000"/>
              </a:lnSpc>
              <a:spcAft>
                <a:spcPts val="1000"/>
              </a:spcAft>
            </a:pPr>
            <a:r>
              <a:rPr sz="1350" b="1" i="0">
                <a:solidFill>
                  <a:srgbClr val="0F766E"/>
                </a:solidFill>
                <a:latin typeface="微软雅黑" panose="020B0503020204020204" charset="-122"/>
                <a:ea typeface="微软雅黑" panose="020B0503020204020204" charset="-122"/>
              </a:rPr>
              <a:t>● </a:t>
            </a:r>
            <a:r>
              <a:rPr sz="1350" b="0" i="0">
                <a:solidFill>
                  <a:srgbClr val="1E293B"/>
                </a:solidFill>
                <a:latin typeface="微软雅黑" panose="020B0503020204020204" charset="-122"/>
                <a:ea typeface="微软雅黑" panose="020B0503020204020204" charset="-122"/>
              </a:rPr>
              <a:t>RAG 智能医疗咨询：召回→生成→引用，可追溯</a:t>
            </a:r>
            <a:endParaRPr sz="1350" b="0" i="0">
              <a:solidFill>
                <a:srgbClr val="1E293B"/>
              </a:solidFill>
              <a:latin typeface="微软雅黑" panose="020B0503020204020204" charset="-122"/>
              <a:ea typeface="微软雅黑" panose="020B0503020204020204" charset="-122"/>
            </a:endParaRPr>
          </a:p>
          <a:p>
            <a:pPr>
              <a:lnSpc>
                <a:spcPct val="100000"/>
              </a:lnSpc>
              <a:spcAft>
                <a:spcPts val="1000"/>
              </a:spcAft>
            </a:pPr>
            <a:r>
              <a:rPr sz="1350" b="1" i="0">
                <a:solidFill>
                  <a:srgbClr val="0F766E"/>
                </a:solidFill>
                <a:latin typeface="微软雅黑" panose="020B0503020204020204" charset="-122"/>
                <a:ea typeface="微软雅黑" panose="020B0503020204020204" charset="-122"/>
              </a:rPr>
              <a:t>● </a:t>
            </a:r>
            <a:r>
              <a:rPr sz="1350" b="0" i="0">
                <a:solidFill>
                  <a:srgbClr val="1E293B"/>
                </a:solidFill>
                <a:latin typeface="微软雅黑" panose="020B0503020204020204" charset="-122"/>
                <a:ea typeface="微软雅黑" panose="020B0503020204020204" charset="-122"/>
              </a:rPr>
              <a:t>公开 / 私有双层级权限模型，按角色过滤可见文档</a:t>
            </a:r>
            <a:endParaRPr sz="1350" b="0" i="0">
              <a:solidFill>
                <a:srgbClr val="1E293B"/>
              </a:solidFill>
              <a:latin typeface="微软雅黑" panose="020B0503020204020204" charset="-122"/>
              <a:ea typeface="微软雅黑" panose="020B0503020204020204" charset="-122"/>
            </a:endParaRPr>
          </a:p>
          <a:p>
            <a:pPr>
              <a:lnSpc>
                <a:spcPct val="100000"/>
              </a:lnSpc>
              <a:spcAft>
                <a:spcPts val="1000"/>
              </a:spcAft>
            </a:pPr>
            <a:r>
              <a:rPr sz="1350" b="1" i="0">
                <a:solidFill>
                  <a:srgbClr val="0F766E"/>
                </a:solidFill>
                <a:latin typeface="微软雅黑" panose="020B0503020204020204" charset="-122"/>
                <a:ea typeface="微软雅黑" panose="020B0503020204020204" charset="-122"/>
              </a:rPr>
              <a:t>● </a:t>
            </a:r>
            <a:r>
              <a:rPr sz="1350" b="0" i="0">
                <a:solidFill>
                  <a:srgbClr val="1E293B"/>
                </a:solidFill>
                <a:latin typeface="微软雅黑" panose="020B0503020204020204" charset="-122"/>
                <a:ea typeface="微软雅黑" panose="020B0503020204020204" charset="-122"/>
              </a:rPr>
              <a:t>5 角色统一单页应用门户，差异化导航与权限</a:t>
            </a:r>
            <a:endParaRPr sz="1350" b="0" i="0">
              <a:solidFill>
                <a:srgbClr val="1E293B"/>
              </a:solidFill>
              <a:latin typeface="微软雅黑" panose="020B0503020204020204" charset="-122"/>
              <a:ea typeface="微软雅黑" panose="020B0503020204020204" charset="-122"/>
            </a:endParaRPr>
          </a:p>
        </p:txBody>
      </p:sp>
      <p:sp>
        <p:nvSpPr>
          <p:cNvPr id="25" name="TextBox 24"/>
          <p:cNvSpPr txBox="1"/>
          <p:nvPr/>
        </p:nvSpPr>
        <p:spPr>
          <a:xfrm>
            <a:off x="6309360" y="4160520"/>
            <a:ext cx="5212080" cy="2011680"/>
          </a:xfrm>
          <a:prstGeom prst="rect">
            <a:avLst/>
          </a:prstGeom>
          <a:noFill/>
        </p:spPr>
        <p:txBody>
          <a:bodyPr wrap="square" lIns="0" tIns="0" rIns="0" bIns="0">
            <a:spAutoFit/>
          </a:bodyPr>
          <a:lstStyle/>
          <a:p>
            <a:pPr>
              <a:lnSpc>
                <a:spcPct val="100000"/>
              </a:lnSpc>
              <a:spcAft>
                <a:spcPts val="1000"/>
              </a:spcAft>
            </a:pPr>
            <a:r>
              <a:rPr sz="1350" b="1" i="0">
                <a:solidFill>
                  <a:srgbClr val="0F766E"/>
                </a:solidFill>
                <a:latin typeface="微软雅黑" panose="020B0503020204020204" charset="-122"/>
                <a:ea typeface="微软雅黑" panose="020B0503020204020204" charset="-122"/>
              </a:rPr>
              <a:t>● </a:t>
            </a:r>
            <a:r>
              <a:rPr sz="1350" b="0" i="0">
                <a:solidFill>
                  <a:srgbClr val="1E293B"/>
                </a:solidFill>
                <a:latin typeface="微软雅黑" panose="020B0503020204020204" charset="-122"/>
                <a:ea typeface="微软雅黑" panose="020B0503020204020204" charset="-122"/>
              </a:rPr>
              <a:t>患者健康档案：住院、消费明细、预约挂号</a:t>
            </a:r>
            <a:endParaRPr sz="1350" b="0" i="0">
              <a:solidFill>
                <a:srgbClr val="1E293B"/>
              </a:solidFill>
              <a:latin typeface="微软雅黑" panose="020B0503020204020204" charset="-122"/>
              <a:ea typeface="微软雅黑" panose="020B0503020204020204" charset="-122"/>
            </a:endParaRPr>
          </a:p>
          <a:p>
            <a:pPr>
              <a:lnSpc>
                <a:spcPct val="100000"/>
              </a:lnSpc>
              <a:spcAft>
                <a:spcPts val="1000"/>
              </a:spcAft>
            </a:pPr>
            <a:r>
              <a:rPr sz="1350" b="1" i="0">
                <a:solidFill>
                  <a:srgbClr val="0F766E"/>
                </a:solidFill>
                <a:latin typeface="微软雅黑" panose="020B0503020204020204" charset="-122"/>
                <a:ea typeface="微软雅黑" panose="020B0503020204020204" charset="-122"/>
              </a:rPr>
              <a:t>● </a:t>
            </a:r>
            <a:r>
              <a:rPr sz="1350" b="0" i="0">
                <a:solidFill>
                  <a:srgbClr val="1E293B"/>
                </a:solidFill>
                <a:latin typeface="微软雅黑" panose="020B0503020204020204" charset="-122"/>
                <a:ea typeface="微软雅黑" panose="020B0503020204020204" charset="-122"/>
              </a:rPr>
              <a:t>医护工作台：患者管理、护理记录、排班</a:t>
            </a:r>
            <a:endParaRPr sz="1350" b="0" i="0">
              <a:solidFill>
                <a:srgbClr val="1E293B"/>
              </a:solidFill>
              <a:latin typeface="微软雅黑" panose="020B0503020204020204" charset="-122"/>
              <a:ea typeface="微软雅黑" panose="020B0503020204020204" charset="-122"/>
            </a:endParaRPr>
          </a:p>
          <a:p>
            <a:pPr>
              <a:lnSpc>
                <a:spcPct val="100000"/>
              </a:lnSpc>
              <a:spcAft>
                <a:spcPts val="1000"/>
              </a:spcAft>
            </a:pPr>
            <a:r>
              <a:rPr sz="1350" b="1" i="0">
                <a:solidFill>
                  <a:srgbClr val="0F766E"/>
                </a:solidFill>
                <a:latin typeface="微软雅黑" panose="020B0503020204020204" charset="-122"/>
                <a:ea typeface="微软雅黑" panose="020B0503020204020204" charset="-122"/>
              </a:rPr>
              <a:t>● </a:t>
            </a:r>
            <a:r>
              <a:rPr sz="1350" b="0" i="0">
                <a:solidFill>
                  <a:srgbClr val="1E293B"/>
                </a:solidFill>
                <a:latin typeface="微软雅黑" panose="020B0503020204020204" charset="-122"/>
                <a:ea typeface="微软雅黑" panose="020B0503020204020204" charset="-122"/>
              </a:rPr>
              <a:t>知识库管理：上传、切分、向量化、检索一站式</a:t>
            </a:r>
            <a:endParaRPr sz="13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用户角色与权限分析（RBAC）</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9978847" y="384048"/>
            <a:ext cx="1709928"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01 · 背景与需求</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06</a:t>
            </a:r>
            <a:endParaRPr sz="1000" b="1" i="0">
              <a:solidFill>
                <a:srgbClr val="64748B"/>
              </a:solidFill>
              <a:latin typeface="微软雅黑" panose="020B0503020204020204" charset="-122"/>
              <a:ea typeface="微软雅黑" panose="020B0503020204020204" charset="-122"/>
            </a:endParaRPr>
          </a:p>
        </p:txBody>
      </p:sp>
      <p:graphicFrame>
        <p:nvGraphicFramePr>
          <p:cNvPr id="9" name="Table 8"/>
          <p:cNvGraphicFramePr>
            <a:graphicFrameLocks noGrp="1"/>
          </p:cNvGraphicFramePr>
          <p:nvPr/>
        </p:nvGraphicFramePr>
        <p:xfrm>
          <a:off x="502920" y="1234440"/>
          <a:ext cx="11183112" cy="3291840"/>
        </p:xfrm>
        <a:graphic>
          <a:graphicData uri="http://schemas.openxmlformats.org/drawingml/2006/table">
            <a:tbl>
              <a:tblPr firstRow="1" bandRow="1">
                <a:tableStyleId>{5C22544A-7EE6-4342-B048-85BDC9FD1C3A}</a:tableStyleId>
              </a:tblPr>
              <a:tblGrid>
                <a:gridCol w="2103120"/>
                <a:gridCol w="5669280"/>
                <a:gridCol w="3410712"/>
              </a:tblGrid>
              <a:tr h="658368">
                <a:tc>
                  <a:txBody>
                    <a:bodyPr wrap="square"/>
                    <a:lstStyle/>
                    <a:p>
                      <a:pPr algn="l"/>
                      <a:r>
                        <a:rPr sz="1300" b="1" i="0">
                          <a:solidFill>
                            <a:srgbClr val="FFFFFF"/>
                          </a:solidFill>
                          <a:latin typeface="微软雅黑" panose="020B0503020204020204" charset="-122"/>
                          <a:ea typeface="微软雅黑" panose="020B0503020204020204" charset="-122"/>
                        </a:rPr>
                        <a:t>角色</a:t>
                      </a:r>
                      <a:endParaRPr sz="1300" b="1" i="0">
                        <a:solidFill>
                          <a:srgbClr val="FFFFFF"/>
                        </a:solidFill>
                        <a:latin typeface="微软雅黑" panose="020B0503020204020204" charset="-122"/>
                        <a:ea typeface="微软雅黑" panose="020B0503020204020204" charset="-122"/>
                      </a:endParaRPr>
                    </a:p>
                  </a:txBody>
                  <a:tcPr marL="137160" anchor="ctr">
                    <a:solidFill>
                      <a:srgbClr val="0F766E"/>
                    </a:solidFill>
                  </a:tcPr>
                </a:tc>
                <a:tc>
                  <a:txBody>
                    <a:bodyPr wrap="square"/>
                    <a:lstStyle/>
                    <a:p>
                      <a:pPr algn="l"/>
                      <a:r>
                        <a:rPr sz="1300" b="1" i="0">
                          <a:solidFill>
                            <a:srgbClr val="FFFFFF"/>
                          </a:solidFill>
                          <a:latin typeface="微软雅黑" panose="020B0503020204020204" charset="-122"/>
                          <a:ea typeface="微软雅黑" panose="020B0503020204020204" charset="-122"/>
                        </a:rPr>
                        <a:t>核心功能</a:t>
                      </a:r>
                      <a:endParaRPr sz="1300" b="1" i="0">
                        <a:solidFill>
                          <a:srgbClr val="FFFFFF"/>
                        </a:solidFill>
                        <a:latin typeface="微软雅黑" panose="020B0503020204020204" charset="-122"/>
                        <a:ea typeface="微软雅黑" panose="020B0503020204020204" charset="-122"/>
                      </a:endParaRPr>
                    </a:p>
                  </a:txBody>
                  <a:tcPr marL="137160" anchor="ctr">
                    <a:solidFill>
                      <a:srgbClr val="0F766E"/>
                    </a:solidFill>
                  </a:tcPr>
                </a:tc>
                <a:tc>
                  <a:txBody>
                    <a:bodyPr wrap="square"/>
                    <a:lstStyle/>
                    <a:p>
                      <a:pPr algn="l"/>
                      <a:r>
                        <a:rPr sz="1300" b="1" i="0">
                          <a:solidFill>
                            <a:srgbClr val="FFFFFF"/>
                          </a:solidFill>
                          <a:latin typeface="微软雅黑" panose="020B0503020204020204" charset="-122"/>
                          <a:ea typeface="微软雅黑" panose="020B0503020204020204" charset="-122"/>
                        </a:rPr>
                        <a:t>数据可见范围</a:t>
                      </a:r>
                      <a:endParaRPr sz="1300" b="1" i="0">
                        <a:solidFill>
                          <a:srgbClr val="FFFFFF"/>
                        </a:solidFill>
                        <a:latin typeface="微软雅黑" panose="020B0503020204020204" charset="-122"/>
                        <a:ea typeface="微软雅黑" panose="020B0503020204020204" charset="-122"/>
                      </a:endParaRPr>
                    </a:p>
                  </a:txBody>
                  <a:tcPr marL="137160" anchor="ctr">
                    <a:solidFill>
                      <a:srgbClr val="0F766E"/>
                    </a:solidFill>
                  </a:tcPr>
                </a:tc>
              </a:tr>
              <a:tr h="658368">
                <a:tc>
                  <a:txBody>
                    <a:bodyPr wrap="square"/>
                    <a:lstStyle/>
                    <a:p>
                      <a:pPr algn="l"/>
                      <a:r>
                        <a:rPr sz="1200" b="1" i="0">
                          <a:solidFill>
                            <a:srgbClr val="1E293B"/>
                          </a:solidFill>
                          <a:latin typeface="微软雅黑" panose="020B0503020204020204" charset="-122"/>
                          <a:ea typeface="微软雅黑" panose="020B0503020204020204" charset="-122"/>
                        </a:rPr>
                        <a:t>群众 / 患者</a:t>
                      </a:r>
                      <a:endParaRPr sz="1200" b="1" i="0">
                        <a:solidFill>
                          <a:srgbClr val="1E293B"/>
                        </a:solidFill>
                        <a:latin typeface="微软雅黑" panose="020B0503020204020204" charset="-122"/>
                        <a:ea typeface="微软雅黑" panose="020B0503020204020204" charset="-122"/>
                      </a:endParaRPr>
                    </a:p>
                  </a:txBody>
                  <a:tcPr marL="137160" anchor="ctr">
                    <a:solidFill>
                      <a:srgbClr val="FFFFFF"/>
                    </a:solidFill>
                  </a:tcPr>
                </a:tc>
                <a:tc>
                  <a:txBody>
                    <a:bodyPr wrap="square"/>
                    <a:lstStyle/>
                    <a:p>
                      <a:pPr algn="l"/>
                      <a:r>
                        <a:rPr sz="1200" b="0" i="0">
                          <a:solidFill>
                            <a:srgbClr val="1E293B"/>
                          </a:solidFill>
                          <a:latin typeface="微软雅黑" panose="020B0503020204020204" charset="-122"/>
                          <a:ea typeface="微软雅黑" panose="020B0503020204020204" charset="-122"/>
                        </a:rPr>
                        <a:t>智能咨询 · 健康资讯 · 预约挂号 · 本人健康档案</a:t>
                      </a:r>
                      <a:endParaRPr sz="1200" b="0" i="0">
                        <a:solidFill>
                          <a:srgbClr val="1E293B"/>
                        </a:solidFill>
                        <a:latin typeface="微软雅黑" panose="020B0503020204020204" charset="-122"/>
                        <a:ea typeface="微软雅黑" panose="020B0503020204020204" charset="-122"/>
                      </a:endParaRPr>
                    </a:p>
                  </a:txBody>
                  <a:tcPr marL="137160" anchor="ctr">
                    <a:solidFill>
                      <a:srgbClr val="FFFFFF"/>
                    </a:solidFill>
                  </a:tcPr>
                </a:tc>
                <a:tc>
                  <a:txBody>
                    <a:bodyPr wrap="square"/>
                    <a:lstStyle/>
                    <a:p>
                      <a:pPr algn="l"/>
                      <a:r>
                        <a:rPr sz="1200" b="0" i="0">
                          <a:solidFill>
                            <a:srgbClr val="1E293B"/>
                          </a:solidFill>
                          <a:latin typeface="微软雅黑" panose="020B0503020204020204" charset="-122"/>
                          <a:ea typeface="微软雅黑" panose="020B0503020204020204" charset="-122"/>
                        </a:rPr>
                        <a:t>仅公开知识库 + 公开文档</a:t>
                      </a:r>
                      <a:endParaRPr sz="1200" b="0" i="0">
                        <a:solidFill>
                          <a:srgbClr val="1E293B"/>
                        </a:solidFill>
                        <a:latin typeface="微软雅黑" panose="020B0503020204020204" charset="-122"/>
                        <a:ea typeface="微软雅黑" panose="020B0503020204020204" charset="-122"/>
                      </a:endParaRPr>
                    </a:p>
                  </a:txBody>
                  <a:tcPr marL="137160" anchor="ctr">
                    <a:solidFill>
                      <a:srgbClr val="FFFFFF"/>
                    </a:solidFill>
                  </a:tcPr>
                </a:tc>
              </a:tr>
              <a:tr h="658368">
                <a:tc>
                  <a:txBody>
                    <a:bodyPr wrap="square"/>
                    <a:lstStyle/>
                    <a:p>
                      <a:pPr algn="l"/>
                      <a:r>
                        <a:rPr sz="1200" b="1" i="0">
                          <a:solidFill>
                            <a:srgbClr val="1E293B"/>
                          </a:solidFill>
                          <a:latin typeface="微软雅黑" panose="020B0503020204020204" charset="-122"/>
                          <a:ea typeface="微软雅黑" panose="020B0503020204020204" charset="-122"/>
                        </a:rPr>
                        <a:t>医生</a:t>
                      </a:r>
                      <a:endParaRPr sz="1200" b="1" i="0">
                        <a:solidFill>
                          <a:srgbClr val="1E293B"/>
                        </a:solidFill>
                        <a:latin typeface="微软雅黑" panose="020B0503020204020204" charset="-122"/>
                        <a:ea typeface="微软雅黑" panose="020B0503020204020204" charset="-122"/>
                      </a:endParaRPr>
                    </a:p>
                  </a:txBody>
                  <a:tcPr marL="137160" anchor="ctr">
                    <a:solidFill>
                      <a:srgbClr val="F1F5F9"/>
                    </a:solidFill>
                  </a:tcPr>
                </a:tc>
                <a:tc>
                  <a:txBody>
                    <a:bodyPr wrap="square"/>
                    <a:lstStyle/>
                    <a:p>
                      <a:pPr algn="l"/>
                      <a:r>
                        <a:rPr sz="1200" b="0" i="0">
                          <a:solidFill>
                            <a:srgbClr val="1E293B"/>
                          </a:solidFill>
                          <a:latin typeface="微软雅黑" panose="020B0503020204020204" charset="-122"/>
                          <a:ea typeface="微软雅黑" panose="020B0503020204020204" charset="-122"/>
                        </a:rPr>
                        <a:t>知识库管理 · 上传公开/私有文档 · 患者/住院管理 · 排班</a:t>
                      </a:r>
                      <a:endParaRPr sz="1200" b="0" i="0">
                        <a:solidFill>
                          <a:srgbClr val="1E293B"/>
                        </a:solidFill>
                        <a:latin typeface="微软雅黑" panose="020B0503020204020204" charset="-122"/>
                        <a:ea typeface="微软雅黑" panose="020B0503020204020204" charset="-122"/>
                      </a:endParaRPr>
                    </a:p>
                  </a:txBody>
                  <a:tcPr marL="137160" anchor="ctr">
                    <a:solidFill>
                      <a:srgbClr val="F1F5F9"/>
                    </a:solidFill>
                  </a:tcPr>
                </a:tc>
                <a:tc>
                  <a:txBody>
                    <a:bodyPr wrap="square"/>
                    <a:lstStyle/>
                    <a:p>
                      <a:pPr algn="l"/>
                      <a:r>
                        <a:rPr sz="1200" b="0" i="0">
                          <a:solidFill>
                            <a:srgbClr val="1E293B"/>
                          </a:solidFill>
                          <a:latin typeface="微软雅黑" panose="020B0503020204020204" charset="-122"/>
                          <a:ea typeface="微软雅黑" panose="020B0503020204020204" charset="-122"/>
                        </a:rPr>
                        <a:t>公开 + 私有文档</a:t>
                      </a:r>
                      <a:endParaRPr sz="1200" b="0" i="0">
                        <a:solidFill>
                          <a:srgbClr val="1E293B"/>
                        </a:solidFill>
                        <a:latin typeface="微软雅黑" panose="020B0503020204020204" charset="-122"/>
                        <a:ea typeface="微软雅黑" panose="020B0503020204020204" charset="-122"/>
                      </a:endParaRPr>
                    </a:p>
                  </a:txBody>
                  <a:tcPr marL="137160" anchor="ctr">
                    <a:solidFill>
                      <a:srgbClr val="F1F5F9"/>
                    </a:solidFill>
                  </a:tcPr>
                </a:tc>
              </a:tr>
              <a:tr h="658368">
                <a:tc>
                  <a:txBody>
                    <a:bodyPr wrap="square"/>
                    <a:lstStyle/>
                    <a:p>
                      <a:pPr algn="l"/>
                      <a:r>
                        <a:rPr sz="1200" b="1" i="0">
                          <a:solidFill>
                            <a:srgbClr val="1E293B"/>
                          </a:solidFill>
                          <a:latin typeface="微软雅黑" panose="020B0503020204020204" charset="-122"/>
                          <a:ea typeface="微软雅黑" panose="020B0503020204020204" charset="-122"/>
                        </a:rPr>
                        <a:t>护士</a:t>
                      </a:r>
                      <a:endParaRPr sz="1200" b="1" i="0">
                        <a:solidFill>
                          <a:srgbClr val="1E293B"/>
                        </a:solidFill>
                        <a:latin typeface="微软雅黑" panose="020B0503020204020204" charset="-122"/>
                        <a:ea typeface="微软雅黑" panose="020B0503020204020204" charset="-122"/>
                      </a:endParaRPr>
                    </a:p>
                  </a:txBody>
                  <a:tcPr marL="137160" anchor="ctr">
                    <a:solidFill>
                      <a:srgbClr val="FFFFFF"/>
                    </a:solidFill>
                  </a:tcPr>
                </a:tc>
                <a:tc>
                  <a:txBody>
                    <a:bodyPr wrap="square"/>
                    <a:lstStyle/>
                    <a:p>
                      <a:pPr algn="l"/>
                      <a:r>
                        <a:rPr sz="1200" b="0" i="0">
                          <a:solidFill>
                            <a:srgbClr val="1E293B"/>
                          </a:solidFill>
                          <a:latin typeface="微软雅黑" panose="020B0503020204020204" charset="-122"/>
                          <a:ea typeface="微软雅黑" panose="020B0503020204020204" charset="-122"/>
                        </a:rPr>
                        <a:t>患者查看 · 护理记录 · 排班查看</a:t>
                      </a:r>
                      <a:endParaRPr sz="1200" b="0" i="0">
                        <a:solidFill>
                          <a:srgbClr val="1E293B"/>
                        </a:solidFill>
                        <a:latin typeface="微软雅黑" panose="020B0503020204020204" charset="-122"/>
                        <a:ea typeface="微软雅黑" panose="020B0503020204020204" charset="-122"/>
                      </a:endParaRPr>
                    </a:p>
                  </a:txBody>
                  <a:tcPr marL="137160" anchor="ctr">
                    <a:solidFill>
                      <a:srgbClr val="FFFFFF"/>
                    </a:solidFill>
                  </a:tcPr>
                </a:tc>
                <a:tc>
                  <a:txBody>
                    <a:bodyPr wrap="square"/>
                    <a:lstStyle/>
                    <a:p>
                      <a:pPr algn="l"/>
                      <a:r>
                        <a:rPr sz="1200" b="0" i="0">
                          <a:solidFill>
                            <a:srgbClr val="1E293B"/>
                          </a:solidFill>
                          <a:latin typeface="微软雅黑" panose="020B0503020204020204" charset="-122"/>
                          <a:ea typeface="微软雅黑" panose="020B0503020204020204" charset="-122"/>
                        </a:rPr>
                        <a:t>仅公开知识库 + 公开文档</a:t>
                      </a:r>
                      <a:endParaRPr sz="1200" b="0" i="0">
                        <a:solidFill>
                          <a:srgbClr val="1E293B"/>
                        </a:solidFill>
                        <a:latin typeface="微软雅黑" panose="020B0503020204020204" charset="-122"/>
                        <a:ea typeface="微软雅黑" panose="020B0503020204020204" charset="-122"/>
                      </a:endParaRPr>
                    </a:p>
                  </a:txBody>
                  <a:tcPr marL="137160" anchor="ctr">
                    <a:solidFill>
                      <a:srgbClr val="FFFFFF"/>
                    </a:solidFill>
                  </a:tcPr>
                </a:tc>
              </a:tr>
              <a:tr h="658368">
                <a:tc>
                  <a:txBody>
                    <a:bodyPr wrap="square"/>
                    <a:lstStyle/>
                    <a:p>
                      <a:pPr algn="l"/>
                      <a:r>
                        <a:rPr sz="1200" b="1" i="0">
                          <a:solidFill>
                            <a:srgbClr val="1E293B"/>
                          </a:solidFill>
                          <a:latin typeface="微软雅黑" panose="020B0503020204020204" charset="-122"/>
                          <a:ea typeface="微软雅黑" panose="020B0503020204020204" charset="-122"/>
                        </a:rPr>
                        <a:t>管理员</a:t>
                      </a:r>
                      <a:endParaRPr sz="1200" b="1" i="0">
                        <a:solidFill>
                          <a:srgbClr val="1E293B"/>
                        </a:solidFill>
                        <a:latin typeface="微软雅黑" panose="020B0503020204020204" charset="-122"/>
                        <a:ea typeface="微软雅黑" panose="020B0503020204020204" charset="-122"/>
                      </a:endParaRPr>
                    </a:p>
                  </a:txBody>
                  <a:tcPr marL="137160" anchor="ctr">
                    <a:solidFill>
                      <a:srgbClr val="F1F5F9"/>
                    </a:solidFill>
                  </a:tcPr>
                </a:tc>
                <a:tc>
                  <a:txBody>
                    <a:bodyPr wrap="square"/>
                    <a:lstStyle/>
                    <a:p>
                      <a:pPr algn="l"/>
                      <a:r>
                        <a:rPr sz="1200" b="0" i="0">
                          <a:solidFill>
                            <a:srgbClr val="1E293B"/>
                          </a:solidFill>
                          <a:latin typeface="微软雅黑" panose="020B0503020204020204" charset="-122"/>
                          <a:ea typeface="微软雅黑" panose="020B0503020204020204" charset="-122"/>
                        </a:rPr>
                        <a:t>用户管理 · 全部知识库 · 全系统数据看板</a:t>
                      </a:r>
                      <a:endParaRPr sz="1200" b="0" i="0">
                        <a:solidFill>
                          <a:srgbClr val="1E293B"/>
                        </a:solidFill>
                        <a:latin typeface="微软雅黑" panose="020B0503020204020204" charset="-122"/>
                        <a:ea typeface="微软雅黑" panose="020B0503020204020204" charset="-122"/>
                      </a:endParaRPr>
                    </a:p>
                  </a:txBody>
                  <a:tcPr marL="137160" anchor="ctr">
                    <a:solidFill>
                      <a:srgbClr val="F1F5F9"/>
                    </a:solidFill>
                  </a:tcPr>
                </a:tc>
                <a:tc>
                  <a:txBody>
                    <a:bodyPr wrap="square"/>
                    <a:lstStyle/>
                    <a:p>
                      <a:pPr algn="l"/>
                      <a:r>
                        <a:rPr sz="1200" b="0" i="0">
                          <a:solidFill>
                            <a:srgbClr val="1E293B"/>
                          </a:solidFill>
                          <a:latin typeface="微软雅黑" panose="020B0503020204020204" charset="-122"/>
                          <a:ea typeface="微软雅黑" panose="020B0503020204020204" charset="-122"/>
                        </a:rPr>
                        <a:t>全部数据</a:t>
                      </a:r>
                      <a:endParaRPr sz="1200" b="0" i="0">
                        <a:solidFill>
                          <a:srgbClr val="1E293B"/>
                        </a:solidFill>
                        <a:latin typeface="微软雅黑" panose="020B0503020204020204" charset="-122"/>
                        <a:ea typeface="微软雅黑" panose="020B0503020204020204" charset="-122"/>
                      </a:endParaRPr>
                    </a:p>
                  </a:txBody>
                  <a:tcPr marL="137160" anchor="ctr">
                    <a:solidFill>
                      <a:srgbClr val="F1F5F9"/>
                    </a:solidFill>
                  </a:tcPr>
                </a:tc>
              </a:tr>
            </a:tbl>
          </a:graphicData>
        </a:graphic>
      </p:graphicFrame>
      <p:sp>
        <p:nvSpPr>
          <p:cNvPr id="10" name="TextBox 9"/>
          <p:cNvSpPr txBox="1"/>
          <p:nvPr/>
        </p:nvSpPr>
        <p:spPr>
          <a:xfrm>
            <a:off x="502920" y="4800600"/>
            <a:ext cx="1115568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34E4A"/>
                </a:solidFill>
                <a:latin typeface="微软雅黑" panose="020B0503020204020204" charset="-122"/>
                <a:ea typeface="微软雅黑" panose="020B0503020204020204" charset="-122"/>
              </a:rPr>
              <a:t>权限控制策略</a:t>
            </a:r>
            <a:endParaRPr sz="1500" b="1" i="0">
              <a:solidFill>
                <a:srgbClr val="134E4A"/>
              </a:solidFill>
              <a:latin typeface="微软雅黑" panose="020B0503020204020204" charset="-122"/>
              <a:ea typeface="微软雅黑" panose="020B0503020204020204" charset="-122"/>
            </a:endParaRPr>
          </a:p>
        </p:txBody>
      </p:sp>
      <p:sp>
        <p:nvSpPr>
          <p:cNvPr id="11" name="TextBox 10"/>
          <p:cNvSpPr txBox="1"/>
          <p:nvPr/>
        </p:nvSpPr>
        <p:spPr>
          <a:xfrm>
            <a:off x="502920" y="5257800"/>
            <a:ext cx="11155680" cy="1097280"/>
          </a:xfrm>
          <a:prstGeom prst="rect">
            <a:avLst/>
          </a:prstGeom>
          <a:noFill/>
        </p:spPr>
        <p:txBody>
          <a:bodyPr wrap="square" lIns="0" tIns="0" rIns="0" bIns="0">
            <a:spAutoFit/>
          </a:bodyPr>
          <a:lstStyle/>
          <a:p>
            <a:pPr>
              <a:lnSpc>
                <a:spcPct val="100000"/>
              </a:lnSpc>
              <a:spcAft>
                <a:spcPts val="8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普通用户（患者/群众/护士）检索时仅保留公开片段，过滤下推到向量库（Milvus expr / Numpy 标量过滤）</a:t>
            </a:r>
            <a:endParaRPr sz="1250" b="0" i="0">
              <a:solidFill>
                <a:srgbClr val="1E293B"/>
              </a:solidFill>
              <a:latin typeface="微软雅黑" panose="020B0503020204020204" charset="-122"/>
              <a:ea typeface="微软雅黑" panose="020B0503020204020204" charset="-122"/>
            </a:endParaRPr>
          </a:p>
          <a:p>
            <a:pPr>
              <a:lnSpc>
                <a:spcPct val="100000"/>
              </a:lnSpc>
              <a:spcAft>
                <a:spcPts val="8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医生可上传私有文档并仅供本人可见；管理员拥有全部权限，实现细粒度 RBAC</a:t>
            </a:r>
            <a:endParaRPr sz="12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功能性需求</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9978847" y="384048"/>
            <a:ext cx="1709928"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01 · 背景与需求</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07</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nvSpPr>
        <p:spPr>
          <a:xfrm>
            <a:off x="502920" y="1234440"/>
            <a:ext cx="11183112" cy="65836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380744"/>
            <a:ext cx="73152"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307592"/>
            <a:ext cx="2377440" cy="457200"/>
          </a:xfrm>
          <a:prstGeom prst="rect">
            <a:avLst/>
          </a:prstGeom>
          <a:noFill/>
        </p:spPr>
        <p:txBody>
          <a:bodyPr wrap="square" lIns="0" tIns="0" rIns="0" bIns="0" anchor="t">
            <a:spAutoFit/>
          </a:bodyPr>
          <a:lstStyle/>
          <a:p>
            <a:pPr algn="l">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智能医疗咨询</a:t>
            </a:r>
            <a:endParaRPr sz="1350" b="1" i="0">
              <a:solidFill>
                <a:srgbClr val="134E4A"/>
              </a:solidFill>
              <a:latin typeface="微软雅黑" panose="020B0503020204020204" charset="-122"/>
              <a:ea typeface="微软雅黑" panose="020B0503020204020204" charset="-122"/>
            </a:endParaRPr>
          </a:p>
        </p:txBody>
      </p:sp>
      <p:sp>
        <p:nvSpPr>
          <p:cNvPr id="12" name="TextBox 11"/>
          <p:cNvSpPr txBox="1"/>
          <p:nvPr/>
        </p:nvSpPr>
        <p:spPr>
          <a:xfrm>
            <a:off x="3429000" y="1325880"/>
            <a:ext cx="809244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自然语言提问 → 知识库召回 → 上下文构建 → 大模型流式回答，前端流式输出并附引用来源</a:t>
            </a:r>
            <a:endParaRPr sz="1200" b="0" i="0">
              <a:solidFill>
                <a:srgbClr val="1E293B"/>
              </a:solidFill>
              <a:latin typeface="微软雅黑" panose="020B0503020204020204" charset="-122"/>
              <a:ea typeface="微软雅黑" panose="020B0503020204020204" charset="-122"/>
            </a:endParaRPr>
          </a:p>
        </p:txBody>
      </p:sp>
      <p:sp>
        <p:nvSpPr>
          <p:cNvPr id="13" name="Rounded Rectangle 12"/>
          <p:cNvSpPr/>
          <p:nvPr/>
        </p:nvSpPr>
        <p:spPr>
          <a:xfrm>
            <a:off x="502920" y="1947672"/>
            <a:ext cx="11183112" cy="65836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2093976"/>
            <a:ext cx="73152"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020824"/>
            <a:ext cx="2377440" cy="457200"/>
          </a:xfrm>
          <a:prstGeom prst="rect">
            <a:avLst/>
          </a:prstGeom>
          <a:noFill/>
        </p:spPr>
        <p:txBody>
          <a:bodyPr wrap="square" lIns="0" tIns="0" rIns="0" bIns="0" anchor="t">
            <a:spAutoFit/>
          </a:bodyPr>
          <a:lstStyle/>
          <a:p>
            <a:pPr algn="l">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公开/私有权限模型</a:t>
            </a:r>
            <a:endParaRPr sz="1350" b="1" i="0">
              <a:solidFill>
                <a:srgbClr val="134E4A"/>
              </a:solidFill>
              <a:latin typeface="微软雅黑" panose="020B0503020204020204" charset="-122"/>
              <a:ea typeface="微软雅黑" panose="020B0503020204020204" charset="-122"/>
            </a:endParaRPr>
          </a:p>
        </p:txBody>
      </p:sp>
      <p:sp>
        <p:nvSpPr>
          <p:cNvPr id="16" name="TextBox 15"/>
          <p:cNvSpPr txBox="1"/>
          <p:nvPr/>
        </p:nvSpPr>
        <p:spPr>
          <a:xfrm>
            <a:off x="3429000" y="2039112"/>
            <a:ext cx="809244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知识库与文档均可设置公开或私有，查询时按角色自动过滤可见文档</a:t>
            </a:r>
            <a:endParaRPr sz="1200" b="0" i="0">
              <a:solidFill>
                <a:srgbClr val="1E293B"/>
              </a:solidFill>
              <a:latin typeface="微软雅黑" panose="020B0503020204020204" charset="-122"/>
              <a:ea typeface="微软雅黑" panose="020B0503020204020204" charset="-122"/>
            </a:endParaRPr>
          </a:p>
        </p:txBody>
      </p:sp>
      <p:sp>
        <p:nvSpPr>
          <p:cNvPr id="17" name="Rounded Rectangle 16"/>
          <p:cNvSpPr/>
          <p:nvPr/>
        </p:nvSpPr>
        <p:spPr>
          <a:xfrm>
            <a:off x="502920" y="2660904"/>
            <a:ext cx="11183112" cy="65836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2807208"/>
            <a:ext cx="73152"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2734056"/>
            <a:ext cx="2377440" cy="457200"/>
          </a:xfrm>
          <a:prstGeom prst="rect">
            <a:avLst/>
          </a:prstGeom>
          <a:noFill/>
        </p:spPr>
        <p:txBody>
          <a:bodyPr wrap="square" lIns="0" tIns="0" rIns="0" bIns="0" anchor="t">
            <a:spAutoFit/>
          </a:bodyPr>
          <a:lstStyle/>
          <a:p>
            <a:pPr algn="l">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多角色门户</a:t>
            </a:r>
            <a:endParaRPr sz="1350" b="1" i="0">
              <a:solidFill>
                <a:srgbClr val="134E4A"/>
              </a:solidFill>
              <a:latin typeface="微软雅黑" panose="020B0503020204020204" charset="-122"/>
              <a:ea typeface="微软雅黑" panose="020B0503020204020204" charset="-122"/>
            </a:endParaRPr>
          </a:p>
        </p:txBody>
      </p:sp>
      <p:sp>
        <p:nvSpPr>
          <p:cNvPr id="20" name="TextBox 19"/>
          <p:cNvSpPr txBox="1"/>
          <p:nvPr/>
        </p:nvSpPr>
        <p:spPr>
          <a:xfrm>
            <a:off x="3429000" y="2752344"/>
            <a:ext cx="809244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5 种角色登录后呈现不同功能导航与权限，统一单页应用</a:t>
            </a:r>
            <a:endParaRPr sz="1200" b="0" i="0">
              <a:solidFill>
                <a:srgbClr val="1E293B"/>
              </a:solidFill>
              <a:latin typeface="微软雅黑" panose="020B0503020204020204" charset="-122"/>
              <a:ea typeface="微软雅黑" panose="020B0503020204020204" charset="-122"/>
            </a:endParaRPr>
          </a:p>
        </p:txBody>
      </p:sp>
      <p:sp>
        <p:nvSpPr>
          <p:cNvPr id="21" name="Rounded Rectangle 20"/>
          <p:cNvSpPr/>
          <p:nvPr/>
        </p:nvSpPr>
        <p:spPr>
          <a:xfrm>
            <a:off x="502920" y="3374136"/>
            <a:ext cx="11183112" cy="65836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3520440"/>
            <a:ext cx="73152"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447288"/>
            <a:ext cx="2377440" cy="457200"/>
          </a:xfrm>
          <a:prstGeom prst="rect">
            <a:avLst/>
          </a:prstGeom>
          <a:noFill/>
        </p:spPr>
        <p:txBody>
          <a:bodyPr wrap="square" lIns="0" tIns="0" rIns="0" bIns="0" anchor="t">
            <a:spAutoFit/>
          </a:bodyPr>
          <a:lstStyle/>
          <a:p>
            <a:pPr algn="l">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患者健康档案</a:t>
            </a:r>
            <a:endParaRPr sz="1350" b="1" i="0">
              <a:solidFill>
                <a:srgbClr val="134E4A"/>
              </a:solidFill>
              <a:latin typeface="微软雅黑" panose="020B0503020204020204" charset="-122"/>
              <a:ea typeface="微软雅黑" panose="020B0503020204020204" charset="-122"/>
            </a:endParaRPr>
          </a:p>
        </p:txBody>
      </p:sp>
      <p:sp>
        <p:nvSpPr>
          <p:cNvPr id="24" name="TextBox 23"/>
          <p:cNvSpPr txBox="1"/>
          <p:nvPr/>
        </p:nvSpPr>
        <p:spPr>
          <a:xfrm>
            <a:off x="3429000" y="3465576"/>
            <a:ext cx="809244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最近住院信息、消费明细、预约挂号查询</a:t>
            </a:r>
            <a:endParaRPr sz="1200" b="0" i="0">
              <a:solidFill>
                <a:srgbClr val="1E293B"/>
              </a:solidFill>
              <a:latin typeface="微软雅黑" panose="020B0503020204020204" charset="-122"/>
              <a:ea typeface="微软雅黑" panose="020B0503020204020204" charset="-122"/>
            </a:endParaRPr>
          </a:p>
        </p:txBody>
      </p:sp>
      <p:sp>
        <p:nvSpPr>
          <p:cNvPr id="25" name="Rounded Rectangle 24"/>
          <p:cNvSpPr/>
          <p:nvPr/>
        </p:nvSpPr>
        <p:spPr>
          <a:xfrm>
            <a:off x="502920" y="4087368"/>
            <a:ext cx="11183112" cy="65836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4233672"/>
            <a:ext cx="73152"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160520"/>
            <a:ext cx="2377440" cy="457200"/>
          </a:xfrm>
          <a:prstGeom prst="rect">
            <a:avLst/>
          </a:prstGeom>
          <a:noFill/>
        </p:spPr>
        <p:txBody>
          <a:bodyPr wrap="square" lIns="0" tIns="0" rIns="0" bIns="0" anchor="t">
            <a:spAutoFit/>
          </a:bodyPr>
          <a:lstStyle/>
          <a:p>
            <a:pPr algn="l">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医护工作台</a:t>
            </a:r>
            <a:endParaRPr sz="1350" b="1" i="0">
              <a:solidFill>
                <a:srgbClr val="134E4A"/>
              </a:solidFill>
              <a:latin typeface="微软雅黑" panose="020B0503020204020204" charset="-122"/>
              <a:ea typeface="微软雅黑" panose="020B0503020204020204" charset="-122"/>
            </a:endParaRPr>
          </a:p>
        </p:txBody>
      </p:sp>
      <p:sp>
        <p:nvSpPr>
          <p:cNvPr id="28" name="TextBox 27"/>
          <p:cNvSpPr txBox="1"/>
          <p:nvPr/>
        </p:nvSpPr>
        <p:spPr>
          <a:xfrm>
            <a:off x="3429000" y="4178808"/>
            <a:ext cx="809244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患者管理、住院信息管理、护理记录、排班管理</a:t>
            </a:r>
            <a:endParaRPr sz="1200" b="0" i="0">
              <a:solidFill>
                <a:srgbClr val="1E293B"/>
              </a:solidFill>
              <a:latin typeface="微软雅黑" panose="020B0503020204020204" charset="-122"/>
              <a:ea typeface="微软雅黑" panose="020B0503020204020204" charset="-122"/>
            </a:endParaRPr>
          </a:p>
        </p:txBody>
      </p:sp>
      <p:sp>
        <p:nvSpPr>
          <p:cNvPr id="29" name="Rounded Rectangle 28"/>
          <p:cNvSpPr/>
          <p:nvPr/>
        </p:nvSpPr>
        <p:spPr>
          <a:xfrm>
            <a:off x="502920" y="4800600"/>
            <a:ext cx="11183112" cy="65836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4946904"/>
            <a:ext cx="73152"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873752"/>
            <a:ext cx="2377440" cy="457200"/>
          </a:xfrm>
          <a:prstGeom prst="rect">
            <a:avLst/>
          </a:prstGeom>
          <a:noFill/>
        </p:spPr>
        <p:txBody>
          <a:bodyPr wrap="square" lIns="0" tIns="0" rIns="0" bIns="0" anchor="t">
            <a:spAutoFit/>
          </a:bodyPr>
          <a:lstStyle/>
          <a:p>
            <a:pPr algn="l">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知识库管理</a:t>
            </a:r>
            <a:endParaRPr sz="1350" b="1" i="0">
              <a:solidFill>
                <a:srgbClr val="134E4A"/>
              </a:solidFill>
              <a:latin typeface="微软雅黑" panose="020B0503020204020204" charset="-122"/>
              <a:ea typeface="微软雅黑" panose="020B0503020204020204" charset="-122"/>
            </a:endParaRPr>
          </a:p>
        </p:txBody>
      </p:sp>
      <p:sp>
        <p:nvSpPr>
          <p:cNvPr id="32" name="TextBox 31"/>
          <p:cNvSpPr txBox="1"/>
          <p:nvPr/>
        </p:nvSpPr>
        <p:spPr>
          <a:xfrm>
            <a:off x="3429000" y="4892040"/>
            <a:ext cx="809244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创建知识库、上传 txt/md/pdf/docx/pptx、切分、向量化入库与检索</a:t>
            </a:r>
            <a:endParaRPr sz="1200" b="0" i="0">
              <a:solidFill>
                <a:srgbClr val="1E293B"/>
              </a:solidFill>
              <a:latin typeface="微软雅黑" panose="020B0503020204020204" charset="-122"/>
              <a:ea typeface="微软雅黑" panose="020B0503020204020204" charset="-122"/>
            </a:endParaRPr>
          </a:p>
        </p:txBody>
      </p:sp>
      <p:sp>
        <p:nvSpPr>
          <p:cNvPr id="33" name="Rounded Rectangle 32"/>
          <p:cNvSpPr/>
          <p:nvPr/>
        </p:nvSpPr>
        <p:spPr>
          <a:xfrm>
            <a:off x="502920" y="5513832"/>
            <a:ext cx="11183112" cy="65836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5660136"/>
            <a:ext cx="73152"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586984"/>
            <a:ext cx="2377440" cy="457200"/>
          </a:xfrm>
          <a:prstGeom prst="rect">
            <a:avLst/>
          </a:prstGeom>
          <a:noFill/>
        </p:spPr>
        <p:txBody>
          <a:bodyPr wrap="square" lIns="0" tIns="0" rIns="0" bIns="0" anchor="t">
            <a:spAutoFit/>
          </a:bodyPr>
          <a:lstStyle/>
          <a:p>
            <a:pPr algn="l">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系统管理</a:t>
            </a:r>
            <a:endParaRPr sz="1350" b="1" i="0">
              <a:solidFill>
                <a:srgbClr val="134E4A"/>
              </a:solidFill>
              <a:latin typeface="微软雅黑" panose="020B0503020204020204" charset="-122"/>
              <a:ea typeface="微软雅黑" panose="020B0503020204020204" charset="-122"/>
            </a:endParaRPr>
          </a:p>
        </p:txBody>
      </p:sp>
      <p:sp>
        <p:nvSpPr>
          <p:cNvPr id="36" name="TextBox 35"/>
          <p:cNvSpPr txBox="1"/>
          <p:nvPr/>
        </p:nvSpPr>
        <p:spPr>
          <a:xfrm>
            <a:off x="3429000" y="5605272"/>
            <a:ext cx="809244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用户增删改查、全系统统计看板</a:t>
            </a:r>
            <a:endParaRPr sz="120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非功能性需求</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9978847" y="384048"/>
            <a:ext cx="1709928"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01 · 背景与需求</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08</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custDataLst>
              <p:tags r:id="rId1"/>
            </p:custDataLst>
          </p:nvPr>
        </p:nvSpPr>
        <p:spPr>
          <a:xfrm>
            <a:off x="502920" y="1325880"/>
            <a:ext cx="5440680" cy="2103120"/>
          </a:xfrm>
          <a:prstGeom prst="roundRect">
            <a:avLst>
              <a:gd name="adj" fmla="val 5000"/>
            </a:avLst>
          </a:prstGeom>
          <a:solidFill>
            <a:srgbClr val="EA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custDataLst>
              <p:tags r:id="rId2"/>
            </p:custDataLst>
          </p:nvPr>
        </p:nvSpPr>
        <p:spPr>
          <a:xfrm>
            <a:off x="777240" y="1600200"/>
            <a:ext cx="502920" cy="5029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custDataLst>
              <p:tags r:id="rId3"/>
            </p:custDataLst>
          </p:nvPr>
        </p:nvSpPr>
        <p:spPr>
          <a:xfrm>
            <a:off x="1521460" y="1746250"/>
            <a:ext cx="1194435" cy="339090"/>
          </a:xfrm>
          <a:prstGeom prst="rect">
            <a:avLst/>
          </a:prstGeom>
          <a:noFill/>
        </p:spPr>
        <p:txBody>
          <a:bodyPr wrap="square" lIns="0" tIns="0" rIns="0" bIns="0" anchor="t">
            <a:noAutofit/>
          </a:bodyPr>
          <a:lstStyle/>
          <a:p>
            <a:pPr algn="ctr">
              <a:lnSpc>
                <a:spcPct val="100000"/>
              </a:lnSpc>
              <a:spcBef>
                <a:spcPts val="0"/>
              </a:spcBef>
              <a:spcAft>
                <a:spcPts val="0"/>
              </a:spcAft>
            </a:pPr>
            <a:r>
              <a:rPr sz="1500" b="1" i="0">
                <a:solidFill>
                  <a:srgbClr val="00B0F0"/>
                </a:solidFill>
                <a:latin typeface="微软雅黑" panose="020B0503020204020204" charset="-122"/>
                <a:ea typeface="微软雅黑" panose="020B0503020204020204" charset="-122"/>
              </a:rPr>
              <a:t>性能</a:t>
            </a:r>
            <a:endParaRPr sz="1500" b="1" i="0">
              <a:solidFill>
                <a:srgbClr val="00B0F0"/>
              </a:solidFill>
              <a:latin typeface="微软雅黑" panose="020B0503020204020204" charset="-122"/>
              <a:ea typeface="微软雅黑" panose="020B0503020204020204" charset="-122"/>
            </a:endParaRPr>
          </a:p>
        </p:txBody>
      </p:sp>
      <p:sp>
        <p:nvSpPr>
          <p:cNvPr id="12" name="TextBox 11"/>
          <p:cNvSpPr txBox="1"/>
          <p:nvPr>
            <p:custDataLst>
              <p:tags r:id="rId4"/>
            </p:custDataLst>
          </p:nvPr>
        </p:nvSpPr>
        <p:spPr>
          <a:xfrm>
            <a:off x="795528" y="2286000"/>
            <a:ext cx="4892040" cy="1005840"/>
          </a:xfrm>
          <a:prstGeom prst="rect">
            <a:avLst/>
          </a:prstGeom>
          <a:noFill/>
        </p:spPr>
        <p:txBody>
          <a:bodyPr wrap="square" lIns="0" tIns="0" rIns="0" bIns="0" anchor="t">
            <a:spAutoFit/>
          </a:bodyPr>
          <a:lstStyle/>
          <a:p>
            <a:pPr algn="l">
              <a:lnSpc>
                <a:spcPct val="120000"/>
              </a:lnSpc>
              <a:spcBef>
                <a:spcPts val="0"/>
              </a:spcBef>
              <a:spcAft>
                <a:spcPts val="0"/>
              </a:spcAft>
            </a:pPr>
            <a:r>
              <a:rPr sz="1300" b="0" i="0">
                <a:solidFill>
                  <a:srgbClr val="1E293B"/>
                </a:solidFill>
                <a:latin typeface="微软雅黑" panose="020B0503020204020204" charset="-122"/>
                <a:ea typeface="微软雅黑" panose="020B0503020204020204" charset="-122"/>
              </a:rPr>
              <a:t>SSE 流式响应，边生成边输出，首字延迟低</a:t>
            </a:r>
            <a:endParaRPr sz="1300" b="0" i="0">
              <a:solidFill>
                <a:srgbClr val="1E293B"/>
              </a:solidFill>
              <a:latin typeface="微软雅黑" panose="020B0503020204020204" charset="-122"/>
              <a:ea typeface="微软雅黑" panose="020B0503020204020204" charset="-122"/>
            </a:endParaRPr>
          </a:p>
        </p:txBody>
      </p:sp>
      <p:sp>
        <p:nvSpPr>
          <p:cNvPr id="13" name="Rounded Rectangle 12"/>
          <p:cNvSpPr/>
          <p:nvPr>
            <p:custDataLst>
              <p:tags r:id="rId5"/>
            </p:custDataLst>
          </p:nvPr>
        </p:nvSpPr>
        <p:spPr>
          <a:xfrm>
            <a:off x="6263640" y="1325880"/>
            <a:ext cx="5440680" cy="2103120"/>
          </a:xfrm>
          <a:prstGeom prst="roundRect">
            <a:avLst>
              <a:gd name="adj" fmla="val 5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custDataLst>
              <p:tags r:id="rId6"/>
            </p:custDataLst>
          </p:nvPr>
        </p:nvSpPr>
        <p:spPr>
          <a:xfrm>
            <a:off x="6537959" y="1600200"/>
            <a:ext cx="502920" cy="5029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custDataLst>
              <p:tags r:id="rId7"/>
            </p:custDataLst>
          </p:nvPr>
        </p:nvSpPr>
        <p:spPr>
          <a:xfrm>
            <a:off x="7223633" y="1691640"/>
            <a:ext cx="1828800" cy="365760"/>
          </a:xfrm>
          <a:prstGeom prst="rect">
            <a:avLst/>
          </a:prstGeom>
          <a:noFill/>
        </p:spPr>
        <p:txBody>
          <a:bodyPr wrap="square" lIns="0" tIns="0" rIns="0" bIns="0" anchor="t">
            <a:spAutoFit/>
          </a:bodyPr>
          <a:lstStyle/>
          <a:p>
            <a:pPr algn="ctr">
              <a:lnSpc>
                <a:spcPct val="100000"/>
              </a:lnSpc>
              <a:spcBef>
                <a:spcPts val="0"/>
              </a:spcBef>
              <a:spcAft>
                <a:spcPts val="0"/>
              </a:spcAft>
            </a:pPr>
            <a:r>
              <a:rPr sz="1500" b="1" i="0">
                <a:solidFill>
                  <a:srgbClr val="00B0F0"/>
                </a:solidFill>
                <a:latin typeface="微软雅黑" panose="020B0503020204020204" charset="-122"/>
                <a:ea typeface="微软雅黑" panose="020B0503020204020204" charset="-122"/>
              </a:rPr>
              <a:t>可用性</a:t>
            </a:r>
            <a:endParaRPr sz="1500" b="1" i="0">
              <a:solidFill>
                <a:srgbClr val="00B0F0"/>
              </a:solidFill>
              <a:latin typeface="微软雅黑" panose="020B0503020204020204" charset="-122"/>
              <a:ea typeface="微软雅黑" panose="020B0503020204020204" charset="-122"/>
            </a:endParaRPr>
          </a:p>
        </p:txBody>
      </p:sp>
      <p:sp>
        <p:nvSpPr>
          <p:cNvPr id="16" name="TextBox 15"/>
          <p:cNvSpPr txBox="1"/>
          <p:nvPr>
            <p:custDataLst>
              <p:tags r:id="rId8"/>
            </p:custDataLst>
          </p:nvPr>
        </p:nvSpPr>
        <p:spPr>
          <a:xfrm>
            <a:off x="6556248" y="2286000"/>
            <a:ext cx="4892040" cy="1005840"/>
          </a:xfrm>
          <a:prstGeom prst="rect">
            <a:avLst/>
          </a:prstGeom>
          <a:noFill/>
        </p:spPr>
        <p:txBody>
          <a:bodyPr wrap="square" lIns="0" tIns="0" rIns="0" bIns="0" anchor="t">
            <a:spAutoFit/>
          </a:bodyPr>
          <a:lstStyle/>
          <a:p>
            <a:pPr algn="l">
              <a:lnSpc>
                <a:spcPct val="120000"/>
              </a:lnSpc>
              <a:spcBef>
                <a:spcPts val="0"/>
              </a:spcBef>
              <a:spcAft>
                <a:spcPts val="0"/>
              </a:spcAft>
            </a:pPr>
            <a:r>
              <a:rPr sz="1300" b="0" i="0">
                <a:solidFill>
                  <a:srgbClr val="1E293B"/>
                </a:solidFill>
                <a:latin typeface="微软雅黑" panose="020B0503020204020204" charset="-122"/>
                <a:ea typeface="微软雅黑" panose="020B0503020204020204" charset="-122"/>
              </a:rPr>
              <a:t>无 API Key 也可运行；Milvus 未启动自动降级 NumpyStore</a:t>
            </a:r>
            <a:endParaRPr sz="1300" b="0" i="0">
              <a:solidFill>
                <a:srgbClr val="1E293B"/>
              </a:solidFill>
              <a:latin typeface="微软雅黑" panose="020B0503020204020204" charset="-122"/>
              <a:ea typeface="微软雅黑" panose="020B0503020204020204" charset="-122"/>
            </a:endParaRPr>
          </a:p>
        </p:txBody>
      </p:sp>
      <p:sp>
        <p:nvSpPr>
          <p:cNvPr id="17" name="Rounded Rectangle 16"/>
          <p:cNvSpPr/>
          <p:nvPr>
            <p:custDataLst>
              <p:tags r:id="rId9"/>
            </p:custDataLst>
          </p:nvPr>
        </p:nvSpPr>
        <p:spPr>
          <a:xfrm>
            <a:off x="502920" y="3703320"/>
            <a:ext cx="5440680" cy="2103120"/>
          </a:xfrm>
          <a:prstGeom prst="roundRect">
            <a:avLst>
              <a:gd name="adj" fmla="val 5000"/>
            </a:avLst>
          </a:prstGeom>
          <a:solidFill>
            <a:srgbClr val="CC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custDataLst>
              <p:tags r:id="rId10"/>
            </p:custDataLst>
          </p:nvPr>
        </p:nvSpPr>
        <p:spPr>
          <a:xfrm>
            <a:off x="777240" y="3977639"/>
            <a:ext cx="502920" cy="502920"/>
          </a:xfrm>
          <a:prstGeom prst="ellipse">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custDataLst>
              <p:tags r:id="rId11"/>
            </p:custDataLst>
          </p:nvPr>
        </p:nvSpPr>
        <p:spPr>
          <a:xfrm>
            <a:off x="1382903" y="4128770"/>
            <a:ext cx="1828800" cy="365760"/>
          </a:xfrm>
          <a:prstGeom prst="rect">
            <a:avLst/>
          </a:prstGeom>
          <a:noFill/>
        </p:spPr>
        <p:txBody>
          <a:bodyPr wrap="square" lIns="0" tIns="0" rIns="0" bIns="0" anchor="t">
            <a:spAutoFit/>
          </a:bodyPr>
          <a:lstStyle/>
          <a:p>
            <a:pPr algn="ctr">
              <a:lnSpc>
                <a:spcPct val="100000"/>
              </a:lnSpc>
              <a:spcBef>
                <a:spcPts val="0"/>
              </a:spcBef>
              <a:spcAft>
                <a:spcPts val="0"/>
              </a:spcAft>
            </a:pPr>
            <a:r>
              <a:rPr sz="1500" b="1" i="0">
                <a:solidFill>
                  <a:srgbClr val="00B0F0"/>
                </a:solidFill>
                <a:latin typeface="微软雅黑" panose="020B0503020204020204" charset="-122"/>
                <a:ea typeface="微软雅黑" panose="020B0503020204020204" charset="-122"/>
              </a:rPr>
              <a:t>安全性</a:t>
            </a:r>
            <a:endParaRPr sz="1500" b="1" i="0">
              <a:solidFill>
                <a:srgbClr val="00B0F0"/>
              </a:solidFill>
              <a:latin typeface="微软雅黑" panose="020B0503020204020204" charset="-122"/>
              <a:ea typeface="微软雅黑" panose="020B0503020204020204" charset="-122"/>
            </a:endParaRPr>
          </a:p>
        </p:txBody>
      </p:sp>
      <p:sp>
        <p:nvSpPr>
          <p:cNvPr id="20" name="TextBox 19"/>
          <p:cNvSpPr txBox="1"/>
          <p:nvPr>
            <p:custDataLst>
              <p:tags r:id="rId12"/>
            </p:custDataLst>
          </p:nvPr>
        </p:nvSpPr>
        <p:spPr>
          <a:xfrm>
            <a:off x="795528" y="4663440"/>
            <a:ext cx="4892040" cy="1005840"/>
          </a:xfrm>
          <a:prstGeom prst="rect">
            <a:avLst/>
          </a:prstGeom>
          <a:noFill/>
        </p:spPr>
        <p:txBody>
          <a:bodyPr wrap="square" lIns="0" tIns="0" rIns="0" bIns="0" anchor="t">
            <a:spAutoFit/>
          </a:bodyPr>
          <a:lstStyle/>
          <a:p>
            <a:pPr algn="l">
              <a:lnSpc>
                <a:spcPct val="120000"/>
              </a:lnSpc>
              <a:spcBef>
                <a:spcPts val="0"/>
              </a:spcBef>
              <a:spcAft>
                <a:spcPts val="0"/>
              </a:spcAft>
            </a:pPr>
            <a:r>
              <a:rPr sz="1300" b="0" i="0">
                <a:solidFill>
                  <a:srgbClr val="1E293B"/>
                </a:solidFill>
                <a:latin typeface="微软雅黑" panose="020B0503020204020204" charset="-122"/>
                <a:ea typeface="微软雅黑" panose="020B0503020204020204" charset="-122"/>
              </a:rPr>
              <a:t>JWT 认证 · 密码哈希存储 · 接口角色校验</a:t>
            </a:r>
            <a:endParaRPr sz="1300" b="0" i="0">
              <a:solidFill>
                <a:srgbClr val="1E293B"/>
              </a:solidFill>
              <a:latin typeface="微软雅黑" panose="020B0503020204020204" charset="-122"/>
              <a:ea typeface="微软雅黑" panose="020B0503020204020204" charset="-122"/>
            </a:endParaRPr>
          </a:p>
        </p:txBody>
      </p:sp>
      <p:sp>
        <p:nvSpPr>
          <p:cNvPr id="21" name="Rounded Rectangle 20"/>
          <p:cNvSpPr/>
          <p:nvPr>
            <p:custDataLst>
              <p:tags r:id="rId13"/>
            </p:custDataLst>
          </p:nvPr>
        </p:nvSpPr>
        <p:spPr>
          <a:xfrm>
            <a:off x="6263640" y="3703320"/>
            <a:ext cx="5440680" cy="2103120"/>
          </a:xfrm>
          <a:prstGeom prst="roundRect">
            <a:avLst>
              <a:gd name="adj" fmla="val 5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custDataLst>
              <p:tags r:id="rId14"/>
            </p:custDataLst>
          </p:nvPr>
        </p:nvSpPr>
        <p:spPr>
          <a:xfrm>
            <a:off x="6537959" y="3977639"/>
            <a:ext cx="502920" cy="502920"/>
          </a:xfrm>
          <a:prstGeom prst="ellipse">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custDataLst>
              <p:tags r:id="rId15"/>
            </p:custDataLst>
          </p:nvPr>
        </p:nvSpPr>
        <p:spPr>
          <a:xfrm>
            <a:off x="7040753" y="4039870"/>
            <a:ext cx="1828800" cy="365760"/>
          </a:xfrm>
          <a:prstGeom prst="rect">
            <a:avLst/>
          </a:prstGeom>
          <a:noFill/>
        </p:spPr>
        <p:txBody>
          <a:bodyPr wrap="square" lIns="0" tIns="0" rIns="0" bIns="0" anchor="t">
            <a:spAutoFit/>
          </a:bodyPr>
          <a:lstStyle/>
          <a:p>
            <a:pPr algn="ctr">
              <a:lnSpc>
                <a:spcPct val="100000"/>
              </a:lnSpc>
              <a:spcBef>
                <a:spcPts val="0"/>
              </a:spcBef>
              <a:spcAft>
                <a:spcPts val="0"/>
              </a:spcAft>
            </a:pPr>
            <a:r>
              <a:rPr sz="1500" b="1" i="0">
                <a:solidFill>
                  <a:srgbClr val="00B0F0"/>
                </a:solidFill>
                <a:latin typeface="微软雅黑" panose="020B0503020204020204" charset="-122"/>
                <a:ea typeface="微软雅黑" panose="020B0503020204020204" charset="-122"/>
              </a:rPr>
              <a:t>可维护性</a:t>
            </a:r>
            <a:endParaRPr sz="1500" b="1" i="0">
              <a:solidFill>
                <a:srgbClr val="00B0F0"/>
              </a:solidFill>
              <a:latin typeface="微软雅黑" panose="020B0503020204020204" charset="-122"/>
              <a:ea typeface="微软雅黑" panose="020B0503020204020204" charset="-122"/>
            </a:endParaRPr>
          </a:p>
        </p:txBody>
      </p:sp>
      <p:sp>
        <p:nvSpPr>
          <p:cNvPr id="24" name="TextBox 23"/>
          <p:cNvSpPr txBox="1"/>
          <p:nvPr>
            <p:custDataLst>
              <p:tags r:id="rId16"/>
            </p:custDataLst>
          </p:nvPr>
        </p:nvSpPr>
        <p:spPr>
          <a:xfrm>
            <a:off x="6556248" y="4663440"/>
            <a:ext cx="4892040" cy="1005840"/>
          </a:xfrm>
          <a:prstGeom prst="rect">
            <a:avLst/>
          </a:prstGeom>
          <a:noFill/>
        </p:spPr>
        <p:txBody>
          <a:bodyPr wrap="square" lIns="0" tIns="0" rIns="0" bIns="0" anchor="t">
            <a:spAutoFit/>
          </a:bodyPr>
          <a:lstStyle/>
          <a:p>
            <a:pPr algn="l">
              <a:lnSpc>
                <a:spcPct val="120000"/>
              </a:lnSpc>
              <a:spcBef>
                <a:spcPts val="0"/>
              </a:spcBef>
              <a:spcAft>
                <a:spcPts val="0"/>
              </a:spcAft>
            </a:pPr>
            <a:r>
              <a:rPr sz="1300" b="0" i="0">
                <a:solidFill>
                  <a:srgbClr val="1E293B"/>
                </a:solidFill>
                <a:latin typeface="微软雅黑" panose="020B0503020204020204" charset="-122"/>
                <a:ea typeface="微软雅黑" panose="020B0503020204020204" charset="-122"/>
              </a:rPr>
              <a:t>Blueprint + Service 分层，模块职责清晰</a:t>
            </a:r>
            <a:endParaRPr sz="1300" b="0" i="0">
              <a:solidFill>
                <a:srgbClr val="1E293B"/>
              </a:solidFill>
              <a:latin typeface="微软雅黑" panose="020B0503020204020204" charset="-122"/>
              <a:ea typeface="微软雅黑" panose="020B0503020204020204" charset="-122"/>
            </a:endParaRPr>
          </a:p>
        </p:txBody>
      </p:sp>
      <p:sp>
        <p:nvSpPr>
          <p:cNvPr id="25" name="TextBox 24"/>
          <p:cNvSpPr txBox="1"/>
          <p:nvPr/>
        </p:nvSpPr>
        <p:spPr>
          <a:xfrm>
            <a:off x="502920" y="5806440"/>
            <a:ext cx="11155680" cy="640080"/>
          </a:xfrm>
          <a:prstGeom prst="rect">
            <a:avLst/>
          </a:prstGeom>
          <a:noFill/>
        </p:spPr>
        <p:txBody>
          <a:bodyPr wrap="square" lIns="0" tIns="0" rIns="0" bIns="0">
            <a:spAutoFit/>
          </a:bodyPr>
          <a:lstStyle/>
          <a:p>
            <a:pPr>
              <a:lnSpc>
                <a:spcPct val="100000"/>
              </a:lnSpc>
              <a:spcAft>
                <a:spcPts val="6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可扩展性：向量库可切换（Milvus / NumpyStore）、模型可更换（DeepSeek / OpenAI / 通义 / Ollama）</a:t>
            </a:r>
            <a:endParaRPr sz="12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34440"/>
            <a:ext cx="4114800" cy="2194560"/>
          </a:xfrm>
          <a:prstGeom prst="rect">
            <a:avLst/>
          </a:prstGeom>
          <a:noFill/>
        </p:spPr>
        <p:txBody>
          <a:bodyPr wrap="square" lIns="0" tIns="0" rIns="0" bIns="0" anchor="t">
            <a:spAutoFit/>
          </a:bodyPr>
          <a:lstStyle/>
          <a:p>
            <a:pPr algn="l">
              <a:lnSpc>
                <a:spcPct val="100000"/>
              </a:lnSpc>
              <a:spcBef>
                <a:spcPts val="0"/>
              </a:spcBef>
              <a:spcAft>
                <a:spcPts val="0"/>
              </a:spcAft>
            </a:pPr>
            <a:r>
              <a:rPr sz="15000" b="1" i="0">
                <a:solidFill>
                  <a:srgbClr val="E0F2FE"/>
                </a:solidFill>
                <a:latin typeface="微软雅黑" panose="020B0503020204020204" charset="-122"/>
                <a:ea typeface="微软雅黑" panose="020B0503020204020204" charset="-122"/>
              </a:rPr>
              <a:t>02</a:t>
            </a:r>
            <a:endParaRPr sz="15000" b="1" i="0">
              <a:solidFill>
                <a:srgbClr val="E0F2FE"/>
              </a:solidFill>
              <a:latin typeface="微软雅黑" panose="020B0503020204020204" charset="-122"/>
              <a:ea typeface="微软雅黑" panose="020B0503020204020204" charset="-122"/>
            </a:endParaRPr>
          </a:p>
        </p:txBody>
      </p:sp>
      <p:sp>
        <p:nvSpPr>
          <p:cNvPr id="5" name="TextBox 4"/>
          <p:cNvSpPr txBox="1"/>
          <p:nvPr/>
        </p:nvSpPr>
        <p:spPr>
          <a:xfrm>
            <a:off x="1143000" y="3200400"/>
            <a:ext cx="4434840" cy="914400"/>
          </a:xfrm>
          <a:prstGeom prst="rect">
            <a:avLst/>
          </a:prstGeom>
          <a:noFill/>
        </p:spPr>
        <p:txBody>
          <a:bodyPr wrap="square" lIns="0" tIns="0" rIns="0" bIns="0" anchor="t">
            <a:spAutoFit/>
          </a:bodyPr>
          <a:lstStyle/>
          <a:p>
            <a:pPr algn="l">
              <a:lnSpc>
                <a:spcPct val="100000"/>
              </a:lnSpc>
              <a:spcBef>
                <a:spcPts val="0"/>
              </a:spcBef>
              <a:spcAft>
                <a:spcPts val="0"/>
              </a:spcAft>
            </a:pPr>
            <a:r>
              <a:rPr sz="3400" b="1" i="0">
                <a:solidFill>
                  <a:srgbClr val="134E4A"/>
                </a:solidFill>
                <a:latin typeface="微软雅黑" panose="020B0503020204020204" charset="-122"/>
                <a:ea typeface="微软雅黑" panose="020B0503020204020204" charset="-122"/>
              </a:rPr>
              <a:t>系统总体设计</a:t>
            </a:r>
            <a:endParaRPr sz="3400" b="1" i="0">
              <a:solidFill>
                <a:srgbClr val="134E4A"/>
              </a:solidFill>
              <a:latin typeface="微软雅黑" panose="020B0503020204020204" charset="-122"/>
              <a:ea typeface="微软雅黑" panose="020B0503020204020204" charset="-122"/>
            </a:endParaRPr>
          </a:p>
        </p:txBody>
      </p:sp>
      <p:sp>
        <p:nvSpPr>
          <p:cNvPr id="6" name="TextBox 5"/>
          <p:cNvSpPr txBox="1"/>
          <p:nvPr/>
        </p:nvSpPr>
        <p:spPr>
          <a:xfrm>
            <a:off x="1170432" y="4224528"/>
            <a:ext cx="4434840" cy="45720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94A3B8"/>
                </a:solidFill>
                <a:latin typeface="微软雅黑" panose="020B0503020204020204" charset="-122"/>
                <a:ea typeface="微软雅黑" panose="020B0503020204020204" charset="-122"/>
              </a:rPr>
              <a:t>SYSTEM DESIGN</a:t>
            </a:r>
            <a:endParaRPr sz="1500" b="1" i="0">
              <a:solidFill>
                <a:srgbClr val="94A3B8"/>
              </a:solidFill>
              <a:latin typeface="微软雅黑" panose="020B0503020204020204" charset="-122"/>
              <a:ea typeface="微软雅黑" panose="020B0503020204020204" charset="-122"/>
            </a:endParaRPr>
          </a:p>
        </p:txBody>
      </p:sp>
      <p:sp>
        <p:nvSpPr>
          <p:cNvPr id="7" name="Rounded Rectangle 6"/>
          <p:cNvSpPr/>
          <p:nvPr/>
        </p:nvSpPr>
        <p:spPr>
          <a:xfrm>
            <a:off x="5669280" y="1371600"/>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89320" y="1499616"/>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01</a:t>
            </a:r>
            <a:endParaRPr sz="1700" b="1" i="0">
              <a:solidFill>
                <a:srgbClr val="0F766E"/>
              </a:solidFill>
              <a:latin typeface="微软雅黑" panose="020B0503020204020204" charset="-122"/>
              <a:ea typeface="微软雅黑" panose="020B0503020204020204" charset="-122"/>
            </a:endParaRPr>
          </a:p>
        </p:txBody>
      </p:sp>
      <p:sp>
        <p:nvSpPr>
          <p:cNvPr id="9" name="TextBox 8"/>
          <p:cNvSpPr txBox="1"/>
          <p:nvPr/>
        </p:nvSpPr>
        <p:spPr>
          <a:xfrm>
            <a:off x="6492240" y="1508760"/>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系统总体架构</a:t>
            </a:r>
            <a:endParaRPr sz="1450" b="0" i="0">
              <a:solidFill>
                <a:srgbClr val="1E293B"/>
              </a:solidFill>
              <a:latin typeface="微软雅黑" panose="020B0503020204020204" charset="-122"/>
              <a:ea typeface="微软雅黑" panose="020B0503020204020204" charset="-122"/>
            </a:endParaRPr>
          </a:p>
        </p:txBody>
      </p:sp>
      <p:sp>
        <p:nvSpPr>
          <p:cNvPr id="10" name="Rounded Rectangle 9"/>
          <p:cNvSpPr/>
          <p:nvPr/>
        </p:nvSpPr>
        <p:spPr>
          <a:xfrm>
            <a:off x="5669280" y="2176272"/>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2304288"/>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02</a:t>
            </a:r>
            <a:endParaRPr sz="1700" b="1" i="0">
              <a:solidFill>
                <a:srgbClr val="0F766E"/>
              </a:solidFill>
              <a:latin typeface="微软雅黑" panose="020B0503020204020204" charset="-122"/>
              <a:ea typeface="微软雅黑" panose="020B0503020204020204" charset="-122"/>
            </a:endParaRPr>
          </a:p>
        </p:txBody>
      </p:sp>
      <p:sp>
        <p:nvSpPr>
          <p:cNvPr id="12" name="TextBox 11"/>
          <p:cNvSpPr txBox="1"/>
          <p:nvPr/>
        </p:nvSpPr>
        <p:spPr>
          <a:xfrm>
            <a:off x="6492240" y="2313432"/>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技术栈选型</a:t>
            </a:r>
            <a:endParaRPr sz="1450" b="0" i="0">
              <a:solidFill>
                <a:srgbClr val="1E293B"/>
              </a:solidFill>
              <a:latin typeface="微软雅黑" panose="020B0503020204020204" charset="-122"/>
              <a:ea typeface="微软雅黑" panose="020B0503020204020204" charset="-122"/>
            </a:endParaRPr>
          </a:p>
        </p:txBody>
      </p:sp>
      <p:sp>
        <p:nvSpPr>
          <p:cNvPr id="13" name="Rounded Rectangle 12"/>
          <p:cNvSpPr/>
          <p:nvPr/>
        </p:nvSpPr>
        <p:spPr>
          <a:xfrm>
            <a:off x="5669280" y="2980944"/>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3108960"/>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03</a:t>
            </a:r>
            <a:endParaRPr sz="1700" b="1" i="0">
              <a:solidFill>
                <a:srgbClr val="0F766E"/>
              </a:solidFill>
              <a:latin typeface="微软雅黑" panose="020B0503020204020204" charset="-122"/>
              <a:ea typeface="微软雅黑" panose="020B0503020204020204" charset="-122"/>
            </a:endParaRPr>
          </a:p>
        </p:txBody>
      </p:sp>
      <p:sp>
        <p:nvSpPr>
          <p:cNvPr id="15" name="TextBox 14"/>
          <p:cNvSpPr txBox="1"/>
          <p:nvPr/>
        </p:nvSpPr>
        <p:spPr>
          <a:xfrm>
            <a:off x="6492240" y="3118103"/>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数据库设计</a:t>
            </a:r>
            <a:endParaRPr sz="1450" b="0" i="0">
              <a:solidFill>
                <a:srgbClr val="1E293B"/>
              </a:solidFill>
              <a:latin typeface="微软雅黑" panose="020B0503020204020204" charset="-122"/>
              <a:ea typeface="微软雅黑" panose="020B0503020204020204" charset="-122"/>
            </a:endParaRPr>
          </a:p>
        </p:txBody>
      </p:sp>
      <p:sp>
        <p:nvSpPr>
          <p:cNvPr id="16" name="Rounded Rectangle 15"/>
          <p:cNvSpPr/>
          <p:nvPr/>
        </p:nvSpPr>
        <p:spPr>
          <a:xfrm>
            <a:off x="5669280" y="3785615"/>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3913631"/>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04</a:t>
            </a:r>
            <a:endParaRPr sz="1700" b="1" i="0">
              <a:solidFill>
                <a:srgbClr val="0F766E"/>
              </a:solidFill>
              <a:latin typeface="微软雅黑" panose="020B0503020204020204" charset="-122"/>
              <a:ea typeface="微软雅黑" panose="020B0503020204020204" charset="-122"/>
            </a:endParaRPr>
          </a:p>
        </p:txBody>
      </p:sp>
      <p:sp>
        <p:nvSpPr>
          <p:cNvPr id="18" name="TextBox 17"/>
          <p:cNvSpPr txBox="1"/>
          <p:nvPr/>
        </p:nvSpPr>
        <p:spPr>
          <a:xfrm>
            <a:off x="6492240" y="3922776"/>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权限与安全设计</a:t>
            </a:r>
            <a:endParaRPr sz="1450" b="0" i="0">
              <a:solidFill>
                <a:srgbClr val="1E293B"/>
              </a:solidFill>
              <a:latin typeface="微软雅黑" panose="020B0503020204020204" charset="-122"/>
              <a:ea typeface="微软雅黑" panose="020B0503020204020204" charset="-122"/>
            </a:endParaRPr>
          </a:p>
        </p:txBody>
      </p:sp>
      <p:sp>
        <p:nvSpPr>
          <p:cNvPr id="19" name="Rounded Rectangle 18"/>
          <p:cNvSpPr/>
          <p:nvPr/>
        </p:nvSpPr>
        <p:spPr>
          <a:xfrm>
            <a:off x="5669280" y="4590288"/>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4718303"/>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05</a:t>
            </a:r>
            <a:endParaRPr sz="1700" b="1" i="0">
              <a:solidFill>
                <a:srgbClr val="0F766E"/>
              </a:solidFill>
              <a:latin typeface="微软雅黑" panose="020B0503020204020204" charset="-122"/>
              <a:ea typeface="微软雅黑" panose="020B0503020204020204" charset="-122"/>
            </a:endParaRPr>
          </a:p>
        </p:txBody>
      </p:sp>
      <p:sp>
        <p:nvSpPr>
          <p:cNvPr id="21" name="TextBox 20"/>
          <p:cNvSpPr txBox="1"/>
          <p:nvPr/>
        </p:nvSpPr>
        <p:spPr>
          <a:xfrm>
            <a:off x="6492240" y="4727448"/>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向量检索与 RAG 设计</a:t>
            </a:r>
            <a:endParaRPr sz="14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系统总体架构</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02 · 总体设计</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10</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nvSpPr>
        <p:spPr>
          <a:xfrm>
            <a:off x="502920" y="1234440"/>
            <a:ext cx="2103120" cy="502920"/>
          </a:xfrm>
          <a:prstGeom prst="roundRect">
            <a:avLst>
              <a:gd name="adj" fmla="val 50000"/>
            </a:avLst>
          </a:prstGeom>
          <a:solidFill>
            <a:srgbClr val="CCF1E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400" b="1" i="0">
                <a:solidFill>
                  <a:srgbClr val="134E4A"/>
                </a:solidFill>
                <a:latin typeface="微软雅黑" panose="020B0503020204020204" charset="-122"/>
                <a:ea typeface="微软雅黑" panose="020B0503020204020204" charset="-122"/>
              </a:rPr>
              <a:t>患者</a:t>
            </a:r>
            <a:endParaRPr sz="1400" b="1" i="0">
              <a:solidFill>
                <a:srgbClr val="134E4A"/>
              </a:solidFill>
              <a:latin typeface="微软雅黑" panose="020B0503020204020204" charset="-122"/>
              <a:ea typeface="微软雅黑" panose="020B0503020204020204" charset="-122"/>
            </a:endParaRPr>
          </a:p>
        </p:txBody>
      </p:sp>
      <p:sp>
        <p:nvSpPr>
          <p:cNvPr id="10" name="Rounded Rectangle 9"/>
          <p:cNvSpPr/>
          <p:nvPr/>
        </p:nvSpPr>
        <p:spPr>
          <a:xfrm>
            <a:off x="2750058" y="1234440"/>
            <a:ext cx="2103120" cy="502920"/>
          </a:xfrm>
          <a:prstGeom prst="roundRect">
            <a:avLst>
              <a:gd name="adj" fmla="val 50000"/>
            </a:avLst>
          </a:prstGeom>
          <a:solidFill>
            <a:srgbClr val="CCF1E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400" b="1" i="0">
                <a:solidFill>
                  <a:srgbClr val="134E4A"/>
                </a:solidFill>
                <a:latin typeface="微软雅黑" panose="020B0503020204020204" charset="-122"/>
                <a:ea typeface="微软雅黑" panose="020B0503020204020204" charset="-122"/>
              </a:rPr>
              <a:t>医生</a:t>
            </a:r>
            <a:endParaRPr sz="1400" b="1" i="0">
              <a:solidFill>
                <a:srgbClr val="134E4A"/>
              </a:solidFill>
              <a:latin typeface="微软雅黑" panose="020B0503020204020204" charset="-122"/>
              <a:ea typeface="微软雅黑" panose="020B0503020204020204" charset="-122"/>
            </a:endParaRPr>
          </a:p>
        </p:txBody>
      </p:sp>
      <p:sp>
        <p:nvSpPr>
          <p:cNvPr id="11" name="Rounded Rectangle 10"/>
          <p:cNvSpPr/>
          <p:nvPr/>
        </p:nvSpPr>
        <p:spPr>
          <a:xfrm>
            <a:off x="4997196" y="1234440"/>
            <a:ext cx="2103120" cy="502920"/>
          </a:xfrm>
          <a:prstGeom prst="roundRect">
            <a:avLst>
              <a:gd name="adj" fmla="val 50000"/>
            </a:avLst>
          </a:prstGeom>
          <a:solidFill>
            <a:srgbClr val="CCF1E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400" b="1" i="0">
                <a:solidFill>
                  <a:srgbClr val="134E4A"/>
                </a:solidFill>
                <a:latin typeface="微软雅黑" panose="020B0503020204020204" charset="-122"/>
                <a:ea typeface="微软雅黑" panose="020B0503020204020204" charset="-122"/>
              </a:rPr>
              <a:t>护士</a:t>
            </a:r>
            <a:endParaRPr sz="1400" b="1" i="0">
              <a:solidFill>
                <a:srgbClr val="134E4A"/>
              </a:solidFill>
              <a:latin typeface="微软雅黑" panose="020B0503020204020204" charset="-122"/>
              <a:ea typeface="微软雅黑" panose="020B0503020204020204" charset="-122"/>
            </a:endParaRPr>
          </a:p>
        </p:txBody>
      </p:sp>
      <p:sp>
        <p:nvSpPr>
          <p:cNvPr id="12" name="Rounded Rectangle 11"/>
          <p:cNvSpPr/>
          <p:nvPr/>
        </p:nvSpPr>
        <p:spPr>
          <a:xfrm>
            <a:off x="7244333" y="1234440"/>
            <a:ext cx="2103120" cy="502920"/>
          </a:xfrm>
          <a:prstGeom prst="roundRect">
            <a:avLst>
              <a:gd name="adj" fmla="val 50000"/>
            </a:avLst>
          </a:prstGeom>
          <a:solidFill>
            <a:srgbClr val="CCF1E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400" b="1" i="0">
                <a:solidFill>
                  <a:srgbClr val="134E4A"/>
                </a:solidFill>
                <a:latin typeface="微软雅黑" panose="020B0503020204020204" charset="-122"/>
                <a:ea typeface="微软雅黑" panose="020B0503020204020204" charset="-122"/>
              </a:rPr>
              <a:t>群众</a:t>
            </a:r>
            <a:endParaRPr sz="1400" b="1" i="0">
              <a:solidFill>
                <a:srgbClr val="134E4A"/>
              </a:solidFill>
              <a:latin typeface="微软雅黑" panose="020B0503020204020204" charset="-122"/>
              <a:ea typeface="微软雅黑" panose="020B0503020204020204" charset="-122"/>
            </a:endParaRPr>
          </a:p>
        </p:txBody>
      </p:sp>
      <p:sp>
        <p:nvSpPr>
          <p:cNvPr id="13" name="Rounded Rectangle 12"/>
          <p:cNvSpPr/>
          <p:nvPr/>
        </p:nvSpPr>
        <p:spPr>
          <a:xfrm>
            <a:off x="9491472" y="1234440"/>
            <a:ext cx="2103120" cy="502920"/>
          </a:xfrm>
          <a:prstGeom prst="roundRect">
            <a:avLst>
              <a:gd name="adj" fmla="val 50000"/>
            </a:avLst>
          </a:prstGeom>
          <a:solidFill>
            <a:srgbClr val="CCF1E8"/>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400" b="1" i="0">
                <a:solidFill>
                  <a:srgbClr val="134E4A"/>
                </a:solidFill>
                <a:latin typeface="微软雅黑" panose="020B0503020204020204" charset="-122"/>
                <a:ea typeface="微软雅黑" panose="020B0503020204020204" charset="-122"/>
              </a:rPr>
              <a:t>管理员</a:t>
            </a:r>
            <a:endParaRPr sz="1400" b="1" i="0">
              <a:solidFill>
                <a:srgbClr val="134E4A"/>
              </a:solidFill>
              <a:latin typeface="微软雅黑" panose="020B0503020204020204" charset="-122"/>
              <a:ea typeface="微软雅黑" panose="020B0503020204020204" charset="-122"/>
            </a:endParaRPr>
          </a:p>
        </p:txBody>
      </p:sp>
      <p:sp>
        <p:nvSpPr>
          <p:cNvPr id="14" name="Rectangle 13"/>
          <p:cNvSpPr/>
          <p:nvPr/>
        </p:nvSpPr>
        <p:spPr>
          <a:xfrm>
            <a:off x="6016752" y="1755648"/>
            <a:ext cx="164592"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971032" y="1700784"/>
            <a:ext cx="256032" cy="146304"/>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2920" y="1828800"/>
            <a:ext cx="11183112" cy="640080"/>
          </a:xfrm>
          <a:prstGeom prst="roundRect">
            <a:avLst>
              <a:gd name="adj" fmla="val 14000"/>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956816"/>
            <a:ext cx="10817352" cy="384048"/>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FFFFFF"/>
                </a:solidFill>
                <a:latin typeface="微软雅黑" panose="020B0503020204020204" charset="-122"/>
                <a:ea typeface="微软雅黑" panose="020B0503020204020204" charset="-122"/>
              </a:rPr>
              <a:t>表现层：Vue 3 单页应用（Element Plus · Pinia · Vue Router · ECharts · Axios）</a:t>
            </a:r>
            <a:endParaRPr sz="1400" b="1" i="0">
              <a:solidFill>
                <a:srgbClr val="FFFFFF"/>
              </a:solidFill>
              <a:latin typeface="微软雅黑" panose="020B0503020204020204" charset="-122"/>
              <a:ea typeface="微软雅黑" panose="020B0503020204020204" charset="-122"/>
            </a:endParaRPr>
          </a:p>
        </p:txBody>
      </p:sp>
      <p:sp>
        <p:nvSpPr>
          <p:cNvPr id="18" name="Rectangle 17"/>
          <p:cNvSpPr/>
          <p:nvPr/>
        </p:nvSpPr>
        <p:spPr>
          <a:xfrm>
            <a:off x="6016752" y="2505456"/>
            <a:ext cx="164592"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971032" y="2450592"/>
            <a:ext cx="256032" cy="146304"/>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2578608"/>
            <a:ext cx="5440680" cy="1481328"/>
          </a:xfrm>
          <a:prstGeom prst="roundRect">
            <a:avLst>
              <a:gd name="adj" fmla="val 5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697480"/>
            <a:ext cx="5029200" cy="32004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API 接口层 · Flask Blueprint</a:t>
            </a:r>
            <a:endParaRPr sz="1300" b="1" i="0">
              <a:solidFill>
                <a:srgbClr val="134E4A"/>
              </a:solidFill>
              <a:latin typeface="微软雅黑" panose="020B0503020204020204" charset="-122"/>
              <a:ea typeface="微软雅黑" panose="020B0503020204020204" charset="-122"/>
            </a:endParaRPr>
          </a:p>
        </p:txBody>
      </p:sp>
      <p:sp>
        <p:nvSpPr>
          <p:cNvPr id="22" name="TextBox 21"/>
          <p:cNvSpPr txBox="1"/>
          <p:nvPr/>
        </p:nvSpPr>
        <p:spPr>
          <a:xfrm>
            <a:off x="731520" y="3127248"/>
            <a:ext cx="5029200" cy="822960"/>
          </a:xfrm>
          <a:prstGeom prst="rect">
            <a:avLst/>
          </a:prstGeom>
          <a:noFill/>
        </p:spPr>
        <p:txBody>
          <a:bodyPr wrap="square" lIns="0" tIns="0" rIns="0" bIns="0" anchor="t">
            <a:spAutoFit/>
          </a:bodyPr>
          <a:lstStyle/>
          <a:p>
            <a:pPr algn="l">
              <a:lnSpc>
                <a:spcPct val="125000"/>
              </a:lnSpc>
              <a:spcBef>
                <a:spcPts val="0"/>
              </a:spcBef>
              <a:spcAft>
                <a:spcPts val="0"/>
              </a:spcAft>
            </a:pPr>
            <a:r>
              <a:rPr sz="1150" b="0" i="0">
                <a:solidFill>
                  <a:srgbClr val="1E293B"/>
                </a:solidFill>
                <a:latin typeface="微软雅黑" panose="020B0503020204020204" charset="-122"/>
                <a:ea typeface="微软雅黑" panose="020B0503020204020204" charset="-122"/>
              </a:rPr>
              <a:t>auth · kb · chat · patient · doctor</a:t>
            </a:r>
            <a:endParaRPr sz="1150" b="0" i="0">
              <a:solidFill>
                <a:srgbClr val="1E293B"/>
              </a:solidFill>
              <a:latin typeface="微软雅黑" panose="020B0503020204020204" charset="-122"/>
              <a:ea typeface="微软雅黑" panose="020B0503020204020204" charset="-122"/>
            </a:endParaRPr>
          </a:p>
          <a:p>
            <a:pPr algn="l">
              <a:lnSpc>
                <a:spcPct val="125000"/>
              </a:lnSpc>
              <a:spcBef>
                <a:spcPts val="0"/>
              </a:spcBef>
              <a:spcAft>
                <a:spcPts val="0"/>
              </a:spcAft>
            </a:pPr>
            <a:r>
              <a:rPr sz="1150" b="0" i="0">
                <a:solidFill>
                  <a:srgbClr val="1E293B"/>
                </a:solidFill>
                <a:latin typeface="微软雅黑" panose="020B0503020204020204" charset="-122"/>
                <a:ea typeface="微软雅黑" panose="020B0503020204020204" charset="-122"/>
              </a:rPr>
              <a:t>nurse · schedule · dashboard · admin</a:t>
            </a:r>
            <a:endParaRPr sz="1150" b="0" i="0">
              <a:solidFill>
                <a:srgbClr val="1E293B"/>
              </a:solidFill>
              <a:latin typeface="微软雅黑" panose="020B0503020204020204" charset="-122"/>
              <a:ea typeface="微软雅黑" panose="020B0503020204020204" charset="-122"/>
            </a:endParaRPr>
          </a:p>
        </p:txBody>
      </p:sp>
      <p:sp>
        <p:nvSpPr>
          <p:cNvPr id="23" name="Rounded Rectangle 22"/>
          <p:cNvSpPr/>
          <p:nvPr/>
        </p:nvSpPr>
        <p:spPr>
          <a:xfrm>
            <a:off x="6245352" y="2578608"/>
            <a:ext cx="5440680" cy="1481328"/>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3952" y="2697480"/>
            <a:ext cx="5029200" cy="32004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业务服务层 · Service</a:t>
            </a:r>
            <a:endParaRPr sz="1300" b="1" i="0">
              <a:solidFill>
                <a:srgbClr val="134E4A"/>
              </a:solidFill>
              <a:latin typeface="微软雅黑" panose="020B0503020204020204" charset="-122"/>
              <a:ea typeface="微软雅黑" panose="020B0503020204020204" charset="-122"/>
            </a:endParaRPr>
          </a:p>
        </p:txBody>
      </p:sp>
      <p:sp>
        <p:nvSpPr>
          <p:cNvPr id="25" name="TextBox 24"/>
          <p:cNvSpPr txBox="1"/>
          <p:nvPr/>
        </p:nvSpPr>
        <p:spPr>
          <a:xfrm>
            <a:off x="6473952" y="3127248"/>
            <a:ext cx="5029200" cy="822960"/>
          </a:xfrm>
          <a:prstGeom prst="rect">
            <a:avLst/>
          </a:prstGeom>
          <a:noFill/>
        </p:spPr>
        <p:txBody>
          <a:bodyPr wrap="square" lIns="0" tIns="0" rIns="0" bIns="0" anchor="t">
            <a:spAutoFit/>
          </a:bodyPr>
          <a:lstStyle/>
          <a:p>
            <a:pPr algn="l">
              <a:lnSpc>
                <a:spcPct val="125000"/>
              </a:lnSpc>
              <a:spcBef>
                <a:spcPts val="0"/>
              </a:spcBef>
              <a:spcAft>
                <a:spcPts val="0"/>
              </a:spcAft>
            </a:pPr>
            <a:r>
              <a:rPr sz="1150" b="0" i="0">
                <a:solidFill>
                  <a:srgbClr val="1E293B"/>
                </a:solidFill>
                <a:latin typeface="微软雅黑" panose="020B0503020204020204" charset="-122"/>
                <a:ea typeface="微软雅黑" panose="020B0503020204020204" charset="-122"/>
              </a:rPr>
              <a:t>智能咨询(RAG) · 知识库 · 文档处理 · 检索重排</a:t>
            </a:r>
            <a:endParaRPr sz="1150" b="0" i="0">
              <a:solidFill>
                <a:srgbClr val="1E293B"/>
              </a:solidFill>
              <a:latin typeface="微软雅黑" panose="020B0503020204020204" charset="-122"/>
              <a:ea typeface="微软雅黑" panose="020B0503020204020204" charset="-122"/>
            </a:endParaRPr>
          </a:p>
          <a:p>
            <a:pPr algn="l">
              <a:lnSpc>
                <a:spcPct val="125000"/>
              </a:lnSpc>
              <a:spcBef>
                <a:spcPts val="0"/>
              </a:spcBef>
              <a:spcAft>
                <a:spcPts val="0"/>
              </a:spcAft>
            </a:pPr>
            <a:r>
              <a:rPr sz="1150" b="0" i="0">
                <a:solidFill>
                  <a:srgbClr val="1E293B"/>
                </a:solidFill>
                <a:latin typeface="微软雅黑" panose="020B0503020204020204" charset="-122"/>
                <a:ea typeface="微软雅黑" panose="020B0503020204020204" charset="-122"/>
              </a:rPr>
              <a:t>患者档案 · 医护排班 · 用户管理</a:t>
            </a:r>
            <a:endParaRPr sz="1150" b="0" i="0">
              <a:solidFill>
                <a:srgbClr val="1E293B"/>
              </a:solidFill>
              <a:latin typeface="微软雅黑" panose="020B0503020204020204" charset="-122"/>
              <a:ea typeface="微软雅黑" panose="020B0503020204020204" charset="-122"/>
            </a:endParaRPr>
          </a:p>
        </p:txBody>
      </p:sp>
      <p:sp>
        <p:nvSpPr>
          <p:cNvPr id="26" name="Rectangle 25"/>
          <p:cNvSpPr/>
          <p:nvPr/>
        </p:nvSpPr>
        <p:spPr>
          <a:xfrm>
            <a:off x="6016752" y="4096512"/>
            <a:ext cx="164592" cy="548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971032" y="4041648"/>
            <a:ext cx="256032" cy="146304"/>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02920" y="4169663"/>
            <a:ext cx="11183112" cy="640080"/>
          </a:xfrm>
          <a:prstGeom prst="roundRect">
            <a:avLst>
              <a:gd name="adj" fmla="val 14000"/>
            </a:avLst>
          </a:prstGeom>
          <a:solidFill>
            <a:srgbClr val="134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297680"/>
            <a:ext cx="10817352" cy="384048"/>
          </a:xfrm>
          <a:prstGeom prst="rect">
            <a:avLst/>
          </a:prstGeom>
          <a:noFill/>
        </p:spPr>
        <p:txBody>
          <a:bodyPr wrap="square" lIns="0" tIns="0" rIns="0" bIns="0" anchor="t">
            <a:spAutoFit/>
          </a:bodyPr>
          <a:lstStyle/>
          <a:p>
            <a:pPr algn="ctr">
              <a:lnSpc>
                <a:spcPct val="100000"/>
              </a:lnSpc>
              <a:spcBef>
                <a:spcPts val="0"/>
              </a:spcBef>
              <a:spcAft>
                <a:spcPts val="0"/>
              </a:spcAft>
            </a:pPr>
            <a:r>
              <a:rPr sz="1350" b="1" i="0">
                <a:solidFill>
                  <a:srgbClr val="FFFFFF"/>
                </a:solidFill>
                <a:latin typeface="微软雅黑" panose="020B0503020204020204" charset="-122"/>
                <a:ea typeface="微软雅黑" panose="020B0503020204020204" charset="-122"/>
              </a:rPr>
              <a:t>数据与基础：MySQL 8 业务数据 · Milvus/NumpyStore 向量库 · 本地文件存储 · LLM 接口（DeepSeek）</a:t>
            </a:r>
            <a:endParaRPr sz="1350" b="1" i="0">
              <a:solidFill>
                <a:srgbClr val="FFFFFF"/>
              </a:solidFill>
              <a:latin typeface="微软雅黑" panose="020B0503020204020204" charset="-122"/>
              <a:ea typeface="微软雅黑" panose="020B0503020204020204" charset="-122"/>
            </a:endParaRPr>
          </a:p>
        </p:txBody>
      </p:sp>
      <p:sp>
        <p:nvSpPr>
          <p:cNvPr id="30" name="Rounded Rectangle 29"/>
          <p:cNvSpPr/>
          <p:nvPr/>
        </p:nvSpPr>
        <p:spPr>
          <a:xfrm>
            <a:off x="502920" y="5074920"/>
            <a:ext cx="11183112" cy="109728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5230368"/>
            <a:ext cx="1060704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关键机制</a:t>
            </a:r>
            <a:endParaRPr sz="1300" b="1" i="0">
              <a:solidFill>
                <a:srgbClr val="134E4A"/>
              </a:solidFill>
              <a:latin typeface="微软雅黑" panose="020B0503020204020204" charset="-122"/>
              <a:ea typeface="微软雅黑" panose="020B0503020204020204" charset="-122"/>
            </a:endParaRPr>
          </a:p>
        </p:txBody>
      </p:sp>
      <p:sp>
        <p:nvSpPr>
          <p:cNvPr id="32" name="TextBox 31"/>
          <p:cNvSpPr txBox="1"/>
          <p:nvPr/>
        </p:nvSpPr>
        <p:spPr>
          <a:xfrm>
            <a:off x="795528" y="5650992"/>
            <a:ext cx="10607040" cy="548640"/>
          </a:xfrm>
          <a:prstGeom prst="rect">
            <a:avLst/>
          </a:prstGeom>
          <a:noFill/>
        </p:spPr>
        <p:txBody>
          <a:bodyPr wrap="square" lIns="0" tIns="0" rIns="0" bIns="0">
            <a:spAutoFit/>
          </a:bodyPr>
          <a:lstStyle/>
          <a:p>
            <a:pPr>
              <a:lnSpc>
                <a:spcPct val="100000"/>
              </a:lnSpc>
              <a:spcAft>
                <a:spcPts val="5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JWT 认证与会话管理 → 角色鉴权后访问各服务；SSE 流式响应推送到前端</a:t>
            </a:r>
            <a:endParaRPr sz="1150" b="0" i="0">
              <a:solidFill>
                <a:srgbClr val="1E293B"/>
              </a:solidFill>
              <a:latin typeface="微软雅黑" panose="020B0503020204020204" charset="-122"/>
              <a:ea typeface="微软雅黑" panose="020B0503020204020204" charset="-122"/>
            </a:endParaRPr>
          </a:p>
          <a:p>
            <a:pPr>
              <a:lnSpc>
                <a:spcPct val="100000"/>
              </a:lnSpc>
              <a:spcAft>
                <a:spcPts val="5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RAG 全链路：权限过滤 → 向量召回 → 关键词重排 → 上下文构建 → 大模型生成 → 引用来源</a:t>
            </a:r>
            <a:endParaRPr sz="11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技术栈选型</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02 · 总体设计</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11</a:t>
            </a:r>
            <a:endParaRPr sz="1000" b="1" i="0">
              <a:solidFill>
                <a:srgbClr val="64748B"/>
              </a:solidFill>
              <a:latin typeface="微软雅黑" panose="020B0503020204020204" charset="-122"/>
              <a:ea typeface="微软雅黑" panose="020B0503020204020204" charset="-122"/>
            </a:endParaRPr>
          </a:p>
        </p:txBody>
      </p:sp>
      <p:graphicFrame>
        <p:nvGraphicFramePr>
          <p:cNvPr id="9" name="Table 8"/>
          <p:cNvGraphicFramePr>
            <a:graphicFrameLocks noGrp="1"/>
          </p:cNvGraphicFramePr>
          <p:nvPr/>
        </p:nvGraphicFramePr>
        <p:xfrm>
          <a:off x="502920" y="1280160"/>
          <a:ext cx="11183112" cy="3840480"/>
        </p:xfrm>
        <a:graphic>
          <a:graphicData uri="http://schemas.openxmlformats.org/drawingml/2006/table">
            <a:tbl>
              <a:tblPr firstRow="1" bandRow="1">
                <a:tableStyleId>{5C22544A-7EE6-4342-B048-85BDC9FD1C3A}</a:tableStyleId>
              </a:tblPr>
              <a:tblGrid>
                <a:gridCol w="1554480"/>
                <a:gridCol w="4846320"/>
                <a:gridCol w="4782312"/>
              </a:tblGrid>
              <a:tr h="640080">
                <a:tc>
                  <a:txBody>
                    <a:bodyPr wrap="square"/>
                    <a:lstStyle/>
                    <a:p>
                      <a:r>
                        <a:rPr sz="1300" b="1" i="0">
                          <a:solidFill>
                            <a:srgbClr val="FFFFFF"/>
                          </a:solidFill>
                          <a:latin typeface="微软雅黑" panose="020B0503020204020204" charset="-122"/>
                          <a:ea typeface="微软雅黑" panose="020B0503020204020204" charset="-122"/>
                        </a:rPr>
                        <a:t>层级</a:t>
                      </a:r>
                      <a:endParaRPr sz="1300" b="1" i="0">
                        <a:solidFill>
                          <a:srgbClr val="FFFFFF"/>
                        </a:solidFill>
                        <a:latin typeface="微软雅黑" panose="020B0503020204020204" charset="-122"/>
                        <a:ea typeface="微软雅黑" panose="020B0503020204020204" charset="-122"/>
                      </a:endParaRPr>
                    </a:p>
                  </a:txBody>
                  <a:tcPr marL="137160" marT="36576" marB="36576" anchor="ctr">
                    <a:solidFill>
                      <a:srgbClr val="0F766E"/>
                    </a:solidFill>
                  </a:tcPr>
                </a:tc>
                <a:tc>
                  <a:txBody>
                    <a:bodyPr wrap="square"/>
                    <a:lstStyle/>
                    <a:p>
                      <a:r>
                        <a:rPr sz="1300" b="1" i="0">
                          <a:solidFill>
                            <a:srgbClr val="FFFFFF"/>
                          </a:solidFill>
                          <a:latin typeface="微软雅黑" panose="020B0503020204020204" charset="-122"/>
                          <a:ea typeface="微软雅黑" panose="020B0503020204020204" charset="-122"/>
                        </a:rPr>
                        <a:t>技术选型</a:t>
                      </a:r>
                      <a:endParaRPr sz="1300" b="1" i="0">
                        <a:solidFill>
                          <a:srgbClr val="FFFFFF"/>
                        </a:solidFill>
                        <a:latin typeface="微软雅黑" panose="020B0503020204020204" charset="-122"/>
                        <a:ea typeface="微软雅黑" panose="020B0503020204020204" charset="-122"/>
                      </a:endParaRPr>
                    </a:p>
                  </a:txBody>
                  <a:tcPr marL="137160" marT="36576" marB="36576" anchor="ctr">
                    <a:solidFill>
                      <a:srgbClr val="0F766E"/>
                    </a:solidFill>
                  </a:tcPr>
                </a:tc>
                <a:tc>
                  <a:txBody>
                    <a:bodyPr wrap="square"/>
                    <a:lstStyle/>
                    <a:p>
                      <a:r>
                        <a:rPr sz="1300" b="1" i="0">
                          <a:solidFill>
                            <a:srgbClr val="FFFFFF"/>
                          </a:solidFill>
                          <a:latin typeface="微软雅黑" panose="020B0503020204020204" charset="-122"/>
                          <a:ea typeface="微软雅黑" panose="020B0503020204020204" charset="-122"/>
                        </a:rPr>
                        <a:t>说明</a:t>
                      </a:r>
                      <a:endParaRPr sz="1300" b="1" i="0">
                        <a:solidFill>
                          <a:srgbClr val="FFFFFF"/>
                        </a:solidFill>
                        <a:latin typeface="微软雅黑" panose="020B0503020204020204" charset="-122"/>
                        <a:ea typeface="微软雅黑" panose="020B0503020204020204" charset="-122"/>
                      </a:endParaRPr>
                    </a:p>
                  </a:txBody>
                  <a:tcPr marL="137160" marT="36576" marB="36576" anchor="ctr">
                    <a:solidFill>
                      <a:srgbClr val="0F766E"/>
                    </a:solidFill>
                  </a:tcPr>
                </a:tc>
              </a:tr>
              <a:tr h="640080">
                <a:tc>
                  <a:txBody>
                    <a:bodyPr wrap="square"/>
                    <a:lstStyle/>
                    <a:p>
                      <a:r>
                        <a:rPr sz="1200" b="1" i="0">
                          <a:solidFill>
                            <a:srgbClr val="1E293B"/>
                          </a:solidFill>
                          <a:latin typeface="微软雅黑" panose="020B0503020204020204" charset="-122"/>
                          <a:ea typeface="微软雅黑" panose="020B0503020204020204" charset="-122"/>
                        </a:rPr>
                        <a:t>前端</a:t>
                      </a:r>
                      <a:endParaRPr sz="1200" b="1"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c>
                  <a:txBody>
                    <a:bodyPr wrap="square"/>
                    <a:lstStyle/>
                    <a:p>
                      <a:r>
                        <a:rPr sz="1200" b="0" i="0">
                          <a:solidFill>
                            <a:srgbClr val="1E293B"/>
                          </a:solidFill>
                          <a:latin typeface="微软雅黑" panose="020B0503020204020204" charset="-122"/>
                          <a:ea typeface="微软雅黑" panose="020B0503020204020204" charset="-122"/>
                        </a:rPr>
                        <a:t>Vue 3 · TypeScript · Vite · Element Plus</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c>
                  <a:txBody>
                    <a:bodyPr wrap="square"/>
                    <a:lstStyle/>
                    <a:p>
                      <a:r>
                        <a:rPr sz="1200" b="0" i="0">
                          <a:solidFill>
                            <a:srgbClr val="1E293B"/>
                          </a:solidFill>
                          <a:latin typeface="微软雅黑" panose="020B0503020204020204" charset="-122"/>
                          <a:ea typeface="微软雅黑" panose="020B0503020204020204" charset="-122"/>
                        </a:rPr>
                        <a:t>Pinia · Vue Router · ECharts · Axios，单页应用</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r>
              <a:tr h="640080">
                <a:tc>
                  <a:txBody>
                    <a:bodyPr wrap="square"/>
                    <a:lstStyle/>
                    <a:p>
                      <a:r>
                        <a:rPr sz="1200" b="1" i="0">
                          <a:solidFill>
                            <a:srgbClr val="1E293B"/>
                          </a:solidFill>
                          <a:latin typeface="微软雅黑" panose="020B0503020204020204" charset="-122"/>
                          <a:ea typeface="微软雅黑" panose="020B0503020204020204" charset="-122"/>
                        </a:rPr>
                        <a:t>后端</a:t>
                      </a:r>
                      <a:endParaRPr sz="1200" b="1" i="0">
                        <a:solidFill>
                          <a:srgbClr val="1E293B"/>
                        </a:solidFill>
                        <a:latin typeface="微软雅黑" panose="020B0503020204020204" charset="-122"/>
                        <a:ea typeface="微软雅黑" panose="020B0503020204020204" charset="-122"/>
                      </a:endParaRPr>
                    </a:p>
                  </a:txBody>
                  <a:tcPr marL="137160" marT="36576" marB="36576" anchor="ctr">
                    <a:solidFill>
                      <a:srgbClr val="F1F5F9"/>
                    </a:solidFill>
                  </a:tcPr>
                </a:tc>
                <a:tc>
                  <a:txBody>
                    <a:bodyPr wrap="square"/>
                    <a:lstStyle/>
                    <a:p>
                      <a:r>
                        <a:rPr sz="1200" b="0" i="0">
                          <a:solidFill>
                            <a:srgbClr val="1E293B"/>
                          </a:solidFill>
                          <a:latin typeface="微软雅黑" panose="020B0503020204020204" charset="-122"/>
                          <a:ea typeface="微软雅黑" panose="020B0503020204020204" charset="-122"/>
                        </a:rPr>
                        <a:t>Python · Flask · Flask-CORS</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1F5F9"/>
                    </a:solidFill>
                  </a:tcPr>
                </a:tc>
                <a:tc>
                  <a:txBody>
                    <a:bodyPr wrap="square"/>
                    <a:lstStyle/>
                    <a:p>
                      <a:r>
                        <a:rPr sz="1200" b="0" i="0">
                          <a:solidFill>
                            <a:srgbClr val="1E293B"/>
                          </a:solidFill>
                          <a:latin typeface="微软雅黑" panose="020B0503020204020204" charset="-122"/>
                          <a:ea typeface="微软雅黑" panose="020B0503020204020204" charset="-122"/>
                        </a:rPr>
                        <a:t>Blueprint + Service 分层，SSE 流式</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1F5F9"/>
                    </a:solidFill>
                  </a:tcPr>
                </a:tc>
              </a:tr>
              <a:tr h="640080">
                <a:tc>
                  <a:txBody>
                    <a:bodyPr wrap="square"/>
                    <a:lstStyle/>
                    <a:p>
                      <a:r>
                        <a:rPr sz="1200" b="1" i="0">
                          <a:solidFill>
                            <a:srgbClr val="1E293B"/>
                          </a:solidFill>
                          <a:latin typeface="微软雅黑" panose="020B0503020204020204" charset="-122"/>
                          <a:ea typeface="微软雅黑" panose="020B0503020204020204" charset="-122"/>
                        </a:rPr>
                        <a:t>数据存储</a:t>
                      </a:r>
                      <a:endParaRPr sz="1200" b="1"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c>
                  <a:txBody>
                    <a:bodyPr wrap="square"/>
                    <a:lstStyle/>
                    <a:p>
                      <a:r>
                        <a:rPr sz="1200" b="0" i="0">
                          <a:solidFill>
                            <a:srgbClr val="1E293B"/>
                          </a:solidFill>
                          <a:latin typeface="微软雅黑" panose="020B0503020204020204" charset="-122"/>
                          <a:ea typeface="微软雅黑" panose="020B0503020204020204" charset="-122"/>
                        </a:rPr>
                        <a:t>MySQL 8 · Milvus 向量库 · 本地文件</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c>
                  <a:txBody>
                    <a:bodyPr wrap="square"/>
                    <a:lstStyle/>
                    <a:p>
                      <a:r>
                        <a:rPr sz="1200" b="0" i="0">
                          <a:solidFill>
                            <a:srgbClr val="1E293B"/>
                          </a:solidFill>
                          <a:latin typeface="微软雅黑" panose="020B0503020204020204" charset="-122"/>
                          <a:ea typeface="微软雅黑" panose="020B0503020204020204" charset="-122"/>
                        </a:rPr>
                        <a:t>NumpyStore 纯 Python 兜底，cosine 相似度</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r>
              <a:tr h="640080">
                <a:tc>
                  <a:txBody>
                    <a:bodyPr wrap="square"/>
                    <a:lstStyle/>
                    <a:p>
                      <a:r>
                        <a:rPr sz="1200" b="1" i="0">
                          <a:solidFill>
                            <a:srgbClr val="1E293B"/>
                          </a:solidFill>
                          <a:latin typeface="微软雅黑" panose="020B0503020204020204" charset="-122"/>
                          <a:ea typeface="微软雅黑" panose="020B0503020204020204" charset="-122"/>
                        </a:rPr>
                        <a:t>AI / RAG</a:t>
                      </a:r>
                      <a:endParaRPr sz="1200" b="1" i="0">
                        <a:solidFill>
                          <a:srgbClr val="1E293B"/>
                        </a:solidFill>
                        <a:latin typeface="微软雅黑" panose="020B0503020204020204" charset="-122"/>
                        <a:ea typeface="微软雅黑" panose="020B0503020204020204" charset="-122"/>
                      </a:endParaRPr>
                    </a:p>
                  </a:txBody>
                  <a:tcPr marL="137160" marT="36576" marB="36576" anchor="ctr">
                    <a:solidFill>
                      <a:srgbClr val="F1F5F9"/>
                    </a:solidFill>
                  </a:tcPr>
                </a:tc>
                <a:tc>
                  <a:txBody>
                    <a:bodyPr wrap="square"/>
                    <a:lstStyle/>
                    <a:p>
                      <a:r>
                        <a:rPr sz="1200" b="0" i="0">
                          <a:solidFill>
                            <a:srgbClr val="1E293B"/>
                          </a:solidFill>
                          <a:latin typeface="微软雅黑" panose="020B0503020204020204" charset="-122"/>
                          <a:ea typeface="微软雅黑" panose="020B0503020204020204" charset="-122"/>
                        </a:rPr>
                        <a:t>OpenAI 兼容接口 · bge 向量模型</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1F5F9"/>
                    </a:solidFill>
                  </a:tcPr>
                </a:tc>
                <a:tc>
                  <a:txBody>
                    <a:bodyPr wrap="square"/>
                    <a:lstStyle/>
                    <a:p>
                      <a:r>
                        <a:rPr sz="1200" b="0" i="0">
                          <a:solidFill>
                            <a:srgbClr val="1E293B"/>
                          </a:solidFill>
                          <a:latin typeface="微软雅黑" panose="020B0503020204020204" charset="-122"/>
                          <a:ea typeface="微软雅黑" panose="020B0503020204020204" charset="-122"/>
                        </a:rPr>
                        <a:t>文档切分 · 向量检索 · 关键词重排 · 流式响应 · 离线兜底</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1F5F9"/>
                    </a:solidFill>
                  </a:tcPr>
                </a:tc>
              </a:tr>
              <a:tr h="640080">
                <a:tc>
                  <a:txBody>
                    <a:bodyPr wrap="square"/>
                    <a:lstStyle/>
                    <a:p>
                      <a:r>
                        <a:rPr sz="1200" b="1" i="0">
                          <a:solidFill>
                            <a:srgbClr val="1E293B"/>
                          </a:solidFill>
                          <a:latin typeface="微软雅黑" panose="020B0503020204020204" charset="-122"/>
                          <a:ea typeface="微软雅黑" panose="020B0503020204020204" charset="-122"/>
                        </a:rPr>
                        <a:t>部署</a:t>
                      </a:r>
                      <a:endParaRPr sz="1200" b="1"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c>
                  <a:txBody>
                    <a:bodyPr wrap="square"/>
                    <a:lstStyle/>
                    <a:p>
                      <a:r>
                        <a:rPr sz="1200" b="0" i="0">
                          <a:solidFill>
                            <a:srgbClr val="1E293B"/>
                          </a:solidFill>
                          <a:latin typeface="微软雅黑" panose="020B0503020204020204" charset="-122"/>
                          <a:ea typeface="微软雅黑" panose="020B0503020204020204" charset="-122"/>
                        </a:rPr>
                        <a:t>Docker Compose</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c>
                  <a:txBody>
                    <a:bodyPr wrap="square"/>
                    <a:lstStyle/>
                    <a:p>
                      <a:r>
                        <a:rPr sz="1200" b="0" i="0">
                          <a:solidFill>
                            <a:srgbClr val="1E293B"/>
                          </a:solidFill>
                          <a:latin typeface="微软雅黑" panose="020B0503020204020204" charset="-122"/>
                          <a:ea typeface="微软雅黑" panose="020B0503020204020204" charset="-122"/>
                        </a:rPr>
                        <a:t>MySQL + 前端 Nginx + 后端 gunicorn，一键启动</a:t>
                      </a:r>
                      <a:endParaRPr sz="1200" b="0" i="0">
                        <a:solidFill>
                          <a:srgbClr val="1E293B"/>
                        </a:solidFill>
                        <a:latin typeface="微软雅黑" panose="020B0503020204020204" charset="-122"/>
                        <a:ea typeface="微软雅黑" panose="020B0503020204020204" charset="-122"/>
                      </a:endParaRPr>
                    </a:p>
                  </a:txBody>
                  <a:tcPr marL="137160" marT="36576" marB="36576" anchor="ctr">
                    <a:solidFill>
                      <a:srgbClr val="FFFFFF"/>
                    </a:solidFill>
                  </a:tcPr>
                </a:tc>
              </a:tr>
            </a:tbl>
          </a:graphicData>
        </a:graphic>
      </p:graphicFrame>
      <p:sp>
        <p:nvSpPr>
          <p:cNvPr id="10" name="TextBox 9"/>
          <p:cNvSpPr txBox="1"/>
          <p:nvPr/>
        </p:nvSpPr>
        <p:spPr>
          <a:xfrm>
            <a:off x="502920" y="5349240"/>
            <a:ext cx="11155680" cy="914400"/>
          </a:xfrm>
          <a:prstGeom prst="rect">
            <a:avLst/>
          </a:prstGeom>
          <a:noFill/>
        </p:spPr>
        <p:txBody>
          <a:bodyPr wrap="square" lIns="0" tIns="0" rIns="0" bIns="0">
            <a:spAutoFit/>
          </a:bodyPr>
          <a:lstStyle/>
          <a:p>
            <a:pPr>
              <a:lnSpc>
                <a:spcPct val="100000"/>
              </a:lnSpc>
              <a:spcAft>
                <a:spcPts val="6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开源可复用：MySQL 建库建表自动执行、幂等播种演示数据，开箱即用</a:t>
            </a:r>
            <a:endParaRPr sz="1250" b="0" i="0">
              <a:solidFill>
                <a:srgbClr val="1E293B"/>
              </a:solidFill>
              <a:latin typeface="微软雅黑" panose="020B0503020204020204" charset="-122"/>
              <a:ea typeface="微软雅黑" panose="020B0503020204020204" charset="-122"/>
            </a:endParaRPr>
          </a:p>
          <a:p>
            <a:pPr>
              <a:lnSpc>
                <a:spcPct val="100000"/>
              </a:lnSpc>
              <a:spcAft>
                <a:spcPts val="6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全链路可降级：无 LLM 密钥、无 Milvus 也能运行完整 RAG 流程</a:t>
            </a:r>
            <a:endParaRPr sz="12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数据库设计（MySQL 8）</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02 · 总体设计</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12</a:t>
            </a:r>
            <a:endParaRPr sz="1000" b="1" i="0">
              <a:solidFill>
                <a:srgbClr val="64748B"/>
              </a:solidFill>
              <a:latin typeface="微软雅黑" panose="020B0503020204020204" charset="-122"/>
              <a:ea typeface="微软雅黑" panose="020B0503020204020204" charset="-122"/>
            </a:endParaRPr>
          </a:p>
        </p:txBody>
      </p:sp>
      <p:sp>
        <p:nvSpPr>
          <p:cNvPr id="9" name="TextBox 8"/>
          <p:cNvSpPr txBox="1"/>
          <p:nvPr/>
        </p:nvSpPr>
        <p:spPr>
          <a:xfrm>
            <a:off x="502920" y="1170432"/>
            <a:ext cx="1115568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0" i="0">
                <a:solidFill>
                  <a:srgbClr val="64748B"/>
                </a:solidFill>
                <a:latin typeface="微软雅黑" panose="020B0503020204020204" charset="-122"/>
                <a:ea typeface="微软雅黑" panose="020B0503020204020204" charset="-122"/>
              </a:rPr>
              <a:t>数据库 medical-assistant-master · utf8mb4 · 启动时自动建库建表、幂等播种</a:t>
            </a:r>
            <a:endParaRPr sz="1300" b="0" i="0">
              <a:solidFill>
                <a:srgbClr val="64748B"/>
              </a:solidFill>
              <a:latin typeface="微软雅黑" panose="020B0503020204020204" charset="-122"/>
              <a:ea typeface="微软雅黑" panose="020B0503020204020204" charset="-122"/>
            </a:endParaRPr>
          </a:p>
        </p:txBody>
      </p:sp>
      <p:sp>
        <p:nvSpPr>
          <p:cNvPr id="10" name="Rounded Rectangle 9"/>
          <p:cNvSpPr/>
          <p:nvPr/>
        </p:nvSpPr>
        <p:spPr>
          <a:xfrm>
            <a:off x="502920" y="1691640"/>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801368"/>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users</a:t>
            </a:r>
            <a:endParaRPr sz="1300" b="1" i="0">
              <a:solidFill>
                <a:srgbClr val="134E4A"/>
              </a:solidFill>
              <a:latin typeface="微软雅黑" panose="020B0503020204020204" charset="-122"/>
              <a:ea typeface="微软雅黑" panose="020B0503020204020204" charset="-122"/>
            </a:endParaRPr>
          </a:p>
        </p:txBody>
      </p:sp>
      <p:sp>
        <p:nvSpPr>
          <p:cNvPr id="12" name="TextBox 11"/>
          <p:cNvSpPr txBox="1"/>
          <p:nvPr/>
        </p:nvSpPr>
        <p:spPr>
          <a:xfrm>
            <a:off x="2880360" y="1810512"/>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用户（5 种角色）</a:t>
            </a:r>
            <a:endParaRPr sz="1150" b="0" i="0">
              <a:solidFill>
                <a:srgbClr val="64748B"/>
              </a:solidFill>
              <a:latin typeface="微软雅黑" panose="020B0503020204020204" charset="-122"/>
              <a:ea typeface="微软雅黑" panose="020B0503020204020204" charset="-122"/>
            </a:endParaRPr>
          </a:p>
        </p:txBody>
      </p:sp>
      <p:sp>
        <p:nvSpPr>
          <p:cNvPr id="13" name="TextBox 12"/>
          <p:cNvSpPr txBox="1"/>
          <p:nvPr/>
        </p:nvSpPr>
        <p:spPr>
          <a:xfrm>
            <a:off x="5074920" y="1810512"/>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14" name="Rounded Rectangle 13"/>
          <p:cNvSpPr/>
          <p:nvPr/>
        </p:nvSpPr>
        <p:spPr>
          <a:xfrm>
            <a:off x="6263640" y="1691640"/>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1801368"/>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knowledge_bases</a:t>
            </a:r>
            <a:endParaRPr sz="1300" b="1" i="0">
              <a:solidFill>
                <a:srgbClr val="134E4A"/>
              </a:solidFill>
              <a:latin typeface="微软雅黑" panose="020B0503020204020204" charset="-122"/>
              <a:ea typeface="微软雅黑" panose="020B0503020204020204" charset="-122"/>
            </a:endParaRPr>
          </a:p>
        </p:txBody>
      </p:sp>
      <p:sp>
        <p:nvSpPr>
          <p:cNvPr id="16" name="TextBox 15"/>
          <p:cNvSpPr txBox="1"/>
          <p:nvPr/>
        </p:nvSpPr>
        <p:spPr>
          <a:xfrm>
            <a:off x="8641080" y="1810512"/>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知识库（公开/私有）</a:t>
            </a:r>
            <a:endParaRPr sz="1150" b="0" i="0">
              <a:solidFill>
                <a:srgbClr val="64748B"/>
              </a:solidFill>
              <a:latin typeface="微软雅黑" panose="020B0503020204020204" charset="-122"/>
              <a:ea typeface="微软雅黑" panose="020B0503020204020204" charset="-122"/>
            </a:endParaRPr>
          </a:p>
        </p:txBody>
      </p:sp>
      <p:sp>
        <p:nvSpPr>
          <p:cNvPr id="17" name="TextBox 16"/>
          <p:cNvSpPr txBox="1"/>
          <p:nvPr/>
        </p:nvSpPr>
        <p:spPr>
          <a:xfrm>
            <a:off x="10835640" y="1810512"/>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18" name="Rounded Rectangle 17"/>
          <p:cNvSpPr/>
          <p:nvPr/>
        </p:nvSpPr>
        <p:spPr>
          <a:xfrm>
            <a:off x="502920" y="2313432"/>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2423160"/>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documents</a:t>
            </a:r>
            <a:endParaRPr sz="1300" b="1" i="0">
              <a:solidFill>
                <a:srgbClr val="134E4A"/>
              </a:solidFill>
              <a:latin typeface="微软雅黑" panose="020B0503020204020204" charset="-122"/>
              <a:ea typeface="微软雅黑" panose="020B0503020204020204" charset="-122"/>
            </a:endParaRPr>
          </a:p>
        </p:txBody>
      </p:sp>
      <p:sp>
        <p:nvSpPr>
          <p:cNvPr id="20" name="TextBox 19"/>
          <p:cNvSpPr txBox="1"/>
          <p:nvPr/>
        </p:nvSpPr>
        <p:spPr>
          <a:xfrm>
            <a:off x="2880360" y="2432304"/>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文档（visibility）</a:t>
            </a:r>
            <a:endParaRPr sz="1150" b="0" i="0">
              <a:solidFill>
                <a:srgbClr val="64748B"/>
              </a:solidFill>
              <a:latin typeface="微软雅黑" panose="020B0503020204020204" charset="-122"/>
              <a:ea typeface="微软雅黑" panose="020B0503020204020204" charset="-122"/>
            </a:endParaRPr>
          </a:p>
        </p:txBody>
      </p:sp>
      <p:sp>
        <p:nvSpPr>
          <p:cNvPr id="21" name="TextBox 20"/>
          <p:cNvSpPr txBox="1"/>
          <p:nvPr/>
        </p:nvSpPr>
        <p:spPr>
          <a:xfrm>
            <a:off x="5074920" y="2432304"/>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240</a:t>
            </a:r>
            <a:endParaRPr sz="1150" b="1" i="0">
              <a:solidFill>
                <a:srgbClr val="0F766E"/>
              </a:solidFill>
              <a:latin typeface="微软雅黑" panose="020B0503020204020204" charset="-122"/>
              <a:ea typeface="微软雅黑" panose="020B0503020204020204" charset="-122"/>
            </a:endParaRPr>
          </a:p>
        </p:txBody>
      </p:sp>
      <p:sp>
        <p:nvSpPr>
          <p:cNvPr id="22" name="Rounded Rectangle 21"/>
          <p:cNvSpPr/>
          <p:nvPr/>
        </p:nvSpPr>
        <p:spPr>
          <a:xfrm>
            <a:off x="6263640" y="2313432"/>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2423160"/>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conversations</a:t>
            </a:r>
            <a:endParaRPr sz="1300" b="1" i="0">
              <a:solidFill>
                <a:srgbClr val="134E4A"/>
              </a:solidFill>
              <a:latin typeface="微软雅黑" panose="020B0503020204020204" charset="-122"/>
              <a:ea typeface="微软雅黑" panose="020B0503020204020204" charset="-122"/>
            </a:endParaRPr>
          </a:p>
        </p:txBody>
      </p:sp>
      <p:sp>
        <p:nvSpPr>
          <p:cNvPr id="24" name="TextBox 23"/>
          <p:cNvSpPr txBox="1"/>
          <p:nvPr/>
        </p:nvSpPr>
        <p:spPr>
          <a:xfrm>
            <a:off x="8641080" y="2432304"/>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咨询会话</a:t>
            </a:r>
            <a:endParaRPr sz="1150" b="0" i="0">
              <a:solidFill>
                <a:srgbClr val="64748B"/>
              </a:solidFill>
              <a:latin typeface="微软雅黑" panose="020B0503020204020204" charset="-122"/>
              <a:ea typeface="微软雅黑" panose="020B0503020204020204" charset="-122"/>
            </a:endParaRPr>
          </a:p>
        </p:txBody>
      </p:sp>
      <p:sp>
        <p:nvSpPr>
          <p:cNvPr id="25" name="TextBox 24"/>
          <p:cNvSpPr txBox="1"/>
          <p:nvPr/>
        </p:nvSpPr>
        <p:spPr>
          <a:xfrm>
            <a:off x="10835640" y="2432304"/>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26" name="Rounded Rectangle 25"/>
          <p:cNvSpPr/>
          <p:nvPr/>
        </p:nvSpPr>
        <p:spPr>
          <a:xfrm>
            <a:off x="502920" y="2935224"/>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3044952"/>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messages</a:t>
            </a:r>
            <a:endParaRPr sz="1300" b="1" i="0">
              <a:solidFill>
                <a:srgbClr val="134E4A"/>
              </a:solidFill>
              <a:latin typeface="微软雅黑" panose="020B0503020204020204" charset="-122"/>
              <a:ea typeface="微软雅黑" panose="020B0503020204020204" charset="-122"/>
            </a:endParaRPr>
          </a:p>
        </p:txBody>
      </p:sp>
      <p:sp>
        <p:nvSpPr>
          <p:cNvPr id="28" name="TextBox 27"/>
          <p:cNvSpPr txBox="1"/>
          <p:nvPr/>
        </p:nvSpPr>
        <p:spPr>
          <a:xfrm>
            <a:off x="2880360" y="3054096"/>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会话消息（问答对）</a:t>
            </a:r>
            <a:endParaRPr sz="1150" b="0" i="0">
              <a:solidFill>
                <a:srgbClr val="64748B"/>
              </a:solidFill>
              <a:latin typeface="微软雅黑" panose="020B0503020204020204" charset="-122"/>
              <a:ea typeface="微软雅黑" panose="020B0503020204020204" charset="-122"/>
            </a:endParaRPr>
          </a:p>
        </p:txBody>
      </p:sp>
      <p:sp>
        <p:nvSpPr>
          <p:cNvPr id="29" name="TextBox 28"/>
          <p:cNvSpPr txBox="1"/>
          <p:nvPr/>
        </p:nvSpPr>
        <p:spPr>
          <a:xfrm>
            <a:off x="5074920" y="3054096"/>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100</a:t>
            </a:r>
            <a:endParaRPr sz="1150" b="1" i="0">
              <a:solidFill>
                <a:srgbClr val="0F766E"/>
              </a:solidFill>
              <a:latin typeface="微软雅黑" panose="020B0503020204020204" charset="-122"/>
              <a:ea typeface="微软雅黑" panose="020B0503020204020204" charset="-122"/>
            </a:endParaRPr>
          </a:p>
        </p:txBody>
      </p:sp>
      <p:sp>
        <p:nvSpPr>
          <p:cNvPr id="30" name="Rounded Rectangle 29"/>
          <p:cNvSpPr/>
          <p:nvPr/>
        </p:nvSpPr>
        <p:spPr>
          <a:xfrm>
            <a:off x="6263640" y="2935224"/>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4807" y="3044952"/>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citations</a:t>
            </a:r>
            <a:endParaRPr sz="1300" b="1" i="0">
              <a:solidFill>
                <a:srgbClr val="134E4A"/>
              </a:solidFill>
              <a:latin typeface="微软雅黑" panose="020B0503020204020204" charset="-122"/>
              <a:ea typeface="微软雅黑" panose="020B0503020204020204" charset="-122"/>
            </a:endParaRPr>
          </a:p>
        </p:txBody>
      </p:sp>
      <p:sp>
        <p:nvSpPr>
          <p:cNvPr id="32" name="TextBox 31"/>
          <p:cNvSpPr txBox="1"/>
          <p:nvPr/>
        </p:nvSpPr>
        <p:spPr>
          <a:xfrm>
            <a:off x="8641080" y="3054096"/>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回答引用来源</a:t>
            </a:r>
            <a:endParaRPr sz="1150" b="0" i="0">
              <a:solidFill>
                <a:srgbClr val="64748B"/>
              </a:solidFill>
              <a:latin typeface="微软雅黑" panose="020B0503020204020204" charset="-122"/>
              <a:ea typeface="微软雅黑" panose="020B0503020204020204" charset="-122"/>
            </a:endParaRPr>
          </a:p>
        </p:txBody>
      </p:sp>
      <p:sp>
        <p:nvSpPr>
          <p:cNvPr id="33" name="TextBox 32"/>
          <p:cNvSpPr txBox="1"/>
          <p:nvPr/>
        </p:nvSpPr>
        <p:spPr>
          <a:xfrm>
            <a:off x="10835640" y="3054096"/>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34" name="Rounded Rectangle 33"/>
          <p:cNvSpPr/>
          <p:nvPr/>
        </p:nvSpPr>
        <p:spPr>
          <a:xfrm>
            <a:off x="502920" y="3557016"/>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4088" y="3666744"/>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hospitalizations</a:t>
            </a:r>
            <a:endParaRPr sz="1300" b="1" i="0">
              <a:solidFill>
                <a:srgbClr val="134E4A"/>
              </a:solidFill>
              <a:latin typeface="微软雅黑" panose="020B0503020204020204" charset="-122"/>
              <a:ea typeface="微软雅黑" panose="020B0503020204020204" charset="-122"/>
            </a:endParaRPr>
          </a:p>
        </p:txBody>
      </p:sp>
      <p:sp>
        <p:nvSpPr>
          <p:cNvPr id="36" name="TextBox 35"/>
          <p:cNvSpPr txBox="1"/>
          <p:nvPr/>
        </p:nvSpPr>
        <p:spPr>
          <a:xfrm>
            <a:off x="2880360" y="3675888"/>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住院信息</a:t>
            </a:r>
            <a:endParaRPr sz="1150" b="0" i="0">
              <a:solidFill>
                <a:srgbClr val="64748B"/>
              </a:solidFill>
              <a:latin typeface="微软雅黑" panose="020B0503020204020204" charset="-122"/>
              <a:ea typeface="微软雅黑" panose="020B0503020204020204" charset="-122"/>
            </a:endParaRPr>
          </a:p>
        </p:txBody>
      </p:sp>
      <p:sp>
        <p:nvSpPr>
          <p:cNvPr id="37" name="TextBox 36"/>
          <p:cNvSpPr txBox="1"/>
          <p:nvPr/>
        </p:nvSpPr>
        <p:spPr>
          <a:xfrm>
            <a:off x="5074920" y="3675888"/>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38" name="Rounded Rectangle 37"/>
          <p:cNvSpPr/>
          <p:nvPr/>
        </p:nvSpPr>
        <p:spPr>
          <a:xfrm>
            <a:off x="6263640" y="3557016"/>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64807" y="3666744"/>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bills</a:t>
            </a:r>
            <a:endParaRPr sz="1300" b="1" i="0">
              <a:solidFill>
                <a:srgbClr val="134E4A"/>
              </a:solidFill>
              <a:latin typeface="微软雅黑" panose="020B0503020204020204" charset="-122"/>
              <a:ea typeface="微软雅黑" panose="020B0503020204020204" charset="-122"/>
            </a:endParaRPr>
          </a:p>
        </p:txBody>
      </p:sp>
      <p:sp>
        <p:nvSpPr>
          <p:cNvPr id="40" name="TextBox 39"/>
          <p:cNvSpPr txBox="1"/>
          <p:nvPr/>
        </p:nvSpPr>
        <p:spPr>
          <a:xfrm>
            <a:off x="8641080" y="3675888"/>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消费明细</a:t>
            </a:r>
            <a:endParaRPr sz="1150" b="0" i="0">
              <a:solidFill>
                <a:srgbClr val="64748B"/>
              </a:solidFill>
              <a:latin typeface="微软雅黑" panose="020B0503020204020204" charset="-122"/>
              <a:ea typeface="微软雅黑" panose="020B0503020204020204" charset="-122"/>
            </a:endParaRPr>
          </a:p>
        </p:txBody>
      </p:sp>
      <p:sp>
        <p:nvSpPr>
          <p:cNvPr id="41" name="TextBox 40"/>
          <p:cNvSpPr txBox="1"/>
          <p:nvPr/>
        </p:nvSpPr>
        <p:spPr>
          <a:xfrm>
            <a:off x="10835640" y="3675888"/>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42" name="Rounded Rectangle 41"/>
          <p:cNvSpPr/>
          <p:nvPr/>
        </p:nvSpPr>
        <p:spPr>
          <a:xfrm>
            <a:off x="502920" y="4178808"/>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8" y="4288536"/>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appointments</a:t>
            </a:r>
            <a:endParaRPr sz="1300" b="1" i="0">
              <a:solidFill>
                <a:srgbClr val="134E4A"/>
              </a:solidFill>
              <a:latin typeface="微软雅黑" panose="020B0503020204020204" charset="-122"/>
              <a:ea typeface="微软雅黑" panose="020B0503020204020204" charset="-122"/>
            </a:endParaRPr>
          </a:p>
        </p:txBody>
      </p:sp>
      <p:sp>
        <p:nvSpPr>
          <p:cNvPr id="44" name="TextBox 43"/>
          <p:cNvSpPr txBox="1"/>
          <p:nvPr/>
        </p:nvSpPr>
        <p:spPr>
          <a:xfrm>
            <a:off x="2880360" y="4297680"/>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预约挂号</a:t>
            </a:r>
            <a:endParaRPr sz="1150" b="0" i="0">
              <a:solidFill>
                <a:srgbClr val="64748B"/>
              </a:solidFill>
              <a:latin typeface="微软雅黑" panose="020B0503020204020204" charset="-122"/>
              <a:ea typeface="微软雅黑" panose="020B0503020204020204" charset="-122"/>
            </a:endParaRPr>
          </a:p>
        </p:txBody>
      </p:sp>
      <p:sp>
        <p:nvSpPr>
          <p:cNvPr id="45" name="TextBox 44"/>
          <p:cNvSpPr txBox="1"/>
          <p:nvPr/>
        </p:nvSpPr>
        <p:spPr>
          <a:xfrm>
            <a:off x="5074920" y="4297680"/>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46" name="Rounded Rectangle 45"/>
          <p:cNvSpPr/>
          <p:nvPr/>
        </p:nvSpPr>
        <p:spPr>
          <a:xfrm>
            <a:off x="6263640" y="4178808"/>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64807" y="4288536"/>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nursing_records</a:t>
            </a:r>
            <a:endParaRPr sz="1300" b="1" i="0">
              <a:solidFill>
                <a:srgbClr val="134E4A"/>
              </a:solidFill>
              <a:latin typeface="微软雅黑" panose="020B0503020204020204" charset="-122"/>
              <a:ea typeface="微软雅黑" panose="020B0503020204020204" charset="-122"/>
            </a:endParaRPr>
          </a:p>
        </p:txBody>
      </p:sp>
      <p:sp>
        <p:nvSpPr>
          <p:cNvPr id="48" name="TextBox 47"/>
          <p:cNvSpPr txBox="1"/>
          <p:nvPr/>
        </p:nvSpPr>
        <p:spPr>
          <a:xfrm>
            <a:off x="8641080" y="4297680"/>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护理记录</a:t>
            </a:r>
            <a:endParaRPr sz="1150" b="0" i="0">
              <a:solidFill>
                <a:srgbClr val="64748B"/>
              </a:solidFill>
              <a:latin typeface="微软雅黑" panose="020B0503020204020204" charset="-122"/>
              <a:ea typeface="微软雅黑" panose="020B0503020204020204" charset="-122"/>
            </a:endParaRPr>
          </a:p>
        </p:txBody>
      </p:sp>
      <p:sp>
        <p:nvSpPr>
          <p:cNvPr id="49" name="TextBox 48"/>
          <p:cNvSpPr txBox="1"/>
          <p:nvPr/>
        </p:nvSpPr>
        <p:spPr>
          <a:xfrm>
            <a:off x="10835640" y="4297680"/>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50" name="Rounded Rectangle 49"/>
          <p:cNvSpPr/>
          <p:nvPr/>
        </p:nvSpPr>
        <p:spPr>
          <a:xfrm>
            <a:off x="502920" y="4800600"/>
            <a:ext cx="5440680" cy="566928"/>
          </a:xfrm>
          <a:prstGeom prst="roundRect">
            <a:avLst>
              <a:gd name="adj" fmla="val 16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 y="4910328"/>
            <a:ext cx="2103120" cy="36576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134E4A"/>
                </a:solidFill>
                <a:latin typeface="微软雅黑" panose="020B0503020204020204" charset="-122"/>
                <a:ea typeface="微软雅黑" panose="020B0503020204020204" charset="-122"/>
              </a:rPr>
              <a:t>schedules</a:t>
            </a:r>
            <a:endParaRPr sz="1300" b="1" i="0">
              <a:solidFill>
                <a:srgbClr val="134E4A"/>
              </a:solidFill>
              <a:latin typeface="微软雅黑" panose="020B0503020204020204" charset="-122"/>
              <a:ea typeface="微软雅黑" panose="020B0503020204020204" charset="-122"/>
            </a:endParaRPr>
          </a:p>
        </p:txBody>
      </p:sp>
      <p:sp>
        <p:nvSpPr>
          <p:cNvPr id="52" name="TextBox 51"/>
          <p:cNvSpPr txBox="1"/>
          <p:nvPr/>
        </p:nvSpPr>
        <p:spPr>
          <a:xfrm>
            <a:off x="2880360" y="4919472"/>
            <a:ext cx="2286000" cy="36576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医护排班</a:t>
            </a:r>
            <a:endParaRPr sz="1150" b="0" i="0">
              <a:solidFill>
                <a:srgbClr val="64748B"/>
              </a:solidFill>
              <a:latin typeface="微软雅黑" panose="020B0503020204020204" charset="-122"/>
              <a:ea typeface="微软雅黑" panose="020B0503020204020204" charset="-122"/>
            </a:endParaRPr>
          </a:p>
        </p:txBody>
      </p:sp>
      <p:sp>
        <p:nvSpPr>
          <p:cNvPr id="53" name="TextBox 52"/>
          <p:cNvSpPr txBox="1"/>
          <p:nvPr/>
        </p:nvSpPr>
        <p:spPr>
          <a:xfrm>
            <a:off x="5074920" y="4919472"/>
            <a:ext cx="731520" cy="365760"/>
          </a:xfrm>
          <a:prstGeom prst="rect">
            <a:avLst/>
          </a:prstGeom>
          <a:noFill/>
        </p:spPr>
        <p:txBody>
          <a:bodyPr wrap="square" lIns="0" tIns="0" rIns="0" bIns="0" anchor="t">
            <a:spAutoFit/>
          </a:bodyPr>
          <a:lstStyle/>
          <a:p>
            <a:pPr algn="r">
              <a:lnSpc>
                <a:spcPct val="100000"/>
              </a:lnSpc>
              <a:spcBef>
                <a:spcPts val="0"/>
              </a:spcBef>
              <a:spcAft>
                <a:spcPts val="0"/>
              </a:spcAft>
            </a:pPr>
            <a:r>
              <a:rPr sz="1150" b="1" i="0">
                <a:solidFill>
                  <a:srgbClr val="0F766E"/>
                </a:solidFill>
                <a:latin typeface="微软雅黑" panose="020B0503020204020204" charset="-122"/>
                <a:ea typeface="微软雅黑" panose="020B0503020204020204" charset="-122"/>
              </a:rPr>
              <a:t>50</a:t>
            </a:r>
            <a:endParaRPr sz="1150" b="1" i="0">
              <a:solidFill>
                <a:srgbClr val="0F766E"/>
              </a:solidFill>
              <a:latin typeface="微软雅黑" panose="020B0503020204020204" charset="-122"/>
              <a:ea typeface="微软雅黑" panose="020B0503020204020204" charset="-122"/>
            </a:endParaRPr>
          </a:p>
        </p:txBody>
      </p:sp>
      <p:sp>
        <p:nvSpPr>
          <p:cNvPr id="54" name="Rounded Rectangle 53"/>
          <p:cNvSpPr/>
          <p:nvPr/>
        </p:nvSpPr>
        <p:spPr>
          <a:xfrm>
            <a:off x="502920" y="5486400"/>
            <a:ext cx="11183112" cy="777240"/>
          </a:xfrm>
          <a:prstGeom prst="roundRect">
            <a:avLst>
              <a:gd name="adj" fmla="val 1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5623560"/>
            <a:ext cx="10607040" cy="548640"/>
          </a:xfrm>
          <a:prstGeom prst="rect">
            <a:avLst/>
          </a:prstGeom>
          <a:noFill/>
        </p:spPr>
        <p:txBody>
          <a:bodyPr wrap="square" lIns="0" tIns="0" rIns="0" bIns="0" anchor="t">
            <a:spAutoFit/>
          </a:bodyPr>
          <a:lstStyle/>
          <a:p>
            <a:pPr algn="l">
              <a:lnSpc>
                <a:spcPct val="120000"/>
              </a:lnSpc>
              <a:spcBef>
                <a:spcPts val="0"/>
              </a:spcBef>
              <a:spcAft>
                <a:spcPts val="0"/>
              </a:spcAft>
            </a:pPr>
            <a:r>
              <a:rPr sz="1250" b="0" i="0">
                <a:solidFill>
                  <a:srgbClr val="134E4A"/>
                </a:solidFill>
                <a:latin typeface="微软雅黑" panose="020B0503020204020204" charset="-122"/>
                <a:ea typeface="微软雅黑" panose="020B0503020204020204" charset="-122"/>
              </a:rPr>
              <a:t>设计要点：主外键关联业务闭环（用户→会话→消息→引用 / 患者→住院→账单→挂号→护理）；visibility 字段实现公开/私有双层权限；回答引用独立建表实现"可追溯"</a:t>
            </a:r>
            <a:endParaRPr sz="1250" b="0" i="0">
              <a:solidFill>
                <a:srgbClr val="134E4A"/>
              </a:solidFill>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关键数据表结构</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02 · 总体设计</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13</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nvSpPr>
        <p:spPr>
          <a:xfrm>
            <a:off x="502920" y="1207008"/>
            <a:ext cx="5440680" cy="228600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207008"/>
            <a:ext cx="128016" cy="5029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316736"/>
            <a:ext cx="4937760" cy="320040"/>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users · 用户表</a:t>
            </a:r>
            <a:endParaRPr sz="1400" b="1" i="0">
              <a:solidFill>
                <a:srgbClr val="134E4A"/>
              </a:solidFill>
              <a:latin typeface="微软雅黑" panose="020B0503020204020204" charset="-122"/>
              <a:ea typeface="微软雅黑" panose="020B0503020204020204" charset="-122"/>
            </a:endParaRPr>
          </a:p>
        </p:txBody>
      </p:sp>
      <p:sp>
        <p:nvSpPr>
          <p:cNvPr id="12" name="Rectangle 11"/>
          <p:cNvSpPr/>
          <p:nvPr/>
        </p:nvSpPr>
        <p:spPr>
          <a:xfrm>
            <a:off x="777240" y="1737360"/>
            <a:ext cx="4892040"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1865376"/>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username</a:t>
            </a:r>
            <a:endParaRPr sz="1100" b="1" i="0">
              <a:solidFill>
                <a:srgbClr val="1E293B"/>
              </a:solidFill>
              <a:latin typeface="微软雅黑" panose="020B0503020204020204" charset="-122"/>
              <a:ea typeface="微软雅黑" panose="020B0503020204020204" charset="-122"/>
            </a:endParaRPr>
          </a:p>
        </p:txBody>
      </p:sp>
      <p:sp>
        <p:nvSpPr>
          <p:cNvPr id="14" name="TextBox 13"/>
          <p:cNvSpPr txBox="1"/>
          <p:nvPr/>
        </p:nvSpPr>
        <p:spPr>
          <a:xfrm>
            <a:off x="2788920" y="1865376"/>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VARCHAR(32) 唯一</a:t>
            </a:r>
            <a:endParaRPr sz="950" b="0" i="0">
              <a:solidFill>
                <a:srgbClr val="64748B"/>
              </a:solidFill>
              <a:latin typeface="微软雅黑" panose="020B0503020204020204" charset="-122"/>
              <a:ea typeface="微软雅黑" panose="020B0503020204020204" charset="-122"/>
            </a:endParaRPr>
          </a:p>
        </p:txBody>
      </p:sp>
      <p:sp>
        <p:nvSpPr>
          <p:cNvPr id="15" name="TextBox 14"/>
          <p:cNvSpPr txBox="1"/>
          <p:nvPr/>
        </p:nvSpPr>
        <p:spPr>
          <a:xfrm>
            <a:off x="4160520" y="1865376"/>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登录名</a:t>
            </a:r>
            <a:endParaRPr sz="950" b="0" i="0">
              <a:solidFill>
                <a:srgbClr val="64748B"/>
              </a:solidFill>
              <a:latin typeface="微软雅黑" panose="020B0503020204020204" charset="-122"/>
              <a:ea typeface="微软雅黑" panose="020B0503020204020204" charset="-122"/>
            </a:endParaRPr>
          </a:p>
        </p:txBody>
      </p:sp>
      <p:sp>
        <p:nvSpPr>
          <p:cNvPr id="16" name="TextBox 15"/>
          <p:cNvSpPr txBox="1"/>
          <p:nvPr/>
        </p:nvSpPr>
        <p:spPr>
          <a:xfrm>
            <a:off x="795528" y="2176272"/>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password_hash</a:t>
            </a:r>
            <a:endParaRPr sz="1100" b="1" i="0">
              <a:solidFill>
                <a:srgbClr val="1E293B"/>
              </a:solidFill>
              <a:latin typeface="微软雅黑" panose="020B0503020204020204" charset="-122"/>
              <a:ea typeface="微软雅黑" panose="020B0503020204020204" charset="-122"/>
            </a:endParaRPr>
          </a:p>
        </p:txBody>
      </p:sp>
      <p:sp>
        <p:nvSpPr>
          <p:cNvPr id="17" name="TextBox 16"/>
          <p:cNvSpPr txBox="1"/>
          <p:nvPr/>
        </p:nvSpPr>
        <p:spPr>
          <a:xfrm>
            <a:off x="2788920" y="2176272"/>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VARCHAR(255)</a:t>
            </a:r>
            <a:endParaRPr sz="950" b="0" i="0">
              <a:solidFill>
                <a:srgbClr val="64748B"/>
              </a:solidFill>
              <a:latin typeface="微软雅黑" panose="020B0503020204020204" charset="-122"/>
              <a:ea typeface="微软雅黑" panose="020B0503020204020204" charset="-122"/>
            </a:endParaRPr>
          </a:p>
        </p:txBody>
      </p:sp>
      <p:sp>
        <p:nvSpPr>
          <p:cNvPr id="18" name="TextBox 17"/>
          <p:cNvSpPr txBox="1"/>
          <p:nvPr/>
        </p:nvSpPr>
        <p:spPr>
          <a:xfrm>
            <a:off x="4160520" y="2176272"/>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密码哈希</a:t>
            </a:r>
            <a:endParaRPr sz="950" b="0" i="0">
              <a:solidFill>
                <a:srgbClr val="64748B"/>
              </a:solidFill>
              <a:latin typeface="微软雅黑" panose="020B0503020204020204" charset="-122"/>
              <a:ea typeface="微软雅黑" panose="020B0503020204020204" charset="-122"/>
            </a:endParaRPr>
          </a:p>
        </p:txBody>
      </p:sp>
      <p:sp>
        <p:nvSpPr>
          <p:cNvPr id="19" name="TextBox 18"/>
          <p:cNvSpPr txBox="1"/>
          <p:nvPr/>
        </p:nvSpPr>
        <p:spPr>
          <a:xfrm>
            <a:off x="795528" y="2487168"/>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role</a:t>
            </a:r>
            <a:endParaRPr sz="1100" b="1" i="0">
              <a:solidFill>
                <a:srgbClr val="1E293B"/>
              </a:solidFill>
              <a:latin typeface="微软雅黑" panose="020B0503020204020204" charset="-122"/>
              <a:ea typeface="微软雅黑" panose="020B0503020204020204" charset="-122"/>
            </a:endParaRPr>
          </a:p>
        </p:txBody>
      </p:sp>
      <p:sp>
        <p:nvSpPr>
          <p:cNvPr id="20" name="TextBox 19"/>
          <p:cNvSpPr txBox="1"/>
          <p:nvPr/>
        </p:nvSpPr>
        <p:spPr>
          <a:xfrm>
            <a:off x="2788920" y="2487168"/>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VARCHAR(16)</a:t>
            </a:r>
            <a:endParaRPr sz="950" b="0" i="0">
              <a:solidFill>
                <a:srgbClr val="64748B"/>
              </a:solidFill>
              <a:latin typeface="微软雅黑" panose="020B0503020204020204" charset="-122"/>
              <a:ea typeface="微软雅黑" panose="020B0503020204020204" charset="-122"/>
            </a:endParaRPr>
          </a:p>
        </p:txBody>
      </p:sp>
      <p:sp>
        <p:nvSpPr>
          <p:cNvPr id="21" name="TextBox 20"/>
          <p:cNvSpPr txBox="1"/>
          <p:nvPr/>
        </p:nvSpPr>
        <p:spPr>
          <a:xfrm>
            <a:off x="4160520" y="2487168"/>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patient/doctor/nurse/public/admin</a:t>
            </a:r>
            <a:endParaRPr sz="950" b="0" i="0">
              <a:solidFill>
                <a:srgbClr val="64748B"/>
              </a:solidFill>
              <a:latin typeface="微软雅黑" panose="020B0503020204020204" charset="-122"/>
              <a:ea typeface="微软雅黑" panose="020B0503020204020204" charset="-122"/>
            </a:endParaRPr>
          </a:p>
        </p:txBody>
      </p:sp>
      <p:sp>
        <p:nvSpPr>
          <p:cNvPr id="22" name="TextBox 21"/>
          <p:cNvSpPr txBox="1"/>
          <p:nvPr/>
        </p:nvSpPr>
        <p:spPr>
          <a:xfrm>
            <a:off x="795528" y="2798063"/>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display_name</a:t>
            </a:r>
            <a:endParaRPr sz="1100" b="1" i="0">
              <a:solidFill>
                <a:srgbClr val="1E293B"/>
              </a:solidFill>
              <a:latin typeface="微软雅黑" panose="020B0503020204020204" charset="-122"/>
              <a:ea typeface="微软雅黑" panose="020B0503020204020204" charset="-122"/>
            </a:endParaRPr>
          </a:p>
        </p:txBody>
      </p:sp>
      <p:sp>
        <p:nvSpPr>
          <p:cNvPr id="23" name="TextBox 22"/>
          <p:cNvSpPr txBox="1"/>
          <p:nvPr/>
        </p:nvSpPr>
        <p:spPr>
          <a:xfrm>
            <a:off x="2788920" y="2798063"/>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VARCHAR(64)</a:t>
            </a:r>
            <a:endParaRPr sz="950" b="0" i="0">
              <a:solidFill>
                <a:srgbClr val="64748B"/>
              </a:solidFill>
              <a:latin typeface="微软雅黑" panose="020B0503020204020204" charset="-122"/>
              <a:ea typeface="微软雅黑" panose="020B0503020204020204" charset="-122"/>
            </a:endParaRPr>
          </a:p>
        </p:txBody>
      </p:sp>
      <p:sp>
        <p:nvSpPr>
          <p:cNvPr id="24" name="TextBox 23"/>
          <p:cNvSpPr txBox="1"/>
          <p:nvPr/>
        </p:nvSpPr>
        <p:spPr>
          <a:xfrm>
            <a:off x="4160520" y="2798063"/>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显示名</a:t>
            </a:r>
            <a:endParaRPr sz="950" b="0" i="0">
              <a:solidFill>
                <a:srgbClr val="64748B"/>
              </a:solidFill>
              <a:latin typeface="微软雅黑" panose="020B0503020204020204" charset="-122"/>
              <a:ea typeface="微软雅黑" panose="020B0503020204020204" charset="-122"/>
            </a:endParaRPr>
          </a:p>
        </p:txBody>
      </p:sp>
      <p:sp>
        <p:nvSpPr>
          <p:cNvPr id="25" name="Rounded Rectangle 24"/>
          <p:cNvSpPr/>
          <p:nvPr/>
        </p:nvSpPr>
        <p:spPr>
          <a:xfrm>
            <a:off x="6263640" y="1207008"/>
            <a:ext cx="5440680" cy="228600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1207008"/>
            <a:ext cx="128016" cy="5029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6248" y="1316736"/>
            <a:ext cx="4937760" cy="320040"/>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knowledge_bases · 知识库表</a:t>
            </a:r>
            <a:endParaRPr sz="1400" b="1" i="0">
              <a:solidFill>
                <a:srgbClr val="134E4A"/>
              </a:solidFill>
              <a:latin typeface="微软雅黑" panose="020B0503020204020204" charset="-122"/>
              <a:ea typeface="微软雅黑" panose="020B0503020204020204" charset="-122"/>
            </a:endParaRPr>
          </a:p>
        </p:txBody>
      </p:sp>
      <p:sp>
        <p:nvSpPr>
          <p:cNvPr id="28" name="Rectangle 27"/>
          <p:cNvSpPr/>
          <p:nvPr/>
        </p:nvSpPr>
        <p:spPr>
          <a:xfrm>
            <a:off x="6537959" y="1737360"/>
            <a:ext cx="4892040"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6248" y="1865376"/>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owner_id</a:t>
            </a:r>
            <a:endParaRPr sz="1100" b="1" i="0">
              <a:solidFill>
                <a:srgbClr val="1E293B"/>
              </a:solidFill>
              <a:latin typeface="微软雅黑" panose="020B0503020204020204" charset="-122"/>
              <a:ea typeface="微软雅黑" panose="020B0503020204020204" charset="-122"/>
            </a:endParaRPr>
          </a:p>
        </p:txBody>
      </p:sp>
      <p:sp>
        <p:nvSpPr>
          <p:cNvPr id="30" name="TextBox 29"/>
          <p:cNvSpPr txBox="1"/>
          <p:nvPr/>
        </p:nvSpPr>
        <p:spPr>
          <a:xfrm>
            <a:off x="8549640" y="1865376"/>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INT NULL</a:t>
            </a:r>
            <a:endParaRPr sz="950" b="0" i="0">
              <a:solidFill>
                <a:srgbClr val="64748B"/>
              </a:solidFill>
              <a:latin typeface="微软雅黑" panose="020B0503020204020204" charset="-122"/>
              <a:ea typeface="微软雅黑" panose="020B0503020204020204" charset="-122"/>
            </a:endParaRPr>
          </a:p>
        </p:txBody>
      </p:sp>
      <p:sp>
        <p:nvSpPr>
          <p:cNvPr id="31" name="TextBox 30"/>
          <p:cNvSpPr txBox="1"/>
          <p:nvPr/>
        </p:nvSpPr>
        <p:spPr>
          <a:xfrm>
            <a:off x="9921240" y="1865376"/>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NULL=平台公共库</a:t>
            </a:r>
            <a:endParaRPr sz="950" b="0" i="0">
              <a:solidFill>
                <a:srgbClr val="64748B"/>
              </a:solidFill>
              <a:latin typeface="微软雅黑" panose="020B0503020204020204" charset="-122"/>
              <a:ea typeface="微软雅黑" panose="020B0503020204020204" charset="-122"/>
            </a:endParaRPr>
          </a:p>
        </p:txBody>
      </p:sp>
      <p:sp>
        <p:nvSpPr>
          <p:cNvPr id="32" name="TextBox 31"/>
          <p:cNvSpPr txBox="1"/>
          <p:nvPr/>
        </p:nvSpPr>
        <p:spPr>
          <a:xfrm>
            <a:off x="6556248" y="2176272"/>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name / description</a:t>
            </a:r>
            <a:endParaRPr sz="1100" b="1" i="0">
              <a:solidFill>
                <a:srgbClr val="1E293B"/>
              </a:solidFill>
              <a:latin typeface="微软雅黑" panose="020B0503020204020204" charset="-122"/>
              <a:ea typeface="微软雅黑" panose="020B0503020204020204" charset="-122"/>
            </a:endParaRPr>
          </a:p>
        </p:txBody>
      </p:sp>
      <p:sp>
        <p:nvSpPr>
          <p:cNvPr id="33" name="TextBox 32"/>
          <p:cNvSpPr txBox="1"/>
          <p:nvPr/>
        </p:nvSpPr>
        <p:spPr>
          <a:xfrm>
            <a:off x="8549640" y="2176272"/>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VARCHAR</a:t>
            </a:r>
            <a:endParaRPr sz="950" b="0" i="0">
              <a:solidFill>
                <a:srgbClr val="64748B"/>
              </a:solidFill>
              <a:latin typeface="微软雅黑" panose="020B0503020204020204" charset="-122"/>
              <a:ea typeface="微软雅黑" panose="020B0503020204020204" charset="-122"/>
            </a:endParaRPr>
          </a:p>
        </p:txBody>
      </p:sp>
      <p:sp>
        <p:nvSpPr>
          <p:cNvPr id="34" name="TextBox 33"/>
          <p:cNvSpPr txBox="1"/>
          <p:nvPr/>
        </p:nvSpPr>
        <p:spPr>
          <a:xfrm>
            <a:off x="9921240" y="2176272"/>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库名与描述</a:t>
            </a:r>
            <a:endParaRPr sz="950" b="0" i="0">
              <a:solidFill>
                <a:srgbClr val="64748B"/>
              </a:solidFill>
              <a:latin typeface="微软雅黑" panose="020B0503020204020204" charset="-122"/>
              <a:ea typeface="微软雅黑" panose="020B0503020204020204" charset="-122"/>
            </a:endParaRPr>
          </a:p>
        </p:txBody>
      </p:sp>
      <p:sp>
        <p:nvSpPr>
          <p:cNvPr id="35" name="TextBox 34"/>
          <p:cNvSpPr txBox="1"/>
          <p:nvPr/>
        </p:nvSpPr>
        <p:spPr>
          <a:xfrm>
            <a:off x="6556248" y="2487168"/>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visibility</a:t>
            </a:r>
            <a:endParaRPr sz="1100" b="1" i="0">
              <a:solidFill>
                <a:srgbClr val="1E293B"/>
              </a:solidFill>
              <a:latin typeface="微软雅黑" panose="020B0503020204020204" charset="-122"/>
              <a:ea typeface="微软雅黑" panose="020B0503020204020204" charset="-122"/>
            </a:endParaRPr>
          </a:p>
        </p:txBody>
      </p:sp>
      <p:sp>
        <p:nvSpPr>
          <p:cNvPr id="36" name="TextBox 35"/>
          <p:cNvSpPr txBox="1"/>
          <p:nvPr/>
        </p:nvSpPr>
        <p:spPr>
          <a:xfrm>
            <a:off x="8549640" y="2487168"/>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VARCHAR(16)</a:t>
            </a:r>
            <a:endParaRPr sz="950" b="0" i="0">
              <a:solidFill>
                <a:srgbClr val="64748B"/>
              </a:solidFill>
              <a:latin typeface="微软雅黑" panose="020B0503020204020204" charset="-122"/>
              <a:ea typeface="微软雅黑" panose="020B0503020204020204" charset="-122"/>
            </a:endParaRPr>
          </a:p>
        </p:txBody>
      </p:sp>
      <p:sp>
        <p:nvSpPr>
          <p:cNvPr id="37" name="TextBox 36"/>
          <p:cNvSpPr txBox="1"/>
          <p:nvPr/>
        </p:nvSpPr>
        <p:spPr>
          <a:xfrm>
            <a:off x="9921240" y="2487168"/>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public / private</a:t>
            </a:r>
            <a:endParaRPr sz="950" b="0" i="0">
              <a:solidFill>
                <a:srgbClr val="64748B"/>
              </a:solidFill>
              <a:latin typeface="微软雅黑" panose="020B0503020204020204" charset="-122"/>
              <a:ea typeface="微软雅黑" panose="020B0503020204020204" charset="-122"/>
            </a:endParaRPr>
          </a:p>
        </p:txBody>
      </p:sp>
      <p:sp>
        <p:nvSpPr>
          <p:cNvPr id="38" name="Rounded Rectangle 37"/>
          <p:cNvSpPr/>
          <p:nvPr/>
        </p:nvSpPr>
        <p:spPr>
          <a:xfrm>
            <a:off x="502920" y="3694176"/>
            <a:ext cx="5440680" cy="228600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3694176"/>
            <a:ext cx="128016" cy="5029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3803904"/>
            <a:ext cx="4937760" cy="320040"/>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documents · 文档表</a:t>
            </a:r>
            <a:endParaRPr sz="1400" b="1" i="0">
              <a:solidFill>
                <a:srgbClr val="134E4A"/>
              </a:solidFill>
              <a:latin typeface="微软雅黑" panose="020B0503020204020204" charset="-122"/>
              <a:ea typeface="微软雅黑" panose="020B0503020204020204" charset="-122"/>
            </a:endParaRPr>
          </a:p>
        </p:txBody>
      </p:sp>
      <p:sp>
        <p:nvSpPr>
          <p:cNvPr id="41" name="Rectangle 40"/>
          <p:cNvSpPr/>
          <p:nvPr/>
        </p:nvSpPr>
        <p:spPr>
          <a:xfrm>
            <a:off x="777240" y="4224528"/>
            <a:ext cx="4892040"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5528" y="4352544"/>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kb_id</a:t>
            </a:r>
            <a:endParaRPr sz="1100" b="1" i="0">
              <a:solidFill>
                <a:srgbClr val="1E293B"/>
              </a:solidFill>
              <a:latin typeface="微软雅黑" panose="020B0503020204020204" charset="-122"/>
              <a:ea typeface="微软雅黑" panose="020B0503020204020204" charset="-122"/>
            </a:endParaRPr>
          </a:p>
        </p:txBody>
      </p:sp>
      <p:sp>
        <p:nvSpPr>
          <p:cNvPr id="43" name="TextBox 42"/>
          <p:cNvSpPr txBox="1"/>
          <p:nvPr/>
        </p:nvSpPr>
        <p:spPr>
          <a:xfrm>
            <a:off x="2788920" y="4352544"/>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INT</a:t>
            </a:r>
            <a:endParaRPr sz="950" b="0" i="0">
              <a:solidFill>
                <a:srgbClr val="64748B"/>
              </a:solidFill>
              <a:latin typeface="微软雅黑" panose="020B0503020204020204" charset="-122"/>
              <a:ea typeface="微软雅黑" panose="020B0503020204020204" charset="-122"/>
            </a:endParaRPr>
          </a:p>
        </p:txBody>
      </p:sp>
      <p:sp>
        <p:nvSpPr>
          <p:cNvPr id="44" name="TextBox 43"/>
          <p:cNvSpPr txBox="1"/>
          <p:nvPr/>
        </p:nvSpPr>
        <p:spPr>
          <a:xfrm>
            <a:off x="4160520" y="4352544"/>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所属知识库</a:t>
            </a:r>
            <a:endParaRPr sz="950" b="0" i="0">
              <a:solidFill>
                <a:srgbClr val="64748B"/>
              </a:solidFill>
              <a:latin typeface="微软雅黑" panose="020B0503020204020204" charset="-122"/>
              <a:ea typeface="微软雅黑" panose="020B0503020204020204" charset="-122"/>
            </a:endParaRPr>
          </a:p>
        </p:txBody>
      </p:sp>
      <p:sp>
        <p:nvSpPr>
          <p:cNvPr id="45" name="TextBox 44"/>
          <p:cNvSpPr txBox="1"/>
          <p:nvPr/>
        </p:nvSpPr>
        <p:spPr>
          <a:xfrm>
            <a:off x="795528" y="4663440"/>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file_path / file_type</a:t>
            </a:r>
            <a:endParaRPr sz="1100" b="1" i="0">
              <a:solidFill>
                <a:srgbClr val="1E293B"/>
              </a:solidFill>
              <a:latin typeface="微软雅黑" panose="020B0503020204020204" charset="-122"/>
              <a:ea typeface="微软雅黑" panose="020B0503020204020204" charset="-122"/>
            </a:endParaRPr>
          </a:p>
        </p:txBody>
      </p:sp>
      <p:sp>
        <p:nvSpPr>
          <p:cNvPr id="46" name="TextBox 45"/>
          <p:cNvSpPr txBox="1"/>
          <p:nvPr/>
        </p:nvSpPr>
        <p:spPr>
          <a:xfrm>
            <a:off x="2788920" y="4663440"/>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VARCHAR</a:t>
            </a:r>
            <a:endParaRPr sz="950" b="0" i="0">
              <a:solidFill>
                <a:srgbClr val="64748B"/>
              </a:solidFill>
              <a:latin typeface="微软雅黑" panose="020B0503020204020204" charset="-122"/>
              <a:ea typeface="微软雅黑" panose="020B0503020204020204" charset="-122"/>
            </a:endParaRPr>
          </a:p>
        </p:txBody>
      </p:sp>
      <p:sp>
        <p:nvSpPr>
          <p:cNvPr id="47" name="TextBox 46"/>
          <p:cNvSpPr txBox="1"/>
          <p:nvPr/>
        </p:nvSpPr>
        <p:spPr>
          <a:xfrm>
            <a:off x="4160520" y="4663440"/>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落盘路径 · txt/md/pdf/docx/pptx</a:t>
            </a:r>
            <a:endParaRPr sz="950" b="0" i="0">
              <a:solidFill>
                <a:srgbClr val="64748B"/>
              </a:solidFill>
              <a:latin typeface="微软雅黑" panose="020B0503020204020204" charset="-122"/>
              <a:ea typeface="微软雅黑" panose="020B0503020204020204" charset="-122"/>
            </a:endParaRPr>
          </a:p>
        </p:txBody>
      </p:sp>
      <p:sp>
        <p:nvSpPr>
          <p:cNvPr id="48" name="TextBox 47"/>
          <p:cNvSpPr txBox="1"/>
          <p:nvPr/>
        </p:nvSpPr>
        <p:spPr>
          <a:xfrm>
            <a:off x="795528" y="4974336"/>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visibility</a:t>
            </a:r>
            <a:endParaRPr sz="1100" b="1" i="0">
              <a:solidFill>
                <a:srgbClr val="1E293B"/>
              </a:solidFill>
              <a:latin typeface="微软雅黑" panose="020B0503020204020204" charset="-122"/>
              <a:ea typeface="微软雅黑" panose="020B0503020204020204" charset="-122"/>
            </a:endParaRPr>
          </a:p>
        </p:txBody>
      </p:sp>
      <p:sp>
        <p:nvSpPr>
          <p:cNvPr id="49" name="TextBox 48"/>
          <p:cNvSpPr txBox="1"/>
          <p:nvPr/>
        </p:nvSpPr>
        <p:spPr>
          <a:xfrm>
            <a:off x="2788920" y="4974336"/>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VARCHAR(16)</a:t>
            </a:r>
            <a:endParaRPr sz="950" b="0" i="0">
              <a:solidFill>
                <a:srgbClr val="64748B"/>
              </a:solidFill>
              <a:latin typeface="微软雅黑" panose="020B0503020204020204" charset="-122"/>
              <a:ea typeface="微软雅黑" panose="020B0503020204020204" charset="-122"/>
            </a:endParaRPr>
          </a:p>
        </p:txBody>
      </p:sp>
      <p:sp>
        <p:nvSpPr>
          <p:cNvPr id="50" name="TextBox 49"/>
          <p:cNvSpPr txBox="1"/>
          <p:nvPr/>
        </p:nvSpPr>
        <p:spPr>
          <a:xfrm>
            <a:off x="4160520" y="4974336"/>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public / private</a:t>
            </a:r>
            <a:endParaRPr sz="950" b="0" i="0">
              <a:solidFill>
                <a:srgbClr val="64748B"/>
              </a:solidFill>
              <a:latin typeface="微软雅黑" panose="020B0503020204020204" charset="-122"/>
              <a:ea typeface="微软雅黑" panose="020B0503020204020204" charset="-122"/>
            </a:endParaRPr>
          </a:p>
        </p:txBody>
      </p:sp>
      <p:sp>
        <p:nvSpPr>
          <p:cNvPr id="51" name="TextBox 50"/>
          <p:cNvSpPr txBox="1"/>
          <p:nvPr/>
        </p:nvSpPr>
        <p:spPr>
          <a:xfrm>
            <a:off x="795528" y="5285231"/>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chunk_count · status</a:t>
            </a:r>
            <a:endParaRPr sz="1100" b="1" i="0">
              <a:solidFill>
                <a:srgbClr val="1E293B"/>
              </a:solidFill>
              <a:latin typeface="微软雅黑" panose="020B0503020204020204" charset="-122"/>
              <a:ea typeface="微软雅黑" panose="020B0503020204020204" charset="-122"/>
            </a:endParaRPr>
          </a:p>
        </p:txBody>
      </p:sp>
      <p:sp>
        <p:nvSpPr>
          <p:cNvPr id="52" name="TextBox 51"/>
          <p:cNvSpPr txBox="1"/>
          <p:nvPr/>
        </p:nvSpPr>
        <p:spPr>
          <a:xfrm>
            <a:off x="2788920" y="5285231"/>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INT / VARCHAR</a:t>
            </a:r>
            <a:endParaRPr sz="950" b="0" i="0">
              <a:solidFill>
                <a:srgbClr val="64748B"/>
              </a:solidFill>
              <a:latin typeface="微软雅黑" panose="020B0503020204020204" charset="-122"/>
              <a:ea typeface="微软雅黑" panose="020B0503020204020204" charset="-122"/>
            </a:endParaRPr>
          </a:p>
        </p:txBody>
      </p:sp>
      <p:sp>
        <p:nvSpPr>
          <p:cNvPr id="53" name="TextBox 52"/>
          <p:cNvSpPr txBox="1"/>
          <p:nvPr/>
        </p:nvSpPr>
        <p:spPr>
          <a:xfrm>
            <a:off x="4160520" y="5285231"/>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切分块数 · processing/ready/failed</a:t>
            </a:r>
            <a:endParaRPr sz="950" b="0" i="0">
              <a:solidFill>
                <a:srgbClr val="64748B"/>
              </a:solidFill>
              <a:latin typeface="微软雅黑" panose="020B0503020204020204" charset="-122"/>
              <a:ea typeface="微软雅黑" panose="020B0503020204020204" charset="-122"/>
            </a:endParaRPr>
          </a:p>
        </p:txBody>
      </p:sp>
      <p:sp>
        <p:nvSpPr>
          <p:cNvPr id="54" name="Rounded Rectangle 53"/>
          <p:cNvSpPr/>
          <p:nvPr/>
        </p:nvSpPr>
        <p:spPr>
          <a:xfrm>
            <a:off x="6263640" y="3694176"/>
            <a:ext cx="5440680" cy="228600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63640" y="3694176"/>
            <a:ext cx="128016" cy="5029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56248" y="3803904"/>
            <a:ext cx="4937760" cy="320040"/>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citations · 引用来源表</a:t>
            </a:r>
            <a:endParaRPr sz="1400" b="1" i="0">
              <a:solidFill>
                <a:srgbClr val="134E4A"/>
              </a:solidFill>
              <a:latin typeface="微软雅黑" panose="020B0503020204020204" charset="-122"/>
              <a:ea typeface="微软雅黑" panose="020B0503020204020204" charset="-122"/>
            </a:endParaRPr>
          </a:p>
        </p:txBody>
      </p:sp>
      <p:sp>
        <p:nvSpPr>
          <p:cNvPr id="57" name="Rectangle 56"/>
          <p:cNvSpPr/>
          <p:nvPr/>
        </p:nvSpPr>
        <p:spPr>
          <a:xfrm>
            <a:off x="6537959" y="4224528"/>
            <a:ext cx="4892040"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56248" y="4352544"/>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message_id</a:t>
            </a:r>
            <a:endParaRPr sz="1100" b="1" i="0">
              <a:solidFill>
                <a:srgbClr val="1E293B"/>
              </a:solidFill>
              <a:latin typeface="微软雅黑" panose="020B0503020204020204" charset="-122"/>
              <a:ea typeface="微软雅黑" panose="020B0503020204020204" charset="-122"/>
            </a:endParaRPr>
          </a:p>
        </p:txBody>
      </p:sp>
      <p:sp>
        <p:nvSpPr>
          <p:cNvPr id="59" name="TextBox 58"/>
          <p:cNvSpPr txBox="1"/>
          <p:nvPr/>
        </p:nvSpPr>
        <p:spPr>
          <a:xfrm>
            <a:off x="8549640" y="4352544"/>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INT</a:t>
            </a:r>
            <a:endParaRPr sz="950" b="0" i="0">
              <a:solidFill>
                <a:srgbClr val="64748B"/>
              </a:solidFill>
              <a:latin typeface="微软雅黑" panose="020B0503020204020204" charset="-122"/>
              <a:ea typeface="微软雅黑" panose="020B0503020204020204" charset="-122"/>
            </a:endParaRPr>
          </a:p>
        </p:txBody>
      </p:sp>
      <p:sp>
        <p:nvSpPr>
          <p:cNvPr id="60" name="TextBox 59"/>
          <p:cNvSpPr txBox="1"/>
          <p:nvPr/>
        </p:nvSpPr>
        <p:spPr>
          <a:xfrm>
            <a:off x="9921240" y="4352544"/>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关联回答消息</a:t>
            </a:r>
            <a:endParaRPr sz="950" b="0" i="0">
              <a:solidFill>
                <a:srgbClr val="64748B"/>
              </a:solidFill>
              <a:latin typeface="微软雅黑" panose="020B0503020204020204" charset="-122"/>
              <a:ea typeface="微软雅黑" panose="020B0503020204020204" charset="-122"/>
            </a:endParaRPr>
          </a:p>
        </p:txBody>
      </p:sp>
      <p:sp>
        <p:nvSpPr>
          <p:cNvPr id="61" name="TextBox 60"/>
          <p:cNvSpPr txBox="1"/>
          <p:nvPr/>
        </p:nvSpPr>
        <p:spPr>
          <a:xfrm>
            <a:off x="6556248" y="4663440"/>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document_id</a:t>
            </a:r>
            <a:endParaRPr sz="1100" b="1" i="0">
              <a:solidFill>
                <a:srgbClr val="1E293B"/>
              </a:solidFill>
              <a:latin typeface="微软雅黑" panose="020B0503020204020204" charset="-122"/>
              <a:ea typeface="微软雅黑" panose="020B0503020204020204" charset="-122"/>
            </a:endParaRPr>
          </a:p>
        </p:txBody>
      </p:sp>
      <p:sp>
        <p:nvSpPr>
          <p:cNvPr id="62" name="TextBox 61"/>
          <p:cNvSpPr txBox="1"/>
          <p:nvPr/>
        </p:nvSpPr>
        <p:spPr>
          <a:xfrm>
            <a:off x="8549640" y="4663440"/>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INT</a:t>
            </a:r>
            <a:endParaRPr sz="950" b="0" i="0">
              <a:solidFill>
                <a:srgbClr val="64748B"/>
              </a:solidFill>
              <a:latin typeface="微软雅黑" panose="020B0503020204020204" charset="-122"/>
              <a:ea typeface="微软雅黑" panose="020B0503020204020204" charset="-122"/>
            </a:endParaRPr>
          </a:p>
        </p:txBody>
      </p:sp>
      <p:sp>
        <p:nvSpPr>
          <p:cNvPr id="63" name="TextBox 62"/>
          <p:cNvSpPr txBox="1"/>
          <p:nvPr/>
        </p:nvSpPr>
        <p:spPr>
          <a:xfrm>
            <a:off x="9921240" y="4663440"/>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引用文档</a:t>
            </a:r>
            <a:endParaRPr sz="950" b="0" i="0">
              <a:solidFill>
                <a:srgbClr val="64748B"/>
              </a:solidFill>
              <a:latin typeface="微软雅黑" panose="020B0503020204020204" charset="-122"/>
              <a:ea typeface="微软雅黑" panose="020B0503020204020204" charset="-122"/>
            </a:endParaRPr>
          </a:p>
        </p:txBody>
      </p:sp>
      <p:sp>
        <p:nvSpPr>
          <p:cNvPr id="64" name="TextBox 63"/>
          <p:cNvSpPr txBox="1"/>
          <p:nvPr/>
        </p:nvSpPr>
        <p:spPr>
          <a:xfrm>
            <a:off x="6556248" y="4974336"/>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chunk_index</a:t>
            </a:r>
            <a:endParaRPr sz="1100" b="1" i="0">
              <a:solidFill>
                <a:srgbClr val="1E293B"/>
              </a:solidFill>
              <a:latin typeface="微软雅黑" panose="020B0503020204020204" charset="-122"/>
              <a:ea typeface="微软雅黑" panose="020B0503020204020204" charset="-122"/>
            </a:endParaRPr>
          </a:p>
        </p:txBody>
      </p:sp>
      <p:sp>
        <p:nvSpPr>
          <p:cNvPr id="65" name="TextBox 64"/>
          <p:cNvSpPr txBox="1"/>
          <p:nvPr/>
        </p:nvSpPr>
        <p:spPr>
          <a:xfrm>
            <a:off x="8549640" y="4974336"/>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INT</a:t>
            </a:r>
            <a:endParaRPr sz="950" b="0" i="0">
              <a:solidFill>
                <a:srgbClr val="64748B"/>
              </a:solidFill>
              <a:latin typeface="微软雅黑" panose="020B0503020204020204" charset="-122"/>
              <a:ea typeface="微软雅黑" panose="020B0503020204020204" charset="-122"/>
            </a:endParaRPr>
          </a:p>
        </p:txBody>
      </p:sp>
      <p:sp>
        <p:nvSpPr>
          <p:cNvPr id="66" name="TextBox 65"/>
          <p:cNvSpPr txBox="1"/>
          <p:nvPr/>
        </p:nvSpPr>
        <p:spPr>
          <a:xfrm>
            <a:off x="9921240" y="4974336"/>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片段序号</a:t>
            </a:r>
            <a:endParaRPr sz="950" b="0" i="0">
              <a:solidFill>
                <a:srgbClr val="64748B"/>
              </a:solidFill>
              <a:latin typeface="微软雅黑" panose="020B0503020204020204" charset="-122"/>
              <a:ea typeface="微软雅黑" panose="020B0503020204020204" charset="-122"/>
            </a:endParaRPr>
          </a:p>
        </p:txBody>
      </p:sp>
      <p:sp>
        <p:nvSpPr>
          <p:cNvPr id="67" name="TextBox 66"/>
          <p:cNvSpPr txBox="1"/>
          <p:nvPr/>
        </p:nvSpPr>
        <p:spPr>
          <a:xfrm>
            <a:off x="6556248" y="5285231"/>
            <a:ext cx="196596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E293B"/>
                </a:solidFill>
                <a:latin typeface="微软雅黑" panose="020B0503020204020204" charset="-122"/>
                <a:ea typeface="微软雅黑" panose="020B0503020204020204" charset="-122"/>
              </a:rPr>
              <a:t>similarity</a:t>
            </a:r>
            <a:endParaRPr sz="1100" b="1" i="0">
              <a:solidFill>
                <a:srgbClr val="1E293B"/>
              </a:solidFill>
              <a:latin typeface="微软雅黑" panose="020B0503020204020204" charset="-122"/>
              <a:ea typeface="微软雅黑" panose="020B0503020204020204" charset="-122"/>
            </a:endParaRPr>
          </a:p>
        </p:txBody>
      </p:sp>
      <p:sp>
        <p:nvSpPr>
          <p:cNvPr id="68" name="TextBox 67"/>
          <p:cNvSpPr txBox="1"/>
          <p:nvPr/>
        </p:nvSpPr>
        <p:spPr>
          <a:xfrm>
            <a:off x="8549640" y="5285231"/>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DOUBLE</a:t>
            </a:r>
            <a:endParaRPr sz="950" b="0" i="0">
              <a:solidFill>
                <a:srgbClr val="64748B"/>
              </a:solidFill>
              <a:latin typeface="微软雅黑" panose="020B0503020204020204" charset="-122"/>
              <a:ea typeface="微软雅黑" panose="020B0503020204020204" charset="-122"/>
            </a:endParaRPr>
          </a:p>
        </p:txBody>
      </p:sp>
      <p:sp>
        <p:nvSpPr>
          <p:cNvPr id="69" name="TextBox 68"/>
          <p:cNvSpPr txBox="1"/>
          <p:nvPr/>
        </p:nvSpPr>
        <p:spPr>
          <a:xfrm>
            <a:off x="9921240" y="5285231"/>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cosine 相似度</a:t>
            </a:r>
            <a:endParaRPr sz="950" b="0" i="0">
              <a:solidFill>
                <a:srgbClr val="64748B"/>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权限与安全设计</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02 · 总体设计</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14</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nvSpPr>
        <p:spPr>
          <a:xfrm>
            <a:off x="502920" y="1234440"/>
            <a:ext cx="5440680" cy="2286000"/>
          </a:xfrm>
          <a:prstGeom prst="roundRect">
            <a:avLst>
              <a:gd name="adj" fmla="val 5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463040"/>
            <a:ext cx="4846320" cy="411480"/>
          </a:xfrm>
          <a:prstGeom prst="rect">
            <a:avLst/>
          </a:prstGeom>
          <a:noFill/>
        </p:spPr>
        <p:txBody>
          <a:bodyPr wrap="square" lIns="0" tIns="0" rIns="0" bIns="0" anchor="t">
            <a:spAutoFit/>
          </a:bodyPr>
          <a:lstStyle/>
          <a:p>
            <a:pPr algn="l">
              <a:lnSpc>
                <a:spcPct val="100000"/>
              </a:lnSpc>
              <a:spcBef>
                <a:spcPts val="0"/>
              </a:spcBef>
              <a:spcAft>
                <a:spcPts val="0"/>
              </a:spcAft>
            </a:pPr>
            <a:r>
              <a:rPr sz="1600" b="1" i="0">
                <a:solidFill>
                  <a:srgbClr val="134E4A"/>
                </a:solidFill>
                <a:latin typeface="微软雅黑" panose="020B0503020204020204" charset="-122"/>
                <a:ea typeface="微软雅黑" panose="020B0503020204020204" charset="-122"/>
              </a:rPr>
              <a:t>JWT 认证流程</a:t>
            </a:r>
            <a:endParaRPr sz="1600" b="1" i="0">
              <a:solidFill>
                <a:srgbClr val="134E4A"/>
              </a:solidFill>
              <a:latin typeface="微软雅黑" panose="020B0503020204020204" charset="-122"/>
              <a:ea typeface="微软雅黑" panose="020B0503020204020204" charset="-122"/>
            </a:endParaRPr>
          </a:p>
        </p:txBody>
      </p:sp>
      <p:sp>
        <p:nvSpPr>
          <p:cNvPr id="11" name="Oval 10"/>
          <p:cNvSpPr/>
          <p:nvPr/>
        </p:nvSpPr>
        <p:spPr>
          <a:xfrm>
            <a:off x="777240" y="1965960"/>
            <a:ext cx="365760" cy="36576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007107"/>
            <a:ext cx="365760" cy="274320"/>
          </a:xfrm>
          <a:prstGeom prst="rect">
            <a:avLst/>
          </a:prstGeom>
          <a:noFill/>
        </p:spPr>
        <p:txBody>
          <a:bodyPr wrap="square" lIns="0" tIns="0" rIns="0" bIns="0" anchor="t">
            <a:spAutoFit/>
          </a:bodyPr>
          <a:lstStyle/>
          <a:p>
            <a:pPr algn="ctr">
              <a:lnSpc>
                <a:spcPct val="100000"/>
              </a:lnSpc>
              <a:spcBef>
                <a:spcPts val="0"/>
              </a:spcBef>
              <a:spcAft>
                <a:spcPts val="0"/>
              </a:spcAft>
            </a:pPr>
            <a:r>
              <a:rPr sz="1300" b="1" i="0">
                <a:solidFill>
                  <a:srgbClr val="FFFFFF"/>
                </a:solidFill>
                <a:latin typeface="微软雅黑" panose="020B0503020204020204" charset="-122"/>
                <a:ea typeface="微软雅黑" panose="020B0503020204020204" charset="-122"/>
              </a:rPr>
              <a:t>1</a:t>
            </a:r>
            <a:endParaRPr sz="1300" b="1" i="0">
              <a:solidFill>
                <a:srgbClr val="FFFFFF"/>
              </a:solidFill>
              <a:latin typeface="微软雅黑" panose="020B0503020204020204" charset="-122"/>
              <a:ea typeface="微软雅黑" panose="020B0503020204020204" charset="-122"/>
            </a:endParaRPr>
          </a:p>
        </p:txBody>
      </p:sp>
      <p:sp>
        <p:nvSpPr>
          <p:cNvPr id="13" name="TextBox 12"/>
          <p:cNvSpPr txBox="1"/>
          <p:nvPr/>
        </p:nvSpPr>
        <p:spPr>
          <a:xfrm>
            <a:off x="1298448" y="2011679"/>
            <a:ext cx="4480560" cy="32004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用户登录 → 校验用户名 + 密码哈希</a:t>
            </a:r>
            <a:endParaRPr sz="1200" b="0" i="0">
              <a:solidFill>
                <a:srgbClr val="1E293B"/>
              </a:solidFill>
              <a:latin typeface="微软雅黑" panose="020B0503020204020204" charset="-122"/>
              <a:ea typeface="微软雅黑" panose="020B0503020204020204" charset="-122"/>
            </a:endParaRPr>
          </a:p>
        </p:txBody>
      </p:sp>
      <p:sp>
        <p:nvSpPr>
          <p:cNvPr id="14" name="Oval 13"/>
          <p:cNvSpPr/>
          <p:nvPr/>
        </p:nvSpPr>
        <p:spPr>
          <a:xfrm>
            <a:off x="777240" y="2395728"/>
            <a:ext cx="365760" cy="36576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436876"/>
            <a:ext cx="365760" cy="274320"/>
          </a:xfrm>
          <a:prstGeom prst="rect">
            <a:avLst/>
          </a:prstGeom>
          <a:noFill/>
        </p:spPr>
        <p:txBody>
          <a:bodyPr wrap="square" lIns="0" tIns="0" rIns="0" bIns="0" anchor="t">
            <a:spAutoFit/>
          </a:bodyPr>
          <a:lstStyle/>
          <a:p>
            <a:pPr algn="ctr">
              <a:lnSpc>
                <a:spcPct val="100000"/>
              </a:lnSpc>
              <a:spcBef>
                <a:spcPts val="0"/>
              </a:spcBef>
              <a:spcAft>
                <a:spcPts val="0"/>
              </a:spcAft>
            </a:pPr>
            <a:r>
              <a:rPr sz="1300" b="1" i="0">
                <a:solidFill>
                  <a:srgbClr val="FFFFFF"/>
                </a:solidFill>
                <a:latin typeface="微软雅黑" panose="020B0503020204020204" charset="-122"/>
                <a:ea typeface="微软雅黑" panose="020B0503020204020204" charset="-122"/>
              </a:rPr>
              <a:t>2</a:t>
            </a:r>
            <a:endParaRPr sz="1300" b="1" i="0">
              <a:solidFill>
                <a:srgbClr val="FFFFFF"/>
              </a:solidFill>
              <a:latin typeface="微软雅黑" panose="020B0503020204020204" charset="-122"/>
              <a:ea typeface="微软雅黑" panose="020B0503020204020204" charset="-122"/>
            </a:endParaRPr>
          </a:p>
        </p:txBody>
      </p:sp>
      <p:sp>
        <p:nvSpPr>
          <p:cNvPr id="16" name="TextBox 15"/>
          <p:cNvSpPr txBox="1"/>
          <p:nvPr/>
        </p:nvSpPr>
        <p:spPr>
          <a:xfrm>
            <a:off x="1298448" y="2441448"/>
            <a:ext cx="4480560" cy="32004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签发 JWT（HS256，24h 过期）</a:t>
            </a:r>
            <a:endParaRPr sz="1200" b="0" i="0">
              <a:solidFill>
                <a:srgbClr val="1E293B"/>
              </a:solidFill>
              <a:latin typeface="微软雅黑" panose="020B0503020204020204" charset="-122"/>
              <a:ea typeface="微软雅黑" panose="020B0503020204020204" charset="-122"/>
            </a:endParaRPr>
          </a:p>
        </p:txBody>
      </p:sp>
      <p:sp>
        <p:nvSpPr>
          <p:cNvPr id="17" name="Oval 16"/>
          <p:cNvSpPr/>
          <p:nvPr/>
        </p:nvSpPr>
        <p:spPr>
          <a:xfrm>
            <a:off x="777240" y="2825496"/>
            <a:ext cx="365760" cy="36576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2866644"/>
            <a:ext cx="365760" cy="274320"/>
          </a:xfrm>
          <a:prstGeom prst="rect">
            <a:avLst/>
          </a:prstGeom>
          <a:noFill/>
        </p:spPr>
        <p:txBody>
          <a:bodyPr wrap="square" lIns="0" tIns="0" rIns="0" bIns="0" anchor="t">
            <a:spAutoFit/>
          </a:bodyPr>
          <a:lstStyle/>
          <a:p>
            <a:pPr algn="ctr">
              <a:lnSpc>
                <a:spcPct val="100000"/>
              </a:lnSpc>
              <a:spcBef>
                <a:spcPts val="0"/>
              </a:spcBef>
              <a:spcAft>
                <a:spcPts val="0"/>
              </a:spcAft>
            </a:pPr>
            <a:r>
              <a:rPr sz="1300" b="1" i="0">
                <a:solidFill>
                  <a:srgbClr val="FFFFFF"/>
                </a:solidFill>
                <a:latin typeface="微软雅黑" panose="020B0503020204020204" charset="-122"/>
                <a:ea typeface="微软雅黑" panose="020B0503020204020204" charset="-122"/>
              </a:rPr>
              <a:t>3</a:t>
            </a:r>
            <a:endParaRPr sz="1300" b="1" i="0">
              <a:solidFill>
                <a:srgbClr val="FFFFFF"/>
              </a:solidFill>
              <a:latin typeface="微软雅黑" panose="020B0503020204020204" charset="-122"/>
              <a:ea typeface="微软雅黑" panose="020B0503020204020204" charset="-122"/>
            </a:endParaRPr>
          </a:p>
        </p:txBody>
      </p:sp>
      <p:sp>
        <p:nvSpPr>
          <p:cNvPr id="19" name="TextBox 18"/>
          <p:cNvSpPr txBox="1"/>
          <p:nvPr/>
        </p:nvSpPr>
        <p:spPr>
          <a:xfrm>
            <a:off x="1298448" y="2871215"/>
            <a:ext cx="4480560" cy="32004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前端携带 Token 访问 /api/*</a:t>
            </a:r>
            <a:endParaRPr sz="1200" b="0" i="0">
              <a:solidFill>
                <a:srgbClr val="1E293B"/>
              </a:solidFill>
              <a:latin typeface="微软雅黑" panose="020B0503020204020204" charset="-122"/>
              <a:ea typeface="微软雅黑" panose="020B0503020204020204" charset="-122"/>
            </a:endParaRPr>
          </a:p>
        </p:txBody>
      </p:sp>
      <p:sp>
        <p:nvSpPr>
          <p:cNvPr id="20" name="Oval 19"/>
          <p:cNvSpPr/>
          <p:nvPr/>
        </p:nvSpPr>
        <p:spPr>
          <a:xfrm>
            <a:off x="777240" y="3255263"/>
            <a:ext cx="365760" cy="36576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296411"/>
            <a:ext cx="365760" cy="274320"/>
          </a:xfrm>
          <a:prstGeom prst="rect">
            <a:avLst/>
          </a:prstGeom>
          <a:noFill/>
        </p:spPr>
        <p:txBody>
          <a:bodyPr wrap="square" lIns="0" tIns="0" rIns="0" bIns="0" anchor="t">
            <a:spAutoFit/>
          </a:bodyPr>
          <a:lstStyle/>
          <a:p>
            <a:pPr algn="ctr">
              <a:lnSpc>
                <a:spcPct val="100000"/>
              </a:lnSpc>
              <a:spcBef>
                <a:spcPts val="0"/>
              </a:spcBef>
              <a:spcAft>
                <a:spcPts val="0"/>
              </a:spcAft>
            </a:pPr>
            <a:r>
              <a:rPr sz="1300" b="1" i="0">
                <a:solidFill>
                  <a:srgbClr val="FFFFFF"/>
                </a:solidFill>
                <a:latin typeface="微软雅黑" panose="020B0503020204020204" charset="-122"/>
                <a:ea typeface="微软雅黑" panose="020B0503020204020204" charset="-122"/>
              </a:rPr>
              <a:t>4</a:t>
            </a:r>
            <a:endParaRPr sz="1300" b="1" i="0">
              <a:solidFill>
                <a:srgbClr val="FFFFFF"/>
              </a:solidFill>
              <a:latin typeface="微软雅黑" panose="020B0503020204020204" charset="-122"/>
              <a:ea typeface="微软雅黑" panose="020B0503020204020204" charset="-122"/>
            </a:endParaRPr>
          </a:p>
        </p:txBody>
      </p:sp>
      <p:sp>
        <p:nvSpPr>
          <p:cNvPr id="22" name="TextBox 21"/>
          <p:cNvSpPr txBox="1"/>
          <p:nvPr/>
        </p:nvSpPr>
        <p:spPr>
          <a:xfrm>
            <a:off x="1298448" y="3300983"/>
            <a:ext cx="4480560" cy="320040"/>
          </a:xfrm>
          <a:prstGeom prst="rect">
            <a:avLst/>
          </a:prstGeom>
          <a:noFill/>
        </p:spPr>
        <p:txBody>
          <a:bodyPr wrap="square" lIns="0" tIns="0" rIns="0" bIns="0" anchor="t">
            <a:spAutoFit/>
          </a:bodyPr>
          <a:lstStyle/>
          <a:p>
            <a:pPr algn="l">
              <a:lnSpc>
                <a:spcPct val="100000"/>
              </a:lnSpc>
              <a:spcBef>
                <a:spcPts val="0"/>
              </a:spcBef>
              <a:spcAft>
                <a:spcPts val="0"/>
              </a:spcAft>
            </a:pPr>
            <a:r>
              <a:rPr sz="1200" b="0" i="0">
                <a:solidFill>
                  <a:srgbClr val="1E293B"/>
                </a:solidFill>
                <a:latin typeface="微软雅黑" panose="020B0503020204020204" charset="-122"/>
                <a:ea typeface="微软雅黑" panose="020B0503020204020204" charset="-122"/>
              </a:rPr>
              <a:t>装饰器校验角色 → 放行 / 拒绝</a:t>
            </a:r>
            <a:endParaRPr sz="1200" b="0" i="0">
              <a:solidFill>
                <a:srgbClr val="1E293B"/>
              </a:solidFill>
              <a:latin typeface="微软雅黑" panose="020B0503020204020204" charset="-122"/>
              <a:ea typeface="微软雅黑" panose="020B0503020204020204" charset="-122"/>
            </a:endParaRPr>
          </a:p>
        </p:txBody>
      </p:sp>
      <p:sp>
        <p:nvSpPr>
          <p:cNvPr id="23" name="Rounded Rectangle 22"/>
          <p:cNvSpPr/>
          <p:nvPr/>
        </p:nvSpPr>
        <p:spPr>
          <a:xfrm>
            <a:off x="6263640" y="1234440"/>
            <a:ext cx="5440680" cy="228600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1463040"/>
            <a:ext cx="4846320" cy="411480"/>
          </a:xfrm>
          <a:prstGeom prst="rect">
            <a:avLst/>
          </a:prstGeom>
          <a:noFill/>
        </p:spPr>
        <p:txBody>
          <a:bodyPr wrap="square" lIns="0" tIns="0" rIns="0" bIns="0" anchor="t">
            <a:spAutoFit/>
          </a:bodyPr>
          <a:lstStyle/>
          <a:p>
            <a:pPr algn="l">
              <a:lnSpc>
                <a:spcPct val="100000"/>
              </a:lnSpc>
              <a:spcBef>
                <a:spcPts val="0"/>
              </a:spcBef>
              <a:spcAft>
                <a:spcPts val="0"/>
              </a:spcAft>
            </a:pPr>
            <a:r>
              <a:rPr sz="1600" b="1" i="0">
                <a:solidFill>
                  <a:srgbClr val="134E4A"/>
                </a:solidFill>
                <a:latin typeface="微软雅黑" panose="020B0503020204020204" charset="-122"/>
                <a:ea typeface="微软雅黑" panose="020B0503020204020204" charset="-122"/>
              </a:rPr>
              <a:t>安全机制</a:t>
            </a:r>
            <a:endParaRPr sz="1600" b="1" i="0">
              <a:solidFill>
                <a:srgbClr val="134E4A"/>
              </a:solidFill>
              <a:latin typeface="微软雅黑" panose="020B0503020204020204" charset="-122"/>
              <a:ea typeface="微软雅黑" panose="020B0503020204020204" charset="-122"/>
            </a:endParaRPr>
          </a:p>
        </p:txBody>
      </p:sp>
      <p:sp>
        <p:nvSpPr>
          <p:cNvPr id="25" name="TextBox 24"/>
          <p:cNvSpPr txBox="1"/>
          <p:nvPr/>
        </p:nvSpPr>
        <p:spPr>
          <a:xfrm>
            <a:off x="6601968" y="1965960"/>
            <a:ext cx="4846320" cy="1554480"/>
          </a:xfrm>
          <a:prstGeom prst="rect">
            <a:avLst/>
          </a:prstGeom>
          <a:noFill/>
        </p:spPr>
        <p:txBody>
          <a:bodyPr wrap="square" lIns="0" tIns="0" rIns="0" bIns="0">
            <a:spAutoFit/>
          </a:bodyPr>
          <a:lstStyle/>
          <a:p>
            <a:pPr>
              <a:lnSpc>
                <a:spcPct val="100000"/>
              </a:lnSpc>
              <a:spcAft>
                <a:spcPts val="800"/>
              </a:spcAft>
            </a:pPr>
            <a:r>
              <a:rPr sz="1200" b="1" i="0">
                <a:solidFill>
                  <a:srgbClr val="0F766E"/>
                </a:solidFill>
                <a:latin typeface="微软雅黑" panose="020B0503020204020204" charset="-122"/>
                <a:ea typeface="微软雅黑" panose="020B0503020204020204" charset="-122"/>
              </a:rPr>
              <a:t>● </a:t>
            </a:r>
            <a:r>
              <a:rPr sz="1200" b="0" i="0">
                <a:solidFill>
                  <a:srgbClr val="1E293B"/>
                </a:solidFill>
                <a:latin typeface="微软雅黑" panose="020B0503020204020204" charset="-122"/>
                <a:ea typeface="微软雅黑" panose="020B0503020204020204" charset="-122"/>
              </a:rPr>
              <a:t>密码 bcrypt 哈希存储，不存明文</a:t>
            </a:r>
            <a:endParaRPr sz="1200" b="0" i="0">
              <a:solidFill>
                <a:srgbClr val="1E293B"/>
              </a:solidFill>
              <a:latin typeface="微软雅黑" panose="020B0503020204020204" charset="-122"/>
              <a:ea typeface="微软雅黑" panose="020B0503020204020204" charset="-122"/>
            </a:endParaRPr>
          </a:p>
          <a:p>
            <a:pPr>
              <a:lnSpc>
                <a:spcPct val="100000"/>
              </a:lnSpc>
              <a:spcAft>
                <a:spcPts val="800"/>
              </a:spcAft>
            </a:pPr>
            <a:r>
              <a:rPr sz="1200" b="1" i="0">
                <a:solidFill>
                  <a:srgbClr val="0F766E"/>
                </a:solidFill>
                <a:latin typeface="微软雅黑" panose="020B0503020204020204" charset="-122"/>
                <a:ea typeface="微软雅黑" panose="020B0503020204020204" charset="-122"/>
              </a:rPr>
              <a:t>● </a:t>
            </a:r>
            <a:r>
              <a:rPr sz="1200" b="0" i="0">
                <a:solidFill>
                  <a:srgbClr val="1E293B"/>
                </a:solidFill>
                <a:latin typeface="微软雅黑" panose="020B0503020204020204" charset="-122"/>
                <a:ea typeface="微软雅黑" panose="020B0503020204020204" charset="-122"/>
              </a:rPr>
              <a:t>角色装饰器 @require_role 校验接口权限</a:t>
            </a:r>
            <a:endParaRPr sz="1200" b="0" i="0">
              <a:solidFill>
                <a:srgbClr val="1E293B"/>
              </a:solidFill>
              <a:latin typeface="微软雅黑" panose="020B0503020204020204" charset="-122"/>
              <a:ea typeface="微软雅黑" panose="020B0503020204020204" charset="-122"/>
            </a:endParaRPr>
          </a:p>
          <a:p>
            <a:pPr>
              <a:lnSpc>
                <a:spcPct val="100000"/>
              </a:lnSpc>
              <a:spcAft>
                <a:spcPts val="800"/>
              </a:spcAft>
            </a:pPr>
            <a:r>
              <a:rPr sz="1200" b="1" i="0">
                <a:solidFill>
                  <a:srgbClr val="0F766E"/>
                </a:solidFill>
                <a:latin typeface="微软雅黑" panose="020B0503020204020204" charset="-122"/>
                <a:ea typeface="微软雅黑" panose="020B0503020204020204" charset="-122"/>
              </a:rPr>
              <a:t>● </a:t>
            </a:r>
            <a:r>
              <a:rPr sz="1200" b="0" i="0">
                <a:solidFill>
                  <a:srgbClr val="1E293B"/>
                </a:solidFill>
                <a:latin typeface="微软雅黑" panose="020B0503020204020204" charset="-122"/>
                <a:ea typeface="微软雅黑" panose="020B0503020204020204" charset="-122"/>
              </a:rPr>
              <a:t>公开/私有过滤下推到向量库查询</a:t>
            </a:r>
            <a:endParaRPr sz="1200" b="0" i="0">
              <a:solidFill>
                <a:srgbClr val="1E293B"/>
              </a:solidFill>
              <a:latin typeface="微软雅黑" panose="020B0503020204020204" charset="-122"/>
              <a:ea typeface="微软雅黑" panose="020B0503020204020204" charset="-122"/>
            </a:endParaRPr>
          </a:p>
          <a:p>
            <a:pPr>
              <a:lnSpc>
                <a:spcPct val="100000"/>
              </a:lnSpc>
              <a:spcAft>
                <a:spcPts val="800"/>
              </a:spcAft>
            </a:pPr>
            <a:r>
              <a:rPr sz="1200" b="1" i="0">
                <a:solidFill>
                  <a:srgbClr val="0F766E"/>
                </a:solidFill>
                <a:latin typeface="微软雅黑" panose="020B0503020204020204" charset="-122"/>
                <a:ea typeface="微软雅黑" panose="020B0503020204020204" charset="-122"/>
              </a:rPr>
              <a:t>● </a:t>
            </a:r>
            <a:r>
              <a:rPr sz="1200" b="0" i="0">
                <a:solidFill>
                  <a:srgbClr val="1E293B"/>
                </a:solidFill>
                <a:latin typeface="微软雅黑" panose="020B0503020204020204" charset="-122"/>
                <a:ea typeface="微软雅黑" panose="020B0503020204020204" charset="-122"/>
              </a:rPr>
              <a:t>.env 敏感配置不入库、不提交</a:t>
            </a:r>
            <a:endParaRPr sz="1200" b="0" i="0">
              <a:solidFill>
                <a:srgbClr val="1E293B"/>
              </a:solidFill>
              <a:latin typeface="微软雅黑" panose="020B0503020204020204" charset="-122"/>
              <a:ea typeface="微软雅黑" panose="020B0503020204020204" charset="-122"/>
            </a:endParaRPr>
          </a:p>
        </p:txBody>
      </p:sp>
      <p:sp>
        <p:nvSpPr>
          <p:cNvPr id="26" name="Rounded Rectangle 25"/>
          <p:cNvSpPr/>
          <p:nvPr/>
        </p:nvSpPr>
        <p:spPr>
          <a:xfrm>
            <a:off x="502920" y="3794760"/>
            <a:ext cx="11183112" cy="237744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023360"/>
            <a:ext cx="10515600" cy="411480"/>
          </a:xfrm>
          <a:prstGeom prst="rect">
            <a:avLst/>
          </a:prstGeom>
          <a:noFill/>
        </p:spPr>
        <p:txBody>
          <a:bodyPr wrap="square" lIns="0" tIns="0" rIns="0" bIns="0" anchor="t">
            <a:spAutoFit/>
          </a:bodyPr>
          <a:lstStyle/>
          <a:p>
            <a:pPr algn="l">
              <a:lnSpc>
                <a:spcPct val="100000"/>
              </a:lnSpc>
              <a:spcBef>
                <a:spcPts val="0"/>
              </a:spcBef>
              <a:spcAft>
                <a:spcPts val="0"/>
              </a:spcAft>
            </a:pPr>
            <a:r>
              <a:rPr sz="1600" b="1" i="0">
                <a:solidFill>
                  <a:srgbClr val="134E4A"/>
                </a:solidFill>
                <a:latin typeface="微软雅黑" panose="020B0503020204020204" charset="-122"/>
                <a:ea typeface="微软雅黑" panose="020B0503020204020204" charset="-122"/>
              </a:rPr>
              <a:t>核心权限矩阵</a:t>
            </a:r>
            <a:endParaRPr sz="1600" b="1" i="0">
              <a:solidFill>
                <a:srgbClr val="134E4A"/>
              </a:solidFill>
              <a:latin typeface="微软雅黑" panose="020B0503020204020204" charset="-122"/>
              <a:ea typeface="微软雅黑" panose="020B0503020204020204" charset="-122"/>
            </a:endParaRPr>
          </a:p>
        </p:txBody>
      </p:sp>
      <p:graphicFrame>
        <p:nvGraphicFramePr>
          <p:cNvPr id="28" name="Table 27"/>
          <p:cNvGraphicFramePr>
            <a:graphicFrameLocks noGrp="1"/>
          </p:cNvGraphicFramePr>
          <p:nvPr/>
        </p:nvGraphicFramePr>
        <p:xfrm>
          <a:off x="777240" y="4480560"/>
          <a:ext cx="10607040" cy="1554480"/>
        </p:xfrm>
        <a:graphic>
          <a:graphicData uri="http://schemas.openxmlformats.org/drawingml/2006/table">
            <a:tbl>
              <a:tblPr firstRow="1" bandRow="1">
                <a:tableStyleId>{5C22544A-7EE6-4342-B048-85BDC9FD1C3A}</a:tableStyleId>
              </a:tblPr>
              <a:tblGrid>
                <a:gridCol w="3200400"/>
                <a:gridCol w="1417320"/>
                <a:gridCol w="1417320"/>
                <a:gridCol w="1417320"/>
                <a:gridCol w="1417320"/>
                <a:gridCol w="1737360"/>
              </a:tblGrid>
              <a:tr h="310896">
                <a:tc>
                  <a:txBody>
                    <a:bodyPr wrap="square"/>
                    <a:lstStyle/>
                    <a:p>
                      <a:pPr algn="l"/>
                      <a:r>
                        <a:rPr sz="1150" b="1" i="0">
                          <a:solidFill>
                            <a:srgbClr val="FFFFFF"/>
                          </a:solidFill>
                          <a:latin typeface="微软雅黑" panose="020B0503020204020204" charset="-122"/>
                          <a:ea typeface="微软雅黑" panose="020B0503020204020204" charset="-122"/>
                        </a:rPr>
                        <a:t>能力</a:t>
                      </a:r>
                      <a:endParaRPr sz="1150" b="1" i="0">
                        <a:solidFill>
                          <a:srgbClr val="FFFFFF"/>
                        </a:solidFill>
                        <a:latin typeface="微软雅黑" panose="020B0503020204020204" charset="-122"/>
                        <a:ea typeface="微软雅黑" panose="020B0503020204020204" charset="-122"/>
                      </a:endParaRPr>
                    </a:p>
                  </a:txBody>
                  <a:tcPr marL="73152" marR="45720" marT="18288" marB="18288" anchor="ctr">
                    <a:solidFill>
                      <a:srgbClr val="0F766E"/>
                    </a:solidFill>
                  </a:tcPr>
                </a:tc>
                <a:tc>
                  <a:txBody>
                    <a:bodyPr wrap="square"/>
                    <a:lstStyle/>
                    <a:p>
                      <a:pPr algn="ctr"/>
                      <a:r>
                        <a:rPr sz="1150" b="1" i="0">
                          <a:solidFill>
                            <a:srgbClr val="FFFFFF"/>
                          </a:solidFill>
                          <a:latin typeface="微软雅黑" panose="020B0503020204020204" charset="-122"/>
                          <a:ea typeface="微软雅黑" panose="020B0503020204020204" charset="-122"/>
                        </a:rPr>
                        <a:t>患者</a:t>
                      </a:r>
                      <a:endParaRPr sz="1150" b="1" i="0">
                        <a:solidFill>
                          <a:srgbClr val="FFFFFF"/>
                        </a:solidFill>
                        <a:latin typeface="微软雅黑" panose="020B0503020204020204" charset="-122"/>
                        <a:ea typeface="微软雅黑" panose="020B0503020204020204" charset="-122"/>
                      </a:endParaRPr>
                    </a:p>
                  </a:txBody>
                  <a:tcPr marL="73152" marR="45720" marT="18288" marB="18288" anchor="ctr">
                    <a:solidFill>
                      <a:srgbClr val="0F766E"/>
                    </a:solidFill>
                  </a:tcPr>
                </a:tc>
                <a:tc>
                  <a:txBody>
                    <a:bodyPr wrap="square"/>
                    <a:lstStyle/>
                    <a:p>
                      <a:pPr algn="ctr"/>
                      <a:r>
                        <a:rPr sz="1150" b="1" i="0">
                          <a:solidFill>
                            <a:srgbClr val="FFFFFF"/>
                          </a:solidFill>
                          <a:latin typeface="微软雅黑" panose="020B0503020204020204" charset="-122"/>
                          <a:ea typeface="微软雅黑" panose="020B0503020204020204" charset="-122"/>
                        </a:rPr>
                        <a:t>医生</a:t>
                      </a:r>
                      <a:endParaRPr sz="1150" b="1" i="0">
                        <a:solidFill>
                          <a:srgbClr val="FFFFFF"/>
                        </a:solidFill>
                        <a:latin typeface="微软雅黑" panose="020B0503020204020204" charset="-122"/>
                        <a:ea typeface="微软雅黑" panose="020B0503020204020204" charset="-122"/>
                      </a:endParaRPr>
                    </a:p>
                  </a:txBody>
                  <a:tcPr marL="73152" marR="45720" marT="18288" marB="18288" anchor="ctr">
                    <a:solidFill>
                      <a:srgbClr val="0F766E"/>
                    </a:solidFill>
                  </a:tcPr>
                </a:tc>
                <a:tc>
                  <a:txBody>
                    <a:bodyPr wrap="square"/>
                    <a:lstStyle/>
                    <a:p>
                      <a:pPr algn="ctr"/>
                      <a:r>
                        <a:rPr sz="1150" b="1" i="0">
                          <a:solidFill>
                            <a:srgbClr val="FFFFFF"/>
                          </a:solidFill>
                          <a:latin typeface="微软雅黑" panose="020B0503020204020204" charset="-122"/>
                          <a:ea typeface="微软雅黑" panose="020B0503020204020204" charset="-122"/>
                        </a:rPr>
                        <a:t>护士</a:t>
                      </a:r>
                      <a:endParaRPr sz="1150" b="1" i="0">
                        <a:solidFill>
                          <a:srgbClr val="FFFFFF"/>
                        </a:solidFill>
                        <a:latin typeface="微软雅黑" panose="020B0503020204020204" charset="-122"/>
                        <a:ea typeface="微软雅黑" panose="020B0503020204020204" charset="-122"/>
                      </a:endParaRPr>
                    </a:p>
                  </a:txBody>
                  <a:tcPr marL="73152" marR="45720" marT="18288" marB="18288" anchor="ctr">
                    <a:solidFill>
                      <a:srgbClr val="0F766E"/>
                    </a:solidFill>
                  </a:tcPr>
                </a:tc>
                <a:tc>
                  <a:txBody>
                    <a:bodyPr wrap="square"/>
                    <a:lstStyle/>
                    <a:p>
                      <a:pPr algn="ctr"/>
                      <a:r>
                        <a:rPr sz="1150" b="1" i="0">
                          <a:solidFill>
                            <a:srgbClr val="FFFFFF"/>
                          </a:solidFill>
                          <a:latin typeface="微软雅黑" panose="020B0503020204020204" charset="-122"/>
                          <a:ea typeface="微软雅黑" panose="020B0503020204020204" charset="-122"/>
                        </a:rPr>
                        <a:t>群众</a:t>
                      </a:r>
                      <a:endParaRPr sz="1150" b="1" i="0">
                        <a:solidFill>
                          <a:srgbClr val="FFFFFF"/>
                        </a:solidFill>
                        <a:latin typeface="微软雅黑" panose="020B0503020204020204" charset="-122"/>
                        <a:ea typeface="微软雅黑" panose="020B0503020204020204" charset="-122"/>
                      </a:endParaRPr>
                    </a:p>
                  </a:txBody>
                  <a:tcPr marL="73152" marR="45720" marT="18288" marB="18288" anchor="ctr">
                    <a:solidFill>
                      <a:srgbClr val="0F766E"/>
                    </a:solidFill>
                  </a:tcPr>
                </a:tc>
                <a:tc>
                  <a:txBody>
                    <a:bodyPr wrap="square"/>
                    <a:lstStyle/>
                    <a:p>
                      <a:pPr algn="ctr"/>
                      <a:r>
                        <a:rPr sz="1150" b="1" i="0">
                          <a:solidFill>
                            <a:srgbClr val="FFFFFF"/>
                          </a:solidFill>
                          <a:latin typeface="微软雅黑" panose="020B0503020204020204" charset="-122"/>
                          <a:ea typeface="微软雅黑" panose="020B0503020204020204" charset="-122"/>
                        </a:rPr>
                        <a:t>管理员</a:t>
                      </a:r>
                      <a:endParaRPr sz="1150" b="1" i="0">
                        <a:solidFill>
                          <a:srgbClr val="FFFFFF"/>
                        </a:solidFill>
                        <a:latin typeface="微软雅黑" panose="020B0503020204020204" charset="-122"/>
                        <a:ea typeface="微软雅黑" panose="020B0503020204020204" charset="-122"/>
                      </a:endParaRPr>
                    </a:p>
                  </a:txBody>
                  <a:tcPr marL="73152" marR="45720" marT="18288" marB="18288" anchor="ctr">
                    <a:solidFill>
                      <a:srgbClr val="0F766E"/>
                    </a:solidFill>
                  </a:tcPr>
                </a:tc>
              </a:tr>
              <a:tr h="310896">
                <a:tc>
                  <a:txBody>
                    <a:bodyPr wrap="square"/>
                    <a:lstStyle/>
                    <a:p>
                      <a:pPr algn="l"/>
                      <a:r>
                        <a:rPr sz="1150" b="1" i="0">
                          <a:solidFill>
                            <a:srgbClr val="1E293B"/>
                          </a:solidFill>
                          <a:latin typeface="微软雅黑" panose="020B0503020204020204" charset="-122"/>
                          <a:ea typeface="微软雅黑" panose="020B0503020204020204" charset="-122"/>
                        </a:rPr>
                        <a:t>公开知识库 / 文档查询</a:t>
                      </a:r>
                      <a:endParaRPr sz="1150" b="1" i="0">
                        <a:solidFill>
                          <a:srgbClr val="1E293B"/>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FFFFFF"/>
                    </a:solidFill>
                  </a:tcPr>
                </a:tc>
              </a:tr>
              <a:tr h="310896">
                <a:tc>
                  <a:txBody>
                    <a:bodyPr wrap="square"/>
                    <a:lstStyle/>
                    <a:p>
                      <a:pPr algn="l"/>
                      <a:r>
                        <a:rPr sz="1150" b="1" i="0">
                          <a:solidFill>
                            <a:srgbClr val="1E293B"/>
                          </a:solidFill>
                          <a:latin typeface="微软雅黑" panose="020B0503020204020204" charset="-122"/>
                          <a:ea typeface="微软雅黑" panose="020B0503020204020204" charset="-122"/>
                        </a:rPr>
                        <a:t>私有文档检索</a:t>
                      </a:r>
                      <a:endParaRPr sz="1150" b="1"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1E293B"/>
                          </a:solidFill>
                          <a:latin typeface="微软雅黑" panose="020B0503020204020204" charset="-122"/>
                          <a:ea typeface="微软雅黑" panose="020B0503020204020204" charset="-122"/>
                        </a:rPr>
                        <a:t>✗</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1E293B"/>
                          </a:solidFill>
                          <a:latin typeface="微软雅黑" panose="020B0503020204020204" charset="-122"/>
                          <a:ea typeface="微软雅黑" panose="020B0503020204020204" charset="-122"/>
                        </a:rPr>
                        <a:t>✗</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1E293B"/>
                          </a:solidFill>
                          <a:latin typeface="微软雅黑" panose="020B0503020204020204" charset="-122"/>
                          <a:ea typeface="微软雅黑" panose="020B0503020204020204" charset="-122"/>
                        </a:rPr>
                        <a:t>✗</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E6F6F1"/>
                    </a:solidFill>
                  </a:tcPr>
                </a:tc>
              </a:tr>
              <a:tr h="310896">
                <a:tc>
                  <a:txBody>
                    <a:bodyPr wrap="square"/>
                    <a:lstStyle/>
                    <a:p>
                      <a:pPr algn="l"/>
                      <a:r>
                        <a:rPr sz="1150" b="1" i="0">
                          <a:solidFill>
                            <a:srgbClr val="1E293B"/>
                          </a:solidFill>
                          <a:latin typeface="微软雅黑" panose="020B0503020204020204" charset="-122"/>
                          <a:ea typeface="微软雅黑" panose="020B0503020204020204" charset="-122"/>
                        </a:rPr>
                        <a:t>创建知识库 / 上传文档</a:t>
                      </a:r>
                      <a:endParaRPr sz="1150" b="1" i="0">
                        <a:solidFill>
                          <a:srgbClr val="1E293B"/>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1E293B"/>
                          </a:solidFill>
                          <a:latin typeface="微软雅黑" panose="020B0503020204020204" charset="-122"/>
                          <a:ea typeface="微软雅黑" panose="020B0503020204020204" charset="-122"/>
                        </a:rPr>
                        <a:t>✗</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1E293B"/>
                          </a:solidFill>
                          <a:latin typeface="微软雅黑" panose="020B0503020204020204" charset="-122"/>
                          <a:ea typeface="微软雅黑" panose="020B0503020204020204" charset="-122"/>
                        </a:rPr>
                        <a:t>✗</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1E293B"/>
                          </a:solidFill>
                          <a:latin typeface="微软雅黑" panose="020B0503020204020204" charset="-122"/>
                          <a:ea typeface="微软雅黑" panose="020B0503020204020204" charset="-122"/>
                        </a:rPr>
                        <a:t>✗</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FFFFFF"/>
                    </a:solidFill>
                  </a:tcPr>
                </a:tc>
                <a:tc>
                  <a:txBody>
                    <a:bodyPr wrap="square"/>
                    <a:lstStyle/>
                    <a:p>
                      <a:pPr algn="ctr"/>
                      <a:r>
                        <a:rPr sz="1150" b="0" i="0">
                          <a:solidFill>
                            <a:srgbClr val="0B8A55"/>
                          </a:solidFill>
                          <a:latin typeface="微软雅黑" panose="020B0503020204020204" charset="-122"/>
                          <a:ea typeface="微软雅黑" panose="020B0503020204020204" charset="-122"/>
                        </a:rPr>
                        <a:t>✓</a:t>
                      </a:r>
                      <a:endParaRPr sz="1150" b="0" i="0">
                        <a:solidFill>
                          <a:srgbClr val="0B8A55"/>
                        </a:solidFill>
                        <a:latin typeface="微软雅黑" panose="020B0503020204020204" charset="-122"/>
                        <a:ea typeface="微软雅黑" panose="020B0503020204020204" charset="-122"/>
                      </a:endParaRPr>
                    </a:p>
                  </a:txBody>
                  <a:tcPr marL="73152" marR="45720" marT="18288" marB="18288" anchor="ctr">
                    <a:solidFill>
                      <a:srgbClr val="FFFFFF"/>
                    </a:solidFill>
                  </a:tcPr>
                </a:tc>
              </a:tr>
              <a:tr h="310896">
                <a:tc>
                  <a:txBody>
                    <a:bodyPr wrap="square"/>
                    <a:lstStyle/>
                    <a:p>
                      <a:pPr algn="l"/>
                      <a:r>
                        <a:rPr sz="1150" b="1" i="0">
                          <a:solidFill>
                            <a:srgbClr val="1E293B"/>
                          </a:solidFill>
                          <a:latin typeface="微软雅黑" panose="020B0503020204020204" charset="-122"/>
                          <a:ea typeface="微软雅黑" panose="020B0503020204020204" charset="-122"/>
                        </a:rPr>
                        <a:t>健康档案 / 护理记录 / 排班</a:t>
                      </a:r>
                      <a:endParaRPr sz="1150" b="1"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1E293B"/>
                          </a:solidFill>
                          <a:latin typeface="微软雅黑" panose="020B0503020204020204" charset="-122"/>
                          <a:ea typeface="微软雅黑" panose="020B0503020204020204" charset="-122"/>
                        </a:rPr>
                        <a:t>本人</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1E293B"/>
                          </a:solidFill>
                          <a:latin typeface="微软雅黑" panose="020B0503020204020204" charset="-122"/>
                          <a:ea typeface="微软雅黑" panose="020B0503020204020204" charset="-122"/>
                        </a:rPr>
                        <a:t>管理</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1E293B"/>
                          </a:solidFill>
                          <a:latin typeface="微软雅黑" panose="020B0503020204020204" charset="-122"/>
                          <a:ea typeface="微软雅黑" panose="020B0503020204020204" charset="-122"/>
                        </a:rPr>
                        <a:t>护理</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1E293B"/>
                          </a:solidFill>
                          <a:latin typeface="微软雅黑" panose="020B0503020204020204" charset="-122"/>
                          <a:ea typeface="微软雅黑" panose="020B0503020204020204" charset="-122"/>
                        </a:rPr>
                        <a:t>挂号</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c>
                  <a:txBody>
                    <a:bodyPr wrap="square"/>
                    <a:lstStyle/>
                    <a:p>
                      <a:pPr algn="ctr"/>
                      <a:r>
                        <a:rPr sz="1150" b="0" i="0">
                          <a:solidFill>
                            <a:srgbClr val="1E293B"/>
                          </a:solidFill>
                          <a:latin typeface="微软雅黑" panose="020B0503020204020204" charset="-122"/>
                          <a:ea typeface="微软雅黑" panose="020B0503020204020204" charset="-122"/>
                        </a:rPr>
                        <a:t>全量</a:t>
                      </a:r>
                      <a:endParaRPr sz="1150" b="0" i="0">
                        <a:solidFill>
                          <a:srgbClr val="1E293B"/>
                        </a:solidFill>
                        <a:latin typeface="微软雅黑" panose="020B0503020204020204" charset="-122"/>
                        <a:ea typeface="微软雅黑" panose="020B0503020204020204" charset="-122"/>
                      </a:endParaRPr>
                    </a:p>
                  </a:txBody>
                  <a:tcPr marL="73152" marR="45720" marT="18288" marB="18288" anchor="ctr">
                    <a:solidFill>
                      <a:srgbClr val="E6F6F1"/>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向量检索与 RAG 设计</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02 · 总体设计</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15</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custDataLst>
              <p:tags r:id="rId1"/>
            </p:custDataLst>
          </p:nvPr>
        </p:nvSpPr>
        <p:spPr>
          <a:xfrm>
            <a:off x="502920" y="1280160"/>
            <a:ext cx="2697480" cy="288036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custDataLst>
              <p:tags r:id="rId2"/>
            </p:custDataLst>
          </p:nvPr>
        </p:nvSpPr>
        <p:spPr>
          <a:xfrm>
            <a:off x="502920" y="1280160"/>
            <a:ext cx="2697480" cy="4754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custDataLst>
              <p:tags r:id="rId3"/>
            </p:custDataLst>
          </p:nvPr>
        </p:nvSpPr>
        <p:spPr>
          <a:xfrm>
            <a:off x="502920" y="1609344"/>
            <a:ext cx="2697480" cy="1463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custDataLst>
              <p:tags r:id="rId4"/>
            </p:custDataLst>
          </p:nvPr>
        </p:nvSpPr>
        <p:spPr>
          <a:xfrm>
            <a:off x="685800" y="1371600"/>
            <a:ext cx="2331720" cy="32004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FFFFFF"/>
                </a:solidFill>
                <a:latin typeface="微软雅黑" panose="020B0503020204020204" charset="-122"/>
                <a:ea typeface="微软雅黑" panose="020B0503020204020204" charset="-122"/>
              </a:rPr>
              <a:t>文档切分</a:t>
            </a:r>
            <a:endParaRPr sz="1400" b="1" i="0">
              <a:solidFill>
                <a:srgbClr val="FFFFFF"/>
              </a:solidFill>
              <a:latin typeface="微软雅黑" panose="020B0503020204020204" charset="-122"/>
              <a:ea typeface="微软雅黑" panose="020B0503020204020204" charset="-122"/>
            </a:endParaRPr>
          </a:p>
        </p:txBody>
      </p:sp>
      <p:sp>
        <p:nvSpPr>
          <p:cNvPr id="13" name="TextBox 12"/>
          <p:cNvSpPr txBox="1"/>
          <p:nvPr>
            <p:custDataLst>
              <p:tags r:id="rId5"/>
            </p:custDataLst>
          </p:nvPr>
        </p:nvSpPr>
        <p:spPr>
          <a:xfrm>
            <a:off x="685800" y="1965960"/>
            <a:ext cx="2331720" cy="2103120"/>
          </a:xfrm>
          <a:prstGeom prst="rect">
            <a:avLst/>
          </a:prstGeom>
          <a:noFill/>
        </p:spPr>
        <p:txBody>
          <a:bodyPr wrap="square" lIns="0" tIns="0" rIns="0" bIns="0">
            <a:spAutoFit/>
          </a:bodyPr>
          <a:lstStyle/>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CHUNK_SIZE=500 字符</a:t>
            </a:r>
            <a:endParaRPr sz="11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CHUNK_OVERLAP=80 保证连贯</a:t>
            </a:r>
            <a:endParaRPr sz="11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支持 txt/md/pdf/docx/pptx</a:t>
            </a:r>
            <a:endParaRPr sz="1150" b="0" i="0">
              <a:solidFill>
                <a:srgbClr val="1E293B"/>
              </a:solidFill>
              <a:latin typeface="微软雅黑" panose="020B0503020204020204" charset="-122"/>
              <a:ea typeface="微软雅黑" panose="020B0503020204020204" charset="-122"/>
            </a:endParaRPr>
          </a:p>
        </p:txBody>
      </p:sp>
      <p:sp>
        <p:nvSpPr>
          <p:cNvPr id="14" name="Rounded Rectangle 13"/>
          <p:cNvSpPr/>
          <p:nvPr>
            <p:custDataLst>
              <p:tags r:id="rId6"/>
            </p:custDataLst>
          </p:nvPr>
        </p:nvSpPr>
        <p:spPr>
          <a:xfrm>
            <a:off x="3337560" y="1280160"/>
            <a:ext cx="2697480" cy="288036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custDataLst>
              <p:tags r:id="rId7"/>
            </p:custDataLst>
          </p:nvPr>
        </p:nvSpPr>
        <p:spPr>
          <a:xfrm>
            <a:off x="3337560" y="1280160"/>
            <a:ext cx="2697480" cy="4754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custDataLst>
              <p:tags r:id="rId8"/>
            </p:custDataLst>
          </p:nvPr>
        </p:nvSpPr>
        <p:spPr>
          <a:xfrm>
            <a:off x="3337560" y="1609344"/>
            <a:ext cx="2697480" cy="1463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custDataLst>
              <p:tags r:id="rId9"/>
            </p:custDataLst>
          </p:nvPr>
        </p:nvSpPr>
        <p:spPr>
          <a:xfrm>
            <a:off x="3520440" y="1371600"/>
            <a:ext cx="2331720" cy="32004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FFFFFF"/>
                </a:solidFill>
                <a:latin typeface="微软雅黑" panose="020B0503020204020204" charset="-122"/>
                <a:ea typeface="微软雅黑" panose="020B0503020204020204" charset="-122"/>
              </a:rPr>
              <a:t>向量化模型</a:t>
            </a:r>
            <a:endParaRPr sz="1400" b="1" i="0">
              <a:solidFill>
                <a:srgbClr val="FFFFFF"/>
              </a:solidFill>
              <a:latin typeface="微软雅黑" panose="020B0503020204020204" charset="-122"/>
              <a:ea typeface="微软雅黑" panose="020B0503020204020204" charset="-122"/>
            </a:endParaRPr>
          </a:p>
        </p:txBody>
      </p:sp>
      <p:sp>
        <p:nvSpPr>
          <p:cNvPr id="18" name="TextBox 17"/>
          <p:cNvSpPr txBox="1"/>
          <p:nvPr>
            <p:custDataLst>
              <p:tags r:id="rId10"/>
            </p:custDataLst>
          </p:nvPr>
        </p:nvSpPr>
        <p:spPr>
          <a:xfrm>
            <a:off x="3520440" y="1965960"/>
            <a:ext cx="2331720" cy="2103120"/>
          </a:xfrm>
          <a:prstGeom prst="rect">
            <a:avLst/>
          </a:prstGeom>
          <a:noFill/>
        </p:spPr>
        <p:txBody>
          <a:bodyPr wrap="square" lIns="0" tIns="0" rIns="0" bIns="0">
            <a:spAutoFit/>
          </a:bodyPr>
          <a:lstStyle/>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bge-base-zh-v1.5 · 768 维</a:t>
            </a:r>
            <a:endParaRPr sz="11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ModelScope 下载 · 本地推理</a:t>
            </a:r>
            <a:endParaRPr sz="11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中文语义检索效果好</a:t>
            </a:r>
            <a:endParaRPr sz="1150" b="0" i="0">
              <a:solidFill>
                <a:srgbClr val="1E293B"/>
              </a:solidFill>
              <a:latin typeface="微软雅黑" panose="020B0503020204020204" charset="-122"/>
              <a:ea typeface="微软雅黑" panose="020B0503020204020204" charset="-122"/>
            </a:endParaRPr>
          </a:p>
        </p:txBody>
      </p:sp>
      <p:sp>
        <p:nvSpPr>
          <p:cNvPr id="19" name="Rounded Rectangle 18"/>
          <p:cNvSpPr/>
          <p:nvPr>
            <p:custDataLst>
              <p:tags r:id="rId11"/>
            </p:custDataLst>
          </p:nvPr>
        </p:nvSpPr>
        <p:spPr>
          <a:xfrm>
            <a:off x="6172200" y="1280160"/>
            <a:ext cx="2697480" cy="288036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custDataLst>
              <p:tags r:id="rId12"/>
            </p:custDataLst>
          </p:nvPr>
        </p:nvSpPr>
        <p:spPr>
          <a:xfrm>
            <a:off x="6172200" y="1280160"/>
            <a:ext cx="2697480" cy="4754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custDataLst>
              <p:tags r:id="rId13"/>
            </p:custDataLst>
          </p:nvPr>
        </p:nvSpPr>
        <p:spPr>
          <a:xfrm>
            <a:off x="6172200" y="1609344"/>
            <a:ext cx="2697480" cy="1463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custDataLst>
              <p:tags r:id="rId14"/>
            </p:custDataLst>
          </p:nvPr>
        </p:nvSpPr>
        <p:spPr>
          <a:xfrm>
            <a:off x="6355080" y="1371600"/>
            <a:ext cx="2331720" cy="32004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FFFFFF"/>
                </a:solidFill>
                <a:latin typeface="微软雅黑" panose="020B0503020204020204" charset="-122"/>
                <a:ea typeface="微软雅黑" panose="020B0503020204020204" charset="-122"/>
              </a:rPr>
              <a:t>向量存储</a:t>
            </a:r>
            <a:endParaRPr sz="1400" b="1" i="0">
              <a:solidFill>
                <a:srgbClr val="FFFFFF"/>
              </a:solidFill>
              <a:latin typeface="微软雅黑" panose="020B0503020204020204" charset="-122"/>
              <a:ea typeface="微软雅黑" panose="020B0503020204020204" charset="-122"/>
            </a:endParaRPr>
          </a:p>
        </p:txBody>
      </p:sp>
      <p:sp>
        <p:nvSpPr>
          <p:cNvPr id="23" name="TextBox 22"/>
          <p:cNvSpPr txBox="1"/>
          <p:nvPr>
            <p:custDataLst>
              <p:tags r:id="rId15"/>
            </p:custDataLst>
          </p:nvPr>
        </p:nvSpPr>
        <p:spPr>
          <a:xfrm>
            <a:off x="6355080" y="1965960"/>
            <a:ext cx="2331720" cy="2103120"/>
          </a:xfrm>
          <a:prstGeom prst="rect">
            <a:avLst/>
          </a:prstGeom>
          <a:noFill/>
        </p:spPr>
        <p:txBody>
          <a:bodyPr wrap="square" lIns="0" tIns="0" rIns="0" bIns="0">
            <a:spAutoFit/>
          </a:bodyPr>
          <a:lstStyle/>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Milvus：集合 medical_chunks</a:t>
            </a:r>
            <a:endParaRPr sz="11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kb_id 分区键 + cosine HNSW</a:t>
            </a:r>
            <a:endParaRPr sz="11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未启动自动降级 NumpyStore</a:t>
            </a:r>
            <a:endParaRPr sz="1150" b="0" i="0">
              <a:solidFill>
                <a:srgbClr val="1E293B"/>
              </a:solidFill>
              <a:latin typeface="微软雅黑" panose="020B0503020204020204" charset="-122"/>
              <a:ea typeface="微软雅黑" panose="020B0503020204020204" charset="-122"/>
            </a:endParaRPr>
          </a:p>
        </p:txBody>
      </p:sp>
      <p:sp>
        <p:nvSpPr>
          <p:cNvPr id="24" name="Rounded Rectangle 23"/>
          <p:cNvSpPr/>
          <p:nvPr>
            <p:custDataLst>
              <p:tags r:id="rId16"/>
            </p:custDataLst>
          </p:nvPr>
        </p:nvSpPr>
        <p:spPr>
          <a:xfrm>
            <a:off x="9006840" y="1280160"/>
            <a:ext cx="2697480" cy="288036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custDataLst>
              <p:tags r:id="rId17"/>
            </p:custDataLst>
          </p:nvPr>
        </p:nvSpPr>
        <p:spPr>
          <a:xfrm>
            <a:off x="9006840" y="1280160"/>
            <a:ext cx="2697480" cy="4754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custDataLst>
              <p:tags r:id="rId18"/>
            </p:custDataLst>
          </p:nvPr>
        </p:nvSpPr>
        <p:spPr>
          <a:xfrm>
            <a:off x="9006840" y="1609344"/>
            <a:ext cx="2697480" cy="14630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custDataLst>
              <p:tags r:id="rId19"/>
            </p:custDataLst>
          </p:nvPr>
        </p:nvSpPr>
        <p:spPr>
          <a:xfrm>
            <a:off x="9189719" y="1371600"/>
            <a:ext cx="2331720" cy="32004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FFFFFF"/>
                </a:solidFill>
                <a:latin typeface="微软雅黑" panose="020B0503020204020204" charset="-122"/>
                <a:ea typeface="微软雅黑" panose="020B0503020204020204" charset="-122"/>
              </a:rPr>
              <a:t>检索与重排</a:t>
            </a:r>
            <a:endParaRPr sz="1400" b="1" i="0">
              <a:solidFill>
                <a:srgbClr val="FFFFFF"/>
              </a:solidFill>
              <a:latin typeface="微软雅黑" panose="020B0503020204020204" charset="-122"/>
              <a:ea typeface="微软雅黑" panose="020B0503020204020204" charset="-122"/>
            </a:endParaRPr>
          </a:p>
        </p:txBody>
      </p:sp>
      <p:sp>
        <p:nvSpPr>
          <p:cNvPr id="28" name="TextBox 27"/>
          <p:cNvSpPr txBox="1"/>
          <p:nvPr>
            <p:custDataLst>
              <p:tags r:id="rId20"/>
            </p:custDataLst>
          </p:nvPr>
        </p:nvSpPr>
        <p:spPr>
          <a:xfrm>
            <a:off x="9189719" y="1965960"/>
            <a:ext cx="2331720" cy="1054100"/>
          </a:xfrm>
          <a:prstGeom prst="rect">
            <a:avLst/>
          </a:prstGeom>
          <a:noFill/>
        </p:spPr>
        <p:txBody>
          <a:bodyPr wrap="square" lIns="0" tIns="0" rIns="0" bIns="0">
            <a:spAutoFit/>
          </a:bodyPr>
          <a:lstStyle/>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over-fetch 取 top10</a:t>
            </a:r>
            <a:endParaRPr sz="11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score = 相似度 + α·关键词重叠</a:t>
            </a:r>
            <a:endParaRPr sz="11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150" b="1" i="0">
                <a:solidFill>
                  <a:srgbClr val="0F766E"/>
                </a:solidFill>
                <a:latin typeface="微软雅黑" panose="020B0503020204020204" charset="-122"/>
                <a:ea typeface="微软雅黑" panose="020B0503020204020204" charset="-122"/>
              </a:rPr>
              <a:t>●</a:t>
            </a:r>
            <a:r>
              <a:rPr sz="1150" b="0" i="0">
                <a:solidFill>
                  <a:srgbClr val="1E293B"/>
                </a:solidFill>
                <a:latin typeface="微软雅黑" panose="020B0503020204020204" charset="-122"/>
                <a:ea typeface="微软雅黑" panose="020B0503020204020204" charset="-122"/>
              </a:rPr>
              <a:t>TOP_K=5 </a:t>
            </a:r>
            <a:endParaRPr sz="1150" b="0" i="0">
              <a:solidFill>
                <a:srgbClr val="1E293B"/>
              </a:solidFill>
              <a:latin typeface="微软雅黑" panose="020B0503020204020204" charset="-122"/>
              <a:ea typeface="微软雅黑" panose="020B0503020204020204" charset="-122"/>
            </a:endParaRPr>
          </a:p>
          <a:p>
            <a:pPr marL="171450" indent="-171450">
              <a:lnSpc>
                <a:spcPct val="100000"/>
              </a:lnSpc>
              <a:spcAft>
                <a:spcPts val="900"/>
              </a:spcAft>
              <a:buFont typeface="Arial" panose="020B0604020202020204" pitchFamily="34" charset="0"/>
              <a:buChar char="•"/>
            </a:pPr>
            <a:r>
              <a:rPr sz="1150" b="0" i="0">
                <a:solidFill>
                  <a:srgbClr val="1E293B"/>
                </a:solidFill>
                <a:latin typeface="微软雅黑" panose="020B0503020204020204" charset="-122"/>
                <a:ea typeface="微软雅黑" panose="020B0503020204020204" charset="-122"/>
              </a:rPr>
              <a:t>MIN_SIMILARITY=0.30</a:t>
            </a:r>
            <a:endParaRPr sz="1150" b="0" i="0">
              <a:solidFill>
                <a:srgbClr val="1E293B"/>
              </a:solidFill>
              <a:latin typeface="微软雅黑" panose="020B0503020204020204" charset="-122"/>
              <a:ea typeface="微软雅黑" panose="020B0503020204020204" charset="-122"/>
            </a:endParaRPr>
          </a:p>
        </p:txBody>
      </p:sp>
      <p:sp>
        <p:nvSpPr>
          <p:cNvPr id="29" name="Rounded Rectangle 28"/>
          <p:cNvSpPr/>
          <p:nvPr/>
        </p:nvSpPr>
        <p:spPr>
          <a:xfrm>
            <a:off x="502920" y="4434840"/>
            <a:ext cx="11183112" cy="1737360"/>
          </a:xfrm>
          <a:prstGeom prst="roundRect">
            <a:avLst>
              <a:gd name="adj" fmla="val 6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663440"/>
            <a:ext cx="1051560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34E4A"/>
                </a:solidFill>
                <a:latin typeface="微软雅黑" panose="020B0503020204020204" charset="-122"/>
                <a:ea typeface="微软雅黑" panose="020B0503020204020204" charset="-122"/>
              </a:rPr>
              <a:t>相似度语义修正</a:t>
            </a:r>
            <a:endParaRPr sz="1500" b="1" i="0">
              <a:solidFill>
                <a:srgbClr val="134E4A"/>
              </a:solidFill>
              <a:latin typeface="微软雅黑" panose="020B0503020204020204" charset="-122"/>
              <a:ea typeface="微软雅黑" panose="020B0503020204020204" charset="-122"/>
            </a:endParaRPr>
          </a:p>
        </p:txBody>
      </p:sp>
      <p:sp>
        <p:nvSpPr>
          <p:cNvPr id="31" name="TextBox 30"/>
          <p:cNvSpPr txBox="1"/>
          <p:nvPr/>
        </p:nvSpPr>
        <p:spPr>
          <a:xfrm>
            <a:off x="841248" y="5138928"/>
            <a:ext cx="10607040" cy="1005840"/>
          </a:xfrm>
          <a:prstGeom prst="rect">
            <a:avLst/>
          </a:prstGeom>
          <a:noFill/>
        </p:spPr>
        <p:txBody>
          <a:bodyPr wrap="square" lIns="0" tIns="0" rIns="0" bIns="0">
            <a:spAutoFit/>
          </a:bodyPr>
          <a:lstStyle/>
          <a:p>
            <a:pPr>
              <a:lnSpc>
                <a:spcPct val="100000"/>
              </a:lnSpc>
              <a:spcAft>
                <a:spcPts val="9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统一 cosine 距离 → similarity = 1 - distance，得到 0~1 的 cosine 相似度（原文命中 ≈ 0.99）</a:t>
            </a:r>
            <a:endParaRPr sz="1250" b="0" i="0">
              <a:solidFill>
                <a:srgbClr val="1E293B"/>
              </a:solidFill>
              <a:latin typeface="微软雅黑" panose="020B0503020204020204" charset="-122"/>
              <a:ea typeface="微软雅黑" panose="020B0503020204020204" charset="-122"/>
            </a:endParaRPr>
          </a:p>
          <a:p>
            <a:pPr>
              <a:lnSpc>
                <a:spcPct val="100000"/>
              </a:lnSpc>
              <a:spcAft>
                <a:spcPts val="9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修复旧实现 1/(1+d) 压分导致的"匹配上但分数仅 0.3~0.5"问题；低于 MIN_SIMILARITY 的片段视为无关不进入上下文</a:t>
            </a:r>
            <a:endParaRPr sz="12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RAG 智能问答全流程</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02 · 总体设计</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16</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nvSpPr>
        <p:spPr>
          <a:xfrm>
            <a:off x="502920" y="1371600"/>
            <a:ext cx="2697480" cy="1051560"/>
          </a:xfrm>
          <a:prstGeom prst="roundRect">
            <a:avLst>
              <a:gd name="adj" fmla="val 1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536192"/>
            <a:ext cx="242316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① 用户提问</a:t>
            </a:r>
            <a:endParaRPr sz="1400" b="1" i="0">
              <a:solidFill>
                <a:srgbClr val="134E4A"/>
              </a:solidFill>
              <a:latin typeface="微软雅黑" panose="020B0503020204020204" charset="-122"/>
              <a:ea typeface="微软雅黑" panose="020B0503020204020204" charset="-122"/>
            </a:endParaRPr>
          </a:p>
        </p:txBody>
      </p:sp>
      <p:sp>
        <p:nvSpPr>
          <p:cNvPr id="11" name="TextBox 10"/>
          <p:cNvSpPr txBox="1"/>
          <p:nvPr/>
        </p:nvSpPr>
        <p:spPr>
          <a:xfrm>
            <a:off x="640080" y="1920240"/>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自然语言问题</a:t>
            </a:r>
            <a:endParaRPr sz="1050" b="0" i="0">
              <a:solidFill>
                <a:srgbClr val="64748B"/>
              </a:solidFill>
              <a:latin typeface="微软雅黑" panose="020B0503020204020204" charset="-122"/>
              <a:ea typeface="微软雅黑" panose="020B0503020204020204" charset="-122"/>
            </a:endParaRPr>
          </a:p>
        </p:txBody>
      </p:sp>
      <p:sp>
        <p:nvSpPr>
          <p:cNvPr id="12" name="Rectangle 11"/>
          <p:cNvSpPr/>
          <p:nvPr/>
        </p:nvSpPr>
        <p:spPr>
          <a:xfrm>
            <a:off x="3218688" y="1732788"/>
            <a:ext cx="91440"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3200400" y="1687068"/>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28416" y="1371600"/>
            <a:ext cx="2697480" cy="1051560"/>
          </a:xfrm>
          <a:prstGeom prst="roundRect">
            <a:avLst>
              <a:gd name="adj" fmla="val 1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65576" y="1536192"/>
            <a:ext cx="242316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② 权限过滤</a:t>
            </a:r>
            <a:endParaRPr sz="1400" b="1" i="0">
              <a:solidFill>
                <a:srgbClr val="134E4A"/>
              </a:solidFill>
              <a:latin typeface="微软雅黑" panose="020B0503020204020204" charset="-122"/>
              <a:ea typeface="微软雅黑" panose="020B0503020204020204" charset="-122"/>
            </a:endParaRPr>
          </a:p>
        </p:txBody>
      </p:sp>
      <p:sp>
        <p:nvSpPr>
          <p:cNvPr id="16" name="TextBox 15"/>
          <p:cNvSpPr txBox="1"/>
          <p:nvPr/>
        </p:nvSpPr>
        <p:spPr>
          <a:xfrm>
            <a:off x="3465576" y="1920240"/>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公开/私有文档</a:t>
            </a:r>
            <a:endParaRPr sz="1050" b="0" i="0">
              <a:solidFill>
                <a:srgbClr val="64748B"/>
              </a:solidFill>
              <a:latin typeface="微软雅黑" panose="020B0503020204020204" charset="-122"/>
              <a:ea typeface="微软雅黑" panose="020B0503020204020204" charset="-122"/>
            </a:endParaRPr>
          </a:p>
        </p:txBody>
      </p:sp>
      <p:sp>
        <p:nvSpPr>
          <p:cNvPr id="17" name="Rectangle 16"/>
          <p:cNvSpPr/>
          <p:nvPr/>
        </p:nvSpPr>
        <p:spPr>
          <a:xfrm>
            <a:off x="6044184" y="1732788"/>
            <a:ext cx="91440"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sosceles Triangle 17"/>
          <p:cNvSpPr/>
          <p:nvPr/>
        </p:nvSpPr>
        <p:spPr>
          <a:xfrm>
            <a:off x="6025896" y="1687068"/>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53912" y="1371600"/>
            <a:ext cx="2697480" cy="1051560"/>
          </a:xfrm>
          <a:prstGeom prst="roundRect">
            <a:avLst>
              <a:gd name="adj" fmla="val 1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536192"/>
            <a:ext cx="242316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③ 向量化</a:t>
            </a:r>
            <a:endParaRPr sz="1400" b="1" i="0">
              <a:solidFill>
                <a:srgbClr val="134E4A"/>
              </a:solidFill>
              <a:latin typeface="微软雅黑" panose="020B0503020204020204" charset="-122"/>
              <a:ea typeface="微软雅黑" panose="020B0503020204020204" charset="-122"/>
            </a:endParaRPr>
          </a:p>
        </p:txBody>
      </p:sp>
      <p:sp>
        <p:nvSpPr>
          <p:cNvPr id="21" name="TextBox 20"/>
          <p:cNvSpPr txBox="1"/>
          <p:nvPr/>
        </p:nvSpPr>
        <p:spPr>
          <a:xfrm>
            <a:off x="6291072" y="1920240"/>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bge-zh 768 维</a:t>
            </a:r>
            <a:endParaRPr sz="1050" b="0" i="0">
              <a:solidFill>
                <a:srgbClr val="64748B"/>
              </a:solidFill>
              <a:latin typeface="微软雅黑" panose="020B0503020204020204" charset="-122"/>
              <a:ea typeface="微软雅黑" panose="020B0503020204020204" charset="-122"/>
            </a:endParaRPr>
          </a:p>
        </p:txBody>
      </p:sp>
      <p:sp>
        <p:nvSpPr>
          <p:cNvPr id="22" name="Rectangle 21"/>
          <p:cNvSpPr/>
          <p:nvPr/>
        </p:nvSpPr>
        <p:spPr>
          <a:xfrm>
            <a:off x="8869680" y="1732788"/>
            <a:ext cx="91440"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8851392" y="1687068"/>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979408" y="1371600"/>
            <a:ext cx="2697480" cy="1051560"/>
          </a:xfrm>
          <a:prstGeom prst="roundRect">
            <a:avLst>
              <a:gd name="adj" fmla="val 1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6568" y="1536192"/>
            <a:ext cx="242316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④ 向量召回</a:t>
            </a:r>
            <a:endParaRPr sz="1400" b="1" i="0">
              <a:solidFill>
                <a:srgbClr val="134E4A"/>
              </a:solidFill>
              <a:latin typeface="微软雅黑" panose="020B0503020204020204" charset="-122"/>
              <a:ea typeface="微软雅黑" panose="020B0503020204020204" charset="-122"/>
            </a:endParaRPr>
          </a:p>
        </p:txBody>
      </p:sp>
      <p:sp>
        <p:nvSpPr>
          <p:cNvPr id="26" name="TextBox 25"/>
          <p:cNvSpPr txBox="1"/>
          <p:nvPr/>
        </p:nvSpPr>
        <p:spPr>
          <a:xfrm>
            <a:off x="9116568" y="1920240"/>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Milvus top-10</a:t>
            </a:r>
            <a:endParaRPr sz="1050" b="0" i="0">
              <a:solidFill>
                <a:srgbClr val="64748B"/>
              </a:solidFill>
              <a:latin typeface="微软雅黑" panose="020B0503020204020204" charset="-122"/>
              <a:ea typeface="微软雅黑" panose="020B0503020204020204" charset="-122"/>
            </a:endParaRPr>
          </a:p>
        </p:txBody>
      </p:sp>
      <p:sp>
        <p:nvSpPr>
          <p:cNvPr id="27" name="Rounded Rectangle 26"/>
          <p:cNvSpPr/>
          <p:nvPr/>
        </p:nvSpPr>
        <p:spPr>
          <a:xfrm>
            <a:off x="502920" y="2834639"/>
            <a:ext cx="2697480" cy="1051560"/>
          </a:xfrm>
          <a:prstGeom prst="roundRect">
            <a:avLst>
              <a:gd name="adj" fmla="val 1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2999232"/>
            <a:ext cx="242316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⑤ 关键词重排</a:t>
            </a:r>
            <a:endParaRPr sz="1400" b="1" i="0">
              <a:solidFill>
                <a:srgbClr val="134E4A"/>
              </a:solidFill>
              <a:latin typeface="微软雅黑" panose="020B0503020204020204" charset="-122"/>
              <a:ea typeface="微软雅黑" panose="020B0503020204020204" charset="-122"/>
            </a:endParaRPr>
          </a:p>
        </p:txBody>
      </p:sp>
      <p:sp>
        <p:nvSpPr>
          <p:cNvPr id="29" name="TextBox 28"/>
          <p:cNvSpPr txBox="1"/>
          <p:nvPr/>
        </p:nvSpPr>
        <p:spPr>
          <a:xfrm>
            <a:off x="640080" y="3383279"/>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相似度+α·重叠</a:t>
            </a:r>
            <a:endParaRPr sz="1050" b="0" i="0">
              <a:solidFill>
                <a:srgbClr val="64748B"/>
              </a:solidFill>
              <a:latin typeface="微软雅黑" panose="020B0503020204020204" charset="-122"/>
              <a:ea typeface="微软雅黑" panose="020B0503020204020204" charset="-122"/>
            </a:endParaRPr>
          </a:p>
        </p:txBody>
      </p:sp>
      <p:sp>
        <p:nvSpPr>
          <p:cNvPr id="30" name="Rectangle 29"/>
          <p:cNvSpPr/>
          <p:nvPr/>
        </p:nvSpPr>
        <p:spPr>
          <a:xfrm>
            <a:off x="3218688" y="3195828"/>
            <a:ext cx="91440"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3200400" y="3150108"/>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28416" y="2834639"/>
            <a:ext cx="2697480" cy="1051560"/>
          </a:xfrm>
          <a:prstGeom prst="roundRect">
            <a:avLst>
              <a:gd name="adj" fmla="val 1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65576" y="2999232"/>
            <a:ext cx="242316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⑥ 上下文构建</a:t>
            </a:r>
            <a:endParaRPr sz="1400" b="1" i="0">
              <a:solidFill>
                <a:srgbClr val="134E4A"/>
              </a:solidFill>
              <a:latin typeface="微软雅黑" panose="020B0503020204020204" charset="-122"/>
              <a:ea typeface="微软雅黑" panose="020B0503020204020204" charset="-122"/>
            </a:endParaRPr>
          </a:p>
        </p:txBody>
      </p:sp>
      <p:sp>
        <p:nvSpPr>
          <p:cNvPr id="34" name="TextBox 33"/>
          <p:cNvSpPr txBox="1"/>
          <p:nvPr/>
        </p:nvSpPr>
        <p:spPr>
          <a:xfrm>
            <a:off x="3465576" y="3383279"/>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编号片段</a:t>
            </a:r>
            <a:endParaRPr sz="1050" b="0" i="0">
              <a:solidFill>
                <a:srgbClr val="64748B"/>
              </a:solidFill>
              <a:latin typeface="微软雅黑" panose="020B0503020204020204" charset="-122"/>
              <a:ea typeface="微软雅黑" panose="020B0503020204020204" charset="-122"/>
            </a:endParaRPr>
          </a:p>
        </p:txBody>
      </p:sp>
      <p:sp>
        <p:nvSpPr>
          <p:cNvPr id="35" name="Rectangle 34"/>
          <p:cNvSpPr/>
          <p:nvPr/>
        </p:nvSpPr>
        <p:spPr>
          <a:xfrm>
            <a:off x="6044184" y="3195828"/>
            <a:ext cx="91440"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6025896" y="3150108"/>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53912" y="2834639"/>
            <a:ext cx="2697480" cy="1051560"/>
          </a:xfrm>
          <a:prstGeom prst="roundRect">
            <a:avLst>
              <a:gd name="adj" fmla="val 1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91072" y="2999232"/>
            <a:ext cx="242316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⑦ LLM 生成</a:t>
            </a:r>
            <a:endParaRPr sz="1400" b="1" i="0">
              <a:solidFill>
                <a:srgbClr val="134E4A"/>
              </a:solidFill>
              <a:latin typeface="微软雅黑" panose="020B0503020204020204" charset="-122"/>
              <a:ea typeface="微软雅黑" panose="020B0503020204020204" charset="-122"/>
            </a:endParaRPr>
          </a:p>
        </p:txBody>
      </p:sp>
      <p:sp>
        <p:nvSpPr>
          <p:cNvPr id="39" name="TextBox 38"/>
          <p:cNvSpPr txBox="1"/>
          <p:nvPr/>
        </p:nvSpPr>
        <p:spPr>
          <a:xfrm>
            <a:off x="6291072" y="3383279"/>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SSE 流式输出</a:t>
            </a:r>
            <a:endParaRPr sz="1050" b="0" i="0">
              <a:solidFill>
                <a:srgbClr val="64748B"/>
              </a:solidFill>
              <a:latin typeface="微软雅黑" panose="020B0503020204020204" charset="-122"/>
              <a:ea typeface="微软雅黑" panose="020B0503020204020204" charset="-122"/>
            </a:endParaRPr>
          </a:p>
        </p:txBody>
      </p:sp>
      <p:sp>
        <p:nvSpPr>
          <p:cNvPr id="40" name="Rectangle 39"/>
          <p:cNvSpPr/>
          <p:nvPr/>
        </p:nvSpPr>
        <p:spPr>
          <a:xfrm>
            <a:off x="8869680" y="3195828"/>
            <a:ext cx="91440"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sosceles Triangle 40"/>
          <p:cNvSpPr/>
          <p:nvPr/>
        </p:nvSpPr>
        <p:spPr>
          <a:xfrm>
            <a:off x="8851392" y="3150108"/>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979408" y="2834639"/>
            <a:ext cx="2697480" cy="1051560"/>
          </a:xfrm>
          <a:prstGeom prst="roundRect">
            <a:avLst>
              <a:gd name="adj" fmla="val 10000"/>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16568" y="2999232"/>
            <a:ext cx="242316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134E4A"/>
                </a:solidFill>
                <a:latin typeface="微软雅黑" panose="020B0503020204020204" charset="-122"/>
                <a:ea typeface="微软雅黑" panose="020B0503020204020204" charset="-122"/>
              </a:rPr>
              <a:t>⑧ 返回 + 引用</a:t>
            </a:r>
            <a:endParaRPr sz="1400" b="1" i="0">
              <a:solidFill>
                <a:srgbClr val="134E4A"/>
              </a:solidFill>
              <a:latin typeface="微软雅黑" panose="020B0503020204020204" charset="-122"/>
              <a:ea typeface="微软雅黑" panose="020B0503020204020204" charset="-122"/>
            </a:endParaRPr>
          </a:p>
        </p:txBody>
      </p:sp>
      <p:sp>
        <p:nvSpPr>
          <p:cNvPr id="44" name="TextBox 43"/>
          <p:cNvSpPr txBox="1"/>
          <p:nvPr/>
        </p:nvSpPr>
        <p:spPr>
          <a:xfrm>
            <a:off x="9116568" y="3383279"/>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citations 来源</a:t>
            </a:r>
            <a:endParaRPr sz="1050" b="0" i="0">
              <a:solidFill>
                <a:srgbClr val="64748B"/>
              </a:solidFill>
              <a:latin typeface="微软雅黑" panose="020B0503020204020204" charset="-122"/>
              <a:ea typeface="微软雅黑" panose="020B0503020204020204" charset="-122"/>
            </a:endParaRPr>
          </a:p>
        </p:txBody>
      </p:sp>
      <p:sp>
        <p:nvSpPr>
          <p:cNvPr id="45" name="Rectangle 44"/>
          <p:cNvSpPr/>
          <p:nvPr/>
        </p:nvSpPr>
        <p:spPr>
          <a:xfrm>
            <a:off x="1769364" y="2514600"/>
            <a:ext cx="164592" cy="26517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Isosceles Triangle 45"/>
          <p:cNvSpPr/>
          <p:nvPr/>
        </p:nvSpPr>
        <p:spPr>
          <a:xfrm>
            <a:off x="1723644" y="2670048"/>
            <a:ext cx="256032" cy="146304"/>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45852" y="2514600"/>
            <a:ext cx="164592" cy="26517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Isosceles Triangle 47"/>
          <p:cNvSpPr/>
          <p:nvPr/>
        </p:nvSpPr>
        <p:spPr>
          <a:xfrm>
            <a:off x="10200132" y="2670048"/>
            <a:ext cx="256032" cy="146304"/>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02920" y="4434840"/>
            <a:ext cx="11183112" cy="9601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2960" y="4572000"/>
            <a:ext cx="10515600" cy="365760"/>
          </a:xfrm>
          <a:prstGeom prst="rect">
            <a:avLst/>
          </a:prstGeom>
          <a:noFill/>
        </p:spPr>
        <p:txBody>
          <a:bodyPr wrap="square" lIns="0" tIns="0" rIns="0" bIns="0" anchor="t">
            <a:spAutoFit/>
          </a:bodyPr>
          <a:lstStyle/>
          <a:p>
            <a:pPr algn="l">
              <a:lnSpc>
                <a:spcPct val="100000"/>
              </a:lnSpc>
              <a:spcBef>
                <a:spcPts val="0"/>
              </a:spcBef>
              <a:spcAft>
                <a:spcPts val="0"/>
              </a:spcAft>
            </a:pPr>
            <a:r>
              <a:rPr sz="1450" b="1" i="0">
                <a:solidFill>
                  <a:srgbClr val="D97706"/>
                </a:solidFill>
                <a:latin typeface="微软雅黑" panose="020B0503020204020204" charset="-122"/>
                <a:ea typeface="微软雅黑" panose="020B0503020204020204" charset="-122"/>
              </a:rPr>
              <a:t>离线兜底，全链路始终可用</a:t>
            </a:r>
            <a:endParaRPr sz="1450" b="1" i="0">
              <a:solidFill>
                <a:srgbClr val="D97706"/>
              </a:solidFill>
              <a:latin typeface="微软雅黑" panose="020B0503020204020204" charset="-122"/>
              <a:ea typeface="微软雅黑" panose="020B0503020204020204" charset="-122"/>
            </a:endParaRPr>
          </a:p>
        </p:txBody>
      </p:sp>
      <p:sp>
        <p:nvSpPr>
          <p:cNvPr id="51" name="TextBox 50"/>
          <p:cNvSpPr txBox="1"/>
          <p:nvPr/>
        </p:nvSpPr>
        <p:spPr>
          <a:xfrm>
            <a:off x="822960" y="4983480"/>
            <a:ext cx="106070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0" i="0">
                <a:solidFill>
                  <a:srgbClr val="1E293B"/>
                </a:solidFill>
                <a:latin typeface="微软雅黑" panose="020B0503020204020204" charset="-122"/>
                <a:ea typeface="微软雅黑" panose="020B0503020204020204" charset="-122"/>
              </a:rPr>
              <a:t>未配置 API Key / 大模型调用失败 → 自动降级为基于知识库检索的离线合成回答，并保留引用来源</a:t>
            </a:r>
            <a:endParaRPr sz="1250" b="0" i="0">
              <a:solidFill>
                <a:srgbClr val="1E293B"/>
              </a:solidFill>
              <a:latin typeface="微软雅黑" panose="020B0503020204020204" charset="-122"/>
              <a:ea typeface="微软雅黑" panose="020B0503020204020204" charset="-122"/>
            </a:endParaRPr>
          </a:p>
        </p:txBody>
      </p:sp>
      <p:sp>
        <p:nvSpPr>
          <p:cNvPr id="52" name="Rounded Rectangle 51"/>
          <p:cNvSpPr/>
          <p:nvPr/>
        </p:nvSpPr>
        <p:spPr>
          <a:xfrm>
            <a:off x="502920" y="5577840"/>
            <a:ext cx="11183112" cy="6858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2960" y="5687568"/>
            <a:ext cx="10607040" cy="457200"/>
          </a:xfrm>
          <a:prstGeom prst="rect">
            <a:avLst/>
          </a:prstGeom>
          <a:noFill/>
        </p:spPr>
        <p:txBody>
          <a:bodyPr wrap="square" lIns="0" tIns="0" rIns="0" bIns="0" anchor="t">
            <a:spAutoFit/>
          </a:bodyPr>
          <a:lstStyle/>
          <a:p>
            <a:pPr algn="l">
              <a:lnSpc>
                <a:spcPct val="100000"/>
              </a:lnSpc>
              <a:spcBef>
                <a:spcPts val="0"/>
              </a:spcBef>
              <a:spcAft>
                <a:spcPts val="0"/>
              </a:spcAft>
            </a:pPr>
            <a:r>
              <a:rPr sz="1250" b="0" i="0">
                <a:solidFill>
                  <a:srgbClr val="1E293B"/>
                </a:solidFill>
                <a:latin typeface="微软雅黑" panose="020B0503020204020204" charset="-122"/>
                <a:ea typeface="微软雅黑" panose="020B0503020204020204" charset="-122"/>
              </a:rPr>
              <a:t>知识库切换：可在多个疾病知识库间选择；咨询历史按会话保存，回答引用可逐条追溯</a:t>
            </a:r>
            <a:endParaRPr sz="12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34440"/>
            <a:ext cx="4114800" cy="2194560"/>
          </a:xfrm>
          <a:prstGeom prst="rect">
            <a:avLst/>
          </a:prstGeom>
          <a:noFill/>
        </p:spPr>
        <p:txBody>
          <a:bodyPr wrap="square" lIns="0" tIns="0" rIns="0" bIns="0" anchor="t">
            <a:spAutoFit/>
          </a:bodyPr>
          <a:lstStyle/>
          <a:p>
            <a:pPr algn="l">
              <a:lnSpc>
                <a:spcPct val="100000"/>
              </a:lnSpc>
              <a:spcBef>
                <a:spcPts val="0"/>
              </a:spcBef>
              <a:spcAft>
                <a:spcPts val="0"/>
              </a:spcAft>
            </a:pPr>
            <a:r>
              <a:rPr sz="15000" b="1" i="0">
                <a:solidFill>
                  <a:srgbClr val="E0F2FE"/>
                </a:solidFill>
                <a:latin typeface="微软雅黑" panose="020B0503020204020204" charset="-122"/>
                <a:ea typeface="微软雅黑" panose="020B0503020204020204" charset="-122"/>
              </a:rPr>
              <a:t>03</a:t>
            </a:r>
            <a:endParaRPr sz="15000" b="1" i="0">
              <a:solidFill>
                <a:srgbClr val="E0F2FE"/>
              </a:solidFill>
              <a:latin typeface="微软雅黑" panose="020B0503020204020204" charset="-122"/>
              <a:ea typeface="微软雅黑" panose="020B0503020204020204" charset="-122"/>
            </a:endParaRPr>
          </a:p>
        </p:txBody>
      </p:sp>
      <p:sp>
        <p:nvSpPr>
          <p:cNvPr id="5" name="TextBox 4"/>
          <p:cNvSpPr txBox="1"/>
          <p:nvPr/>
        </p:nvSpPr>
        <p:spPr>
          <a:xfrm>
            <a:off x="1143000" y="3200400"/>
            <a:ext cx="4434840" cy="914400"/>
          </a:xfrm>
          <a:prstGeom prst="rect">
            <a:avLst/>
          </a:prstGeom>
          <a:noFill/>
        </p:spPr>
        <p:txBody>
          <a:bodyPr wrap="square" lIns="0" tIns="0" rIns="0" bIns="0" anchor="t">
            <a:spAutoFit/>
          </a:bodyPr>
          <a:lstStyle/>
          <a:p>
            <a:pPr algn="l">
              <a:lnSpc>
                <a:spcPct val="100000"/>
              </a:lnSpc>
              <a:spcBef>
                <a:spcPts val="0"/>
              </a:spcBef>
              <a:spcAft>
                <a:spcPts val="0"/>
              </a:spcAft>
            </a:pPr>
            <a:r>
              <a:rPr sz="3400" b="1" i="0">
                <a:solidFill>
                  <a:srgbClr val="134E4A"/>
                </a:solidFill>
                <a:latin typeface="微软雅黑" panose="020B0503020204020204" charset="-122"/>
                <a:ea typeface="微软雅黑" panose="020B0503020204020204" charset="-122"/>
              </a:rPr>
              <a:t>系统详细实现</a:t>
            </a:r>
            <a:endParaRPr sz="3400" b="1" i="0">
              <a:solidFill>
                <a:srgbClr val="134E4A"/>
              </a:solidFill>
              <a:latin typeface="微软雅黑" panose="020B0503020204020204" charset="-122"/>
              <a:ea typeface="微软雅黑" panose="020B0503020204020204" charset="-122"/>
            </a:endParaRPr>
          </a:p>
        </p:txBody>
      </p:sp>
      <p:sp>
        <p:nvSpPr>
          <p:cNvPr id="6" name="TextBox 5"/>
          <p:cNvSpPr txBox="1"/>
          <p:nvPr/>
        </p:nvSpPr>
        <p:spPr>
          <a:xfrm>
            <a:off x="1170432" y="4224528"/>
            <a:ext cx="4434840" cy="45720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94A3B8"/>
                </a:solidFill>
                <a:latin typeface="微软雅黑" panose="020B0503020204020204" charset="-122"/>
                <a:ea typeface="微软雅黑" panose="020B0503020204020204" charset="-122"/>
              </a:rPr>
              <a:t>IMPLEMENTATION</a:t>
            </a:r>
            <a:endParaRPr sz="1500" b="1" i="0">
              <a:solidFill>
                <a:srgbClr val="94A3B8"/>
              </a:solidFill>
              <a:latin typeface="微软雅黑" panose="020B0503020204020204" charset="-122"/>
              <a:ea typeface="微软雅黑" panose="020B0503020204020204" charset="-122"/>
            </a:endParaRPr>
          </a:p>
        </p:txBody>
      </p:sp>
      <p:sp>
        <p:nvSpPr>
          <p:cNvPr id="7" name="Rounded Rectangle 6"/>
          <p:cNvSpPr/>
          <p:nvPr/>
        </p:nvSpPr>
        <p:spPr>
          <a:xfrm>
            <a:off x="5669280" y="1371600"/>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89320" y="1499616"/>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01</a:t>
            </a:r>
            <a:endParaRPr sz="1700" b="1" i="0">
              <a:solidFill>
                <a:srgbClr val="0F766E"/>
              </a:solidFill>
              <a:latin typeface="微软雅黑" panose="020B0503020204020204" charset="-122"/>
              <a:ea typeface="微软雅黑" panose="020B0503020204020204" charset="-122"/>
            </a:endParaRPr>
          </a:p>
        </p:txBody>
      </p:sp>
      <p:sp>
        <p:nvSpPr>
          <p:cNvPr id="9" name="TextBox 8"/>
          <p:cNvSpPr txBox="1"/>
          <p:nvPr/>
        </p:nvSpPr>
        <p:spPr>
          <a:xfrm>
            <a:off x="6492240" y="1508760"/>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后端架构实现</a:t>
            </a:r>
            <a:endParaRPr sz="1450" b="0" i="0">
              <a:solidFill>
                <a:srgbClr val="1E293B"/>
              </a:solidFill>
              <a:latin typeface="微软雅黑" panose="020B0503020204020204" charset="-122"/>
              <a:ea typeface="微软雅黑" panose="020B0503020204020204" charset="-122"/>
            </a:endParaRPr>
          </a:p>
        </p:txBody>
      </p:sp>
      <p:sp>
        <p:nvSpPr>
          <p:cNvPr id="10" name="Rounded Rectangle 9"/>
          <p:cNvSpPr/>
          <p:nvPr/>
        </p:nvSpPr>
        <p:spPr>
          <a:xfrm>
            <a:off x="5669280" y="2176272"/>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2304288"/>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02</a:t>
            </a:r>
            <a:endParaRPr sz="1700" b="1" i="0">
              <a:solidFill>
                <a:srgbClr val="0F766E"/>
              </a:solidFill>
              <a:latin typeface="微软雅黑" panose="020B0503020204020204" charset="-122"/>
              <a:ea typeface="微软雅黑" panose="020B0503020204020204" charset="-122"/>
            </a:endParaRPr>
          </a:p>
        </p:txBody>
      </p:sp>
      <p:sp>
        <p:nvSpPr>
          <p:cNvPr id="12" name="TextBox 11"/>
          <p:cNvSpPr txBox="1"/>
          <p:nvPr/>
        </p:nvSpPr>
        <p:spPr>
          <a:xfrm>
            <a:off x="6492240" y="2313432"/>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前端架构实现</a:t>
            </a:r>
            <a:endParaRPr sz="1450" b="0" i="0">
              <a:solidFill>
                <a:srgbClr val="1E293B"/>
              </a:solidFill>
              <a:latin typeface="微软雅黑" panose="020B0503020204020204" charset="-122"/>
              <a:ea typeface="微软雅黑" panose="020B0503020204020204" charset="-122"/>
            </a:endParaRPr>
          </a:p>
        </p:txBody>
      </p:sp>
      <p:sp>
        <p:nvSpPr>
          <p:cNvPr id="13" name="Rounded Rectangle 12"/>
          <p:cNvSpPr/>
          <p:nvPr/>
        </p:nvSpPr>
        <p:spPr>
          <a:xfrm>
            <a:off x="5669280" y="2980944"/>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9320" y="3108960"/>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03</a:t>
            </a:r>
            <a:endParaRPr sz="1700" b="1" i="0">
              <a:solidFill>
                <a:srgbClr val="0F766E"/>
              </a:solidFill>
              <a:latin typeface="微软雅黑" panose="020B0503020204020204" charset="-122"/>
              <a:ea typeface="微软雅黑" panose="020B0503020204020204" charset="-122"/>
            </a:endParaRPr>
          </a:p>
        </p:txBody>
      </p:sp>
      <p:sp>
        <p:nvSpPr>
          <p:cNvPr id="15" name="TextBox 14"/>
          <p:cNvSpPr txBox="1"/>
          <p:nvPr/>
        </p:nvSpPr>
        <p:spPr>
          <a:xfrm>
            <a:off x="6492240" y="3118103"/>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智能咨询功能</a:t>
            </a:r>
            <a:endParaRPr sz="1450" b="0" i="0">
              <a:solidFill>
                <a:srgbClr val="1E293B"/>
              </a:solidFill>
              <a:latin typeface="微软雅黑" panose="020B0503020204020204" charset="-122"/>
              <a:ea typeface="微软雅黑" panose="020B0503020204020204" charset="-122"/>
            </a:endParaRPr>
          </a:p>
        </p:txBody>
      </p:sp>
      <p:sp>
        <p:nvSpPr>
          <p:cNvPr id="16" name="Rounded Rectangle 15"/>
          <p:cNvSpPr/>
          <p:nvPr/>
        </p:nvSpPr>
        <p:spPr>
          <a:xfrm>
            <a:off x="5669280" y="3785615"/>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3913631"/>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04</a:t>
            </a:r>
            <a:endParaRPr sz="1700" b="1" i="0">
              <a:solidFill>
                <a:srgbClr val="0F766E"/>
              </a:solidFill>
              <a:latin typeface="微软雅黑" panose="020B0503020204020204" charset="-122"/>
              <a:ea typeface="微软雅黑" panose="020B0503020204020204" charset="-122"/>
            </a:endParaRPr>
          </a:p>
        </p:txBody>
      </p:sp>
      <p:sp>
        <p:nvSpPr>
          <p:cNvPr id="18" name="TextBox 17"/>
          <p:cNvSpPr txBox="1"/>
          <p:nvPr/>
        </p:nvSpPr>
        <p:spPr>
          <a:xfrm>
            <a:off x="6492240" y="3922776"/>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知识库管理功能</a:t>
            </a:r>
            <a:endParaRPr sz="1450" b="0" i="0">
              <a:solidFill>
                <a:srgbClr val="1E293B"/>
              </a:solidFill>
              <a:latin typeface="微软雅黑" panose="020B0503020204020204" charset="-122"/>
              <a:ea typeface="微软雅黑" panose="020B0503020204020204" charset="-122"/>
            </a:endParaRPr>
          </a:p>
        </p:txBody>
      </p:sp>
      <p:sp>
        <p:nvSpPr>
          <p:cNvPr id="19" name="Rounded Rectangle 18"/>
          <p:cNvSpPr/>
          <p:nvPr/>
        </p:nvSpPr>
        <p:spPr>
          <a:xfrm>
            <a:off x="5669280" y="4590288"/>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4718303"/>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05</a:t>
            </a:r>
            <a:endParaRPr sz="1700" b="1" i="0">
              <a:solidFill>
                <a:srgbClr val="0F766E"/>
              </a:solidFill>
              <a:latin typeface="微软雅黑" panose="020B0503020204020204" charset="-122"/>
              <a:ea typeface="微软雅黑" panose="020B0503020204020204" charset="-122"/>
            </a:endParaRPr>
          </a:p>
        </p:txBody>
      </p:sp>
      <p:sp>
        <p:nvSpPr>
          <p:cNvPr id="21" name="TextBox 20"/>
          <p:cNvSpPr txBox="1"/>
          <p:nvPr/>
        </p:nvSpPr>
        <p:spPr>
          <a:xfrm>
            <a:off x="6492240" y="4727448"/>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核心业务功能</a:t>
            </a:r>
            <a:endParaRPr sz="14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后端架构实现（Flask）</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03 · 详细实现</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18</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nvSpPr>
        <p:spPr>
          <a:xfrm>
            <a:off x="502920" y="1234440"/>
            <a:ext cx="5440680" cy="310896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463040"/>
            <a:ext cx="484632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34E4A"/>
                </a:solidFill>
                <a:latin typeface="微软雅黑" panose="020B0503020204020204" charset="-122"/>
                <a:ea typeface="微软雅黑" panose="020B0503020204020204" charset="-122"/>
              </a:rPr>
              <a:t>分层目录结构</a:t>
            </a:r>
            <a:endParaRPr sz="1500" b="1" i="0">
              <a:solidFill>
                <a:srgbClr val="134E4A"/>
              </a:solidFill>
              <a:latin typeface="微软雅黑" panose="020B0503020204020204" charset="-122"/>
              <a:ea typeface="微软雅黑" panose="020B0503020204020204" charset="-122"/>
            </a:endParaRPr>
          </a:p>
        </p:txBody>
      </p:sp>
      <p:sp>
        <p:nvSpPr>
          <p:cNvPr id="11" name="Rounded Rectangle 10"/>
          <p:cNvSpPr/>
          <p:nvPr/>
        </p:nvSpPr>
        <p:spPr>
          <a:xfrm>
            <a:off x="777240" y="1920240"/>
            <a:ext cx="4892040" cy="402336"/>
          </a:xfrm>
          <a:prstGeom prst="roundRect">
            <a:avLst>
              <a:gd name="adj" fmla="val 2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975104"/>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app.py</a:t>
            </a:r>
            <a:endParaRPr sz="1100" b="1" i="0">
              <a:solidFill>
                <a:srgbClr val="0F766E"/>
              </a:solidFill>
              <a:latin typeface="微软雅黑" panose="020B0503020204020204" charset="-122"/>
              <a:ea typeface="微软雅黑" panose="020B0503020204020204" charset="-122"/>
            </a:endParaRPr>
          </a:p>
        </p:txBody>
      </p:sp>
      <p:sp>
        <p:nvSpPr>
          <p:cNvPr id="13" name="TextBox 12"/>
          <p:cNvSpPr txBox="1"/>
          <p:nvPr/>
        </p:nvSpPr>
        <p:spPr>
          <a:xfrm>
            <a:off x="2468880" y="1984248"/>
            <a:ext cx="310896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Flask 入口：自动建库建表 + 播种</a:t>
            </a:r>
            <a:endParaRPr sz="1000" b="0" i="0">
              <a:solidFill>
                <a:srgbClr val="1E293B"/>
              </a:solidFill>
              <a:latin typeface="微软雅黑" panose="020B0503020204020204" charset="-122"/>
              <a:ea typeface="微软雅黑" panose="020B0503020204020204" charset="-122"/>
            </a:endParaRPr>
          </a:p>
        </p:txBody>
      </p:sp>
      <p:sp>
        <p:nvSpPr>
          <p:cNvPr id="14" name="Rounded Rectangle 13"/>
          <p:cNvSpPr/>
          <p:nvPr/>
        </p:nvSpPr>
        <p:spPr>
          <a:xfrm>
            <a:off x="777240" y="2395728"/>
            <a:ext cx="4892040" cy="402336"/>
          </a:xfrm>
          <a:prstGeom prst="roundRect">
            <a:avLst>
              <a:gd name="adj" fmla="val 2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450592"/>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api/</a:t>
            </a:r>
            <a:endParaRPr sz="1100" b="1" i="0">
              <a:solidFill>
                <a:srgbClr val="0F766E"/>
              </a:solidFill>
              <a:latin typeface="微软雅黑" panose="020B0503020204020204" charset="-122"/>
              <a:ea typeface="微软雅黑" panose="020B0503020204020204" charset="-122"/>
            </a:endParaRPr>
          </a:p>
        </p:txBody>
      </p:sp>
      <p:sp>
        <p:nvSpPr>
          <p:cNvPr id="16" name="TextBox 15"/>
          <p:cNvSpPr txBox="1"/>
          <p:nvPr/>
        </p:nvSpPr>
        <p:spPr>
          <a:xfrm>
            <a:off x="2468880" y="2459736"/>
            <a:ext cx="310896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9 个蓝图：auth kb chat dashboard</a:t>
            </a:r>
            <a:endParaRPr sz="1000" b="0" i="0">
              <a:solidFill>
                <a:srgbClr val="1E293B"/>
              </a:solidFill>
              <a:latin typeface="微软雅黑" panose="020B0503020204020204" charset="-122"/>
              <a:ea typeface="微软雅黑" panose="020B0503020204020204" charset="-122"/>
            </a:endParaRPr>
          </a:p>
        </p:txBody>
      </p:sp>
      <p:sp>
        <p:nvSpPr>
          <p:cNvPr id="17" name="Rounded Rectangle 16"/>
          <p:cNvSpPr/>
          <p:nvPr/>
        </p:nvSpPr>
        <p:spPr>
          <a:xfrm>
            <a:off x="777240" y="2871216"/>
            <a:ext cx="4892040" cy="402336"/>
          </a:xfrm>
          <a:prstGeom prst="roundRect">
            <a:avLst>
              <a:gd name="adj" fmla="val 2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2926080"/>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      </a:t>
            </a:r>
            <a:endParaRPr sz="1100" b="1" i="0">
              <a:solidFill>
                <a:srgbClr val="0F766E"/>
              </a:solidFill>
              <a:latin typeface="微软雅黑" panose="020B0503020204020204" charset="-122"/>
              <a:ea typeface="微软雅黑" panose="020B0503020204020204" charset="-122"/>
            </a:endParaRPr>
          </a:p>
        </p:txBody>
      </p:sp>
      <p:sp>
        <p:nvSpPr>
          <p:cNvPr id="19" name="TextBox 18"/>
          <p:cNvSpPr txBox="1"/>
          <p:nvPr/>
        </p:nvSpPr>
        <p:spPr>
          <a:xfrm>
            <a:off x="2468880" y="2935224"/>
            <a:ext cx="310896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patient doctor nurse schedule admin</a:t>
            </a:r>
            <a:endParaRPr sz="1000" b="0" i="0">
              <a:solidFill>
                <a:srgbClr val="1E293B"/>
              </a:solidFill>
              <a:latin typeface="微软雅黑" panose="020B0503020204020204" charset="-122"/>
              <a:ea typeface="微软雅黑" panose="020B0503020204020204" charset="-122"/>
            </a:endParaRPr>
          </a:p>
        </p:txBody>
      </p:sp>
      <p:sp>
        <p:nvSpPr>
          <p:cNvPr id="20" name="Rounded Rectangle 19"/>
          <p:cNvSpPr/>
          <p:nvPr/>
        </p:nvSpPr>
        <p:spPr>
          <a:xfrm>
            <a:off x="777240" y="3346704"/>
            <a:ext cx="4892040" cy="402336"/>
          </a:xfrm>
          <a:prstGeom prst="roundRect">
            <a:avLst>
              <a:gd name="adj" fmla="val 2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3401568"/>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services/</a:t>
            </a:r>
            <a:endParaRPr sz="1100" b="1" i="0">
              <a:solidFill>
                <a:srgbClr val="0F766E"/>
              </a:solidFill>
              <a:latin typeface="微软雅黑" panose="020B0503020204020204" charset="-122"/>
              <a:ea typeface="微软雅黑" panose="020B0503020204020204" charset="-122"/>
            </a:endParaRPr>
          </a:p>
        </p:txBody>
      </p:sp>
      <p:sp>
        <p:nvSpPr>
          <p:cNvPr id="22" name="TextBox 21"/>
          <p:cNvSpPr txBox="1"/>
          <p:nvPr/>
        </p:nvSpPr>
        <p:spPr>
          <a:xfrm>
            <a:off x="2468880" y="3410712"/>
            <a:ext cx="310896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咨询 · 知识库 · 检索 · 文档处理 · LLM</a:t>
            </a:r>
            <a:endParaRPr sz="1000" b="0" i="0">
              <a:solidFill>
                <a:srgbClr val="1E293B"/>
              </a:solidFill>
              <a:latin typeface="微软雅黑" panose="020B0503020204020204" charset="-122"/>
              <a:ea typeface="微软雅黑" panose="020B0503020204020204" charset="-122"/>
            </a:endParaRPr>
          </a:p>
        </p:txBody>
      </p:sp>
      <p:sp>
        <p:nvSpPr>
          <p:cNvPr id="23" name="Rounded Rectangle 22"/>
          <p:cNvSpPr/>
          <p:nvPr/>
        </p:nvSpPr>
        <p:spPr>
          <a:xfrm>
            <a:off x="777240" y="3822191"/>
            <a:ext cx="4892040" cy="402336"/>
          </a:xfrm>
          <a:prstGeom prst="roundRect">
            <a:avLst>
              <a:gd name="adj" fmla="val 2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877055"/>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models/</a:t>
            </a:r>
            <a:endParaRPr sz="1100" b="1" i="0">
              <a:solidFill>
                <a:srgbClr val="0F766E"/>
              </a:solidFill>
              <a:latin typeface="微软雅黑" panose="020B0503020204020204" charset="-122"/>
              <a:ea typeface="微软雅黑" panose="020B0503020204020204" charset="-122"/>
            </a:endParaRPr>
          </a:p>
        </p:txBody>
      </p:sp>
      <p:sp>
        <p:nvSpPr>
          <p:cNvPr id="25" name="TextBox 24"/>
          <p:cNvSpPr txBox="1"/>
          <p:nvPr/>
        </p:nvSpPr>
        <p:spPr>
          <a:xfrm>
            <a:off x="2468880" y="3886200"/>
            <a:ext cx="310896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schema_mysql.sql · db.py 数据访问层</a:t>
            </a:r>
            <a:endParaRPr sz="1000" b="0" i="0">
              <a:solidFill>
                <a:srgbClr val="1E293B"/>
              </a:solidFill>
              <a:latin typeface="微软雅黑" panose="020B0503020204020204" charset="-122"/>
              <a:ea typeface="微软雅黑" panose="020B0503020204020204" charset="-122"/>
            </a:endParaRPr>
          </a:p>
        </p:txBody>
      </p:sp>
      <p:sp>
        <p:nvSpPr>
          <p:cNvPr id="26" name="Rounded Rectangle 25"/>
          <p:cNvSpPr/>
          <p:nvPr/>
        </p:nvSpPr>
        <p:spPr>
          <a:xfrm>
            <a:off x="777240" y="4297679"/>
            <a:ext cx="4892040" cy="402336"/>
          </a:xfrm>
          <a:prstGeom prst="roundRect">
            <a:avLst>
              <a:gd name="adj" fmla="val 2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352543"/>
            <a:ext cx="141732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utils/</a:t>
            </a:r>
            <a:endParaRPr sz="1100" b="1" i="0">
              <a:solidFill>
                <a:srgbClr val="0F766E"/>
              </a:solidFill>
              <a:latin typeface="微软雅黑" panose="020B0503020204020204" charset="-122"/>
              <a:ea typeface="微软雅黑" panose="020B0503020204020204" charset="-122"/>
            </a:endParaRPr>
          </a:p>
        </p:txBody>
      </p:sp>
      <p:sp>
        <p:nvSpPr>
          <p:cNvPr id="28" name="TextBox 27"/>
          <p:cNvSpPr txBox="1"/>
          <p:nvPr/>
        </p:nvSpPr>
        <p:spPr>
          <a:xfrm>
            <a:off x="2468880" y="4361688"/>
            <a:ext cx="310896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错误处理 · 文件工具 · 文本工具</a:t>
            </a:r>
            <a:endParaRPr sz="1000" b="0" i="0">
              <a:solidFill>
                <a:srgbClr val="1E293B"/>
              </a:solidFill>
              <a:latin typeface="微软雅黑" panose="020B0503020204020204" charset="-122"/>
              <a:ea typeface="微软雅黑" panose="020B0503020204020204" charset="-122"/>
            </a:endParaRPr>
          </a:p>
        </p:txBody>
      </p:sp>
      <p:sp>
        <p:nvSpPr>
          <p:cNvPr id="29" name="Rounded Rectangle 28"/>
          <p:cNvSpPr/>
          <p:nvPr/>
        </p:nvSpPr>
        <p:spPr>
          <a:xfrm>
            <a:off x="6263640" y="1234440"/>
            <a:ext cx="5440680" cy="310896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1463040"/>
            <a:ext cx="484632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34E4A"/>
                </a:solidFill>
                <a:latin typeface="微软雅黑" panose="020B0503020204020204" charset="-122"/>
                <a:ea typeface="微软雅黑" panose="020B0503020204020204" charset="-122"/>
              </a:rPr>
              <a:t>实现要点</a:t>
            </a:r>
            <a:endParaRPr sz="1500" b="1" i="0">
              <a:solidFill>
                <a:srgbClr val="134E4A"/>
              </a:solidFill>
              <a:latin typeface="微软雅黑" panose="020B0503020204020204" charset="-122"/>
              <a:ea typeface="微软雅黑" panose="020B0503020204020204" charset="-122"/>
            </a:endParaRPr>
          </a:p>
        </p:txBody>
      </p:sp>
      <p:sp>
        <p:nvSpPr>
          <p:cNvPr id="31" name="TextBox 30"/>
          <p:cNvSpPr txBox="1"/>
          <p:nvPr/>
        </p:nvSpPr>
        <p:spPr>
          <a:xfrm>
            <a:off x="6601968" y="1965960"/>
            <a:ext cx="4846320" cy="2286000"/>
          </a:xfrm>
          <a:prstGeom prst="rect">
            <a:avLst/>
          </a:prstGeom>
          <a:noFill/>
        </p:spPr>
        <p:txBody>
          <a:bodyPr wrap="square" lIns="0" tIns="0" rIns="0" bIns="0">
            <a:spAutoFit/>
          </a:bodyPr>
          <a:lstStyle/>
          <a:p>
            <a:pPr>
              <a:lnSpc>
                <a:spcPct val="100000"/>
              </a:lnSpc>
              <a:spcAft>
                <a:spcPts val="8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Blueprint 按业务域拆分，接口职责单一</a:t>
            </a:r>
            <a:endParaRPr sz="1250" b="0" i="0">
              <a:solidFill>
                <a:srgbClr val="1E293B"/>
              </a:solidFill>
              <a:latin typeface="微软雅黑" panose="020B0503020204020204" charset="-122"/>
              <a:ea typeface="微软雅黑" panose="020B0503020204020204" charset="-122"/>
            </a:endParaRPr>
          </a:p>
          <a:p>
            <a:pPr>
              <a:lnSpc>
                <a:spcPct val="100000"/>
              </a:lnSpc>
              <a:spcAft>
                <a:spcPts val="8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Service 层隔离业务逻辑，可独立测试</a:t>
            </a:r>
            <a:endParaRPr sz="1250" b="0" i="0">
              <a:solidFill>
                <a:srgbClr val="1E293B"/>
              </a:solidFill>
              <a:latin typeface="微软雅黑" panose="020B0503020204020204" charset="-122"/>
              <a:ea typeface="微软雅黑" panose="020B0503020204020204" charset="-122"/>
            </a:endParaRPr>
          </a:p>
          <a:p>
            <a:pPr>
              <a:lnSpc>
                <a:spcPct val="100000"/>
              </a:lnSpc>
              <a:spcAft>
                <a:spcPts val="8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doc_pipeline：上传 → 切分 → 向量化入库</a:t>
            </a:r>
            <a:endParaRPr sz="1250" b="0" i="0">
              <a:solidFill>
                <a:srgbClr val="1E293B"/>
              </a:solidFill>
              <a:latin typeface="微软雅黑" panose="020B0503020204020204" charset="-122"/>
              <a:ea typeface="微软雅黑" panose="020B0503020204020204" charset="-122"/>
            </a:endParaRPr>
          </a:p>
          <a:p>
            <a:pPr>
              <a:lnSpc>
                <a:spcPct val="100000"/>
              </a:lnSpc>
              <a:spcAft>
                <a:spcPts val="8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retriever：向量召回 + 关键词重排 + 引用构建</a:t>
            </a:r>
            <a:endParaRPr sz="1250" b="0" i="0">
              <a:solidFill>
                <a:srgbClr val="1E293B"/>
              </a:solidFill>
              <a:latin typeface="微软雅黑" panose="020B0503020204020204" charset="-122"/>
              <a:ea typeface="微软雅黑" panose="020B0503020204020204" charset="-122"/>
            </a:endParaRPr>
          </a:p>
          <a:p>
            <a:pPr>
              <a:lnSpc>
                <a:spcPct val="100000"/>
              </a:lnSpc>
              <a:spcAft>
                <a:spcPts val="8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seed.py 幂等播种 5 角色 + 240 篇文档 + 各表 ≥50 条</a:t>
            </a:r>
            <a:endParaRPr sz="1250" b="0" i="0">
              <a:solidFill>
                <a:srgbClr val="1E293B"/>
              </a:solidFill>
              <a:latin typeface="微软雅黑" panose="020B0503020204020204" charset="-122"/>
              <a:ea typeface="微软雅黑" panose="020B0503020204020204" charset="-122"/>
            </a:endParaRPr>
          </a:p>
        </p:txBody>
      </p:sp>
      <p:sp>
        <p:nvSpPr>
          <p:cNvPr id="32" name="Rounded Rectangle 31"/>
          <p:cNvSpPr/>
          <p:nvPr/>
        </p:nvSpPr>
        <p:spPr>
          <a:xfrm>
            <a:off x="502920" y="4572000"/>
            <a:ext cx="11183112" cy="1600200"/>
          </a:xfrm>
          <a:prstGeom prst="roundRect">
            <a:avLst>
              <a:gd name="adj" fmla="val 6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800600"/>
            <a:ext cx="1051560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34E4A"/>
                </a:solidFill>
                <a:latin typeface="微软雅黑" panose="020B0503020204020204" charset="-122"/>
                <a:ea typeface="微软雅黑" panose="020B0503020204020204" charset="-122"/>
              </a:rPr>
              <a:t>数据流示例：文档上传 → 检索</a:t>
            </a:r>
            <a:endParaRPr sz="1500" b="1" i="0">
              <a:solidFill>
                <a:srgbClr val="134E4A"/>
              </a:solidFill>
              <a:latin typeface="微软雅黑" panose="020B0503020204020204" charset="-122"/>
              <a:ea typeface="微软雅黑" panose="020B0503020204020204" charset="-122"/>
            </a:endParaRPr>
          </a:p>
        </p:txBody>
      </p:sp>
      <p:sp>
        <p:nvSpPr>
          <p:cNvPr id="34" name="Rounded Rectangle 33"/>
          <p:cNvSpPr/>
          <p:nvPr/>
        </p:nvSpPr>
        <p:spPr>
          <a:xfrm>
            <a:off x="548640" y="5349240"/>
            <a:ext cx="1874519"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50" b="1" i="0">
                <a:solidFill>
                  <a:srgbClr val="FFFFFF"/>
                </a:solidFill>
                <a:latin typeface="微软雅黑" panose="020B0503020204020204" charset="-122"/>
                <a:ea typeface="微软雅黑" panose="020B0503020204020204" charset="-122"/>
              </a:rPr>
              <a:t>上传文档</a:t>
            </a:r>
            <a:endParaRPr sz="1150" b="1" i="0">
              <a:solidFill>
                <a:srgbClr val="FFFFFF"/>
              </a:solidFill>
              <a:latin typeface="微软雅黑" panose="020B0503020204020204" charset="-122"/>
              <a:ea typeface="微软雅黑" panose="020B0503020204020204" charset="-122"/>
            </a:endParaRPr>
          </a:p>
        </p:txBody>
      </p:sp>
      <p:sp>
        <p:nvSpPr>
          <p:cNvPr id="35" name="Rectangle 34"/>
          <p:cNvSpPr/>
          <p:nvPr/>
        </p:nvSpPr>
        <p:spPr>
          <a:xfrm>
            <a:off x="2478024" y="5349240"/>
            <a:ext cx="329184"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2697479" y="5303520"/>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2807208" y="5349240"/>
            <a:ext cx="1874519"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50" b="1" i="0">
                <a:solidFill>
                  <a:srgbClr val="FFFFFF"/>
                </a:solidFill>
                <a:latin typeface="微软雅黑" panose="020B0503020204020204" charset="-122"/>
                <a:ea typeface="微软雅黑" panose="020B0503020204020204" charset="-122"/>
              </a:rPr>
              <a:t>doc_pipeline 切分</a:t>
            </a:r>
            <a:endParaRPr sz="1150" b="1" i="0">
              <a:solidFill>
                <a:srgbClr val="FFFFFF"/>
              </a:solidFill>
              <a:latin typeface="微软雅黑" panose="020B0503020204020204" charset="-122"/>
              <a:ea typeface="微软雅黑" panose="020B0503020204020204" charset="-122"/>
            </a:endParaRPr>
          </a:p>
        </p:txBody>
      </p:sp>
      <p:sp>
        <p:nvSpPr>
          <p:cNvPr id="38" name="Rectangle 37"/>
          <p:cNvSpPr/>
          <p:nvPr/>
        </p:nvSpPr>
        <p:spPr>
          <a:xfrm>
            <a:off x="4736592" y="5349240"/>
            <a:ext cx="329184"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4956048" y="5303520"/>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5065776" y="5349240"/>
            <a:ext cx="1874519"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50" b="1" i="0">
                <a:solidFill>
                  <a:srgbClr val="FFFFFF"/>
                </a:solidFill>
                <a:latin typeface="微软雅黑" panose="020B0503020204020204" charset="-122"/>
                <a:ea typeface="微软雅黑" panose="020B0503020204020204" charset="-122"/>
              </a:rPr>
              <a:t>bge 向量化</a:t>
            </a:r>
            <a:endParaRPr sz="1150" b="1" i="0">
              <a:solidFill>
                <a:srgbClr val="FFFFFF"/>
              </a:solidFill>
              <a:latin typeface="微软雅黑" panose="020B0503020204020204" charset="-122"/>
              <a:ea typeface="微软雅黑" panose="020B0503020204020204" charset="-122"/>
            </a:endParaRPr>
          </a:p>
        </p:txBody>
      </p:sp>
      <p:sp>
        <p:nvSpPr>
          <p:cNvPr id="41" name="Rectangle 40"/>
          <p:cNvSpPr/>
          <p:nvPr/>
        </p:nvSpPr>
        <p:spPr>
          <a:xfrm>
            <a:off x="6995160" y="5349240"/>
            <a:ext cx="329184"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Isosceles Triangle 41"/>
          <p:cNvSpPr/>
          <p:nvPr/>
        </p:nvSpPr>
        <p:spPr>
          <a:xfrm>
            <a:off x="7214616" y="5303520"/>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24344" y="5349240"/>
            <a:ext cx="1874519"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50" b="1" i="0">
                <a:solidFill>
                  <a:srgbClr val="FFFFFF"/>
                </a:solidFill>
                <a:latin typeface="微软雅黑" panose="020B0503020204020204" charset="-122"/>
                <a:ea typeface="微软雅黑" panose="020B0503020204020204" charset="-122"/>
              </a:rPr>
              <a:t>Milvus 入库</a:t>
            </a:r>
            <a:endParaRPr sz="1150" b="1" i="0">
              <a:solidFill>
                <a:srgbClr val="FFFFFF"/>
              </a:solidFill>
              <a:latin typeface="微软雅黑" panose="020B0503020204020204" charset="-122"/>
              <a:ea typeface="微软雅黑" panose="020B0503020204020204" charset="-122"/>
            </a:endParaRPr>
          </a:p>
        </p:txBody>
      </p:sp>
      <p:sp>
        <p:nvSpPr>
          <p:cNvPr id="44" name="Rectangle 43"/>
          <p:cNvSpPr/>
          <p:nvPr/>
        </p:nvSpPr>
        <p:spPr>
          <a:xfrm>
            <a:off x="9253728" y="5349240"/>
            <a:ext cx="329184"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Isosceles Triangle 44"/>
          <p:cNvSpPr/>
          <p:nvPr/>
        </p:nvSpPr>
        <p:spPr>
          <a:xfrm>
            <a:off x="9473184" y="5303520"/>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582912" y="5349240"/>
            <a:ext cx="1874519" cy="50292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50" b="1" i="0">
                <a:solidFill>
                  <a:srgbClr val="FFFFFF"/>
                </a:solidFill>
                <a:latin typeface="微软雅黑" panose="020B0503020204020204" charset="-122"/>
                <a:ea typeface="微软雅黑" panose="020B0503020204020204" charset="-122"/>
              </a:rPr>
              <a:t>查询时向量召回</a:t>
            </a:r>
            <a:endParaRPr sz="1150" b="1" i="0">
              <a:solidFill>
                <a:srgbClr val="FFFFFF"/>
              </a:solidFill>
              <a:latin typeface="微软雅黑" panose="020B0503020204020204" charset="-122"/>
              <a:ea typeface="微软雅黑" panose="020B0503020204020204" charset="-122"/>
            </a:endParaRPr>
          </a:p>
        </p:txBody>
      </p:sp>
      <p:sp>
        <p:nvSpPr>
          <p:cNvPr id="47" name="TextBox 46"/>
          <p:cNvSpPr txBox="1"/>
          <p:nvPr/>
        </p:nvSpPr>
        <p:spPr>
          <a:xfrm>
            <a:off x="822960" y="5989320"/>
            <a:ext cx="10515600" cy="320040"/>
          </a:xfrm>
          <a:prstGeom prst="rect">
            <a:avLst/>
          </a:prstGeom>
          <a:noFill/>
        </p:spPr>
        <p:txBody>
          <a:bodyPr wrap="square" lIns="0" tIns="0" rIns="0" bIns="0" anchor="t">
            <a:spAutoFit/>
          </a:bodyPr>
          <a:lstStyle/>
          <a:p>
            <a:pPr algn="l">
              <a:lnSpc>
                <a:spcPct val="100000"/>
              </a:lnSpc>
              <a:spcBef>
                <a:spcPts val="0"/>
              </a:spcBef>
              <a:spcAft>
                <a:spcPts val="0"/>
              </a:spcAft>
            </a:pPr>
            <a:r>
              <a:rPr sz="1150" b="0" i="0">
                <a:solidFill>
                  <a:srgbClr val="64748B"/>
                </a:solidFill>
                <a:latin typeface="微软雅黑" panose="020B0503020204020204" charset="-122"/>
                <a:ea typeface="微软雅黑" panose="020B0503020204020204" charset="-122"/>
              </a:rPr>
              <a:t>状态机：processing → ready / failed（失败返回具体原因，如文件格式不支持）</a:t>
            </a:r>
            <a:endParaRPr sz="1150" b="0" i="0">
              <a:solidFill>
                <a:srgbClr val="64748B"/>
              </a:solidFill>
              <a:latin typeface="微软雅黑" panose="020B0503020204020204" charset="-122"/>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前端架构实现（Vue 3）</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03 · 详细实现</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19</a:t>
            </a:r>
            <a:endParaRPr sz="1000" b="1" i="0">
              <a:solidFill>
                <a:srgbClr val="64748B"/>
              </a:solidFill>
              <a:latin typeface="微软雅黑" panose="020B0503020204020204" charset="-122"/>
              <a:ea typeface="微软雅黑" panose="020B0503020204020204" charset="-122"/>
            </a:endParaRPr>
          </a:p>
        </p:txBody>
      </p:sp>
      <p:pic>
        <p:nvPicPr>
          <p:cNvPr id="9" name="Picture 8" descr="02-患者数据仪表盘.png"/>
          <p:cNvPicPr>
            <a:picLocks noChangeAspect="1"/>
          </p:cNvPicPr>
          <p:nvPr/>
        </p:nvPicPr>
        <p:blipFill>
          <a:blip r:embed="rId1"/>
          <a:stretch>
            <a:fillRect/>
          </a:stretch>
        </p:blipFill>
        <p:spPr>
          <a:xfrm>
            <a:off x="6263640" y="1280160"/>
            <a:ext cx="5394960" cy="3371850"/>
          </a:xfrm>
          <a:prstGeom prst="rect">
            <a:avLst/>
          </a:prstGeom>
        </p:spPr>
      </p:pic>
      <p:sp>
        <p:nvSpPr>
          <p:cNvPr id="10" name="Rectangle 9"/>
          <p:cNvSpPr/>
          <p:nvPr/>
        </p:nvSpPr>
        <p:spPr>
          <a:xfrm>
            <a:off x="6263640" y="1280160"/>
            <a:ext cx="5394960" cy="3371850"/>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1234440"/>
            <a:ext cx="5440680" cy="3794760"/>
          </a:xfrm>
          <a:prstGeom prst="roundRect">
            <a:avLst>
              <a:gd name="adj" fmla="val 5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463040"/>
            <a:ext cx="484632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34E4A"/>
                </a:solidFill>
                <a:latin typeface="微软雅黑" panose="020B0503020204020204" charset="-122"/>
                <a:ea typeface="微软雅黑" panose="020B0503020204020204" charset="-122"/>
              </a:rPr>
              <a:t>工程结构</a:t>
            </a:r>
            <a:endParaRPr sz="1500" b="1" i="0">
              <a:solidFill>
                <a:srgbClr val="134E4A"/>
              </a:solidFill>
              <a:latin typeface="微软雅黑" panose="020B0503020204020204" charset="-122"/>
              <a:ea typeface="微软雅黑" panose="020B0503020204020204" charset="-122"/>
            </a:endParaRPr>
          </a:p>
        </p:txBody>
      </p:sp>
      <p:sp>
        <p:nvSpPr>
          <p:cNvPr id="13" name="Rounded Rectangle 12"/>
          <p:cNvSpPr/>
          <p:nvPr/>
        </p:nvSpPr>
        <p:spPr>
          <a:xfrm>
            <a:off x="777240" y="1920240"/>
            <a:ext cx="4892040" cy="420624"/>
          </a:xfrm>
          <a:prstGeom prst="roundRect">
            <a:avLst>
              <a:gd name="adj" fmla="val 2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993392"/>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layouts/MainLayout</a:t>
            </a:r>
            <a:endParaRPr sz="1100" b="1" i="0">
              <a:solidFill>
                <a:srgbClr val="0F766E"/>
              </a:solidFill>
              <a:latin typeface="微软雅黑" panose="020B0503020204020204" charset="-122"/>
              <a:ea typeface="微软雅黑" panose="020B0503020204020204" charset="-122"/>
            </a:endParaRPr>
          </a:p>
        </p:txBody>
      </p:sp>
      <p:sp>
        <p:nvSpPr>
          <p:cNvPr id="15" name="TextBox 14"/>
          <p:cNvSpPr txBox="1"/>
          <p:nvPr/>
        </p:nvSpPr>
        <p:spPr>
          <a:xfrm>
            <a:off x="2743200" y="1993392"/>
            <a:ext cx="283464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5 角色导航 + 底部版权</a:t>
            </a:r>
            <a:endParaRPr sz="1000" b="0" i="0">
              <a:solidFill>
                <a:srgbClr val="1E293B"/>
              </a:solidFill>
              <a:latin typeface="微软雅黑" panose="020B0503020204020204" charset="-122"/>
              <a:ea typeface="微软雅黑" panose="020B0503020204020204" charset="-122"/>
            </a:endParaRPr>
          </a:p>
        </p:txBody>
      </p:sp>
      <p:sp>
        <p:nvSpPr>
          <p:cNvPr id="16" name="Rounded Rectangle 15"/>
          <p:cNvSpPr/>
          <p:nvPr/>
        </p:nvSpPr>
        <p:spPr>
          <a:xfrm>
            <a:off x="777240" y="2414016"/>
            <a:ext cx="4892040" cy="420624"/>
          </a:xfrm>
          <a:prstGeom prst="roundRect">
            <a:avLst>
              <a:gd name="adj" fmla="val 2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87168"/>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pages/</a:t>
            </a:r>
            <a:endParaRPr sz="1100" b="1" i="0">
              <a:solidFill>
                <a:srgbClr val="0F766E"/>
              </a:solidFill>
              <a:latin typeface="微软雅黑" panose="020B0503020204020204" charset="-122"/>
              <a:ea typeface="微软雅黑" panose="020B0503020204020204" charset="-122"/>
            </a:endParaRPr>
          </a:p>
        </p:txBody>
      </p:sp>
      <p:sp>
        <p:nvSpPr>
          <p:cNvPr id="18" name="TextBox 17"/>
          <p:cNvSpPr txBox="1"/>
          <p:nvPr/>
        </p:nvSpPr>
        <p:spPr>
          <a:xfrm>
            <a:off x="2743200" y="2487168"/>
            <a:ext cx="283464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仪表盘 · 咨询 · 健康档案 · 挂号 · 工作台</a:t>
            </a:r>
            <a:endParaRPr sz="1000" b="0" i="0">
              <a:solidFill>
                <a:srgbClr val="1E293B"/>
              </a:solidFill>
              <a:latin typeface="微软雅黑" panose="020B0503020204020204" charset="-122"/>
              <a:ea typeface="微软雅黑" panose="020B0503020204020204" charset="-122"/>
            </a:endParaRPr>
          </a:p>
        </p:txBody>
      </p:sp>
      <p:sp>
        <p:nvSpPr>
          <p:cNvPr id="19" name="Rounded Rectangle 18"/>
          <p:cNvSpPr/>
          <p:nvPr/>
        </p:nvSpPr>
        <p:spPr>
          <a:xfrm>
            <a:off x="777240" y="2907792"/>
            <a:ext cx="4892040" cy="420624"/>
          </a:xfrm>
          <a:prstGeom prst="roundRect">
            <a:avLst>
              <a:gd name="adj" fmla="val 2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2980944"/>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api/</a:t>
            </a:r>
            <a:endParaRPr sz="1100" b="1" i="0">
              <a:solidFill>
                <a:srgbClr val="0F766E"/>
              </a:solidFill>
              <a:latin typeface="微软雅黑" panose="020B0503020204020204" charset="-122"/>
              <a:ea typeface="微软雅黑" panose="020B0503020204020204" charset="-122"/>
            </a:endParaRPr>
          </a:p>
        </p:txBody>
      </p:sp>
      <p:sp>
        <p:nvSpPr>
          <p:cNvPr id="21" name="TextBox 20"/>
          <p:cNvSpPr txBox="1"/>
          <p:nvPr/>
        </p:nvSpPr>
        <p:spPr>
          <a:xfrm>
            <a:off x="2743200" y="2980944"/>
            <a:ext cx="283464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Axios 封装与 /api 端点</a:t>
            </a:r>
            <a:endParaRPr sz="1000" b="0" i="0">
              <a:solidFill>
                <a:srgbClr val="1E293B"/>
              </a:solidFill>
              <a:latin typeface="微软雅黑" panose="020B0503020204020204" charset="-122"/>
              <a:ea typeface="微软雅黑" panose="020B0503020204020204" charset="-122"/>
            </a:endParaRPr>
          </a:p>
        </p:txBody>
      </p:sp>
      <p:sp>
        <p:nvSpPr>
          <p:cNvPr id="22" name="Rounded Rectangle 21"/>
          <p:cNvSpPr/>
          <p:nvPr/>
        </p:nvSpPr>
        <p:spPr>
          <a:xfrm>
            <a:off x="777240" y="3401568"/>
            <a:ext cx="4892040" cy="420624"/>
          </a:xfrm>
          <a:prstGeom prst="roundRect">
            <a:avLst>
              <a:gd name="adj" fmla="val 2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474720"/>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store/</a:t>
            </a:r>
            <a:endParaRPr sz="1100" b="1" i="0">
              <a:solidFill>
                <a:srgbClr val="0F766E"/>
              </a:solidFill>
              <a:latin typeface="微软雅黑" panose="020B0503020204020204" charset="-122"/>
              <a:ea typeface="微软雅黑" panose="020B0503020204020204" charset="-122"/>
            </a:endParaRPr>
          </a:p>
        </p:txBody>
      </p:sp>
      <p:sp>
        <p:nvSpPr>
          <p:cNvPr id="24" name="TextBox 23"/>
          <p:cNvSpPr txBox="1"/>
          <p:nvPr/>
        </p:nvSpPr>
        <p:spPr>
          <a:xfrm>
            <a:off x="2743200" y="3474720"/>
            <a:ext cx="283464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Pinia 状态管理（用户/会话）</a:t>
            </a:r>
            <a:endParaRPr sz="1000" b="0" i="0">
              <a:solidFill>
                <a:srgbClr val="1E293B"/>
              </a:solidFill>
              <a:latin typeface="微软雅黑" panose="020B0503020204020204" charset="-122"/>
              <a:ea typeface="微软雅黑" panose="020B0503020204020204" charset="-122"/>
            </a:endParaRPr>
          </a:p>
        </p:txBody>
      </p:sp>
      <p:sp>
        <p:nvSpPr>
          <p:cNvPr id="25" name="Rounded Rectangle 24"/>
          <p:cNvSpPr/>
          <p:nvPr/>
        </p:nvSpPr>
        <p:spPr>
          <a:xfrm>
            <a:off x="777240" y="3895344"/>
            <a:ext cx="4892040" cy="420624"/>
          </a:xfrm>
          <a:prstGeom prst="roundRect">
            <a:avLst>
              <a:gd name="adj" fmla="val 20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3968496"/>
            <a:ext cx="16916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0F766E"/>
                </a:solidFill>
                <a:latin typeface="微软雅黑" panose="020B0503020204020204" charset="-122"/>
                <a:ea typeface="微软雅黑" panose="020B0503020204020204" charset="-122"/>
              </a:rPr>
              <a:t>types/</a:t>
            </a:r>
            <a:endParaRPr sz="1100" b="1" i="0">
              <a:solidFill>
                <a:srgbClr val="0F766E"/>
              </a:solidFill>
              <a:latin typeface="微软雅黑" panose="020B0503020204020204" charset="-122"/>
              <a:ea typeface="微软雅黑" panose="020B0503020204020204" charset="-122"/>
            </a:endParaRPr>
          </a:p>
        </p:txBody>
      </p:sp>
      <p:sp>
        <p:nvSpPr>
          <p:cNvPr id="27" name="TextBox 26"/>
          <p:cNvSpPr txBox="1"/>
          <p:nvPr/>
        </p:nvSpPr>
        <p:spPr>
          <a:xfrm>
            <a:off x="2743200" y="3968496"/>
            <a:ext cx="2834640" cy="274320"/>
          </a:xfrm>
          <a:prstGeom prst="rect">
            <a:avLst/>
          </a:prstGeom>
          <a:noFill/>
        </p:spPr>
        <p:txBody>
          <a:bodyPr wrap="square" lIns="0" tIns="0" rIns="0" bIns="0" anchor="t">
            <a:spAutoFit/>
          </a:bodyPr>
          <a:lstStyle/>
          <a:p>
            <a:pPr algn="l">
              <a:lnSpc>
                <a:spcPct val="100000"/>
              </a:lnSpc>
              <a:spcBef>
                <a:spcPts val="0"/>
              </a:spcBef>
              <a:spcAft>
                <a:spcPts val="0"/>
              </a:spcAft>
            </a:pPr>
            <a:r>
              <a:rPr sz="1000" b="0" i="0">
                <a:solidFill>
                  <a:srgbClr val="1E293B"/>
                </a:solidFill>
                <a:latin typeface="微软雅黑" panose="020B0503020204020204" charset="-122"/>
                <a:ea typeface="微软雅黑" panose="020B0503020204020204" charset="-122"/>
              </a:rPr>
              <a:t>角色与业务类型定义</a:t>
            </a:r>
            <a:endParaRPr sz="1000" b="0" i="0">
              <a:solidFill>
                <a:srgbClr val="1E293B"/>
              </a:solidFill>
              <a:latin typeface="微软雅黑" panose="020B0503020204020204" charset="-122"/>
              <a:ea typeface="微软雅黑" panose="020B0503020204020204" charset="-122"/>
            </a:endParaRPr>
          </a:p>
        </p:txBody>
      </p:sp>
      <p:sp>
        <p:nvSpPr>
          <p:cNvPr id="28" name="Rounded Rectangle 27"/>
          <p:cNvSpPr/>
          <p:nvPr/>
        </p:nvSpPr>
        <p:spPr>
          <a:xfrm>
            <a:off x="502920" y="5257800"/>
            <a:ext cx="11183112" cy="914400"/>
          </a:xfrm>
          <a:prstGeom prst="roundRect">
            <a:avLst>
              <a:gd name="adj" fmla="val 8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440680"/>
            <a:ext cx="10607040" cy="640080"/>
          </a:xfrm>
          <a:prstGeom prst="rect">
            <a:avLst/>
          </a:prstGeom>
          <a:noFill/>
        </p:spPr>
        <p:txBody>
          <a:bodyPr wrap="square" lIns="0" tIns="0" rIns="0" bIns="0">
            <a:spAutoFit/>
          </a:bodyPr>
          <a:lstStyle/>
          <a:p>
            <a:pPr>
              <a:lnSpc>
                <a:spcPct val="100000"/>
              </a:lnSpc>
              <a:spcAft>
                <a:spcPts val="6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SSE 流式渲染：EventSource 接收回答分片，逐字呈现；知识库/角色权限前端路由守卫</a:t>
            </a:r>
            <a:endParaRPr sz="1250" b="0" i="0">
              <a:solidFill>
                <a:srgbClr val="1E293B"/>
              </a:solidFill>
              <a:latin typeface="微软雅黑" panose="020B0503020204020204" charset="-122"/>
              <a:ea typeface="微软雅黑" panose="020B0503020204020204" charset="-122"/>
            </a:endParaRPr>
          </a:p>
          <a:p>
            <a:pPr>
              <a:lnSpc>
                <a:spcPct val="100000"/>
              </a:lnSpc>
              <a:spcAft>
                <a:spcPts val="600"/>
              </a:spcAft>
            </a:pPr>
            <a:r>
              <a:rPr sz="1250" b="1" i="0">
                <a:solidFill>
                  <a:srgbClr val="0F766E"/>
                </a:solidFill>
                <a:latin typeface="微软雅黑" panose="020B0503020204020204" charset="-122"/>
                <a:ea typeface="微软雅黑" panose="020B0503020204020204" charset="-122"/>
              </a:rPr>
              <a:t>● </a:t>
            </a:r>
            <a:r>
              <a:rPr sz="1250" b="0" i="0">
                <a:solidFill>
                  <a:srgbClr val="1E293B"/>
                </a:solidFill>
                <a:latin typeface="微软雅黑" panose="020B0503020204020204" charset="-122"/>
                <a:ea typeface="微软雅黑" panose="020B0503020204020204" charset="-122"/>
              </a:rPr>
              <a:t>ECharts 数据看板：管理员全系统统计、患者个人健康数据可视化</a:t>
            </a:r>
            <a:endParaRPr sz="12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核心功能 · 智能医疗咨询</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03 · 详细实现</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20</a:t>
            </a:r>
            <a:endParaRPr sz="1000" b="1" i="0">
              <a:solidFill>
                <a:srgbClr val="64748B"/>
              </a:solidFill>
              <a:latin typeface="微软雅黑" panose="020B0503020204020204" charset="-122"/>
              <a:ea typeface="微软雅黑" panose="020B0503020204020204" charset="-122"/>
            </a:endParaRPr>
          </a:p>
        </p:txBody>
      </p:sp>
      <p:sp>
        <p:nvSpPr>
          <p:cNvPr id="9" name="TextBox 8"/>
          <p:cNvSpPr txBox="1"/>
          <p:nvPr/>
        </p:nvSpPr>
        <p:spPr>
          <a:xfrm>
            <a:off x="502920" y="1280160"/>
            <a:ext cx="5394960" cy="3108960"/>
          </a:xfrm>
          <a:prstGeom prst="rect">
            <a:avLst/>
          </a:prstGeom>
          <a:noFill/>
        </p:spPr>
        <p:txBody>
          <a:bodyPr wrap="square" lIns="0" tIns="0" rIns="0" bIns="0">
            <a:spAutoFit/>
          </a:bodyPr>
          <a:lstStyle/>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自然语言提问，多疾病知识库任选</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RAG 全链路：召回 → 上下文 → 流式生成</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回答附引用来源，支持逐条追溯（citations）</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咨询历史按会话保存，随时回看</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普通用户只能检索公开知识库 + 公开文档</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离线兜底：无密钥也可完整演示</a:t>
            </a:r>
            <a:endParaRPr sz="1400" b="0" i="0">
              <a:solidFill>
                <a:srgbClr val="1E293B"/>
              </a:solidFill>
              <a:latin typeface="微软雅黑" panose="020B0503020204020204" charset="-122"/>
              <a:ea typeface="微软雅黑" panose="020B0503020204020204" charset="-122"/>
            </a:endParaRPr>
          </a:p>
        </p:txBody>
      </p:sp>
      <p:pic>
        <p:nvPicPr>
          <p:cNvPr id="10" name="Picture 9" descr="03-智能咨询.png"/>
          <p:cNvPicPr>
            <a:picLocks noChangeAspect="1"/>
          </p:cNvPicPr>
          <p:nvPr/>
        </p:nvPicPr>
        <p:blipFill>
          <a:blip r:embed="rId1"/>
          <a:stretch>
            <a:fillRect/>
          </a:stretch>
        </p:blipFill>
        <p:spPr>
          <a:xfrm>
            <a:off x="6263640" y="1280160"/>
            <a:ext cx="5394960" cy="3371850"/>
          </a:xfrm>
          <a:prstGeom prst="rect">
            <a:avLst/>
          </a:prstGeom>
        </p:spPr>
      </p:pic>
      <p:sp>
        <p:nvSpPr>
          <p:cNvPr id="11" name="Rectangle 10"/>
          <p:cNvSpPr/>
          <p:nvPr/>
        </p:nvSpPr>
        <p:spPr>
          <a:xfrm>
            <a:off x="6263640" y="1280160"/>
            <a:ext cx="5394960" cy="3371850"/>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 y="4709160"/>
            <a:ext cx="11183112" cy="1463040"/>
          </a:xfrm>
          <a:prstGeom prst="roundRect">
            <a:avLst>
              <a:gd name="adj" fmla="val 6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919472"/>
            <a:ext cx="10515600" cy="365760"/>
          </a:xfrm>
          <a:prstGeom prst="rect">
            <a:avLst/>
          </a:prstGeom>
          <a:noFill/>
        </p:spPr>
        <p:txBody>
          <a:bodyPr wrap="square" lIns="0" tIns="0" rIns="0" bIns="0" anchor="t">
            <a:spAutoFit/>
          </a:bodyPr>
          <a:lstStyle/>
          <a:p>
            <a:pPr algn="l">
              <a:lnSpc>
                <a:spcPct val="100000"/>
              </a:lnSpc>
              <a:spcBef>
                <a:spcPts val="0"/>
              </a:spcBef>
              <a:spcAft>
                <a:spcPts val="0"/>
              </a:spcAft>
            </a:pPr>
            <a:r>
              <a:rPr sz="1450" b="1" i="0">
                <a:solidFill>
                  <a:srgbClr val="134E4A"/>
                </a:solidFill>
                <a:latin typeface="微软雅黑" panose="020B0503020204020204" charset="-122"/>
                <a:ea typeface="微软雅黑" panose="020B0503020204020204" charset="-122"/>
              </a:rPr>
              <a:t>回答生成逻辑（chat_service）</a:t>
            </a:r>
            <a:endParaRPr sz="1450" b="1" i="0">
              <a:solidFill>
                <a:srgbClr val="134E4A"/>
              </a:solidFill>
              <a:latin typeface="微软雅黑" panose="020B0503020204020204" charset="-122"/>
              <a:ea typeface="微软雅黑" panose="020B0503020204020204" charset="-122"/>
            </a:endParaRPr>
          </a:p>
        </p:txBody>
      </p:sp>
      <p:sp>
        <p:nvSpPr>
          <p:cNvPr id="14" name="TextBox 13"/>
          <p:cNvSpPr txBox="1"/>
          <p:nvPr/>
        </p:nvSpPr>
        <p:spPr>
          <a:xfrm>
            <a:off x="822960" y="5349240"/>
            <a:ext cx="10607040" cy="777240"/>
          </a:xfrm>
          <a:prstGeom prst="rect">
            <a:avLst/>
          </a:prstGeom>
          <a:noFill/>
        </p:spPr>
        <p:txBody>
          <a:bodyPr wrap="square" lIns="0" tIns="0" rIns="0" bIns="0" anchor="t">
            <a:spAutoFit/>
          </a:bodyPr>
          <a:lstStyle/>
          <a:p>
            <a:pPr algn="l">
              <a:lnSpc>
                <a:spcPct val="120000"/>
              </a:lnSpc>
              <a:spcBef>
                <a:spcPts val="0"/>
              </a:spcBef>
              <a:spcAft>
                <a:spcPts val="0"/>
              </a:spcAft>
            </a:pPr>
            <a:r>
              <a:rPr sz="1200" b="0" i="0">
                <a:solidFill>
                  <a:srgbClr val="1E293B"/>
                </a:solidFill>
                <a:latin typeface="微软雅黑" panose="020B0503020204020204" charset="-122"/>
                <a:ea typeface="微软雅黑" panose="020B0503020204020204" charset="-122"/>
              </a:rPr>
              <a:t>权限过滤 → 向量召回(top10) → 相似度+关键词重排(top5) → 构建带编号上下文 → 调用大模型（OpenAI 兼容）→ SSE 流式返回；将片段写入 citations 表用于前端引用展示；调用失败时降级为离线合成回答。</a:t>
            </a:r>
            <a:endParaRPr sz="120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核心功能 · 知识库管理</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03 · 详细实现</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21</a:t>
            </a:r>
            <a:endParaRPr sz="1000" b="1" i="0">
              <a:solidFill>
                <a:srgbClr val="64748B"/>
              </a:solidFill>
              <a:latin typeface="微软雅黑" panose="020B0503020204020204" charset="-122"/>
              <a:ea typeface="微软雅黑" panose="020B0503020204020204" charset="-122"/>
            </a:endParaRPr>
          </a:p>
        </p:txBody>
      </p:sp>
      <p:pic>
        <p:nvPicPr>
          <p:cNvPr id="9" name="Picture 8" descr="13-知识库管理.png"/>
          <p:cNvPicPr>
            <a:picLocks noChangeAspect="1"/>
          </p:cNvPicPr>
          <p:nvPr/>
        </p:nvPicPr>
        <p:blipFill>
          <a:blip r:embed="rId1"/>
          <a:stretch>
            <a:fillRect/>
          </a:stretch>
        </p:blipFill>
        <p:spPr>
          <a:xfrm>
            <a:off x="6263640" y="1280160"/>
            <a:ext cx="5394960" cy="3371850"/>
          </a:xfrm>
          <a:prstGeom prst="rect">
            <a:avLst/>
          </a:prstGeom>
        </p:spPr>
      </p:pic>
      <p:sp>
        <p:nvSpPr>
          <p:cNvPr id="10" name="Rectangle 9"/>
          <p:cNvSpPr/>
          <p:nvPr/>
        </p:nvSpPr>
        <p:spPr>
          <a:xfrm>
            <a:off x="6263640" y="1280160"/>
            <a:ext cx="5394960" cy="3371850"/>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280160"/>
            <a:ext cx="5394960" cy="3108960"/>
          </a:xfrm>
          <a:prstGeom prst="rect">
            <a:avLst/>
          </a:prstGeom>
          <a:noFill/>
        </p:spPr>
        <p:txBody>
          <a:bodyPr wrap="square" lIns="0" tIns="0" rIns="0" bIns="0">
            <a:spAutoFit/>
          </a:bodyPr>
          <a:lstStyle/>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12 个疾病知识库：呼吸、心血管、消化、神经……</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知识库 / 文档均可设置公开或私有</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支持上传 txt · md · pdf · docx · pptx</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上传后自动切分、向量化入库，可立即检索</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失败时返回具体原因，状态机清晰</a:t>
            </a:r>
            <a:endParaRPr sz="1400" b="0" i="0">
              <a:solidFill>
                <a:srgbClr val="1E293B"/>
              </a:solidFill>
              <a:latin typeface="微软雅黑" panose="020B0503020204020204" charset="-122"/>
              <a:ea typeface="微软雅黑" panose="020B0503020204020204" charset="-122"/>
            </a:endParaRPr>
          </a:p>
          <a:p>
            <a:pPr>
              <a:lnSpc>
                <a:spcPct val="100000"/>
              </a:lnSpc>
              <a:spcAft>
                <a:spcPts val="1200"/>
              </a:spcAft>
            </a:pPr>
            <a:r>
              <a:rPr sz="1400" b="1" i="0">
                <a:solidFill>
                  <a:srgbClr val="0F766E"/>
                </a:solidFill>
                <a:latin typeface="微软雅黑" panose="020B0503020204020204" charset="-122"/>
                <a:ea typeface="微软雅黑" panose="020B0503020204020204" charset="-122"/>
              </a:rPr>
              <a:t>● </a:t>
            </a:r>
            <a:r>
              <a:rPr sz="1400" b="0" i="0">
                <a:solidFill>
                  <a:srgbClr val="1E293B"/>
                </a:solidFill>
                <a:latin typeface="微软雅黑" panose="020B0503020204020204" charset="-122"/>
                <a:ea typeface="微软雅黑" panose="020B0503020204020204" charset="-122"/>
              </a:rPr>
              <a:t>医生私有库仅本人可见（visibility + owner）</a:t>
            </a:r>
            <a:endParaRPr sz="1400" b="0" i="0">
              <a:solidFill>
                <a:srgbClr val="1E293B"/>
              </a:solidFill>
              <a:latin typeface="微软雅黑" panose="020B0503020204020204" charset="-122"/>
              <a:ea typeface="微软雅黑" panose="020B0503020204020204" charset="-122"/>
            </a:endParaRPr>
          </a:p>
        </p:txBody>
      </p:sp>
      <p:sp>
        <p:nvSpPr>
          <p:cNvPr id="12" name="Rounded Rectangle 11"/>
          <p:cNvSpPr/>
          <p:nvPr/>
        </p:nvSpPr>
        <p:spPr>
          <a:xfrm>
            <a:off x="502920" y="4709160"/>
            <a:ext cx="11183112" cy="1463040"/>
          </a:xfrm>
          <a:prstGeom prst="roundRect">
            <a:avLst>
              <a:gd name="adj" fmla="val 6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919472"/>
            <a:ext cx="10515600" cy="365760"/>
          </a:xfrm>
          <a:prstGeom prst="rect">
            <a:avLst/>
          </a:prstGeom>
          <a:noFill/>
        </p:spPr>
        <p:txBody>
          <a:bodyPr wrap="square" lIns="0" tIns="0" rIns="0" bIns="0" anchor="t">
            <a:spAutoFit/>
          </a:bodyPr>
          <a:lstStyle/>
          <a:p>
            <a:pPr algn="l">
              <a:lnSpc>
                <a:spcPct val="100000"/>
              </a:lnSpc>
              <a:spcBef>
                <a:spcPts val="0"/>
              </a:spcBef>
              <a:spcAft>
                <a:spcPts val="0"/>
              </a:spcAft>
            </a:pPr>
            <a:r>
              <a:rPr sz="1450" b="1" i="0">
                <a:solidFill>
                  <a:srgbClr val="134E4A"/>
                </a:solidFill>
                <a:latin typeface="微软雅黑" panose="020B0503020204020204" charset="-122"/>
                <a:ea typeface="微软雅黑" panose="020B0503020204020204" charset="-122"/>
              </a:rPr>
              <a:t>上传管线（doc_pipeline）</a:t>
            </a:r>
            <a:endParaRPr sz="1450" b="1" i="0">
              <a:solidFill>
                <a:srgbClr val="134E4A"/>
              </a:solidFill>
              <a:latin typeface="微软雅黑" panose="020B0503020204020204" charset="-122"/>
              <a:ea typeface="微软雅黑" panose="020B0503020204020204" charset="-122"/>
            </a:endParaRPr>
          </a:p>
        </p:txBody>
      </p:sp>
      <p:sp>
        <p:nvSpPr>
          <p:cNvPr id="14" name="Rounded Rectangle 13"/>
          <p:cNvSpPr/>
          <p:nvPr/>
        </p:nvSpPr>
        <p:spPr>
          <a:xfrm>
            <a:off x="548640" y="5413248"/>
            <a:ext cx="1463040" cy="4572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FFFFFF"/>
                </a:solidFill>
                <a:latin typeface="微软雅黑" panose="020B0503020204020204" charset="-122"/>
                <a:ea typeface="微软雅黑" panose="020B0503020204020204" charset="-122"/>
              </a:rPr>
              <a:t>格式校验</a:t>
            </a:r>
            <a:endParaRPr sz="1100" b="1" i="0">
              <a:solidFill>
                <a:srgbClr val="FFFFFF"/>
              </a:solidFill>
              <a:latin typeface="微软雅黑" panose="020B0503020204020204" charset="-122"/>
              <a:ea typeface="微软雅黑" panose="020B0503020204020204" charset="-122"/>
            </a:endParaRPr>
          </a:p>
        </p:txBody>
      </p:sp>
      <p:sp>
        <p:nvSpPr>
          <p:cNvPr id="15" name="Rectangle 14"/>
          <p:cNvSpPr/>
          <p:nvPr/>
        </p:nvSpPr>
        <p:spPr>
          <a:xfrm>
            <a:off x="2066543" y="5404104"/>
            <a:ext cx="310896"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2267711" y="5358384"/>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377440" y="5413248"/>
            <a:ext cx="1463040" cy="4572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FFFFFF"/>
                </a:solidFill>
                <a:latin typeface="微软雅黑" panose="020B0503020204020204" charset="-122"/>
                <a:ea typeface="微软雅黑" panose="020B0503020204020204" charset="-122"/>
              </a:rPr>
              <a:t>正文抽取</a:t>
            </a:r>
            <a:endParaRPr sz="1100" b="1" i="0">
              <a:solidFill>
                <a:srgbClr val="FFFFFF"/>
              </a:solidFill>
              <a:latin typeface="微软雅黑" panose="020B0503020204020204" charset="-122"/>
              <a:ea typeface="微软雅黑" panose="020B0503020204020204" charset="-122"/>
            </a:endParaRPr>
          </a:p>
        </p:txBody>
      </p:sp>
      <p:sp>
        <p:nvSpPr>
          <p:cNvPr id="18" name="Rectangle 17"/>
          <p:cNvSpPr/>
          <p:nvPr/>
        </p:nvSpPr>
        <p:spPr>
          <a:xfrm>
            <a:off x="3895344" y="5404104"/>
            <a:ext cx="310896"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4096511" y="5358384"/>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06240" y="5413248"/>
            <a:ext cx="1463040" cy="4572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FFFFFF"/>
                </a:solidFill>
                <a:latin typeface="微软雅黑" panose="020B0503020204020204" charset="-122"/>
                <a:ea typeface="微软雅黑" panose="020B0503020204020204" charset="-122"/>
              </a:rPr>
              <a:t>切分(500+80)</a:t>
            </a:r>
            <a:endParaRPr sz="1100" b="1" i="0">
              <a:solidFill>
                <a:srgbClr val="FFFFFF"/>
              </a:solidFill>
              <a:latin typeface="微软雅黑" panose="020B0503020204020204" charset="-122"/>
              <a:ea typeface="微软雅黑" panose="020B0503020204020204" charset="-122"/>
            </a:endParaRPr>
          </a:p>
        </p:txBody>
      </p:sp>
      <p:sp>
        <p:nvSpPr>
          <p:cNvPr id="21" name="Rectangle 20"/>
          <p:cNvSpPr/>
          <p:nvPr/>
        </p:nvSpPr>
        <p:spPr>
          <a:xfrm>
            <a:off x="5724144" y="5404104"/>
            <a:ext cx="310896"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Isosceles Triangle 21"/>
          <p:cNvSpPr/>
          <p:nvPr/>
        </p:nvSpPr>
        <p:spPr>
          <a:xfrm>
            <a:off x="5925312" y="5358384"/>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035040" y="5413248"/>
            <a:ext cx="1463040" cy="4572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FFFFFF"/>
                </a:solidFill>
                <a:latin typeface="微软雅黑" panose="020B0503020204020204" charset="-122"/>
                <a:ea typeface="微软雅黑" panose="020B0503020204020204" charset="-122"/>
              </a:rPr>
              <a:t>bge 向量化</a:t>
            </a:r>
            <a:endParaRPr sz="1100" b="1" i="0">
              <a:solidFill>
                <a:srgbClr val="FFFFFF"/>
              </a:solidFill>
              <a:latin typeface="微软雅黑" panose="020B0503020204020204" charset="-122"/>
              <a:ea typeface="微软雅黑" panose="020B0503020204020204" charset="-122"/>
            </a:endParaRPr>
          </a:p>
        </p:txBody>
      </p:sp>
      <p:sp>
        <p:nvSpPr>
          <p:cNvPr id="24" name="Rectangle 23"/>
          <p:cNvSpPr/>
          <p:nvPr/>
        </p:nvSpPr>
        <p:spPr>
          <a:xfrm>
            <a:off x="7552944" y="5404104"/>
            <a:ext cx="310896"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7754112" y="5358384"/>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863840" y="5413248"/>
            <a:ext cx="1463040" cy="4572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FFFFFF"/>
                </a:solidFill>
                <a:latin typeface="微软雅黑" panose="020B0503020204020204" charset="-122"/>
                <a:ea typeface="微软雅黑" panose="020B0503020204020204" charset="-122"/>
              </a:rPr>
              <a:t>Milvus 写入</a:t>
            </a:r>
            <a:endParaRPr sz="1100" b="1" i="0">
              <a:solidFill>
                <a:srgbClr val="FFFFFF"/>
              </a:solidFill>
              <a:latin typeface="微软雅黑" panose="020B0503020204020204" charset="-122"/>
              <a:ea typeface="微软雅黑" panose="020B0503020204020204" charset="-122"/>
            </a:endParaRPr>
          </a:p>
        </p:txBody>
      </p:sp>
      <p:sp>
        <p:nvSpPr>
          <p:cNvPr id="27" name="Rectangle 26"/>
          <p:cNvSpPr/>
          <p:nvPr/>
        </p:nvSpPr>
        <p:spPr>
          <a:xfrm>
            <a:off x="9381744" y="5404104"/>
            <a:ext cx="310896" cy="1645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9582912" y="5358384"/>
            <a:ext cx="146304" cy="256032"/>
          </a:xfrm>
          <a:prstGeom prst="triangl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92640" y="5413248"/>
            <a:ext cx="1463040" cy="457200"/>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FFFFFF"/>
                </a:solidFill>
                <a:latin typeface="微软雅黑" panose="020B0503020204020204" charset="-122"/>
                <a:ea typeface="微软雅黑" panose="020B0503020204020204" charset="-122"/>
              </a:rPr>
              <a:t>状态 ready</a:t>
            </a:r>
            <a:endParaRPr sz="1100" b="1" i="0">
              <a:solidFill>
                <a:srgbClr val="FFFFFF"/>
              </a:solidFill>
              <a:latin typeface="微软雅黑" panose="020B0503020204020204" charset="-122"/>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核心业务功能</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10120579" y="384048"/>
            <a:ext cx="1568196"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03 · 详细实现</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22</a:t>
            </a:r>
            <a:endParaRPr sz="1000" b="1" i="0">
              <a:solidFill>
                <a:srgbClr val="64748B"/>
              </a:solidFill>
              <a:latin typeface="微软雅黑" panose="020B0503020204020204" charset="-122"/>
              <a:ea typeface="微软雅黑" panose="020B0503020204020204" charset="-122"/>
            </a:endParaRPr>
          </a:p>
        </p:txBody>
      </p:sp>
      <p:sp>
        <p:nvSpPr>
          <p:cNvPr id="9" name="Rounded Rectangle 8"/>
          <p:cNvSpPr/>
          <p:nvPr/>
        </p:nvSpPr>
        <p:spPr>
          <a:xfrm>
            <a:off x="502920" y="1280160"/>
            <a:ext cx="2697480" cy="329184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患者健康档案.png"/>
          <p:cNvPicPr>
            <a:picLocks noChangeAspect="1"/>
          </p:cNvPicPr>
          <p:nvPr/>
        </p:nvPicPr>
        <p:blipFill>
          <a:blip r:embed="rId1"/>
          <a:stretch>
            <a:fillRect/>
          </a:stretch>
        </p:blipFill>
        <p:spPr>
          <a:xfrm>
            <a:off x="640080" y="1417320"/>
            <a:ext cx="2423160" cy="1514474"/>
          </a:xfrm>
          <a:prstGeom prst="rect">
            <a:avLst/>
          </a:prstGeom>
        </p:spPr>
      </p:pic>
      <p:sp>
        <p:nvSpPr>
          <p:cNvPr id="11" name="TextBox 10"/>
          <p:cNvSpPr txBox="1"/>
          <p:nvPr/>
        </p:nvSpPr>
        <p:spPr>
          <a:xfrm>
            <a:off x="640080" y="3794760"/>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患者健康档案</a:t>
            </a:r>
            <a:endParaRPr sz="1350" b="1" i="0">
              <a:solidFill>
                <a:srgbClr val="134E4A"/>
              </a:solidFill>
              <a:latin typeface="微软雅黑" panose="020B0503020204020204" charset="-122"/>
              <a:ea typeface="微软雅黑" panose="020B0503020204020204" charset="-122"/>
            </a:endParaRPr>
          </a:p>
        </p:txBody>
      </p:sp>
      <p:sp>
        <p:nvSpPr>
          <p:cNvPr id="12" name="TextBox 11"/>
          <p:cNvSpPr txBox="1"/>
          <p:nvPr/>
        </p:nvSpPr>
        <p:spPr>
          <a:xfrm>
            <a:off x="612648" y="4133087"/>
            <a:ext cx="2478024" cy="384048"/>
          </a:xfrm>
          <a:prstGeom prst="rect">
            <a:avLst/>
          </a:prstGeom>
          <a:noFill/>
        </p:spPr>
        <p:txBody>
          <a:bodyPr wrap="square" lIns="0" tIns="0" rIns="0" bIns="0" anchor="t">
            <a:spAutoFit/>
          </a:bodyPr>
          <a:lstStyle/>
          <a:p>
            <a:pPr algn="ctr">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最近住院信息 · 消费明细 · 预约挂号查询</a:t>
            </a:r>
            <a:endParaRPr sz="950" b="0" i="0">
              <a:solidFill>
                <a:srgbClr val="64748B"/>
              </a:solidFill>
              <a:latin typeface="微软雅黑" panose="020B0503020204020204" charset="-122"/>
              <a:ea typeface="微软雅黑" panose="020B0503020204020204" charset="-122"/>
            </a:endParaRPr>
          </a:p>
        </p:txBody>
      </p:sp>
      <p:sp>
        <p:nvSpPr>
          <p:cNvPr id="13" name="Rounded Rectangle 12"/>
          <p:cNvSpPr/>
          <p:nvPr/>
        </p:nvSpPr>
        <p:spPr>
          <a:xfrm>
            <a:off x="3337560" y="1280160"/>
            <a:ext cx="2697480" cy="329184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6-预约挂号.png"/>
          <p:cNvPicPr>
            <a:picLocks noChangeAspect="1"/>
          </p:cNvPicPr>
          <p:nvPr/>
        </p:nvPicPr>
        <p:blipFill>
          <a:blip r:embed="rId2"/>
          <a:stretch>
            <a:fillRect/>
          </a:stretch>
        </p:blipFill>
        <p:spPr>
          <a:xfrm>
            <a:off x="3474720" y="1417320"/>
            <a:ext cx="2423160" cy="1514474"/>
          </a:xfrm>
          <a:prstGeom prst="rect">
            <a:avLst/>
          </a:prstGeom>
        </p:spPr>
      </p:pic>
      <p:sp>
        <p:nvSpPr>
          <p:cNvPr id="15" name="TextBox 14"/>
          <p:cNvSpPr txBox="1"/>
          <p:nvPr/>
        </p:nvSpPr>
        <p:spPr>
          <a:xfrm>
            <a:off x="3474720" y="3794760"/>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在线预约挂号</a:t>
            </a:r>
            <a:endParaRPr sz="1350" b="1" i="0">
              <a:solidFill>
                <a:srgbClr val="134E4A"/>
              </a:solidFill>
              <a:latin typeface="微软雅黑" panose="020B0503020204020204" charset="-122"/>
              <a:ea typeface="微软雅黑" panose="020B0503020204020204" charset="-122"/>
            </a:endParaRPr>
          </a:p>
        </p:txBody>
      </p:sp>
      <p:sp>
        <p:nvSpPr>
          <p:cNvPr id="16" name="TextBox 15"/>
          <p:cNvSpPr txBox="1"/>
          <p:nvPr/>
        </p:nvSpPr>
        <p:spPr>
          <a:xfrm>
            <a:off x="3447288" y="4133087"/>
            <a:ext cx="2478024" cy="384048"/>
          </a:xfrm>
          <a:prstGeom prst="rect">
            <a:avLst/>
          </a:prstGeom>
          <a:noFill/>
        </p:spPr>
        <p:txBody>
          <a:bodyPr wrap="square" lIns="0" tIns="0" rIns="0" bIns="0" anchor="t">
            <a:spAutoFit/>
          </a:bodyPr>
          <a:lstStyle/>
          <a:p>
            <a:pPr algn="ctr">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科室/时间选择 · 状态流转（booked→visited）</a:t>
            </a:r>
            <a:endParaRPr sz="950" b="0" i="0">
              <a:solidFill>
                <a:srgbClr val="64748B"/>
              </a:solidFill>
              <a:latin typeface="微软雅黑" panose="020B0503020204020204" charset="-122"/>
              <a:ea typeface="微软雅黑" panose="020B0503020204020204" charset="-122"/>
            </a:endParaRPr>
          </a:p>
        </p:txBody>
      </p:sp>
      <p:sp>
        <p:nvSpPr>
          <p:cNvPr id="17" name="Rounded Rectangle 16"/>
          <p:cNvSpPr/>
          <p:nvPr/>
        </p:nvSpPr>
        <p:spPr>
          <a:xfrm>
            <a:off x="6172200" y="1280160"/>
            <a:ext cx="2697480" cy="329184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9-医生工作台.png"/>
          <p:cNvPicPr>
            <a:picLocks noChangeAspect="1"/>
          </p:cNvPicPr>
          <p:nvPr/>
        </p:nvPicPr>
        <p:blipFill>
          <a:blip r:embed="rId3"/>
          <a:stretch>
            <a:fillRect/>
          </a:stretch>
        </p:blipFill>
        <p:spPr>
          <a:xfrm>
            <a:off x="6309360" y="1417320"/>
            <a:ext cx="2423160" cy="1514474"/>
          </a:xfrm>
          <a:prstGeom prst="rect">
            <a:avLst/>
          </a:prstGeom>
        </p:spPr>
      </p:pic>
      <p:sp>
        <p:nvSpPr>
          <p:cNvPr id="19" name="TextBox 18"/>
          <p:cNvSpPr txBox="1"/>
          <p:nvPr/>
        </p:nvSpPr>
        <p:spPr>
          <a:xfrm>
            <a:off x="6309360" y="3794760"/>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医护工作台</a:t>
            </a:r>
            <a:endParaRPr sz="1350" b="1" i="0">
              <a:solidFill>
                <a:srgbClr val="134E4A"/>
              </a:solidFill>
              <a:latin typeface="微软雅黑" panose="020B0503020204020204" charset="-122"/>
              <a:ea typeface="微软雅黑" panose="020B0503020204020204" charset="-122"/>
            </a:endParaRPr>
          </a:p>
        </p:txBody>
      </p:sp>
      <p:sp>
        <p:nvSpPr>
          <p:cNvPr id="20" name="TextBox 19"/>
          <p:cNvSpPr txBox="1"/>
          <p:nvPr/>
        </p:nvSpPr>
        <p:spPr>
          <a:xfrm>
            <a:off x="6281928" y="4133087"/>
            <a:ext cx="2478024" cy="384048"/>
          </a:xfrm>
          <a:prstGeom prst="rect">
            <a:avLst/>
          </a:prstGeom>
          <a:noFill/>
        </p:spPr>
        <p:txBody>
          <a:bodyPr wrap="square" lIns="0" tIns="0" rIns="0" bIns="0" anchor="t">
            <a:spAutoFit/>
          </a:bodyPr>
          <a:lstStyle/>
          <a:p>
            <a:pPr algn="ctr">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患者管理 · 住院信息 · 护理记录 · 排班</a:t>
            </a:r>
            <a:endParaRPr sz="950" b="0" i="0">
              <a:solidFill>
                <a:srgbClr val="64748B"/>
              </a:solidFill>
              <a:latin typeface="微软雅黑" panose="020B0503020204020204" charset="-122"/>
              <a:ea typeface="微软雅黑" panose="020B0503020204020204" charset="-122"/>
            </a:endParaRPr>
          </a:p>
        </p:txBody>
      </p:sp>
      <p:sp>
        <p:nvSpPr>
          <p:cNvPr id="21" name="Rounded Rectangle 20"/>
          <p:cNvSpPr/>
          <p:nvPr/>
        </p:nvSpPr>
        <p:spPr>
          <a:xfrm>
            <a:off x="9006840" y="1280160"/>
            <a:ext cx="2697480" cy="3291840"/>
          </a:xfrm>
          <a:prstGeom prst="roundRect">
            <a:avLst>
              <a:gd name="adj" fmla="val 5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5-系统管理.png"/>
          <p:cNvPicPr>
            <a:picLocks noChangeAspect="1"/>
          </p:cNvPicPr>
          <p:nvPr/>
        </p:nvPicPr>
        <p:blipFill>
          <a:blip r:embed="rId4"/>
          <a:stretch>
            <a:fillRect/>
          </a:stretch>
        </p:blipFill>
        <p:spPr>
          <a:xfrm>
            <a:off x="9144000" y="1417320"/>
            <a:ext cx="2423160" cy="1514474"/>
          </a:xfrm>
          <a:prstGeom prst="rect">
            <a:avLst/>
          </a:prstGeom>
        </p:spPr>
      </p:pic>
      <p:sp>
        <p:nvSpPr>
          <p:cNvPr id="23" name="TextBox 22"/>
          <p:cNvSpPr txBox="1"/>
          <p:nvPr/>
        </p:nvSpPr>
        <p:spPr>
          <a:xfrm>
            <a:off x="9144000" y="3794760"/>
            <a:ext cx="2423160" cy="320040"/>
          </a:xfrm>
          <a:prstGeom prst="rect">
            <a:avLst/>
          </a:prstGeom>
          <a:noFill/>
        </p:spPr>
        <p:txBody>
          <a:bodyPr wrap="square" lIns="0" tIns="0" rIns="0" bIns="0" anchor="t">
            <a:spAutoFit/>
          </a:bodyPr>
          <a:lstStyle/>
          <a:p>
            <a:pPr algn="ctr">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系统管理</a:t>
            </a:r>
            <a:endParaRPr sz="1350" b="1" i="0">
              <a:solidFill>
                <a:srgbClr val="134E4A"/>
              </a:solidFill>
              <a:latin typeface="微软雅黑" panose="020B0503020204020204" charset="-122"/>
              <a:ea typeface="微软雅黑" panose="020B0503020204020204" charset="-122"/>
            </a:endParaRPr>
          </a:p>
        </p:txBody>
      </p:sp>
      <p:sp>
        <p:nvSpPr>
          <p:cNvPr id="24" name="TextBox 23"/>
          <p:cNvSpPr txBox="1"/>
          <p:nvPr/>
        </p:nvSpPr>
        <p:spPr>
          <a:xfrm>
            <a:off x="9116567" y="4133087"/>
            <a:ext cx="2478024" cy="384048"/>
          </a:xfrm>
          <a:prstGeom prst="rect">
            <a:avLst/>
          </a:prstGeom>
          <a:noFill/>
        </p:spPr>
        <p:txBody>
          <a:bodyPr wrap="square" lIns="0" tIns="0" rIns="0" bIns="0" anchor="t">
            <a:spAutoFit/>
          </a:bodyPr>
          <a:lstStyle/>
          <a:p>
            <a:pPr algn="ctr">
              <a:lnSpc>
                <a:spcPct val="100000"/>
              </a:lnSpc>
              <a:spcBef>
                <a:spcPts val="0"/>
              </a:spcBef>
              <a:spcAft>
                <a:spcPts val="0"/>
              </a:spcAft>
            </a:pPr>
            <a:r>
              <a:rPr sz="950" b="0" i="0">
                <a:solidFill>
                  <a:srgbClr val="64748B"/>
                </a:solidFill>
                <a:latin typeface="微软雅黑" panose="020B0503020204020204" charset="-122"/>
                <a:ea typeface="微软雅黑" panose="020B0503020204020204" charset="-122"/>
              </a:rPr>
              <a:t>用户增删改查 · 全系统数据看板</a:t>
            </a:r>
            <a:endParaRPr sz="950" b="0" i="0">
              <a:solidFill>
                <a:srgbClr val="64748B"/>
              </a:solidFill>
              <a:latin typeface="微软雅黑" panose="020B0503020204020204" charset="-122"/>
              <a:ea typeface="微软雅黑" panose="020B0503020204020204" charset="-122"/>
            </a:endParaRPr>
          </a:p>
        </p:txBody>
      </p:sp>
      <p:sp>
        <p:nvSpPr>
          <p:cNvPr id="25" name="Rounded Rectangle 24"/>
          <p:cNvSpPr/>
          <p:nvPr/>
        </p:nvSpPr>
        <p:spPr>
          <a:xfrm>
            <a:off x="502920" y="4800600"/>
            <a:ext cx="11183112" cy="1371600"/>
          </a:xfrm>
          <a:prstGeom prst="roundRect">
            <a:avLst>
              <a:gd name="adj" fmla="val 6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010912"/>
            <a:ext cx="10515600" cy="365760"/>
          </a:xfrm>
          <a:prstGeom prst="rect">
            <a:avLst/>
          </a:prstGeom>
          <a:noFill/>
        </p:spPr>
        <p:txBody>
          <a:bodyPr wrap="square" lIns="0" tIns="0" rIns="0" bIns="0" anchor="t">
            <a:spAutoFit/>
          </a:bodyPr>
          <a:lstStyle/>
          <a:p>
            <a:pPr algn="l">
              <a:lnSpc>
                <a:spcPct val="100000"/>
              </a:lnSpc>
              <a:spcBef>
                <a:spcPts val="0"/>
              </a:spcBef>
              <a:spcAft>
                <a:spcPts val="0"/>
              </a:spcAft>
            </a:pPr>
            <a:r>
              <a:rPr sz="1450" b="1" i="0">
                <a:solidFill>
                  <a:srgbClr val="134E4A"/>
                </a:solidFill>
                <a:latin typeface="微软雅黑" panose="020B0503020204020204" charset="-122"/>
                <a:ea typeface="微软雅黑" panose="020B0503020204020204" charset="-122"/>
              </a:rPr>
              <a:t>业务闭环</a:t>
            </a:r>
            <a:endParaRPr sz="1450" b="1" i="0">
              <a:solidFill>
                <a:srgbClr val="134E4A"/>
              </a:solidFill>
              <a:latin typeface="微软雅黑" panose="020B0503020204020204" charset="-122"/>
              <a:ea typeface="微软雅黑" panose="020B0503020204020204" charset="-122"/>
            </a:endParaRPr>
          </a:p>
        </p:txBody>
      </p:sp>
      <p:sp>
        <p:nvSpPr>
          <p:cNvPr id="27" name="TextBox 26"/>
          <p:cNvSpPr txBox="1"/>
          <p:nvPr/>
        </p:nvSpPr>
        <p:spPr>
          <a:xfrm>
            <a:off x="822960" y="5440680"/>
            <a:ext cx="10607040" cy="640080"/>
          </a:xfrm>
          <a:prstGeom prst="rect">
            <a:avLst/>
          </a:prstGeom>
          <a:noFill/>
        </p:spPr>
        <p:txBody>
          <a:bodyPr wrap="square" lIns="0" tIns="0" rIns="0" bIns="0" anchor="t">
            <a:spAutoFit/>
          </a:bodyPr>
          <a:lstStyle/>
          <a:p>
            <a:pPr algn="l">
              <a:lnSpc>
                <a:spcPct val="120000"/>
              </a:lnSpc>
              <a:spcBef>
                <a:spcPts val="0"/>
              </a:spcBef>
              <a:spcAft>
                <a:spcPts val="0"/>
              </a:spcAft>
            </a:pPr>
            <a:r>
              <a:rPr sz="1250" b="0" i="0">
                <a:solidFill>
                  <a:srgbClr val="1E293B"/>
                </a:solidFill>
                <a:latin typeface="微软雅黑" panose="020B0503020204020204" charset="-122"/>
                <a:ea typeface="微软雅黑" panose="020B0503020204020204" charset="-122"/>
              </a:rPr>
              <a:t>患者：注册 → 挂号 → 住院 → 消费 → 健康档案查询；医护：排班 → 接诊 → 护理记录 → 出院管理；管理员：用户与全系统数据一屏掌握。业务数据贯穿 11 张表，形成完整闭环。</a:t>
            </a:r>
            <a:endParaRPr sz="12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234440"/>
            <a:ext cx="4114800" cy="2194560"/>
          </a:xfrm>
          <a:prstGeom prst="rect">
            <a:avLst/>
          </a:prstGeom>
          <a:noFill/>
        </p:spPr>
        <p:txBody>
          <a:bodyPr wrap="square" lIns="0" tIns="0" rIns="0" bIns="0" anchor="t">
            <a:spAutoFit/>
          </a:bodyPr>
          <a:lstStyle/>
          <a:p>
            <a:pPr algn="l">
              <a:lnSpc>
                <a:spcPct val="100000"/>
              </a:lnSpc>
              <a:spcBef>
                <a:spcPts val="0"/>
              </a:spcBef>
              <a:spcAft>
                <a:spcPts val="0"/>
              </a:spcAft>
            </a:pPr>
            <a:r>
              <a:rPr sz="15000" b="1" i="0">
                <a:solidFill>
                  <a:srgbClr val="E0F2FE"/>
                </a:solidFill>
                <a:latin typeface="微软雅黑" panose="020B0503020204020204" charset="-122"/>
                <a:ea typeface="微软雅黑" panose="020B0503020204020204" charset="-122"/>
              </a:rPr>
              <a:t>04</a:t>
            </a:r>
            <a:endParaRPr sz="15000" b="1" i="0">
              <a:solidFill>
                <a:srgbClr val="E0F2FE"/>
              </a:solidFill>
              <a:latin typeface="微软雅黑" panose="020B0503020204020204" charset="-122"/>
              <a:ea typeface="微软雅黑" panose="020B0503020204020204" charset="-122"/>
            </a:endParaRPr>
          </a:p>
        </p:txBody>
      </p:sp>
      <p:sp>
        <p:nvSpPr>
          <p:cNvPr id="5" name="TextBox 4"/>
          <p:cNvSpPr txBox="1"/>
          <p:nvPr/>
        </p:nvSpPr>
        <p:spPr>
          <a:xfrm>
            <a:off x="1143000" y="3200400"/>
            <a:ext cx="4434840" cy="914400"/>
          </a:xfrm>
          <a:prstGeom prst="rect">
            <a:avLst/>
          </a:prstGeom>
          <a:noFill/>
        </p:spPr>
        <p:txBody>
          <a:bodyPr wrap="square" lIns="0" tIns="0" rIns="0" bIns="0" anchor="t">
            <a:spAutoFit/>
          </a:bodyPr>
          <a:lstStyle/>
          <a:p>
            <a:pPr algn="l">
              <a:lnSpc>
                <a:spcPct val="100000"/>
              </a:lnSpc>
              <a:spcBef>
                <a:spcPts val="0"/>
              </a:spcBef>
              <a:spcAft>
                <a:spcPts val="0"/>
              </a:spcAft>
            </a:pPr>
            <a:r>
              <a:rPr sz="3400" b="1" i="0">
                <a:solidFill>
                  <a:srgbClr val="134E4A"/>
                </a:solidFill>
                <a:latin typeface="微软雅黑" panose="020B0503020204020204" charset="-122"/>
                <a:ea typeface="微软雅黑" panose="020B0503020204020204" charset="-122"/>
              </a:rPr>
              <a:t>系统运行与测试</a:t>
            </a:r>
            <a:endParaRPr sz="3400" b="1" i="0">
              <a:solidFill>
                <a:srgbClr val="134E4A"/>
              </a:solidFill>
              <a:latin typeface="微软雅黑" panose="020B0503020204020204" charset="-122"/>
              <a:ea typeface="微软雅黑" panose="020B0503020204020204" charset="-122"/>
            </a:endParaRPr>
          </a:p>
        </p:txBody>
      </p:sp>
      <p:sp>
        <p:nvSpPr>
          <p:cNvPr id="6" name="TextBox 5"/>
          <p:cNvSpPr txBox="1"/>
          <p:nvPr/>
        </p:nvSpPr>
        <p:spPr>
          <a:xfrm>
            <a:off x="1170432" y="4224528"/>
            <a:ext cx="4434840" cy="45720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94A3B8"/>
                </a:solidFill>
                <a:latin typeface="微软雅黑" panose="020B0503020204020204" charset="-122"/>
                <a:ea typeface="微软雅黑" panose="020B0503020204020204" charset="-122"/>
              </a:rPr>
              <a:t>RUNNING &amp; TESTING</a:t>
            </a:r>
            <a:endParaRPr sz="1500" b="1" i="0">
              <a:solidFill>
                <a:srgbClr val="94A3B8"/>
              </a:solidFill>
              <a:latin typeface="微软雅黑" panose="020B0503020204020204" charset="-122"/>
              <a:ea typeface="微软雅黑" panose="020B0503020204020204" charset="-122"/>
            </a:endParaRPr>
          </a:p>
        </p:txBody>
      </p:sp>
      <p:sp>
        <p:nvSpPr>
          <p:cNvPr id="7" name="Rounded Rectangle 6"/>
          <p:cNvSpPr/>
          <p:nvPr/>
        </p:nvSpPr>
        <p:spPr>
          <a:xfrm>
            <a:off x="5669280" y="1371600"/>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89320" y="1499616"/>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01</a:t>
            </a:r>
            <a:endParaRPr sz="1700" b="1" i="0">
              <a:solidFill>
                <a:srgbClr val="0F766E"/>
              </a:solidFill>
              <a:latin typeface="微软雅黑" panose="020B0503020204020204" charset="-122"/>
              <a:ea typeface="微软雅黑" panose="020B0503020204020204" charset="-122"/>
            </a:endParaRPr>
          </a:p>
        </p:txBody>
      </p:sp>
      <p:sp>
        <p:nvSpPr>
          <p:cNvPr id="9" name="TextBox 8"/>
          <p:cNvSpPr txBox="1"/>
          <p:nvPr/>
        </p:nvSpPr>
        <p:spPr>
          <a:xfrm>
            <a:off x="6492240" y="1508760"/>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系统运行效果</a:t>
            </a:r>
            <a:endParaRPr sz="1450" b="0" i="0">
              <a:solidFill>
                <a:srgbClr val="1E293B"/>
              </a:solidFill>
              <a:latin typeface="微软雅黑" panose="020B0503020204020204" charset="-122"/>
              <a:ea typeface="微软雅黑" panose="020B0503020204020204" charset="-122"/>
            </a:endParaRPr>
          </a:p>
        </p:txBody>
      </p:sp>
      <p:sp>
        <p:nvSpPr>
          <p:cNvPr id="10" name="Rounded Rectangle 9"/>
          <p:cNvSpPr/>
          <p:nvPr/>
        </p:nvSpPr>
        <p:spPr>
          <a:xfrm>
            <a:off x="5669280" y="2176272"/>
            <a:ext cx="6035040" cy="658368"/>
          </a:xfrm>
          <a:prstGeom prst="roundRect">
            <a:avLst>
              <a:gd name="adj" fmla="val 18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2304288"/>
            <a:ext cx="457200" cy="411480"/>
          </a:xfrm>
          <a:prstGeom prst="rect">
            <a:avLst/>
          </a:prstGeom>
          <a:noFill/>
        </p:spPr>
        <p:txBody>
          <a:bodyPr wrap="square" lIns="0" tIns="0" rIns="0" bIns="0" anchor="t">
            <a:spAutoFit/>
          </a:bodyPr>
          <a:lstStyle/>
          <a:p>
            <a:pPr algn="l">
              <a:lnSpc>
                <a:spcPct val="100000"/>
              </a:lnSpc>
              <a:spcBef>
                <a:spcPts val="0"/>
              </a:spcBef>
              <a:spcAft>
                <a:spcPts val="0"/>
              </a:spcAft>
            </a:pPr>
            <a:r>
              <a:rPr sz="1700" b="1" i="0">
                <a:solidFill>
                  <a:srgbClr val="0F766E"/>
                </a:solidFill>
                <a:latin typeface="微软雅黑" panose="020B0503020204020204" charset="-122"/>
                <a:ea typeface="微软雅黑" panose="020B0503020204020204" charset="-122"/>
              </a:rPr>
              <a:t>02</a:t>
            </a:r>
            <a:endParaRPr sz="1700" b="1" i="0">
              <a:solidFill>
                <a:srgbClr val="0F766E"/>
              </a:solidFill>
              <a:latin typeface="微软雅黑" panose="020B0503020204020204" charset="-122"/>
              <a:ea typeface="微软雅黑" panose="020B0503020204020204" charset="-122"/>
            </a:endParaRPr>
          </a:p>
        </p:txBody>
      </p:sp>
      <p:sp>
        <p:nvSpPr>
          <p:cNvPr id="12" name="TextBox 11"/>
          <p:cNvSpPr txBox="1"/>
          <p:nvPr/>
        </p:nvSpPr>
        <p:spPr>
          <a:xfrm>
            <a:off x="6492240" y="2313432"/>
            <a:ext cx="5120640" cy="411480"/>
          </a:xfrm>
          <a:prstGeom prst="rect">
            <a:avLst/>
          </a:prstGeom>
          <a:noFill/>
        </p:spPr>
        <p:txBody>
          <a:bodyPr wrap="square" lIns="0" tIns="0" rIns="0" bIns="0" anchor="t">
            <a:spAutoFit/>
          </a:bodyPr>
          <a:lstStyle/>
          <a:p>
            <a:pPr algn="l">
              <a:lnSpc>
                <a:spcPct val="100000"/>
              </a:lnSpc>
              <a:spcBef>
                <a:spcPts val="0"/>
              </a:spcBef>
              <a:spcAft>
                <a:spcPts val="0"/>
              </a:spcAft>
            </a:pPr>
            <a:r>
              <a:rPr sz="1450" b="0" i="0">
                <a:solidFill>
                  <a:srgbClr val="1E293B"/>
                </a:solidFill>
                <a:latin typeface="微软雅黑" panose="020B0503020204020204" charset="-122"/>
                <a:ea typeface="微软雅黑" panose="020B0503020204020204" charset="-122"/>
              </a:rPr>
              <a:t>功能测试用例</a:t>
            </a:r>
            <a:endParaRPr sz="14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系统运行效果</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9978847" y="384048"/>
            <a:ext cx="1709928"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04 · 运行与测试</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24</a:t>
            </a:r>
            <a:endParaRPr sz="1000" b="1" i="0">
              <a:solidFill>
                <a:srgbClr val="64748B"/>
              </a:solidFill>
              <a:latin typeface="微软雅黑" panose="020B0503020204020204" charset="-122"/>
              <a:ea typeface="微软雅黑" panose="020B0503020204020204" charset="-122"/>
            </a:endParaRPr>
          </a:p>
        </p:txBody>
      </p:sp>
      <p:pic>
        <p:nvPicPr>
          <p:cNvPr id="9" name="Picture 8" descr="01-登录页.png"/>
          <p:cNvPicPr>
            <a:picLocks noChangeAspect="1"/>
          </p:cNvPicPr>
          <p:nvPr/>
        </p:nvPicPr>
        <p:blipFill>
          <a:blip r:embed="rId1"/>
          <a:stretch>
            <a:fillRect/>
          </a:stretch>
        </p:blipFill>
        <p:spPr>
          <a:xfrm>
            <a:off x="2240280" y="1143000"/>
            <a:ext cx="3493008" cy="2183129"/>
          </a:xfrm>
          <a:prstGeom prst="rect">
            <a:avLst/>
          </a:prstGeom>
        </p:spPr>
      </p:pic>
      <p:sp>
        <p:nvSpPr>
          <p:cNvPr id="10" name="Rectangle 9"/>
          <p:cNvSpPr/>
          <p:nvPr/>
        </p:nvSpPr>
        <p:spPr>
          <a:xfrm>
            <a:off x="2240280" y="1143000"/>
            <a:ext cx="3493008" cy="2183129"/>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40280" y="3390137"/>
            <a:ext cx="3493008" cy="27432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登录页 · 五种角色</a:t>
            </a:r>
            <a:endParaRPr sz="1050" b="0" i="0">
              <a:solidFill>
                <a:srgbClr val="64748B"/>
              </a:solidFill>
              <a:latin typeface="微软雅黑" panose="020B0503020204020204" charset="-122"/>
              <a:ea typeface="微软雅黑" panose="020B0503020204020204" charset="-122"/>
            </a:endParaRPr>
          </a:p>
        </p:txBody>
      </p:sp>
      <p:pic>
        <p:nvPicPr>
          <p:cNvPr id="12" name="Picture 11" descr="02-患者数据仪表盘.png"/>
          <p:cNvPicPr>
            <a:picLocks noChangeAspect="1"/>
          </p:cNvPicPr>
          <p:nvPr/>
        </p:nvPicPr>
        <p:blipFill>
          <a:blip r:embed="rId2"/>
          <a:stretch>
            <a:fillRect/>
          </a:stretch>
        </p:blipFill>
        <p:spPr>
          <a:xfrm>
            <a:off x="6464808" y="1143000"/>
            <a:ext cx="3493008" cy="2183129"/>
          </a:xfrm>
          <a:prstGeom prst="rect">
            <a:avLst/>
          </a:prstGeom>
        </p:spPr>
      </p:pic>
      <p:sp>
        <p:nvSpPr>
          <p:cNvPr id="13" name="Rectangle 12"/>
          <p:cNvSpPr/>
          <p:nvPr/>
        </p:nvSpPr>
        <p:spPr>
          <a:xfrm>
            <a:off x="6464808" y="1143000"/>
            <a:ext cx="3493008" cy="2183129"/>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3390137"/>
            <a:ext cx="3493008" cy="27432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患者数据仪表盘</a:t>
            </a:r>
            <a:endParaRPr sz="1050" b="0" i="0">
              <a:solidFill>
                <a:srgbClr val="64748B"/>
              </a:solidFill>
              <a:latin typeface="微软雅黑" panose="020B0503020204020204" charset="-122"/>
              <a:ea typeface="微软雅黑" panose="020B0503020204020204" charset="-122"/>
            </a:endParaRPr>
          </a:p>
        </p:txBody>
      </p:sp>
      <p:pic>
        <p:nvPicPr>
          <p:cNvPr id="15" name="Picture 14" descr="03-智能咨询.png"/>
          <p:cNvPicPr>
            <a:picLocks noChangeAspect="1"/>
          </p:cNvPicPr>
          <p:nvPr/>
        </p:nvPicPr>
        <p:blipFill>
          <a:blip r:embed="rId3"/>
          <a:stretch>
            <a:fillRect/>
          </a:stretch>
        </p:blipFill>
        <p:spPr>
          <a:xfrm>
            <a:off x="2240280" y="3710177"/>
            <a:ext cx="3493008" cy="2183129"/>
          </a:xfrm>
          <a:prstGeom prst="rect">
            <a:avLst/>
          </a:prstGeom>
        </p:spPr>
      </p:pic>
      <p:sp>
        <p:nvSpPr>
          <p:cNvPr id="16" name="Rectangle 15"/>
          <p:cNvSpPr/>
          <p:nvPr/>
        </p:nvSpPr>
        <p:spPr>
          <a:xfrm>
            <a:off x="2240280" y="3710177"/>
            <a:ext cx="3493008" cy="2183129"/>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40280" y="5957315"/>
            <a:ext cx="3493008" cy="27432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智能咨询 · 流式回答 + 引用</a:t>
            </a:r>
            <a:endParaRPr sz="1050" b="0" i="0">
              <a:solidFill>
                <a:srgbClr val="64748B"/>
              </a:solidFill>
              <a:latin typeface="微软雅黑" panose="020B0503020204020204" charset="-122"/>
              <a:ea typeface="微软雅黑" panose="020B0503020204020204" charset="-122"/>
            </a:endParaRPr>
          </a:p>
        </p:txBody>
      </p:sp>
      <p:pic>
        <p:nvPicPr>
          <p:cNvPr id="18" name="Picture 17" descr="05-患者健康档案.png"/>
          <p:cNvPicPr>
            <a:picLocks noChangeAspect="1"/>
          </p:cNvPicPr>
          <p:nvPr/>
        </p:nvPicPr>
        <p:blipFill>
          <a:blip r:embed="rId4"/>
          <a:stretch>
            <a:fillRect/>
          </a:stretch>
        </p:blipFill>
        <p:spPr>
          <a:xfrm>
            <a:off x="6464808" y="3710177"/>
            <a:ext cx="3493008" cy="2183129"/>
          </a:xfrm>
          <a:prstGeom prst="rect">
            <a:avLst/>
          </a:prstGeom>
        </p:spPr>
      </p:pic>
      <p:sp>
        <p:nvSpPr>
          <p:cNvPr id="19" name="Rectangle 18"/>
          <p:cNvSpPr/>
          <p:nvPr/>
        </p:nvSpPr>
        <p:spPr>
          <a:xfrm>
            <a:off x="6464808" y="3710177"/>
            <a:ext cx="3493008" cy="2183129"/>
          </a:xfrm>
          <a:prstGeom prst="rect">
            <a:avLst/>
          </a:prstGeom>
          <a:no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5957315"/>
            <a:ext cx="3493008" cy="274320"/>
          </a:xfrm>
          <a:prstGeom prst="rect">
            <a:avLst/>
          </a:prstGeom>
          <a:noFill/>
        </p:spPr>
        <p:txBody>
          <a:bodyPr wrap="square" lIns="0" tIns="0" rIns="0" bIns="0" anchor="t">
            <a:spAutoFit/>
          </a:bodyPr>
          <a:lstStyle/>
          <a:p>
            <a:pPr algn="ctr">
              <a:lnSpc>
                <a:spcPct val="100000"/>
              </a:lnSpc>
              <a:spcBef>
                <a:spcPts val="0"/>
              </a:spcBef>
              <a:spcAft>
                <a:spcPts val="0"/>
              </a:spcAft>
            </a:pPr>
            <a:r>
              <a:rPr sz="1050" b="0" i="0">
                <a:solidFill>
                  <a:srgbClr val="64748B"/>
                </a:solidFill>
                <a:latin typeface="微软雅黑" panose="020B0503020204020204" charset="-122"/>
                <a:ea typeface="微软雅黑" panose="020B0503020204020204" charset="-122"/>
              </a:rPr>
              <a:t>患者健康档案</a:t>
            </a:r>
            <a:endParaRPr sz="1050" b="0" i="0">
              <a:solidFill>
                <a:srgbClr val="64748B"/>
              </a:solidFill>
              <a:latin typeface="微软雅黑" panose="020B0503020204020204" charset="-122"/>
              <a:ea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280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384048"/>
            <a:ext cx="82296" cy="40233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10896"/>
            <a:ext cx="8686800" cy="548640"/>
          </a:xfrm>
          <a:prstGeom prst="rect">
            <a:avLst/>
          </a:prstGeom>
          <a:noFill/>
        </p:spPr>
        <p:txBody>
          <a:bodyPr wrap="square" lIns="0" tIns="0" rIns="0" bIns="0" anchor="t">
            <a:spAutoFit/>
          </a:bodyPr>
          <a:lstStyle/>
          <a:p>
            <a:pPr algn="l">
              <a:lnSpc>
                <a:spcPct val="100000"/>
              </a:lnSpc>
              <a:spcBef>
                <a:spcPts val="0"/>
              </a:spcBef>
              <a:spcAft>
                <a:spcPts val="0"/>
              </a:spcAft>
            </a:pPr>
            <a:r>
              <a:rPr sz="2300" b="1" i="0">
                <a:solidFill>
                  <a:srgbClr val="1E293B"/>
                </a:solidFill>
                <a:latin typeface="微软雅黑" panose="020B0503020204020204" charset="-122"/>
                <a:ea typeface="微软雅黑" panose="020B0503020204020204" charset="-122"/>
              </a:rPr>
              <a:t>系统测试</a:t>
            </a:r>
            <a:endParaRPr sz="2300" b="1" i="0">
              <a:solidFill>
                <a:srgbClr val="1E293B"/>
              </a:solidFill>
              <a:latin typeface="微软雅黑" panose="020B0503020204020204" charset="-122"/>
              <a:ea typeface="微软雅黑" panose="020B0503020204020204" charset="-122"/>
            </a:endParaRPr>
          </a:p>
        </p:txBody>
      </p:sp>
      <p:sp>
        <p:nvSpPr>
          <p:cNvPr id="5" name="Rounded Rectangle 4"/>
          <p:cNvSpPr/>
          <p:nvPr/>
        </p:nvSpPr>
        <p:spPr>
          <a:xfrm>
            <a:off x="9978847" y="384048"/>
            <a:ext cx="1709928" cy="365760"/>
          </a:xfrm>
          <a:prstGeom prst="roundRect">
            <a:avLst>
              <a:gd name="adj" fmla="val 50000"/>
            </a:avLst>
          </a:prstGeom>
          <a:solidFill>
            <a:srgbClr val="E6F6F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lnSpc>
                <a:spcPct val="100000"/>
              </a:lnSpc>
            </a:pPr>
            <a:r>
              <a:rPr sz="1100" b="1" i="0">
                <a:solidFill>
                  <a:srgbClr val="0F766E"/>
                </a:solidFill>
                <a:latin typeface="微软雅黑" panose="020B0503020204020204" charset="-122"/>
                <a:ea typeface="微软雅黑" panose="020B0503020204020204" charset="-122"/>
              </a:rPr>
              <a:t>04 · 运行与测试</a:t>
            </a:r>
            <a:endParaRPr sz="1100" b="1" i="0">
              <a:solidFill>
                <a:srgbClr val="0F766E"/>
              </a:solidFill>
              <a:latin typeface="微软雅黑" panose="020B0503020204020204" charset="-122"/>
              <a:ea typeface="微软雅黑" panose="020B0503020204020204" charset="-122"/>
            </a:endParaRPr>
          </a:p>
        </p:txBody>
      </p:sp>
      <p:sp>
        <p:nvSpPr>
          <p:cNvPr id="6" name="Rectangle 5"/>
          <p:cNvSpPr/>
          <p:nvPr/>
        </p:nvSpPr>
        <p:spPr>
          <a:xfrm>
            <a:off x="502920" y="969264"/>
            <a:ext cx="11183112" cy="146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55664"/>
            <a:ext cx="5486400" cy="274320"/>
          </a:xfrm>
          <a:prstGeom prst="rect">
            <a:avLst/>
          </a:prstGeom>
          <a:noFill/>
        </p:spPr>
        <p:txBody>
          <a:bodyPr wrap="square" lIns="0" tIns="0" rIns="0" bIns="0" anchor="t">
            <a:spAutoFit/>
          </a:bodyPr>
          <a:lstStyle/>
          <a:p>
            <a:pPr algn="l">
              <a:lnSpc>
                <a:spcPct val="100000"/>
              </a:lnSpc>
              <a:spcBef>
                <a:spcPts val="0"/>
              </a:spcBef>
              <a:spcAft>
                <a:spcPts val="0"/>
              </a:spcAft>
            </a:pPr>
            <a:r>
              <a:rPr sz="900" b="0" i="0">
                <a:solidFill>
                  <a:srgbClr val="64748B"/>
                </a:solidFill>
                <a:latin typeface="微软雅黑" panose="020B0503020204020204" charset="-122"/>
                <a:ea typeface="微软雅黑" panose="020B0503020204020204" charset="-122"/>
              </a:rPr>
              <a:t>医智助手 · 医疗知识库智能问答系统</a:t>
            </a:r>
            <a:endParaRPr sz="900" b="0" i="0">
              <a:solidFill>
                <a:srgbClr val="64748B"/>
              </a:solidFill>
              <a:latin typeface="微软雅黑" panose="020B0503020204020204" charset="-122"/>
              <a:ea typeface="微软雅黑" panose="020B0503020204020204" charset="-122"/>
            </a:endParaRPr>
          </a:p>
        </p:txBody>
      </p:sp>
      <p:sp>
        <p:nvSpPr>
          <p:cNvPr id="8" name="TextBox 7"/>
          <p:cNvSpPr txBox="1"/>
          <p:nvPr/>
        </p:nvSpPr>
        <p:spPr>
          <a:xfrm>
            <a:off x="10881360" y="6455664"/>
            <a:ext cx="822960" cy="274320"/>
          </a:xfrm>
          <a:prstGeom prst="rect">
            <a:avLst/>
          </a:prstGeom>
          <a:noFill/>
        </p:spPr>
        <p:txBody>
          <a:bodyPr wrap="square" lIns="0" tIns="0" rIns="0" bIns="0" anchor="t">
            <a:spAutoFit/>
          </a:bodyPr>
          <a:lstStyle/>
          <a:p>
            <a:pPr algn="r">
              <a:lnSpc>
                <a:spcPct val="100000"/>
              </a:lnSpc>
              <a:spcBef>
                <a:spcPts val="0"/>
              </a:spcBef>
              <a:spcAft>
                <a:spcPts val="0"/>
              </a:spcAft>
            </a:pPr>
            <a:r>
              <a:rPr sz="1000" b="1" i="0">
                <a:solidFill>
                  <a:srgbClr val="64748B"/>
                </a:solidFill>
                <a:latin typeface="微软雅黑" panose="020B0503020204020204" charset="-122"/>
                <a:ea typeface="微软雅黑" panose="020B0503020204020204" charset="-122"/>
              </a:rPr>
              <a:t>25</a:t>
            </a:r>
            <a:endParaRPr sz="1000" b="1" i="0">
              <a:solidFill>
                <a:srgbClr val="64748B"/>
              </a:solidFill>
              <a:latin typeface="微软雅黑" panose="020B0503020204020204" charset="-122"/>
              <a:ea typeface="微软雅黑" panose="020B0503020204020204" charset="-122"/>
            </a:endParaRPr>
          </a:p>
        </p:txBody>
      </p:sp>
      <p:graphicFrame>
        <p:nvGraphicFramePr>
          <p:cNvPr id="9" name="Table 8"/>
          <p:cNvGraphicFramePr>
            <a:graphicFrameLocks noGrp="1"/>
          </p:cNvGraphicFramePr>
          <p:nvPr/>
        </p:nvGraphicFramePr>
        <p:xfrm>
          <a:off x="502920" y="1234440"/>
          <a:ext cx="11183112" cy="3657600"/>
        </p:xfrm>
        <a:graphic>
          <a:graphicData uri="http://schemas.openxmlformats.org/drawingml/2006/table">
            <a:tbl>
              <a:tblPr firstRow="1" bandRow="1">
                <a:tableStyleId>{5C22544A-7EE6-4342-B048-85BDC9FD1C3A}</a:tableStyleId>
              </a:tblPr>
              <a:tblGrid>
                <a:gridCol w="2468880"/>
                <a:gridCol w="4480560"/>
                <a:gridCol w="4233672"/>
              </a:tblGrid>
              <a:tr h="522514">
                <a:tc>
                  <a:txBody>
                    <a:bodyPr wrap="square"/>
                    <a:lstStyle/>
                    <a:p>
                      <a:r>
                        <a:rPr sz="1250" b="1" i="0">
                          <a:solidFill>
                            <a:srgbClr val="FFFFFF"/>
                          </a:solidFill>
                          <a:latin typeface="微软雅黑" panose="020B0503020204020204" charset="-122"/>
                          <a:ea typeface="微软雅黑" panose="020B0503020204020204" charset="-122"/>
                        </a:rPr>
                        <a:t>用例</a:t>
                      </a:r>
                      <a:endParaRPr sz="1250" b="1" i="0">
                        <a:solidFill>
                          <a:srgbClr val="FFFFFF"/>
                        </a:solidFill>
                        <a:latin typeface="微软雅黑" panose="020B0503020204020204" charset="-122"/>
                        <a:ea typeface="微软雅黑" panose="020B0503020204020204" charset="-122"/>
                      </a:endParaRPr>
                    </a:p>
                  </a:txBody>
                  <a:tcPr marL="109728" marR="73152" marT="36576" marB="36576" anchor="ctr">
                    <a:solidFill>
                      <a:srgbClr val="0F766E"/>
                    </a:solidFill>
                  </a:tcPr>
                </a:tc>
                <a:tc>
                  <a:txBody>
                    <a:bodyPr wrap="square"/>
                    <a:lstStyle/>
                    <a:p>
                      <a:r>
                        <a:rPr sz="1250" b="1" i="0">
                          <a:solidFill>
                            <a:srgbClr val="FFFFFF"/>
                          </a:solidFill>
                          <a:latin typeface="微软雅黑" panose="020B0503020204020204" charset="-122"/>
                          <a:ea typeface="微软雅黑" panose="020B0503020204020204" charset="-122"/>
                        </a:rPr>
                        <a:t>测试步骤</a:t>
                      </a:r>
                      <a:endParaRPr sz="1250" b="1" i="0">
                        <a:solidFill>
                          <a:srgbClr val="FFFFFF"/>
                        </a:solidFill>
                        <a:latin typeface="微软雅黑" panose="020B0503020204020204" charset="-122"/>
                        <a:ea typeface="微软雅黑" panose="020B0503020204020204" charset="-122"/>
                      </a:endParaRPr>
                    </a:p>
                  </a:txBody>
                  <a:tcPr marL="109728" marR="73152" marT="36576" marB="36576" anchor="ctr">
                    <a:solidFill>
                      <a:srgbClr val="0F766E"/>
                    </a:solidFill>
                  </a:tcPr>
                </a:tc>
                <a:tc>
                  <a:txBody>
                    <a:bodyPr wrap="square"/>
                    <a:lstStyle/>
                    <a:p>
                      <a:r>
                        <a:rPr sz="1250" b="1" i="0">
                          <a:solidFill>
                            <a:srgbClr val="FFFFFF"/>
                          </a:solidFill>
                          <a:latin typeface="微软雅黑" panose="020B0503020204020204" charset="-122"/>
                          <a:ea typeface="微软雅黑" panose="020B0503020204020204" charset="-122"/>
                        </a:rPr>
                        <a:t>预期结果</a:t>
                      </a:r>
                      <a:endParaRPr sz="1250" b="1" i="0">
                        <a:solidFill>
                          <a:srgbClr val="FFFFFF"/>
                        </a:solidFill>
                        <a:latin typeface="微软雅黑" panose="020B0503020204020204" charset="-122"/>
                        <a:ea typeface="微软雅黑" panose="020B0503020204020204" charset="-122"/>
                      </a:endParaRPr>
                    </a:p>
                  </a:txBody>
                  <a:tcPr marL="109728" marR="73152" marT="36576" marB="36576" anchor="ctr">
                    <a:solidFill>
                      <a:srgbClr val="0F766E"/>
                    </a:solidFill>
                  </a:tcPr>
                </a:tc>
              </a:tr>
              <a:tr h="522514">
                <a:tc>
                  <a:txBody>
                    <a:bodyPr wrap="square"/>
                    <a:lstStyle/>
                    <a:p>
                      <a:r>
                        <a:rPr sz="1150" b="1" i="0">
                          <a:solidFill>
                            <a:srgbClr val="1E293B"/>
                          </a:solidFill>
                          <a:latin typeface="微软雅黑" panose="020B0503020204020204" charset="-122"/>
                          <a:ea typeface="微软雅黑" panose="020B0503020204020204" charset="-122"/>
                        </a:rPr>
                        <a:t>多角色登录</a:t>
                      </a:r>
                      <a:endParaRPr sz="1150" b="1"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c>
                  <a:txBody>
                    <a:bodyPr wrap="square"/>
                    <a:lstStyle/>
                    <a:p>
                      <a:r>
                        <a:rPr sz="1150" b="0" i="0">
                          <a:solidFill>
                            <a:srgbClr val="1E293B"/>
                          </a:solidFill>
                          <a:latin typeface="微软雅黑" panose="020B0503020204020204" charset="-122"/>
                          <a:ea typeface="微软雅黑" panose="020B0503020204020204" charset="-122"/>
                        </a:rPr>
                        <a:t>5 个演示账号逐一登录</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c>
                  <a:txBody>
                    <a:bodyPr wrap="square"/>
                    <a:lstStyle/>
                    <a:p>
                      <a:r>
                        <a:rPr sz="1150" b="0" i="0">
                          <a:solidFill>
                            <a:srgbClr val="1E293B"/>
                          </a:solidFill>
                          <a:latin typeface="微软雅黑" panose="020B0503020204020204" charset="-122"/>
                          <a:ea typeface="微软雅黑" panose="020B0503020204020204" charset="-122"/>
                        </a:rPr>
                        <a:t>各自进入对应角色门户，权限正确</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r>
              <a:tr h="522514">
                <a:tc>
                  <a:txBody>
                    <a:bodyPr wrap="square"/>
                    <a:lstStyle/>
                    <a:p>
                      <a:r>
                        <a:rPr sz="1150" b="1" i="0">
                          <a:solidFill>
                            <a:srgbClr val="1E293B"/>
                          </a:solidFill>
                          <a:latin typeface="微软雅黑" panose="020B0503020204020204" charset="-122"/>
                          <a:ea typeface="微软雅黑" panose="020B0503020204020204" charset="-122"/>
                        </a:rPr>
                        <a:t>公开/私有过滤</a:t>
                      </a:r>
                      <a:endParaRPr sz="1150" b="1"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c>
                  <a:txBody>
                    <a:bodyPr wrap="square"/>
                    <a:lstStyle/>
                    <a:p>
                      <a:r>
                        <a:rPr sz="1150" b="0" i="0">
                          <a:solidFill>
                            <a:srgbClr val="1E293B"/>
                          </a:solidFill>
                          <a:latin typeface="微软雅黑" panose="020B0503020204020204" charset="-122"/>
                          <a:ea typeface="微软雅黑" panose="020B0503020204020204" charset="-122"/>
                        </a:rPr>
                        <a:t>患者/群众检索私有文档</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c>
                  <a:txBody>
                    <a:bodyPr wrap="square"/>
                    <a:lstStyle/>
                    <a:p>
                      <a:r>
                        <a:rPr sz="1150" b="0" i="0">
                          <a:solidFill>
                            <a:srgbClr val="1E293B"/>
                          </a:solidFill>
                          <a:latin typeface="微软雅黑" panose="020B0503020204020204" charset="-122"/>
                          <a:ea typeface="微软雅黑" panose="020B0503020204020204" charset="-122"/>
                        </a:rPr>
                        <a:t>返回空或仅公开结果，拒绝越权</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r>
              <a:tr h="522514">
                <a:tc>
                  <a:txBody>
                    <a:bodyPr wrap="square"/>
                    <a:lstStyle/>
                    <a:p>
                      <a:r>
                        <a:rPr sz="1150" b="1" i="0">
                          <a:solidFill>
                            <a:srgbClr val="1E293B"/>
                          </a:solidFill>
                          <a:latin typeface="微软雅黑" panose="020B0503020204020204" charset="-122"/>
                          <a:ea typeface="微软雅黑" panose="020B0503020204020204" charset="-122"/>
                        </a:rPr>
                        <a:t>RAG 智能问答</a:t>
                      </a:r>
                      <a:endParaRPr sz="1150" b="1"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c>
                  <a:txBody>
                    <a:bodyPr wrap="square"/>
                    <a:lstStyle/>
                    <a:p>
                      <a:r>
                        <a:rPr sz="1150" b="0" i="0">
                          <a:solidFill>
                            <a:srgbClr val="1E293B"/>
                          </a:solidFill>
                          <a:latin typeface="微软雅黑" panose="020B0503020204020204" charset="-122"/>
                          <a:ea typeface="微软雅黑" panose="020B0503020204020204" charset="-122"/>
                        </a:rPr>
                        <a:t>对知识库提问并查看引用</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c>
                  <a:txBody>
                    <a:bodyPr wrap="square"/>
                    <a:lstStyle/>
                    <a:p>
                      <a:r>
                        <a:rPr sz="1150" b="0" i="0">
                          <a:solidFill>
                            <a:srgbClr val="1E293B"/>
                          </a:solidFill>
                          <a:latin typeface="微软雅黑" panose="020B0503020204020204" charset="-122"/>
                          <a:ea typeface="微软雅黑" panose="020B0503020204020204" charset="-122"/>
                        </a:rPr>
                        <a:t>流式回答 + 引用来源可追溯</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r>
              <a:tr h="522514">
                <a:tc>
                  <a:txBody>
                    <a:bodyPr wrap="square"/>
                    <a:lstStyle/>
                    <a:p>
                      <a:r>
                        <a:rPr sz="1150" b="1" i="0">
                          <a:solidFill>
                            <a:srgbClr val="1E293B"/>
                          </a:solidFill>
                          <a:latin typeface="微软雅黑" panose="020B0503020204020204" charset="-122"/>
                          <a:ea typeface="微软雅黑" panose="020B0503020204020204" charset="-122"/>
                        </a:rPr>
                        <a:t>文档上传</a:t>
                      </a:r>
                      <a:endParaRPr sz="1150" b="1"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c>
                  <a:txBody>
                    <a:bodyPr wrap="square"/>
                    <a:lstStyle/>
                    <a:p>
                      <a:r>
                        <a:rPr sz="1150" b="0" i="0">
                          <a:solidFill>
                            <a:srgbClr val="1E293B"/>
                          </a:solidFill>
                          <a:latin typeface="微软雅黑" panose="020B0503020204020204" charset="-122"/>
                          <a:ea typeface="微软雅黑" panose="020B0503020204020204" charset="-122"/>
                        </a:rPr>
                        <a:t>上传 txt/md/pdf/docx/pptx</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c>
                  <a:txBody>
                    <a:bodyPr wrap="square"/>
                    <a:lstStyle/>
                    <a:p>
                      <a:r>
                        <a:rPr sz="1150" b="0" i="0">
                          <a:solidFill>
                            <a:srgbClr val="1E293B"/>
                          </a:solidFill>
                          <a:latin typeface="微软雅黑" panose="020B0503020204020204" charset="-122"/>
                          <a:ea typeface="微软雅黑" panose="020B0503020204020204" charset="-122"/>
                        </a:rPr>
                        <a:t>切分向量化成功，检索可用；非法文件报具体原因</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r>
              <a:tr h="522514">
                <a:tc>
                  <a:txBody>
                    <a:bodyPr wrap="square"/>
                    <a:lstStyle/>
                    <a:p>
                      <a:r>
                        <a:rPr sz="1150" b="1" i="0">
                          <a:solidFill>
                            <a:srgbClr val="1E293B"/>
                          </a:solidFill>
                          <a:latin typeface="微软雅黑" panose="020B0503020204020204" charset="-122"/>
                          <a:ea typeface="微软雅黑" panose="020B0503020204020204" charset="-122"/>
                        </a:rPr>
                        <a:t>健康档案/挂号</a:t>
                      </a:r>
                      <a:endParaRPr sz="1150" b="1"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c>
                  <a:txBody>
                    <a:bodyPr wrap="square"/>
                    <a:lstStyle/>
                    <a:p>
                      <a:r>
                        <a:rPr sz="1150" b="0" i="0">
                          <a:solidFill>
                            <a:srgbClr val="1E293B"/>
                          </a:solidFill>
                          <a:latin typeface="微软雅黑" panose="020B0503020204020204" charset="-122"/>
                          <a:ea typeface="微软雅黑" panose="020B0503020204020204" charset="-122"/>
                        </a:rPr>
                        <a:t>患者查看住院消费、预约挂号</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c>
                  <a:txBody>
                    <a:bodyPr wrap="square"/>
                    <a:lstStyle/>
                    <a:p>
                      <a:r>
                        <a:rPr sz="1150" b="0" i="0">
                          <a:solidFill>
                            <a:srgbClr val="1E293B"/>
                          </a:solidFill>
                          <a:latin typeface="微软雅黑" panose="020B0503020204020204" charset="-122"/>
                          <a:ea typeface="微软雅黑" panose="020B0503020204020204" charset="-122"/>
                        </a:rPr>
                        <a:t>数据与本人一致，状态流转正确</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FFFFF"/>
                    </a:solidFill>
                  </a:tcPr>
                </a:tc>
              </a:tr>
              <a:tr h="522516">
                <a:tc>
                  <a:txBody>
                    <a:bodyPr wrap="square"/>
                    <a:lstStyle/>
                    <a:p>
                      <a:r>
                        <a:rPr sz="1150" b="1" i="0">
                          <a:solidFill>
                            <a:srgbClr val="1E293B"/>
                          </a:solidFill>
                          <a:latin typeface="微软雅黑" panose="020B0503020204020204" charset="-122"/>
                          <a:ea typeface="微软雅黑" panose="020B0503020204020204" charset="-122"/>
                        </a:rPr>
                        <a:t>兜底降级</a:t>
                      </a:r>
                      <a:endParaRPr sz="1150" b="1"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c>
                  <a:txBody>
                    <a:bodyPr wrap="square"/>
                    <a:lstStyle/>
                    <a:p>
                      <a:r>
                        <a:rPr sz="1150" b="0" i="0">
                          <a:solidFill>
                            <a:srgbClr val="1E293B"/>
                          </a:solidFill>
                          <a:latin typeface="微软雅黑" panose="020B0503020204020204" charset="-122"/>
                          <a:ea typeface="微软雅黑" panose="020B0503020204020204" charset="-122"/>
                        </a:rPr>
                        <a:t>停用 API Key / 关闭 Milvus</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c>
                  <a:txBody>
                    <a:bodyPr wrap="square"/>
                    <a:lstStyle/>
                    <a:p>
                      <a:r>
                        <a:rPr sz="1150" b="0" i="0">
                          <a:solidFill>
                            <a:srgbClr val="1E293B"/>
                          </a:solidFill>
                          <a:latin typeface="微软雅黑" panose="020B0503020204020204" charset="-122"/>
                          <a:ea typeface="微软雅黑" panose="020B0503020204020204" charset="-122"/>
                        </a:rPr>
                        <a:t>自动降级离线合成回答 / NumpyStore，系统不中断</a:t>
                      </a:r>
                      <a:endParaRPr sz="1150" b="0" i="0">
                        <a:solidFill>
                          <a:srgbClr val="1E293B"/>
                        </a:solidFill>
                        <a:latin typeface="微软雅黑" panose="020B0503020204020204" charset="-122"/>
                        <a:ea typeface="微软雅黑" panose="020B0503020204020204" charset="-122"/>
                      </a:endParaRPr>
                    </a:p>
                  </a:txBody>
                  <a:tcPr marL="109728" marR="73152" marT="36576" marB="36576" anchor="ctr">
                    <a:solidFill>
                      <a:srgbClr val="F1F5F9"/>
                    </a:solidFill>
                  </a:tcPr>
                </a:tc>
              </a:tr>
            </a:tbl>
          </a:graphicData>
        </a:graphic>
      </p:graphicFrame>
      <p:sp>
        <p:nvSpPr>
          <p:cNvPr id="10" name="TextBox 9"/>
          <p:cNvSpPr txBox="1"/>
          <p:nvPr/>
        </p:nvSpPr>
        <p:spPr>
          <a:xfrm>
            <a:off x="502920" y="5120640"/>
            <a:ext cx="11155680" cy="365760"/>
          </a:xfrm>
          <a:prstGeom prst="rect">
            <a:avLst/>
          </a:prstGeom>
          <a:noFill/>
        </p:spPr>
        <p:txBody>
          <a:bodyPr wrap="square" lIns="0" tIns="0" rIns="0" bIns="0" anchor="t">
            <a:spAutoFit/>
          </a:bodyPr>
          <a:lstStyle/>
          <a:p>
            <a:pPr algn="l">
              <a:lnSpc>
                <a:spcPct val="100000"/>
              </a:lnSpc>
              <a:spcBef>
                <a:spcPts val="0"/>
              </a:spcBef>
              <a:spcAft>
                <a:spcPts val="0"/>
              </a:spcAft>
            </a:pPr>
            <a:r>
              <a:rPr sz="1350" b="1" i="0">
                <a:solidFill>
                  <a:srgbClr val="134E4A"/>
                </a:solidFill>
                <a:latin typeface="微软雅黑" panose="020B0503020204020204" charset="-122"/>
                <a:ea typeface="微软雅黑" panose="020B0503020204020204" charset="-122"/>
              </a:rPr>
              <a:t>说明</a:t>
            </a:r>
            <a:endParaRPr sz="1350" b="1" i="0">
              <a:solidFill>
                <a:srgbClr val="134E4A"/>
              </a:solidFill>
              <a:latin typeface="微软雅黑" panose="020B0503020204020204" charset="-122"/>
              <a:ea typeface="微软雅黑" panose="020B0503020204020204" charset="-122"/>
            </a:endParaRPr>
          </a:p>
        </p:txBody>
      </p:sp>
      <p:sp>
        <p:nvSpPr>
          <p:cNvPr id="11" name="TextBox 10"/>
          <p:cNvSpPr txBox="1"/>
          <p:nvPr/>
        </p:nvSpPr>
        <p:spPr>
          <a:xfrm>
            <a:off x="502920" y="5532120"/>
            <a:ext cx="11155680" cy="822960"/>
          </a:xfrm>
          <a:prstGeom prst="rect">
            <a:avLst/>
          </a:prstGeom>
          <a:noFill/>
        </p:spPr>
        <p:txBody>
          <a:bodyPr wrap="square" lIns="0" tIns="0" rIns="0" bIns="0">
            <a:spAutoFit/>
          </a:bodyPr>
          <a:lstStyle/>
          <a:p>
            <a:pPr>
              <a:lnSpc>
                <a:spcPct val="100000"/>
              </a:lnSpc>
              <a:spcAft>
                <a:spcPts val="6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本轮以功能用例手工验证为主，配合接口联调与降级演练；项目结构为后续接入 pytest 单元测试预留了 Service 层</a:t>
            </a:r>
            <a:endParaRPr sz="1150" b="0" i="0">
              <a:solidFill>
                <a:srgbClr val="1E293B"/>
              </a:solidFill>
              <a:latin typeface="微软雅黑" panose="020B0503020204020204" charset="-122"/>
              <a:ea typeface="微软雅黑" panose="020B0503020204020204" charset="-122"/>
            </a:endParaRPr>
          </a:p>
          <a:p>
            <a:pPr>
              <a:lnSpc>
                <a:spcPct val="100000"/>
              </a:lnSpc>
              <a:spcAft>
                <a:spcPts val="600"/>
              </a:spcAft>
            </a:pPr>
            <a:r>
              <a:rPr sz="1150" b="1" i="0">
                <a:solidFill>
                  <a:srgbClr val="0F766E"/>
                </a:solidFill>
                <a:latin typeface="微软雅黑" panose="020B0503020204020204" charset="-122"/>
                <a:ea typeface="微软雅黑" panose="020B0503020204020204" charset="-122"/>
              </a:rPr>
              <a:t>● </a:t>
            </a:r>
            <a:r>
              <a:rPr sz="1150" b="0" i="0">
                <a:solidFill>
                  <a:srgbClr val="1E293B"/>
                </a:solidFill>
                <a:latin typeface="微软雅黑" panose="020B0503020204020204" charset="-122"/>
                <a:ea typeface="微软雅黑" panose="020B0503020204020204" charset="-122"/>
              </a:rPr>
              <a:t>运行截图由 scripts/screenshot.mjs（puppeteer-core + 本机 Chrome）自动生成，可回归验证 UI</a:t>
            </a:r>
            <a:endParaRPr sz="1150" b="0" i="0">
              <a:solidFill>
                <a:srgbClr val="1E293B"/>
              </a:solidFill>
              <a:latin typeface="微软雅黑" panose="020B0503020204020204" charset="-122"/>
              <a:ea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179"/>
            <a:ext cx="12191365" cy="6857643"/>
          </a:xfrm>
          <a:prstGeom prst="rect">
            <a:avLst/>
          </a:prstGeom>
        </p:spPr>
      </p:pic>
      <p:grpSp>
        <p:nvGrpSpPr>
          <p:cNvPr id="37" name="h2p-grp-h2p-animroot-1"/>
          <p:cNvGrpSpPr/>
          <p:nvPr/>
        </p:nvGrpSpPr>
        <p:grpSpPr>
          <a:xfrm>
            <a:off x="609568" y="457355"/>
            <a:ext cx="10972230" cy="761960"/>
            <a:chOff x="0" y="0"/>
            <a:chExt cx="8229601" cy="571500"/>
          </a:xfrm>
        </p:grpSpPr>
        <p:sp>
          <p:nvSpPr>
            <p:cNvPr id="3" name="矩形 2"/>
            <p:cNvSpPr/>
            <p:nvPr/>
          </p:nvSpPr>
          <p:spPr>
            <a:xfrm>
              <a:off x="0" y="0"/>
              <a:ext cx="8229600" cy="571500"/>
            </a:xfrm>
            <a:prstGeom prst="rect">
              <a:avLst/>
            </a:prstGeom>
            <a:noFill/>
          </p:spPr>
        </p:sp>
        <p:sp>
          <p:nvSpPr>
            <p:cNvPr id="4" name="矩形 3"/>
            <p:cNvSpPr/>
            <p:nvPr/>
          </p:nvSpPr>
          <p:spPr>
            <a:xfrm>
              <a:off x="0" y="0"/>
              <a:ext cx="42863" cy="571500"/>
            </a:xfrm>
            <a:prstGeom prst="rect">
              <a:avLst/>
            </a:prstGeom>
            <a:solidFill>
              <a:srgbClr val="5B9DFF"/>
            </a:solidFill>
          </p:spPr>
        </p:sp>
        <p:sp>
          <p:nvSpPr>
            <p:cNvPr id="5" name="矩形 4"/>
            <p:cNvSpPr/>
            <p:nvPr/>
          </p:nvSpPr>
          <p:spPr>
            <a:xfrm>
              <a:off x="185738" y="0"/>
              <a:ext cx="8043863" cy="342900"/>
            </a:xfrm>
            <a:prstGeom prst="rect">
              <a:avLst/>
            </a:prstGeom>
            <a:noFill/>
          </p:spPr>
          <p:txBody>
            <a:bodyPr wrap="none" lIns="0" tIns="0" rIns="0" bIns="0" rtlCol="0" anchor="t"/>
            <a:lstStyle/>
            <a:p>
              <a:pPr marL="0" indent="0">
                <a:lnSpc>
                  <a:spcPct val="150000"/>
                </a:lnSpc>
                <a:buNone/>
              </a:pPr>
              <a:r>
                <a:rPr lang="zh-CN" sz="2265" b="1" dirty="0">
                  <a:solidFill>
                    <a:srgbClr val="1F2A37"/>
                  </a:solidFill>
                  <a:latin typeface="Arial" panose="020B0604020202020204" pitchFamily="34" charset="0"/>
                  <a:ea typeface="微软雅黑" panose="020B0503020204020204" charset="-122"/>
                </a:rPr>
                <a:t>项目总结与免责声明</a:t>
              </a:r>
              <a:endParaRPr lang="en-US" sz="2265" dirty="0"/>
            </a:p>
          </p:txBody>
        </p:sp>
        <p:sp>
          <p:nvSpPr>
            <p:cNvPr id="6" name="矩形 5"/>
            <p:cNvSpPr/>
            <p:nvPr/>
          </p:nvSpPr>
          <p:spPr>
            <a:xfrm>
              <a:off x="185738" y="400050"/>
              <a:ext cx="8043863" cy="171450"/>
            </a:xfrm>
            <a:prstGeom prst="rect">
              <a:avLst/>
            </a:prstGeom>
            <a:noFill/>
          </p:spPr>
          <p:txBody>
            <a:bodyPr wrap="none" lIns="0" tIns="0" rIns="0" bIns="0" rtlCol="0" anchor="t"/>
            <a:lstStyle/>
            <a:p>
              <a:pPr marL="0" indent="0">
                <a:lnSpc>
                  <a:spcPct val="150000"/>
                </a:lnSpc>
                <a:buNone/>
              </a:pPr>
              <a:r>
                <a:rPr lang="zh-CN" sz="1200" b="1" dirty="0">
                  <a:solidFill>
                    <a:srgbClr val="2E6EA6"/>
                  </a:solidFill>
                  <a:latin typeface="Arial" panose="020B0604020202020204" pitchFamily="34" charset="0"/>
                  <a:ea typeface="微软雅黑" panose="020B0503020204020204" charset="-122"/>
                </a:rPr>
                <a:t>医疗健康信息辅助理解与教学演示平台</a:t>
              </a:r>
              <a:endParaRPr lang="en-US" sz="1200" dirty="0"/>
            </a:p>
          </p:txBody>
        </p:sp>
      </p:grpSp>
      <p:sp>
        <p:nvSpPr>
          <p:cNvPr id="7" name="Text 4"/>
          <p:cNvSpPr/>
          <p:nvPr/>
        </p:nvSpPr>
        <p:spPr>
          <a:xfrm>
            <a:off x="900065" y="1628868"/>
            <a:ext cx="1714411" cy="209540"/>
          </a:xfrm>
          <a:prstGeom prst="rect">
            <a:avLst/>
          </a:prstGeom>
          <a:noFill/>
        </p:spPr>
        <p:txBody>
          <a:bodyPr wrap="none" lIns="0" tIns="0" rIns="0" bIns="0" rtlCol="0" anchor="ctr"/>
          <a:lstStyle/>
          <a:p>
            <a:pPr marL="0" indent="0">
              <a:lnSpc>
                <a:spcPct val="140000"/>
              </a:lnSpc>
              <a:buNone/>
            </a:pPr>
            <a:r>
              <a:rPr lang="zh-CN" sz="1465" b="1" dirty="0">
                <a:solidFill>
                  <a:srgbClr val="1F2A37"/>
                </a:solidFill>
                <a:latin typeface="Arial" panose="020B0604020202020204" pitchFamily="34" charset="0"/>
                <a:ea typeface="微软雅黑" panose="020B0503020204020204" charset="-122"/>
              </a:rPr>
              <a:t>系统特色与交付价值</a:t>
            </a:r>
            <a:endParaRPr lang="en-US" sz="1465" dirty="0"/>
          </a:p>
        </p:txBody>
      </p:sp>
      <p:sp>
        <p:nvSpPr>
          <p:cNvPr id="8" name="Text 5"/>
          <p:cNvSpPr/>
          <p:nvPr/>
        </p:nvSpPr>
        <p:spPr>
          <a:xfrm>
            <a:off x="609568" y="1638393"/>
            <a:ext cx="214301" cy="190490"/>
          </a:xfrm>
          <a:prstGeom prst="rect">
            <a:avLst/>
          </a:prstGeom>
          <a:noFill/>
        </p:spPr>
        <p:txBody>
          <a:bodyPr wrap="none" lIns="0" tIns="0" rIns="0" bIns="0" rtlCol="0" anchor="t"/>
          <a:lstStyle/>
          <a:p>
            <a:pPr marL="0" indent="0">
              <a:lnSpc>
                <a:spcPct val="100000"/>
              </a:lnSpc>
              <a:buNone/>
            </a:pPr>
            <a:r>
              <a:rPr lang="en-US" sz="1465" dirty="0">
                <a:solidFill>
                  <a:srgbClr val="60A5FA"/>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465" dirty="0"/>
          </a:p>
        </p:txBody>
      </p:sp>
      <p:grpSp>
        <p:nvGrpSpPr>
          <p:cNvPr id="38" name="h2p-grp-h2p-animroot-2"/>
          <p:cNvGrpSpPr/>
          <p:nvPr/>
        </p:nvGrpSpPr>
        <p:grpSpPr>
          <a:xfrm>
            <a:off x="609568" y="2095569"/>
            <a:ext cx="6133631" cy="1085794"/>
            <a:chOff x="0" y="0"/>
            <a:chExt cx="4600463" cy="814388"/>
          </a:xfrm>
        </p:grpSpPr>
        <p:sp>
          <p:nvSpPr>
            <p:cNvPr id="9" name="圆角矩形 8"/>
            <p:cNvSpPr/>
            <p:nvPr/>
          </p:nvSpPr>
          <p:spPr>
            <a:xfrm>
              <a:off x="0" y="0"/>
              <a:ext cx="4600463" cy="814388"/>
            </a:xfrm>
            <a:prstGeom prst="roundRect">
              <a:avLst>
                <a:gd name="adj" fmla="val 10526"/>
              </a:avLst>
            </a:prstGeom>
            <a:solidFill>
              <a:srgbClr val="FFFFFF"/>
            </a:solidFill>
            <a:ln w="6350">
              <a:solidFill>
                <a:srgbClr val="DCEAF5"/>
              </a:solidFill>
              <a:prstDash val="solid"/>
            </a:ln>
          </p:spPr>
        </p:sp>
        <p:sp>
          <p:nvSpPr>
            <p:cNvPr id="10" name="圆角矩形 9"/>
            <p:cNvSpPr/>
            <p:nvPr/>
          </p:nvSpPr>
          <p:spPr>
            <a:xfrm>
              <a:off x="178594" y="178594"/>
              <a:ext cx="342900" cy="342900"/>
            </a:xfrm>
            <a:prstGeom prst="roundRect">
              <a:avLst>
                <a:gd name="adj" fmla="val 16667"/>
              </a:avLst>
            </a:prstGeom>
            <a:solidFill>
              <a:srgbClr val="EAF5FF"/>
            </a:solidFill>
          </p:spPr>
        </p:sp>
        <p:sp>
          <p:nvSpPr>
            <p:cNvPr id="11" name="矩形 10"/>
            <p:cNvSpPr/>
            <p:nvPr/>
          </p:nvSpPr>
          <p:spPr>
            <a:xfrm>
              <a:off x="269677" y="278606"/>
              <a:ext cx="160734" cy="142875"/>
            </a:xfrm>
            <a:prstGeom prst="rect">
              <a:avLst/>
            </a:prstGeom>
            <a:noFill/>
          </p:spPr>
          <p:txBody>
            <a:bodyPr wrap="none" lIns="0" tIns="0" rIns="0" bIns="0" rtlCol="0" anchor="t"/>
            <a:lstStyle/>
            <a:p>
              <a:pPr marL="0" indent="0">
                <a:lnSpc>
                  <a:spcPct val="100000"/>
                </a:lnSpc>
                <a:buNone/>
              </a:pPr>
              <a:r>
                <a:rPr lang="en-US" sz="1465"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465" dirty="0"/>
            </a:p>
          </p:txBody>
        </p:sp>
        <p:sp>
          <p:nvSpPr>
            <p:cNvPr id="12" name="矩形 11"/>
            <p:cNvSpPr/>
            <p:nvPr/>
          </p:nvSpPr>
          <p:spPr>
            <a:xfrm>
              <a:off x="635794" y="178594"/>
              <a:ext cx="3683050" cy="214313"/>
            </a:xfrm>
            <a:prstGeom prst="rect">
              <a:avLst/>
            </a:prstGeom>
            <a:noFill/>
          </p:spPr>
          <p:txBody>
            <a:bodyPr wrap="none" lIns="0" tIns="0" rIns="0" bIns="0" rtlCol="0" anchor="t"/>
            <a:lstStyle/>
            <a:p>
              <a:pPr marL="0" indent="0">
                <a:lnSpc>
                  <a:spcPct val="150000"/>
                </a:lnSpc>
                <a:buNone/>
              </a:pPr>
              <a:r>
                <a:rPr lang="zh-CN" sz="1465" b="1" dirty="0">
                  <a:solidFill>
                    <a:srgbClr val="2E6EA6"/>
                  </a:solidFill>
                  <a:latin typeface="Arial" panose="020B0604020202020204" pitchFamily="34" charset="0"/>
                  <a:ea typeface="微软雅黑" panose="020B0503020204020204" charset="-122"/>
                </a:rPr>
                <a:t>生态拟真度高</a:t>
              </a:r>
              <a:endParaRPr lang="en-US" sz="1465" dirty="0"/>
            </a:p>
          </p:txBody>
        </p:sp>
        <p:sp>
          <p:nvSpPr>
            <p:cNvPr id="13" name="矩形 12"/>
            <p:cNvSpPr/>
            <p:nvPr/>
          </p:nvSpPr>
          <p:spPr>
            <a:xfrm>
              <a:off x="635794" y="450056"/>
              <a:ext cx="3683050" cy="182835"/>
            </a:xfrm>
            <a:prstGeom prst="rect">
              <a:avLst/>
            </a:prstGeom>
            <a:noFill/>
          </p:spPr>
          <p:txBody>
            <a:bodyPr wrap="none" lIns="0" tIns="0" rIns="0" bIns="0" rtlCol="0" anchor="t"/>
            <a:lstStyle/>
            <a:p>
              <a:pPr marL="0" indent="0">
                <a:lnSpc>
                  <a:spcPct val="160000"/>
                </a:lnSpc>
                <a:buNone/>
              </a:pPr>
              <a:r>
                <a:rPr lang="zh-CN" sz="1200" dirty="0">
                  <a:solidFill>
                    <a:srgbClr val="1F2A37"/>
                  </a:solidFill>
                  <a:latin typeface="Arial" panose="020B0604020202020204" pitchFamily="34" charset="0"/>
                  <a:ea typeface="微软雅黑" panose="020B0503020204020204" charset="-122"/>
                </a:rPr>
                <a:t>完整模拟 </a:t>
              </a:r>
              <a:r>
                <a:rPr lang="en-US" sz="1200" dirty="0">
                  <a:solidFill>
                    <a:srgbClr val="1F2A37"/>
                  </a:solidFill>
                  <a:latin typeface="Arial" panose="020B0604020202020204" pitchFamily="34" charset="0"/>
                </a:rPr>
                <a:t>HIS </a:t>
              </a:r>
              <a:r>
                <a:rPr lang="zh-CN" sz="1200" dirty="0">
                  <a:solidFill>
                    <a:srgbClr val="1F2A37"/>
                  </a:solidFill>
                  <a:latin typeface="Arial" panose="020B0604020202020204" pitchFamily="34" charset="0"/>
                  <a:ea typeface="微软雅黑" panose="020B0503020204020204" charset="-122"/>
                </a:rPr>
                <a:t>系统中的挂号、住院、护理、账单和排班等真实业务链路。</a:t>
              </a:r>
              <a:endParaRPr lang="en-US" sz="1200" dirty="0"/>
            </a:p>
          </p:txBody>
        </p:sp>
      </p:grpSp>
      <p:grpSp>
        <p:nvGrpSpPr>
          <p:cNvPr id="39" name="h2p-grp-h2p-animroot-3"/>
          <p:cNvGrpSpPr/>
          <p:nvPr/>
        </p:nvGrpSpPr>
        <p:grpSpPr>
          <a:xfrm>
            <a:off x="609568" y="3371854"/>
            <a:ext cx="6133631" cy="1325692"/>
            <a:chOff x="0" y="0"/>
            <a:chExt cx="4600463" cy="994321"/>
          </a:xfrm>
        </p:grpSpPr>
        <p:sp>
          <p:nvSpPr>
            <p:cNvPr id="14" name="圆角矩形 13"/>
            <p:cNvSpPr/>
            <p:nvPr/>
          </p:nvSpPr>
          <p:spPr>
            <a:xfrm>
              <a:off x="0" y="0"/>
              <a:ext cx="4600463" cy="994321"/>
            </a:xfrm>
            <a:prstGeom prst="roundRect">
              <a:avLst>
                <a:gd name="adj" fmla="val 8621"/>
              </a:avLst>
            </a:prstGeom>
            <a:solidFill>
              <a:srgbClr val="FFFFFF"/>
            </a:solidFill>
            <a:ln w="6350">
              <a:solidFill>
                <a:srgbClr val="DCEAF5"/>
              </a:solidFill>
              <a:prstDash val="solid"/>
            </a:ln>
          </p:spPr>
        </p:sp>
        <p:sp>
          <p:nvSpPr>
            <p:cNvPr id="15" name="圆角矩形 14"/>
            <p:cNvSpPr/>
            <p:nvPr/>
          </p:nvSpPr>
          <p:spPr>
            <a:xfrm>
              <a:off x="178594" y="178593"/>
              <a:ext cx="342900" cy="342900"/>
            </a:xfrm>
            <a:prstGeom prst="roundRect">
              <a:avLst>
                <a:gd name="adj" fmla="val 16667"/>
              </a:avLst>
            </a:prstGeom>
            <a:solidFill>
              <a:srgbClr val="EAF5FF"/>
            </a:solidFill>
          </p:spPr>
        </p:sp>
        <p:sp>
          <p:nvSpPr>
            <p:cNvPr id="16" name="矩形 15"/>
            <p:cNvSpPr/>
            <p:nvPr/>
          </p:nvSpPr>
          <p:spPr>
            <a:xfrm>
              <a:off x="278606" y="278606"/>
              <a:ext cx="142875" cy="142875"/>
            </a:xfrm>
            <a:prstGeom prst="rect">
              <a:avLst/>
            </a:prstGeom>
            <a:noFill/>
          </p:spPr>
          <p:txBody>
            <a:bodyPr wrap="none" lIns="0" tIns="0" rIns="0" bIns="0" rtlCol="0" anchor="t"/>
            <a:lstStyle/>
            <a:p>
              <a:pPr marL="0" indent="0">
                <a:lnSpc>
                  <a:spcPct val="100000"/>
                </a:lnSpc>
                <a:buNone/>
              </a:pPr>
              <a:r>
                <a:rPr lang="en-US" sz="1465"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465" dirty="0"/>
            </a:p>
          </p:txBody>
        </p:sp>
        <p:sp>
          <p:nvSpPr>
            <p:cNvPr id="17" name="矩形 16"/>
            <p:cNvSpPr/>
            <p:nvPr/>
          </p:nvSpPr>
          <p:spPr>
            <a:xfrm>
              <a:off x="635794" y="178593"/>
              <a:ext cx="3786076" cy="214313"/>
            </a:xfrm>
            <a:prstGeom prst="rect">
              <a:avLst/>
            </a:prstGeom>
            <a:noFill/>
          </p:spPr>
          <p:txBody>
            <a:bodyPr wrap="none" lIns="0" tIns="0" rIns="0" bIns="0" rtlCol="0" anchor="t"/>
            <a:lstStyle/>
            <a:p>
              <a:pPr marL="0" indent="0">
                <a:lnSpc>
                  <a:spcPct val="150000"/>
                </a:lnSpc>
                <a:buNone/>
              </a:pPr>
              <a:r>
                <a:rPr lang="en-US" sz="1465" b="1" dirty="0">
                  <a:solidFill>
                    <a:srgbClr val="2E6EA6"/>
                  </a:solidFill>
                  <a:latin typeface="Arial" panose="020B0604020202020204" pitchFamily="34" charset="0"/>
                </a:rPr>
                <a:t>RAG </a:t>
              </a:r>
              <a:r>
                <a:rPr lang="zh-CN" sz="1465" b="1" dirty="0">
                  <a:solidFill>
                    <a:srgbClr val="2E6EA6"/>
                  </a:solidFill>
                  <a:latin typeface="Arial" panose="020B0604020202020204" pitchFamily="34" charset="0"/>
                  <a:ea typeface="微软雅黑" panose="020B0503020204020204" charset="-122"/>
                </a:rPr>
                <a:t>架构健壮成熟</a:t>
              </a:r>
              <a:endParaRPr lang="en-US" sz="1465" dirty="0"/>
            </a:p>
          </p:txBody>
        </p:sp>
        <p:sp>
          <p:nvSpPr>
            <p:cNvPr id="18" name="矩形 17"/>
            <p:cNvSpPr/>
            <p:nvPr/>
          </p:nvSpPr>
          <p:spPr>
            <a:xfrm>
              <a:off x="635794" y="450056"/>
              <a:ext cx="3786076" cy="365671"/>
            </a:xfrm>
            <a:prstGeom prst="rect">
              <a:avLst/>
            </a:prstGeom>
            <a:noFill/>
          </p:spPr>
          <p:txBody>
            <a:bodyPr wrap="square" lIns="0" tIns="0" rIns="0" bIns="0" rtlCol="0" anchor="t"/>
            <a:lstStyle/>
            <a:p>
              <a:pPr marL="0" indent="0">
                <a:lnSpc>
                  <a:spcPct val="160000"/>
                </a:lnSpc>
                <a:buNone/>
              </a:pPr>
              <a:r>
                <a:rPr lang="zh-CN" sz="1200" dirty="0">
                  <a:solidFill>
                    <a:srgbClr val="1F2A37"/>
                  </a:solidFill>
                  <a:latin typeface="Arial" panose="020B0604020202020204" pitchFamily="34" charset="0"/>
                  <a:ea typeface="微软雅黑" panose="020B0503020204020204" charset="-122"/>
                </a:rPr>
                <a:t>采用双向量库、双引擎（在线</a:t>
              </a:r>
              <a:r>
                <a:rPr lang="en-US" sz="1200" dirty="0">
                  <a:solidFill>
                    <a:srgbClr val="1F2A37"/>
                  </a:solidFill>
                  <a:latin typeface="Arial" panose="020B0604020202020204" pitchFamily="34" charset="0"/>
                </a:rPr>
                <a:t>/</a:t>
              </a:r>
              <a:r>
                <a:rPr lang="zh-CN" sz="1200" dirty="0">
                  <a:solidFill>
                    <a:srgbClr val="1F2A37"/>
                  </a:solidFill>
                  <a:latin typeface="Arial" panose="020B0604020202020204" pitchFamily="34" charset="0"/>
                  <a:ea typeface="微软雅黑" panose="020B0503020204020204" charset="-122"/>
                </a:rPr>
                <a:t>本地）兜底设计，确保在真实环境中高可用。</a:t>
              </a:r>
              <a:endParaRPr lang="en-US" sz="1200" dirty="0"/>
            </a:p>
          </p:txBody>
        </p:sp>
      </p:grpSp>
      <p:grpSp>
        <p:nvGrpSpPr>
          <p:cNvPr id="40" name="h2p-grp-h2p-animroot-4"/>
          <p:cNvGrpSpPr/>
          <p:nvPr/>
        </p:nvGrpSpPr>
        <p:grpSpPr>
          <a:xfrm>
            <a:off x="609568" y="4888035"/>
            <a:ext cx="6133631" cy="1085794"/>
            <a:chOff x="0" y="0"/>
            <a:chExt cx="4600463" cy="814388"/>
          </a:xfrm>
        </p:grpSpPr>
        <p:sp>
          <p:nvSpPr>
            <p:cNvPr id="19" name="圆角矩形 18"/>
            <p:cNvSpPr/>
            <p:nvPr/>
          </p:nvSpPr>
          <p:spPr>
            <a:xfrm>
              <a:off x="0" y="0"/>
              <a:ext cx="4600463" cy="814388"/>
            </a:xfrm>
            <a:prstGeom prst="roundRect">
              <a:avLst>
                <a:gd name="adj" fmla="val 10526"/>
              </a:avLst>
            </a:prstGeom>
            <a:solidFill>
              <a:srgbClr val="FFFFFF"/>
            </a:solidFill>
            <a:ln w="6350">
              <a:solidFill>
                <a:srgbClr val="DCEAF5"/>
              </a:solidFill>
              <a:prstDash val="solid"/>
            </a:ln>
          </p:spPr>
        </p:sp>
        <p:sp>
          <p:nvSpPr>
            <p:cNvPr id="20" name="圆角矩形 19"/>
            <p:cNvSpPr/>
            <p:nvPr/>
          </p:nvSpPr>
          <p:spPr>
            <a:xfrm>
              <a:off x="178594" y="178594"/>
              <a:ext cx="342900" cy="342900"/>
            </a:xfrm>
            <a:prstGeom prst="roundRect">
              <a:avLst>
                <a:gd name="adj" fmla="val 16667"/>
              </a:avLst>
            </a:prstGeom>
            <a:solidFill>
              <a:srgbClr val="EAF5FF"/>
            </a:solidFill>
          </p:spPr>
        </p:sp>
        <p:sp>
          <p:nvSpPr>
            <p:cNvPr id="21" name="矩形 20"/>
            <p:cNvSpPr/>
            <p:nvPr/>
          </p:nvSpPr>
          <p:spPr>
            <a:xfrm>
              <a:off x="296466" y="278606"/>
              <a:ext cx="107156" cy="142875"/>
            </a:xfrm>
            <a:prstGeom prst="rect">
              <a:avLst/>
            </a:prstGeom>
            <a:noFill/>
          </p:spPr>
          <p:txBody>
            <a:bodyPr wrap="none" lIns="0" tIns="0" rIns="0" bIns="0" rtlCol="0" anchor="t"/>
            <a:lstStyle/>
            <a:p>
              <a:pPr marL="0" indent="0">
                <a:lnSpc>
                  <a:spcPct val="100000"/>
                </a:lnSpc>
                <a:buNone/>
              </a:pPr>
              <a:r>
                <a:rPr lang="en-US" sz="1465"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465" dirty="0"/>
            </a:p>
          </p:txBody>
        </p:sp>
        <p:sp>
          <p:nvSpPr>
            <p:cNvPr id="22" name="矩形 21"/>
            <p:cNvSpPr/>
            <p:nvPr/>
          </p:nvSpPr>
          <p:spPr>
            <a:xfrm>
              <a:off x="635794" y="178594"/>
              <a:ext cx="2425973" cy="214313"/>
            </a:xfrm>
            <a:prstGeom prst="rect">
              <a:avLst/>
            </a:prstGeom>
            <a:noFill/>
          </p:spPr>
          <p:txBody>
            <a:bodyPr wrap="none" lIns="0" tIns="0" rIns="0" bIns="0" rtlCol="0" anchor="t"/>
            <a:lstStyle/>
            <a:p>
              <a:pPr marL="0" indent="0">
                <a:lnSpc>
                  <a:spcPct val="150000"/>
                </a:lnSpc>
                <a:buNone/>
              </a:pPr>
              <a:r>
                <a:rPr lang="zh-CN" sz="1465" b="1" dirty="0">
                  <a:solidFill>
                    <a:srgbClr val="2E6EA6"/>
                  </a:solidFill>
                  <a:latin typeface="Arial" panose="020B0604020202020204" pitchFamily="34" charset="0"/>
                  <a:ea typeface="微软雅黑" panose="020B0503020204020204" charset="-122"/>
                </a:rPr>
                <a:t>数据结构完备</a:t>
              </a:r>
              <a:endParaRPr lang="en-US" sz="1465" dirty="0"/>
            </a:p>
          </p:txBody>
        </p:sp>
        <p:sp>
          <p:nvSpPr>
            <p:cNvPr id="23" name="矩形 22"/>
            <p:cNvSpPr/>
            <p:nvPr/>
          </p:nvSpPr>
          <p:spPr>
            <a:xfrm>
              <a:off x="635794" y="450056"/>
              <a:ext cx="2425973" cy="182835"/>
            </a:xfrm>
            <a:prstGeom prst="rect">
              <a:avLst/>
            </a:prstGeom>
            <a:noFill/>
          </p:spPr>
          <p:txBody>
            <a:bodyPr wrap="none" lIns="0" tIns="0" rIns="0" bIns="0" rtlCol="0" anchor="t"/>
            <a:lstStyle/>
            <a:p>
              <a:pPr marL="0" indent="0">
                <a:lnSpc>
                  <a:spcPct val="160000"/>
                </a:lnSpc>
                <a:buNone/>
              </a:pPr>
              <a:r>
                <a:rPr lang="zh-CN" sz="1200" dirty="0">
                  <a:solidFill>
                    <a:srgbClr val="1F2A37"/>
                  </a:solidFill>
                  <a:latin typeface="Arial" panose="020B0604020202020204" pitchFamily="34" charset="0"/>
                  <a:ea typeface="微软雅黑" panose="020B0503020204020204" charset="-122"/>
                </a:rPr>
                <a:t>内置大于 </a:t>
              </a:r>
              <a:r>
                <a:rPr lang="en-US" sz="1200" dirty="0">
                  <a:solidFill>
                    <a:srgbClr val="1F2A37"/>
                  </a:solidFill>
                  <a:latin typeface="Arial" panose="020B0604020202020204" pitchFamily="34" charset="0"/>
                </a:rPr>
                <a:t>240 </a:t>
              </a:r>
              <a:r>
                <a:rPr lang="zh-CN" sz="1200" dirty="0">
                  <a:solidFill>
                    <a:srgbClr val="1F2A37"/>
                  </a:solidFill>
                  <a:latin typeface="Arial" panose="020B0604020202020204" pitchFamily="34" charset="0"/>
                  <a:ea typeface="微软雅黑" panose="020B0503020204020204" charset="-122"/>
                </a:rPr>
                <a:t>篇专业医学文档，支持开箱即用。</a:t>
              </a:r>
              <a:endParaRPr lang="en-US" sz="1200" dirty="0"/>
            </a:p>
          </p:txBody>
        </p:sp>
      </p:grpSp>
      <p:grpSp>
        <p:nvGrpSpPr>
          <p:cNvPr id="41" name="h2p-grp-h2p-animroot-5"/>
          <p:cNvGrpSpPr/>
          <p:nvPr/>
        </p:nvGrpSpPr>
        <p:grpSpPr>
          <a:xfrm>
            <a:off x="7098781" y="266865"/>
            <a:ext cx="4381272" cy="3876473"/>
            <a:chOff x="0" y="0"/>
            <a:chExt cx="3286125" cy="2907506"/>
          </a:xfrm>
        </p:grpSpPr>
        <p:sp>
          <p:nvSpPr>
            <p:cNvPr id="24" name="圆角矩形 23"/>
            <p:cNvSpPr/>
            <p:nvPr/>
          </p:nvSpPr>
          <p:spPr>
            <a:xfrm>
              <a:off x="0" y="0"/>
              <a:ext cx="3286125" cy="2907506"/>
            </a:xfrm>
            <a:prstGeom prst="roundRect">
              <a:avLst>
                <a:gd name="adj" fmla="val 2948"/>
              </a:avLst>
            </a:prstGeom>
            <a:solidFill>
              <a:srgbClr val="DCEAF5">
                <a:alpha val="40000"/>
              </a:srgbClr>
            </a:solidFill>
            <a:ln w="6350">
              <a:solidFill>
                <a:srgbClr val="2E6EA6"/>
              </a:solidFill>
              <a:prstDash val="dash"/>
            </a:ln>
          </p:spPr>
        </p:sp>
        <p:sp>
          <p:nvSpPr>
            <p:cNvPr id="25" name="矩形 24"/>
            <p:cNvSpPr/>
            <p:nvPr/>
          </p:nvSpPr>
          <p:spPr>
            <a:xfrm>
              <a:off x="464344" y="264319"/>
              <a:ext cx="571500" cy="157163"/>
            </a:xfrm>
            <a:prstGeom prst="rect">
              <a:avLst/>
            </a:prstGeom>
            <a:noFill/>
          </p:spPr>
          <p:txBody>
            <a:bodyPr wrap="none" lIns="0" tIns="0" rIns="0" bIns="0" rtlCol="0" anchor="ctr"/>
            <a:lstStyle/>
            <a:p>
              <a:pPr marL="0" indent="0">
                <a:lnSpc>
                  <a:spcPct val="150000"/>
                </a:lnSpc>
                <a:buNone/>
              </a:pPr>
              <a:r>
                <a:rPr lang="zh-CN" sz="1465" b="1" dirty="0">
                  <a:solidFill>
                    <a:srgbClr val="2563EB"/>
                  </a:solidFill>
                  <a:latin typeface="Arial" panose="020B0604020202020204" pitchFamily="34" charset="0"/>
                  <a:ea typeface="微软雅黑" panose="020B0503020204020204" charset="-122"/>
                </a:rPr>
                <a:t>免责声明</a:t>
              </a:r>
              <a:endParaRPr lang="en-US" sz="1465" dirty="0"/>
            </a:p>
          </p:txBody>
        </p:sp>
        <p:sp>
          <p:nvSpPr>
            <p:cNvPr id="26" name="矩形 25"/>
            <p:cNvSpPr/>
            <p:nvPr/>
          </p:nvSpPr>
          <p:spPr>
            <a:xfrm>
              <a:off x="235744" y="271463"/>
              <a:ext cx="142875" cy="142875"/>
            </a:xfrm>
            <a:prstGeom prst="rect">
              <a:avLst/>
            </a:prstGeom>
            <a:noFill/>
          </p:spPr>
          <p:txBody>
            <a:bodyPr wrap="none" lIns="0" tIns="0" rIns="0" bIns="0" rtlCol="0" anchor="t"/>
            <a:lstStyle/>
            <a:p>
              <a:pPr marL="0" indent="0">
                <a:lnSpc>
                  <a:spcPct val="100000"/>
                </a:lnSpc>
                <a:buNone/>
              </a:pPr>
              <a:r>
                <a:rPr lang="en-US" sz="1465" dirty="0">
                  <a:solidFill>
                    <a:srgbClr val="2563EB"/>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465" dirty="0"/>
            </a:p>
          </p:txBody>
        </p:sp>
        <p:sp>
          <p:nvSpPr>
            <p:cNvPr id="27" name="矩形 26"/>
            <p:cNvSpPr/>
            <p:nvPr/>
          </p:nvSpPr>
          <p:spPr>
            <a:xfrm>
              <a:off x="392907" y="642938"/>
              <a:ext cx="1060512" cy="121444"/>
            </a:xfrm>
            <a:prstGeom prst="rect">
              <a:avLst/>
            </a:prstGeom>
            <a:noFill/>
          </p:spPr>
          <p:txBody>
            <a:bodyPr wrap="none" lIns="0" tIns="0" rIns="0" bIns="0" rtlCol="0" anchor="t"/>
            <a:lstStyle/>
            <a:p>
              <a:pPr marL="0" indent="0">
                <a:lnSpc>
                  <a:spcPct val="150000"/>
                </a:lnSpc>
                <a:buNone/>
              </a:pPr>
              <a:r>
                <a:rPr lang="zh-CN" sz="1200" b="1" dirty="0">
                  <a:solidFill>
                    <a:srgbClr val="1F2A37"/>
                  </a:solidFill>
                  <a:latin typeface="Arial" panose="020B0604020202020204" pitchFamily="34" charset="0"/>
                  <a:ea typeface="微软雅黑" panose="020B0503020204020204" charset="-122"/>
                </a:rPr>
                <a:t>非专业医疗诊断建议</a:t>
              </a:r>
              <a:endParaRPr lang="en-US" sz="1200" dirty="0"/>
            </a:p>
          </p:txBody>
        </p:sp>
        <p:sp>
          <p:nvSpPr>
            <p:cNvPr id="28" name="矩形 27"/>
            <p:cNvSpPr/>
            <p:nvPr/>
          </p:nvSpPr>
          <p:spPr>
            <a:xfrm>
              <a:off x="235744" y="642938"/>
              <a:ext cx="100013" cy="114300"/>
            </a:xfrm>
            <a:prstGeom prst="rect">
              <a:avLst/>
            </a:prstGeom>
            <a:noFill/>
          </p:spPr>
          <p:txBody>
            <a:bodyPr wrap="none" lIns="0" tIns="0" rIns="0" bIns="0" rtlCol="0" anchor="t"/>
            <a:lstStyle/>
            <a:p>
              <a:pPr marL="0" indent="0">
                <a:lnSpc>
                  <a:spcPct val="100000"/>
                </a:lnSpc>
                <a:buNone/>
              </a:pPr>
              <a:r>
                <a:rPr lang="en-US" sz="12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200" dirty="0"/>
            </a:p>
          </p:txBody>
        </p:sp>
        <p:sp>
          <p:nvSpPr>
            <p:cNvPr id="29" name="矩形 28"/>
            <p:cNvSpPr/>
            <p:nvPr/>
          </p:nvSpPr>
          <p:spPr>
            <a:xfrm>
              <a:off x="235744" y="835819"/>
              <a:ext cx="2814638" cy="450056"/>
            </a:xfrm>
            <a:prstGeom prst="rect">
              <a:avLst/>
            </a:prstGeom>
            <a:noFill/>
          </p:spPr>
          <p:txBody>
            <a:bodyPr wrap="square" lIns="0" tIns="0" rIns="0" bIns="0" rtlCol="0" anchor="t"/>
            <a:lstStyle/>
            <a:p>
              <a:pPr marL="0" indent="0">
                <a:lnSpc>
                  <a:spcPct val="150000"/>
                </a:lnSpc>
                <a:buNone/>
              </a:pPr>
              <a:r>
                <a:rPr lang="zh-CN" sz="935" dirty="0">
                  <a:solidFill>
                    <a:srgbClr val="4B5563"/>
                  </a:solidFill>
                  <a:latin typeface="Arial" panose="020B0604020202020204" pitchFamily="34" charset="0"/>
                  <a:ea typeface="微软雅黑" panose="020B0503020204020204" charset="-122"/>
                </a:rPr>
                <a:t>本平台内所有大模型输出及检索到的医疗知识库内容，仅用于医疗健康信息辅助理解、软件演示和学术探讨，不构成任何临床诊断、处方、用药或治疗建议。</a:t>
              </a:r>
              <a:endParaRPr lang="en-US" sz="935" dirty="0"/>
            </a:p>
          </p:txBody>
        </p:sp>
        <p:sp>
          <p:nvSpPr>
            <p:cNvPr id="30" name="矩形 29"/>
            <p:cNvSpPr/>
            <p:nvPr/>
          </p:nvSpPr>
          <p:spPr>
            <a:xfrm>
              <a:off x="435769" y="1478756"/>
              <a:ext cx="717612" cy="121444"/>
            </a:xfrm>
            <a:prstGeom prst="rect">
              <a:avLst/>
            </a:prstGeom>
            <a:noFill/>
          </p:spPr>
          <p:txBody>
            <a:bodyPr wrap="none" lIns="0" tIns="0" rIns="0" bIns="0" rtlCol="0" anchor="t"/>
            <a:lstStyle/>
            <a:p>
              <a:pPr marL="0" indent="0">
                <a:lnSpc>
                  <a:spcPct val="150000"/>
                </a:lnSpc>
                <a:buNone/>
              </a:pPr>
              <a:r>
                <a:rPr lang="zh-CN" sz="1200" b="1" dirty="0">
                  <a:solidFill>
                    <a:srgbClr val="1F2A37"/>
                  </a:solidFill>
                  <a:latin typeface="Arial" panose="020B0604020202020204" pitchFamily="34" charset="0"/>
                  <a:ea typeface="微软雅黑" panose="020B0503020204020204" charset="-122"/>
                </a:rPr>
                <a:t>医疗纠纷免责</a:t>
              </a:r>
              <a:endParaRPr lang="en-US" sz="1200" dirty="0"/>
            </a:p>
          </p:txBody>
        </p:sp>
        <p:sp>
          <p:nvSpPr>
            <p:cNvPr id="31" name="矩形 30"/>
            <p:cNvSpPr/>
            <p:nvPr/>
          </p:nvSpPr>
          <p:spPr>
            <a:xfrm>
              <a:off x="235744" y="1478756"/>
              <a:ext cx="142875" cy="114300"/>
            </a:xfrm>
            <a:prstGeom prst="rect">
              <a:avLst/>
            </a:prstGeom>
            <a:noFill/>
          </p:spPr>
          <p:txBody>
            <a:bodyPr wrap="none" lIns="0" tIns="0" rIns="0" bIns="0" rtlCol="0" anchor="t"/>
            <a:lstStyle/>
            <a:p>
              <a:pPr marL="0" indent="0">
                <a:lnSpc>
                  <a:spcPct val="100000"/>
                </a:lnSpc>
                <a:buNone/>
              </a:pPr>
              <a:r>
                <a:rPr lang="en-US" sz="1200" dirty="0">
                  <a:solidFill>
                    <a:srgbClr val="5B9DFF"/>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1200" dirty="0"/>
            </a:p>
          </p:txBody>
        </p:sp>
        <p:sp>
          <p:nvSpPr>
            <p:cNvPr id="32" name="矩形 31"/>
            <p:cNvSpPr/>
            <p:nvPr/>
          </p:nvSpPr>
          <p:spPr>
            <a:xfrm>
              <a:off x="235744" y="1671638"/>
              <a:ext cx="2814638" cy="450056"/>
            </a:xfrm>
            <a:prstGeom prst="rect">
              <a:avLst/>
            </a:prstGeom>
            <a:noFill/>
          </p:spPr>
          <p:txBody>
            <a:bodyPr wrap="square" lIns="0" tIns="0" rIns="0" bIns="0" rtlCol="0" anchor="t"/>
            <a:lstStyle/>
            <a:p>
              <a:pPr marL="0" indent="0">
                <a:lnSpc>
                  <a:spcPct val="150000"/>
                </a:lnSpc>
                <a:buNone/>
              </a:pPr>
              <a:r>
                <a:rPr lang="zh-CN" sz="935" dirty="0">
                  <a:solidFill>
                    <a:srgbClr val="4B5563"/>
                  </a:solidFill>
                  <a:latin typeface="Arial" panose="020B0604020202020204" pitchFamily="34" charset="0"/>
                  <a:ea typeface="微软雅黑" panose="020B0503020204020204" charset="-122"/>
                </a:rPr>
                <a:t>实际医疗问题与病症必须咨询具有执业资格的专业医生。用户因参考本系统展示的内容进行自我诊断或治疗而产生的任何后果，系统开发及运营团队不承担任何法律责任。</a:t>
              </a:r>
              <a:endParaRPr lang="en-US" sz="935" dirty="0"/>
            </a:p>
          </p:txBody>
        </p:sp>
        <p:sp>
          <p:nvSpPr>
            <p:cNvPr id="33" name="矩形 32"/>
            <p:cNvSpPr/>
            <p:nvPr/>
          </p:nvSpPr>
          <p:spPr>
            <a:xfrm>
              <a:off x="235744" y="2350294"/>
              <a:ext cx="2814638" cy="321469"/>
            </a:xfrm>
            <a:prstGeom prst="rect">
              <a:avLst/>
            </a:prstGeom>
            <a:noFill/>
          </p:spPr>
        </p:sp>
        <p:sp>
          <p:nvSpPr>
            <p:cNvPr id="34" name="矩形 33"/>
            <p:cNvSpPr/>
            <p:nvPr/>
          </p:nvSpPr>
          <p:spPr>
            <a:xfrm>
              <a:off x="235744" y="2350294"/>
              <a:ext cx="2814638" cy="7144"/>
            </a:xfrm>
            <a:prstGeom prst="rect">
              <a:avLst/>
            </a:prstGeom>
            <a:solidFill>
              <a:srgbClr val="DCEAF5"/>
            </a:solidFill>
          </p:spPr>
        </p:sp>
        <p:sp>
          <p:nvSpPr>
            <p:cNvPr id="35" name="矩形 34"/>
            <p:cNvSpPr/>
            <p:nvPr/>
          </p:nvSpPr>
          <p:spPr>
            <a:xfrm>
              <a:off x="235744" y="2550319"/>
              <a:ext cx="100013" cy="100013"/>
            </a:xfrm>
            <a:prstGeom prst="rect">
              <a:avLst/>
            </a:prstGeom>
            <a:noFill/>
          </p:spPr>
          <p:txBody>
            <a:bodyPr wrap="none" lIns="0" tIns="0" rIns="0" bIns="0" rtlCol="0" anchor="t"/>
            <a:lstStyle/>
            <a:p>
              <a:pPr marL="0" indent="0">
                <a:lnSpc>
                  <a:spcPct val="100000"/>
                </a:lnSpc>
                <a:buNone/>
              </a:pPr>
              <a:r>
                <a:rPr lang="en-US" sz="935" dirty="0">
                  <a:solidFill>
                    <a:srgbClr val="2E6EA6"/>
                  </a:solidFill>
                  <a:latin typeface="Font Awesome 6 Free Solid" panose="02000903000000000000" pitchFamily="34" charset="0"/>
                  <a:ea typeface="Font Awesome 6 Free Solid" panose="02000903000000000000" pitchFamily="34" charset="-122"/>
                  <a:cs typeface="Font Awesome 6 Free Solid" panose="02000903000000000000" pitchFamily="34" charset="-120"/>
                </a:rPr>
                <a:t></a:t>
              </a:r>
              <a:endParaRPr lang="en-US" sz="935" dirty="0"/>
            </a:p>
          </p:txBody>
        </p:sp>
        <p:sp>
          <p:nvSpPr>
            <p:cNvPr id="36" name="矩形 35"/>
            <p:cNvSpPr/>
            <p:nvPr/>
          </p:nvSpPr>
          <p:spPr>
            <a:xfrm>
              <a:off x="421482" y="2528888"/>
              <a:ext cx="1200150" cy="142875"/>
            </a:xfrm>
            <a:prstGeom prst="rect">
              <a:avLst/>
            </a:prstGeom>
            <a:noFill/>
          </p:spPr>
          <p:txBody>
            <a:bodyPr wrap="none" lIns="0" tIns="0" rIns="0" bIns="0" rtlCol="0" anchor="t"/>
            <a:lstStyle/>
            <a:p>
              <a:pPr marL="0" indent="0">
                <a:lnSpc>
                  <a:spcPct val="143000"/>
                </a:lnSpc>
                <a:buNone/>
              </a:pPr>
              <a:r>
                <a:rPr lang="zh-CN" sz="935" b="1" dirty="0">
                  <a:solidFill>
                    <a:srgbClr val="2E6EA6"/>
                  </a:solidFill>
                  <a:latin typeface="Arial" panose="020B0604020202020204" pitchFamily="34" charset="0"/>
                  <a:ea typeface="微软雅黑" panose="020B0503020204020204" charset="-122"/>
                </a:rPr>
                <a:t>请在专业环境下演示与学习</a:t>
              </a:r>
              <a:endParaRPr lang="en-US" sz="935" dirty="0"/>
            </a:p>
          </p:txBody>
        </p:sp>
      </p:grpSp>
      <p:sp>
        <p:nvSpPr>
          <p:cNvPr id="42" name="文本框 41"/>
          <p:cNvSpPr txBox="1"/>
          <p:nvPr/>
        </p:nvSpPr>
        <p:spPr>
          <a:xfrm>
            <a:off x="6946538" y="4419548"/>
            <a:ext cx="4886705" cy="1544240"/>
          </a:xfrm>
          <a:prstGeom prst="rect">
            <a:avLst/>
          </a:prstGeom>
          <a:noFill/>
        </p:spPr>
        <p:txBody>
          <a:bodyPr wrap="square" rtlCol="0" anchor="t">
            <a:noAutofit/>
          </a:bodyPr>
          <a:p>
            <a:pPr indent="0">
              <a:buFont typeface="Arial" panose="020B0604020202020204" pitchFamily="34" charset="0"/>
              <a:buNone/>
            </a:pPr>
            <a:r>
              <a:rPr lang="zh-CN" altLang="en-US" sz="1600"/>
              <a:t>项目地址：</a:t>
            </a:r>
            <a:r>
              <a:rPr lang="en-US" altLang="zh-CN" sz="1600">
                <a:sym typeface="+mn-ea"/>
              </a:rPr>
              <a:t>http://192.168.23.203:5173/</a:t>
            </a:r>
            <a:endParaRPr lang="zh-CN" altLang="en-US" sz="1600"/>
          </a:p>
          <a:p>
            <a:pPr indent="0">
              <a:buFont typeface="Arial" panose="020B0604020202020204" pitchFamily="34" charset="0"/>
              <a:buNone/>
            </a:pPr>
            <a:endParaRPr lang="zh-CN" altLang="en-US" sz="1600"/>
          </a:p>
          <a:p>
            <a:pPr marL="171450" indent="-171450">
              <a:buFont typeface="Arial" panose="020B0604020202020204" pitchFamily="34" charset="0"/>
              <a:buChar char="•"/>
            </a:pPr>
            <a:r>
              <a:rPr lang="en-US" altLang="zh-CN" sz="1335">
                <a:solidFill>
                  <a:srgbClr val="FF0000"/>
                </a:solidFill>
                <a:sym typeface="+mn-ea"/>
              </a:rPr>
              <a:t>https://gitee.com/BLOGSFan/medical_assistant-master</a:t>
            </a:r>
            <a:endParaRPr lang="zh-CN" altLang="en-US" sz="1335">
              <a:solidFill>
                <a:srgbClr val="FF0000"/>
              </a:solidFill>
            </a:endParaRPr>
          </a:p>
          <a:p>
            <a:pPr marL="171450" indent="-171450">
              <a:buFont typeface="Arial" panose="020B0604020202020204" pitchFamily="34" charset="0"/>
              <a:buChar char="•"/>
            </a:pPr>
            <a:r>
              <a:rPr lang="en-US" altLang="zh-CN" sz="1335">
                <a:solidFill>
                  <a:srgbClr val="FF0000"/>
                </a:solidFill>
                <a:hlinkClick r:id="rId2" action="ppaction://hlinkfile"/>
              </a:rPr>
              <a:t>https://github.com/SFANBLOG/medical-assistant-master</a:t>
            </a:r>
            <a:endParaRPr lang="en-US" altLang="zh-CN" sz="1335">
              <a:solidFill>
                <a:srgbClr val="FF0000"/>
              </a:solidFill>
            </a:endParaRPr>
          </a:p>
          <a:p>
            <a:pPr indent="0">
              <a:buFont typeface="Arial" panose="020B0604020202020204" pitchFamily="34" charset="0"/>
              <a:buNone/>
            </a:pPr>
            <a:endParaRPr lang="en-US" altLang="zh-CN" sz="1335">
              <a:solidFill>
                <a:srgbClr val="FF0000"/>
              </a:solidFill>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med" Requires="p14">
        <p15:prstTrans prst="wind"/>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800"/>
                                        <p:tgtEl>
                                          <p:spTgt spid="37"/>
                                        </p:tgtEl>
                                      </p:cBhvr>
                                    </p:animEffect>
                                  </p:childTnLst>
                                </p:cTn>
                              </p:par>
                              <p:par>
                                <p:cTn id="8" presetID="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 calcmode="lin" valueType="num">
                                      <p:cBhvr additive="base">
                                        <p:cTn id="10" dur="800" fill="hold"/>
                                        <p:tgtEl>
                                          <p:spTgt spid="37"/>
                                        </p:tgtEl>
                                        <p:attrNameLst>
                                          <p:attrName>ppt_x</p:attrName>
                                        </p:attrNameLst>
                                      </p:cBhvr>
                                      <p:tavLst>
                                        <p:tav tm="0">
                                          <p:val>
                                            <p:strVal val="#ppt_x"/>
                                          </p:val>
                                        </p:tav>
                                        <p:tav tm="100000">
                                          <p:val>
                                            <p:strVal val="#ppt_x"/>
                                          </p:val>
                                        </p:tav>
                                      </p:tavLst>
                                    </p:anim>
                                    <p:anim calcmode="lin" valueType="num">
                                      <p:cBhvr additive="base">
                                        <p:cTn id="11" dur="800" fill="hold"/>
                                        <p:tgtEl>
                                          <p:spTgt spid="37"/>
                                        </p:tgtEl>
                                        <p:attrNameLst>
                                          <p:attrName>ppt_y</p:attrName>
                                        </p:attrNameLst>
                                      </p:cBhvr>
                                      <p:tavLst>
                                        <p:tav tm="0">
                                          <p:val>
                                            <p:strVal val="1+#ppt_h/2"/>
                                          </p:val>
                                        </p:tav>
                                        <p:tav tm="100000">
                                          <p:val>
                                            <p:strVal val="#ppt_y"/>
                                          </p:val>
                                        </p:tav>
                                      </p:tavLst>
                                    </p:anim>
                                  </p:childTnLst>
                                </p:cTn>
                              </p:par>
                            </p:childTnLst>
                          </p:cTn>
                        </p:par>
                        <p:par>
                          <p:cTn id="12" fill="hold">
                            <p:stCondLst>
                              <p:cond delay="1000"/>
                            </p:stCondLst>
                            <p:childTnLst>
                              <p:par>
                                <p:cTn id="13" presetID="10" presetClass="entr" presetSubtype="0" fill="hold" grpId="0" nodeType="afterEffect">
                                  <p:stCondLst>
                                    <p:cond delay="100"/>
                                  </p:stCondLst>
                                  <p:childTnLst>
                                    <p:set>
                                      <p:cBhvr>
                                        <p:cTn id="14" dur="1" fill="hold">
                                          <p:stCondLst>
                                            <p:cond delay="0"/>
                                          </p:stCondLst>
                                        </p:cTn>
                                        <p:tgtEl>
                                          <p:spTgt spid="38"/>
                                        </p:tgtEl>
                                        <p:attrNameLst>
                                          <p:attrName>style.visibility</p:attrName>
                                        </p:attrNameLst>
                                      </p:cBhvr>
                                      <p:to>
                                        <p:strVal val="visible"/>
                                      </p:to>
                                    </p:set>
                                    <p:animEffect transition="in" filter="fade">
                                      <p:cBhvr>
                                        <p:cTn id="15" dur="800"/>
                                        <p:tgtEl>
                                          <p:spTgt spid="38"/>
                                        </p:tgtEl>
                                      </p:cBhvr>
                                    </p:animEffect>
                                  </p:childTnLst>
                                </p:cTn>
                              </p:par>
                              <p:par>
                                <p:cTn id="16" presetID="2" presetClass="entr" presetSubtype="4" fill="hold" grpId="0" nodeType="withEffect">
                                  <p:stCondLst>
                                    <p:cond delay="10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800" fill="hold"/>
                                        <p:tgtEl>
                                          <p:spTgt spid="38"/>
                                        </p:tgtEl>
                                        <p:attrNameLst>
                                          <p:attrName>ppt_x</p:attrName>
                                        </p:attrNameLst>
                                      </p:cBhvr>
                                      <p:tavLst>
                                        <p:tav tm="0">
                                          <p:val>
                                            <p:strVal val="#ppt_x"/>
                                          </p:val>
                                        </p:tav>
                                        <p:tav tm="100000">
                                          <p:val>
                                            <p:strVal val="#ppt_x"/>
                                          </p:val>
                                        </p:tav>
                                      </p:tavLst>
                                    </p:anim>
                                    <p:anim calcmode="lin" valueType="num">
                                      <p:cBhvr additive="base">
                                        <p:cTn id="19" dur="800" fill="hold"/>
                                        <p:tgtEl>
                                          <p:spTgt spid="38"/>
                                        </p:tgtEl>
                                        <p:attrNameLst>
                                          <p:attrName>ppt_y</p:attrName>
                                        </p:attrNameLst>
                                      </p:cBhvr>
                                      <p:tavLst>
                                        <p:tav tm="0">
                                          <p:val>
                                            <p:strVal val="1+#ppt_h/2"/>
                                          </p:val>
                                        </p:tav>
                                        <p:tav tm="100000">
                                          <p:val>
                                            <p:strVal val="#ppt_y"/>
                                          </p:val>
                                        </p:tav>
                                      </p:tavLst>
                                    </p:anim>
                                  </p:childTnLst>
                                </p:cTn>
                              </p:par>
                            </p:childTnLst>
                          </p:cTn>
                        </p:par>
                        <p:par>
                          <p:cTn id="20" fill="hold">
                            <p:stCondLst>
                              <p:cond delay="2100"/>
                            </p:stCondLst>
                            <p:childTnLst>
                              <p:par>
                                <p:cTn id="21" presetID="10" presetClass="entr" presetSubtype="0" fill="hold" grpId="0" nodeType="afterEffect">
                                  <p:stCondLst>
                                    <p:cond delay="20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800"/>
                                        <p:tgtEl>
                                          <p:spTgt spid="39"/>
                                        </p:tgtEl>
                                      </p:cBhvr>
                                    </p:animEffect>
                                  </p:childTnLst>
                                </p:cTn>
                              </p:par>
                              <p:par>
                                <p:cTn id="24" presetID="2" presetClass="entr" presetSubtype="4" fill="hold" grpId="0" nodeType="withEffect">
                                  <p:stCondLst>
                                    <p:cond delay="200"/>
                                  </p:stCondLst>
                                  <p:childTnLst>
                                    <p:set>
                                      <p:cBhvr>
                                        <p:cTn id="25" dur="1" fill="hold">
                                          <p:stCondLst>
                                            <p:cond delay="0"/>
                                          </p:stCondLst>
                                        </p:cTn>
                                        <p:tgtEl>
                                          <p:spTgt spid="39"/>
                                        </p:tgtEl>
                                        <p:attrNameLst>
                                          <p:attrName>style.visibility</p:attrName>
                                        </p:attrNameLst>
                                      </p:cBhvr>
                                      <p:to>
                                        <p:strVal val="visible"/>
                                      </p:to>
                                    </p:set>
                                    <p:anim calcmode="lin" valueType="num">
                                      <p:cBhvr additive="base">
                                        <p:cTn id="26" dur="800" fill="hold"/>
                                        <p:tgtEl>
                                          <p:spTgt spid="39"/>
                                        </p:tgtEl>
                                        <p:attrNameLst>
                                          <p:attrName>ppt_x</p:attrName>
                                        </p:attrNameLst>
                                      </p:cBhvr>
                                      <p:tavLst>
                                        <p:tav tm="0">
                                          <p:val>
                                            <p:strVal val="#ppt_x"/>
                                          </p:val>
                                        </p:tav>
                                        <p:tav tm="100000">
                                          <p:val>
                                            <p:strVal val="#ppt_x"/>
                                          </p:val>
                                        </p:tav>
                                      </p:tavLst>
                                    </p:anim>
                                    <p:anim calcmode="lin" valueType="num">
                                      <p:cBhvr additive="base">
                                        <p:cTn id="27" dur="800" fill="hold"/>
                                        <p:tgtEl>
                                          <p:spTgt spid="39"/>
                                        </p:tgtEl>
                                        <p:attrNameLst>
                                          <p:attrName>ppt_y</p:attrName>
                                        </p:attrNameLst>
                                      </p:cBhvr>
                                      <p:tavLst>
                                        <p:tav tm="0">
                                          <p:val>
                                            <p:strVal val="1+#ppt_h/2"/>
                                          </p:val>
                                        </p:tav>
                                        <p:tav tm="100000">
                                          <p:val>
                                            <p:strVal val="#ppt_y"/>
                                          </p:val>
                                        </p:tav>
                                      </p:tavLst>
                                    </p:anim>
                                  </p:childTnLst>
                                </p:cTn>
                              </p:par>
                            </p:childTnLst>
                          </p:cTn>
                        </p:par>
                        <p:par>
                          <p:cTn id="28" fill="hold">
                            <p:stCondLst>
                              <p:cond delay="3300"/>
                            </p:stCondLst>
                            <p:childTnLst>
                              <p:par>
                                <p:cTn id="29" presetID="10" presetClass="entr" presetSubtype="0" fill="hold" grpId="0" nodeType="afterEffect">
                                  <p:stCondLst>
                                    <p:cond delay="30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800"/>
                                        <p:tgtEl>
                                          <p:spTgt spid="40"/>
                                        </p:tgtEl>
                                      </p:cBhvr>
                                    </p:animEffect>
                                  </p:childTnLst>
                                </p:cTn>
                              </p:par>
                              <p:par>
                                <p:cTn id="32" presetID="2" presetClass="entr" presetSubtype="4" fill="hold" grpId="0" nodeType="withEffect">
                                  <p:stCondLst>
                                    <p:cond delay="300"/>
                                  </p:stCondLst>
                                  <p:childTnLst>
                                    <p:set>
                                      <p:cBhvr>
                                        <p:cTn id="33" dur="1" fill="hold">
                                          <p:stCondLst>
                                            <p:cond delay="0"/>
                                          </p:stCondLst>
                                        </p:cTn>
                                        <p:tgtEl>
                                          <p:spTgt spid="40"/>
                                        </p:tgtEl>
                                        <p:attrNameLst>
                                          <p:attrName>style.visibility</p:attrName>
                                        </p:attrNameLst>
                                      </p:cBhvr>
                                      <p:to>
                                        <p:strVal val="visible"/>
                                      </p:to>
                                    </p:set>
                                    <p:anim calcmode="lin" valueType="num">
                                      <p:cBhvr additive="base">
                                        <p:cTn id="34" dur="800" fill="hold"/>
                                        <p:tgtEl>
                                          <p:spTgt spid="40"/>
                                        </p:tgtEl>
                                        <p:attrNameLst>
                                          <p:attrName>ppt_x</p:attrName>
                                        </p:attrNameLst>
                                      </p:cBhvr>
                                      <p:tavLst>
                                        <p:tav tm="0">
                                          <p:val>
                                            <p:strVal val="#ppt_x"/>
                                          </p:val>
                                        </p:tav>
                                        <p:tav tm="100000">
                                          <p:val>
                                            <p:strVal val="#ppt_x"/>
                                          </p:val>
                                        </p:tav>
                                      </p:tavLst>
                                    </p:anim>
                                    <p:anim calcmode="lin" valueType="num">
                                      <p:cBhvr additive="base">
                                        <p:cTn id="35" dur="800" fill="hold"/>
                                        <p:tgtEl>
                                          <p:spTgt spid="40"/>
                                        </p:tgtEl>
                                        <p:attrNameLst>
                                          <p:attrName>ppt_y</p:attrName>
                                        </p:attrNameLst>
                                      </p:cBhvr>
                                      <p:tavLst>
                                        <p:tav tm="0">
                                          <p:val>
                                            <p:strVal val="1+#ppt_h/2"/>
                                          </p:val>
                                        </p:tav>
                                        <p:tav tm="100000">
                                          <p:val>
                                            <p:strVal val="#ppt_y"/>
                                          </p:val>
                                        </p:tav>
                                      </p:tavLst>
                                    </p:anim>
                                  </p:childTnLst>
                                </p:cTn>
                              </p:par>
                            </p:childTnLst>
                          </p:cTn>
                        </p:par>
                        <p:par>
                          <p:cTn id="36" fill="hold">
                            <p:stCondLst>
                              <p:cond delay="4600"/>
                            </p:stCondLst>
                            <p:childTnLst>
                              <p:par>
                                <p:cTn id="37" presetID="10" presetClass="entr" presetSubtype="0" fill="hold" grpId="0" nodeType="afterEffect">
                                  <p:stCondLst>
                                    <p:cond delay="40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800"/>
                                        <p:tgtEl>
                                          <p:spTgt spid="41"/>
                                        </p:tgtEl>
                                      </p:cBhvr>
                                    </p:animEffect>
                                  </p:childTnLst>
                                </p:cTn>
                              </p:par>
                              <p:par>
                                <p:cTn id="40" presetID="2" presetClass="entr" presetSubtype="4" fill="hold" grpId="0" nodeType="withEffect">
                                  <p:stCondLst>
                                    <p:cond delay="400"/>
                                  </p:stCondLst>
                                  <p:childTnLst>
                                    <p:set>
                                      <p:cBhvr>
                                        <p:cTn id="41" dur="1" fill="hold">
                                          <p:stCondLst>
                                            <p:cond delay="0"/>
                                          </p:stCondLst>
                                        </p:cTn>
                                        <p:tgtEl>
                                          <p:spTgt spid="41"/>
                                        </p:tgtEl>
                                        <p:attrNameLst>
                                          <p:attrName>style.visibility</p:attrName>
                                        </p:attrNameLst>
                                      </p:cBhvr>
                                      <p:to>
                                        <p:strVal val="visible"/>
                                      </p:to>
                                    </p:set>
                                    <p:anim calcmode="lin" valueType="num">
                                      <p:cBhvr additive="base">
                                        <p:cTn id="42" dur="800" fill="hold"/>
                                        <p:tgtEl>
                                          <p:spTgt spid="41"/>
                                        </p:tgtEl>
                                        <p:attrNameLst>
                                          <p:attrName>ppt_x</p:attrName>
                                        </p:attrNameLst>
                                      </p:cBhvr>
                                      <p:tavLst>
                                        <p:tav tm="0">
                                          <p:val>
                                            <p:strVal val="#ppt_x"/>
                                          </p:val>
                                        </p:tav>
                                        <p:tav tm="100000">
                                          <p:val>
                                            <p:strVal val="#ppt_x"/>
                                          </p:val>
                                        </p:tav>
                                      </p:tavLst>
                                    </p:anim>
                                    <p:anim calcmode="lin" valueType="num">
                                      <p:cBhvr additive="base">
                                        <p:cTn id="43" dur="8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Rectangle 1"/>
          <p:cNvSpPr/>
          <p:nvPr/>
        </p:nvSpPr>
        <p:spPr>
          <a:xfrm>
            <a:off x="0" y="0"/>
            <a:ext cx="12191695" cy="6858000"/>
          </a:xfrm>
          <a:prstGeom prst="rect">
            <a:avLst/>
          </a:prstGeom>
          <a:solidFill>
            <a:srgbClr val="0B3D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60152" cy="914400"/>
          </a:xfrm>
          <a:prstGeom prst="rect">
            <a:avLst/>
          </a:prstGeom>
          <a:noFill/>
        </p:spPr>
        <p:txBody>
          <a:bodyPr wrap="square" lIns="0" tIns="0" rIns="0" bIns="0" anchor="t">
            <a:spAutoFit/>
          </a:bodyPr>
          <a:lstStyle/>
          <a:p>
            <a:pPr algn="ctr">
              <a:lnSpc>
                <a:spcPct val="100000"/>
              </a:lnSpc>
              <a:spcBef>
                <a:spcPts val="0"/>
              </a:spcBef>
              <a:spcAft>
                <a:spcPts val="0"/>
              </a:spcAft>
            </a:pPr>
            <a:r>
              <a:rPr sz="5600" b="1" i="0">
                <a:solidFill>
                  <a:srgbClr val="FFFFFF"/>
                </a:solidFill>
                <a:latin typeface="微软雅黑" panose="020B0503020204020204" charset="-122"/>
                <a:ea typeface="微软雅黑" panose="020B0503020204020204" charset="-122"/>
              </a:rPr>
              <a:t>感谢聆听</a:t>
            </a:r>
            <a:endParaRPr sz="5600" b="1" i="0">
              <a:solidFill>
                <a:srgbClr val="FFFFFF"/>
              </a:solidFill>
              <a:latin typeface="微软雅黑" panose="020B0503020204020204" charset="-122"/>
              <a:ea typeface="微软雅黑" panose="020B0503020204020204" charset="-122"/>
            </a:endParaRPr>
          </a:p>
        </p:txBody>
      </p:sp>
      <p:sp>
        <p:nvSpPr>
          <p:cNvPr id="6" name="Rectangle 5"/>
          <p:cNvSpPr/>
          <p:nvPr/>
        </p:nvSpPr>
        <p:spPr>
          <a:xfrm>
            <a:off x="5413248" y="3429000"/>
            <a:ext cx="1371600" cy="27432"/>
          </a:xfrm>
          <a:prstGeom prst="rect">
            <a:avLst/>
          </a:prstGeom>
          <a:solidFill>
            <a:srgbClr val="99F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749039"/>
            <a:ext cx="10360152" cy="457200"/>
          </a:xfrm>
          <a:prstGeom prst="rect">
            <a:avLst/>
          </a:prstGeom>
          <a:noFill/>
        </p:spPr>
        <p:txBody>
          <a:bodyPr wrap="square" lIns="0" tIns="0" rIns="0" bIns="0" anchor="t">
            <a:spAutoFit/>
          </a:bodyPr>
          <a:lstStyle/>
          <a:p>
            <a:pPr algn="ctr">
              <a:lnSpc>
                <a:spcPct val="100000"/>
              </a:lnSpc>
              <a:spcBef>
                <a:spcPts val="0"/>
              </a:spcBef>
              <a:spcAft>
                <a:spcPts val="0"/>
              </a:spcAft>
            </a:pPr>
            <a:r>
              <a:rPr sz="2000" b="0" i="0">
                <a:solidFill>
                  <a:srgbClr val="99F6E4"/>
                </a:solidFill>
                <a:latin typeface="微软雅黑" panose="020B0503020204020204" charset="-122"/>
                <a:ea typeface="微软雅黑" panose="020B0503020204020204" charset="-122"/>
              </a:rPr>
              <a:t>敬请各位老师批评指正</a:t>
            </a:r>
            <a:endParaRPr sz="2000" b="0" i="0">
              <a:solidFill>
                <a:srgbClr val="99F6E4"/>
              </a:solidFill>
              <a:latin typeface="微软雅黑" panose="020B0503020204020204" charset="-122"/>
              <a:ea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
</file>

<file path=ppt/tags/tag1.xml><?xml version="1.0" encoding="utf-8"?>
<p:tagLst xmlns:p="http://schemas.openxmlformats.org/presentationml/2006/main">
  <p:tag name="KSO_WM_DIAGRAM_VIRTUALLY_FRAME" val="{&quot;height&quot;:352.8,&quot;left&quot;:39.6,&quot;top&quot;:104.4,&quot;width&quot;:882}"/>
</p:tagLst>
</file>

<file path=ppt/tags/tag2.xml><?xml version="1.0" encoding="utf-8"?>
<p:tagLst xmlns:p="http://schemas.openxmlformats.org/presentationml/2006/main">
  <p:tag name="KSO_WM_DIAGRAM_VIRTUALLY_FRAME" val="{&quot;height&quot;:352.8,&quot;left&quot;:39.6,&quot;top&quot;:104.4,&quot;width&quot;:882}"/>
</p:tagLst>
</file>

<file path=ppt/tags/tag3.xml><?xml version="1.0" encoding="utf-8"?>
<p:tagLst xmlns:p="http://schemas.openxmlformats.org/presentationml/2006/main">
  <p:tag name="KSO_WM_DIAGRAM_VIRTUALLY_FRAME" val="{&quot;height&quot;:352.8,&quot;left&quot;:39.6,&quot;top&quot;:104.4,&quot;width&quot;:882}"/>
</p:tagLst>
</file>

<file path=ppt/tags/tag4.xml><?xml version="1.0" encoding="utf-8"?>
<p:tagLst xmlns:p="http://schemas.openxmlformats.org/presentationml/2006/main">
  <p:tag name="KSO_WM_DIAGRAM_VIRTUALLY_FRAME" val="{&quot;height&quot;:352.8,&quot;left&quot;:39.6,&quot;top&quot;:104.4,&quot;width&quot;:882}"/>
</p:tagLst>
</file>

<file path=ppt/tags/tag5.xml><?xml version="1.0" encoding="utf-8"?>
<p:tagLst xmlns:p="http://schemas.openxmlformats.org/presentationml/2006/main">
  <p:tag name="KSO_WM_DIAGRAM_VIRTUALLY_FRAME" val="{&quot;height&quot;:352.8,&quot;left&quot;:39.6,&quot;top&quot;:104.4,&quot;width&quot;:882}"/>
</p:tagLst>
</file>

<file path=ppt/tags/tag6.xml><?xml version="1.0" encoding="utf-8"?>
<p:tagLst xmlns:p="http://schemas.openxmlformats.org/presentationml/2006/main">
  <p:tag name="KSO_WM_DIAGRAM_VIRTUALLY_FRAME" val="{&quot;height&quot;:352.8,&quot;left&quot;:39.6,&quot;top&quot;:104.4,&quot;width&quot;:882}"/>
</p:tagLst>
</file>

<file path=ppt/tags/tag7.xml><?xml version="1.0" encoding="utf-8"?>
<p:tagLst xmlns:p="http://schemas.openxmlformats.org/presentationml/2006/main">
  <p:tag name="KSO_WM_DIAGRAM_VIRTUALLY_FRAME" val="{&quot;height&quot;:352.8,&quot;left&quot;:39.6,&quot;top&quot;:104.4,&quot;width&quot;:882}"/>
</p:tagLst>
</file>

<file path=ppt/tags/tag8.xml><?xml version="1.0" encoding="utf-8"?>
<p:tagLst xmlns:p="http://schemas.openxmlformats.org/presentationml/2006/main">
  <p:tag name="KSO_WM_DIAGRAM_VIRTUALLY_FRAME" val="{&quot;height&quot;:352.8,&quot;left&quot;:39.6,&quot;top&quot;:104.4,&quot;width&quot;:882}"/>
</p:tagLst>
</file>

<file path=ppt/tags/tag9.xml><?xml version="1.0" encoding="utf-8"?>
<p:tagLst xmlns:p="http://schemas.openxmlformats.org/presentationml/2006/main">
  <p:tag name="KSO_WM_DIAGRAM_VIRTUALLY_FRAME" val="{&quot;height&quot;:352.8,&quot;left&quot;:39.6,&quot;top&quot;:104.4,&quot;width&quot;:882}"/>
</p:tagLst>
</file>

<file path=ppt/tags/tag10.xml><?xml version="1.0" encoding="utf-8"?>
<p:tagLst xmlns:p="http://schemas.openxmlformats.org/presentationml/2006/main">
  <p:tag name="KSO_WM_DIAGRAM_VIRTUALLY_FRAME" val="{&quot;height&quot;:352.8,&quot;left&quot;:39.6,&quot;top&quot;:104.4,&quot;width&quot;:882}"/>
</p:tagLst>
</file>

<file path=ppt/tags/tag11.xml><?xml version="1.0" encoding="utf-8"?>
<p:tagLst xmlns:p="http://schemas.openxmlformats.org/presentationml/2006/main">
  <p:tag name="KSO_WM_DIAGRAM_VIRTUALLY_FRAME" val="{&quot;height&quot;:352.8,&quot;left&quot;:39.6,&quot;top&quot;:104.4,&quot;width&quot;:882}"/>
</p:tagLst>
</file>

<file path=ppt/tags/tag12.xml><?xml version="1.0" encoding="utf-8"?>
<p:tagLst xmlns:p="http://schemas.openxmlformats.org/presentationml/2006/main">
  <p:tag name="KSO_WM_DIAGRAM_VIRTUALLY_FRAME" val="{&quot;height&quot;:352.8,&quot;left&quot;:39.6,&quot;top&quot;:104.4,&quot;width&quot;:882}"/>
</p:tagLst>
</file>

<file path=ppt/tags/tag13.xml><?xml version="1.0" encoding="utf-8"?>
<p:tagLst xmlns:p="http://schemas.openxmlformats.org/presentationml/2006/main">
  <p:tag name="KSO_WM_DIAGRAM_VIRTUALLY_FRAME" val="{&quot;height&quot;:352.8,&quot;left&quot;:39.6,&quot;top&quot;:104.4,&quot;width&quot;:882}"/>
</p:tagLst>
</file>

<file path=ppt/tags/tag14.xml><?xml version="1.0" encoding="utf-8"?>
<p:tagLst xmlns:p="http://schemas.openxmlformats.org/presentationml/2006/main">
  <p:tag name="KSO_WM_DIAGRAM_VIRTUALLY_FRAME" val="{&quot;height&quot;:352.8,&quot;left&quot;:39.6,&quot;top&quot;:104.4,&quot;width&quot;:882}"/>
</p:tagLst>
</file>

<file path=ppt/tags/tag15.xml><?xml version="1.0" encoding="utf-8"?>
<p:tagLst xmlns:p="http://schemas.openxmlformats.org/presentationml/2006/main">
  <p:tag name="KSO_WM_DIAGRAM_VIRTUALLY_FRAME" val="{&quot;height&quot;:352.8,&quot;left&quot;:39.6,&quot;top&quot;:104.4,&quot;width&quot;:882}"/>
</p:tagLst>
</file>

<file path=ppt/tags/tag16.xml><?xml version="1.0" encoding="utf-8"?>
<p:tagLst xmlns:p="http://schemas.openxmlformats.org/presentationml/2006/main">
  <p:tag name="KSO_WM_DIAGRAM_VIRTUALLY_FRAME" val="{&quot;height&quot;:352.8,&quot;left&quot;:39.6,&quot;top&quot;:104.4,&quot;width&quot;:882}"/>
</p:tagLst>
</file>

<file path=ppt/tags/tag17.xml><?xml version="1.0" encoding="utf-8"?>
<p:tagLst xmlns:p="http://schemas.openxmlformats.org/presentationml/2006/main">
  <p:tag name="KSO_WM_DIAGRAM_VIRTUALLY_FRAME" val="{&quot;height&quot;:226.8,&quot;left&quot;:39.6,&quot;top&quot;:100.8,&quot;width&quot;:882}"/>
</p:tagLst>
</file>

<file path=ppt/tags/tag18.xml><?xml version="1.0" encoding="utf-8"?>
<p:tagLst xmlns:p="http://schemas.openxmlformats.org/presentationml/2006/main">
  <p:tag name="KSO_WM_DIAGRAM_VIRTUALLY_FRAME" val="{&quot;height&quot;:226.8,&quot;left&quot;:39.6,&quot;top&quot;:100.8,&quot;width&quot;:882}"/>
</p:tagLst>
</file>

<file path=ppt/tags/tag19.xml><?xml version="1.0" encoding="utf-8"?>
<p:tagLst xmlns:p="http://schemas.openxmlformats.org/presentationml/2006/main">
  <p:tag name="KSO_WM_DIAGRAM_VIRTUALLY_FRAME" val="{&quot;height&quot;:226.8,&quot;left&quot;:39.6,&quot;top&quot;:100.8,&quot;width&quot;:882}"/>
</p:tagLst>
</file>

<file path=ppt/tags/tag20.xml><?xml version="1.0" encoding="utf-8"?>
<p:tagLst xmlns:p="http://schemas.openxmlformats.org/presentationml/2006/main">
  <p:tag name="KSO_WM_DIAGRAM_VIRTUALLY_FRAME" val="{&quot;height&quot;:226.8,&quot;left&quot;:39.6,&quot;top&quot;:100.8,&quot;width&quot;:882}"/>
</p:tagLst>
</file>

<file path=ppt/tags/tag21.xml><?xml version="1.0" encoding="utf-8"?>
<p:tagLst xmlns:p="http://schemas.openxmlformats.org/presentationml/2006/main">
  <p:tag name="KSO_WM_DIAGRAM_VIRTUALLY_FRAME" val="{&quot;height&quot;:226.8,&quot;left&quot;:39.6,&quot;top&quot;:100.8,&quot;width&quot;:882}"/>
</p:tagLst>
</file>

<file path=ppt/tags/tag22.xml><?xml version="1.0" encoding="utf-8"?>
<p:tagLst xmlns:p="http://schemas.openxmlformats.org/presentationml/2006/main">
  <p:tag name="KSO_WM_DIAGRAM_VIRTUALLY_FRAME" val="{&quot;height&quot;:226.8,&quot;left&quot;:39.6,&quot;top&quot;:100.8,&quot;width&quot;:882}"/>
</p:tagLst>
</file>

<file path=ppt/tags/tag23.xml><?xml version="1.0" encoding="utf-8"?>
<p:tagLst xmlns:p="http://schemas.openxmlformats.org/presentationml/2006/main">
  <p:tag name="KSO_WM_DIAGRAM_VIRTUALLY_FRAME" val="{&quot;height&quot;:226.8,&quot;left&quot;:39.6,&quot;top&quot;:100.8,&quot;width&quot;:882}"/>
</p:tagLst>
</file>

<file path=ppt/tags/tag24.xml><?xml version="1.0" encoding="utf-8"?>
<p:tagLst xmlns:p="http://schemas.openxmlformats.org/presentationml/2006/main">
  <p:tag name="KSO_WM_DIAGRAM_VIRTUALLY_FRAME" val="{&quot;height&quot;:226.8,&quot;left&quot;:39.6,&quot;top&quot;:100.8,&quot;width&quot;:882}"/>
</p:tagLst>
</file>

<file path=ppt/tags/tag25.xml><?xml version="1.0" encoding="utf-8"?>
<p:tagLst xmlns:p="http://schemas.openxmlformats.org/presentationml/2006/main">
  <p:tag name="KSO_WM_DIAGRAM_VIRTUALLY_FRAME" val="{&quot;height&quot;:226.8,&quot;left&quot;:39.6,&quot;top&quot;:100.8,&quot;width&quot;:882}"/>
</p:tagLst>
</file>

<file path=ppt/tags/tag26.xml><?xml version="1.0" encoding="utf-8"?>
<p:tagLst xmlns:p="http://schemas.openxmlformats.org/presentationml/2006/main">
  <p:tag name="KSO_WM_DIAGRAM_VIRTUALLY_FRAME" val="{&quot;height&quot;:226.8,&quot;left&quot;:39.6,&quot;top&quot;:100.8,&quot;width&quot;:882}"/>
</p:tagLst>
</file>

<file path=ppt/tags/tag27.xml><?xml version="1.0" encoding="utf-8"?>
<p:tagLst xmlns:p="http://schemas.openxmlformats.org/presentationml/2006/main">
  <p:tag name="KSO_WM_DIAGRAM_VIRTUALLY_FRAME" val="{&quot;height&quot;:226.8,&quot;left&quot;:39.6,&quot;top&quot;:100.8,&quot;width&quot;:882}"/>
</p:tagLst>
</file>

<file path=ppt/tags/tag28.xml><?xml version="1.0" encoding="utf-8"?>
<p:tagLst xmlns:p="http://schemas.openxmlformats.org/presentationml/2006/main">
  <p:tag name="KSO_WM_DIAGRAM_VIRTUALLY_FRAME" val="{&quot;height&quot;:226.8,&quot;left&quot;:39.6,&quot;top&quot;:100.8,&quot;width&quot;:882}"/>
</p:tagLst>
</file>

<file path=ppt/tags/tag29.xml><?xml version="1.0" encoding="utf-8"?>
<p:tagLst xmlns:p="http://schemas.openxmlformats.org/presentationml/2006/main">
  <p:tag name="KSO_WM_DIAGRAM_VIRTUALLY_FRAME" val="{&quot;height&quot;:226.8,&quot;left&quot;:39.6,&quot;top&quot;:100.8,&quot;width&quot;:882}"/>
</p:tagLst>
</file>

<file path=ppt/tags/tag30.xml><?xml version="1.0" encoding="utf-8"?>
<p:tagLst xmlns:p="http://schemas.openxmlformats.org/presentationml/2006/main">
  <p:tag name="KSO_WM_DIAGRAM_VIRTUALLY_FRAME" val="{&quot;height&quot;:226.8,&quot;left&quot;:39.6,&quot;top&quot;:100.8,&quot;width&quot;:882}"/>
</p:tagLst>
</file>

<file path=ppt/tags/tag31.xml><?xml version="1.0" encoding="utf-8"?>
<p:tagLst xmlns:p="http://schemas.openxmlformats.org/presentationml/2006/main">
  <p:tag name="KSO_WM_DIAGRAM_VIRTUALLY_FRAME" val="{&quot;height&quot;:226.8,&quot;left&quot;:39.6,&quot;top&quot;:100.8,&quot;width&quot;:882}"/>
</p:tagLst>
</file>

<file path=ppt/tags/tag32.xml><?xml version="1.0" encoding="utf-8"?>
<p:tagLst xmlns:p="http://schemas.openxmlformats.org/presentationml/2006/main">
  <p:tag name="KSO_WM_DIAGRAM_VIRTUALLY_FRAME" val="{&quot;height&quot;:226.8,&quot;left&quot;:39.6,&quot;top&quot;:100.8,&quot;width&quot;:882}"/>
</p:tagLst>
</file>

<file path=ppt/tags/tag33.xml><?xml version="1.0" encoding="utf-8"?>
<p:tagLst xmlns:p="http://schemas.openxmlformats.org/presentationml/2006/main">
  <p:tag name="KSO_WM_DIAGRAM_VIRTUALLY_FRAME" val="{&quot;height&quot;:226.8,&quot;left&quot;:39.6,&quot;top&quot;:100.8,&quot;width&quot;:882}"/>
</p:tagLst>
</file>

<file path=ppt/tags/tag34.xml><?xml version="1.0" encoding="utf-8"?>
<p:tagLst xmlns:p="http://schemas.openxmlformats.org/presentationml/2006/main">
  <p:tag name="KSO_WM_DIAGRAM_VIRTUALLY_FRAME" val="{&quot;height&quot;:226.8,&quot;left&quot;:39.6,&quot;top&quot;:100.8,&quot;width&quot;:882}"/>
</p:tagLst>
</file>

<file path=ppt/tags/tag35.xml><?xml version="1.0" encoding="utf-8"?>
<p:tagLst xmlns:p="http://schemas.openxmlformats.org/presentationml/2006/main">
  <p:tag name="KSO_WM_DIAGRAM_VIRTUALLY_FRAME" val="{&quot;height&quot;:226.8,&quot;left&quot;:39.6,&quot;top&quot;:100.8,&quot;width&quot;:882}"/>
</p:tagLst>
</file>

<file path=ppt/tags/tag36.xml><?xml version="1.0" encoding="utf-8"?>
<p:tagLst xmlns:p="http://schemas.openxmlformats.org/presentationml/2006/main">
  <p:tag name="KSO_WM_DIAGRAM_VIRTUALLY_FRAME" val="{&quot;height&quot;:226.8,&quot;left&quot;:39.6,&quot;top&quot;:100.8,&quot;width&quot;:88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0</TotalTime>
  <Words>7221</Words>
  <Application>WPS 演示</Application>
  <PresentationFormat>On-screen Show (4:3)</PresentationFormat>
  <Paragraphs>1049</Paragraphs>
  <Slides>27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Arial</vt:lpstr>
      <vt:lpstr>宋体</vt:lpstr>
      <vt:lpstr>Wingdings</vt:lpstr>
      <vt:lpstr>Arial</vt:lpstr>
      <vt:lpstr>微软雅黑</vt:lpstr>
      <vt:lpstr>Calibri</vt:lpstr>
      <vt:lpstr>Arial Unicode MS</vt:lpstr>
      <vt:lpstr>Font Awesome 6 Free Solid</vt:lpstr>
      <vt:lpstr>Rockwell Nova Extra Bold</vt:lpstr>
      <vt:lpstr>Font Awesome 6 Free Solid</vt:lpstr>
      <vt:lpstr>Font Awesome 6 Free Solid</vt:lpstr>
      <vt:lpstr>PMingLiU-ExtB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何朋伟</cp:lastModifiedBy>
  <cp:revision>8</cp:revision>
  <dcterms:created xsi:type="dcterms:W3CDTF">2013-01-27T09:14:00Z</dcterms:created>
  <dcterms:modified xsi:type="dcterms:W3CDTF">2026-08-19T02:24:49Z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647C94C401E94361B4312D1103FDC57D_12</vt:lpwstr>
  </property>
</Properties>
</file>