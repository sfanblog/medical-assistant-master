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3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097280" y="-1463040"/>
            <a:ext cx="3840480" cy="3840480"/>
          </a:xfrm>
          <a:prstGeom prst="ellipse">
            <a:avLst/>
          </a:prstGeom>
          <a:solidFill>
            <a:srgbClr val="1484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241280" y="4937760"/>
            <a:ext cx="4023360" cy="4023360"/>
          </a:xfrm>
          <a:prstGeom prst="ellipse">
            <a:avLst/>
          </a:prstGeom>
          <a:solidFill>
            <a:srgbClr val="0E60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144000" y="-731520"/>
            <a:ext cx="1463040" cy="1463040"/>
          </a:xfrm>
          <a:prstGeom prst="ellipse">
            <a:avLst/>
          </a:prstGeom>
          <a:solidFill>
            <a:srgbClr val="148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983480" y="1234440"/>
            <a:ext cx="2221992" cy="420624"/>
          </a:xfrm>
          <a:prstGeom prst="roundRect">
            <a:avLst>
              <a:gd name="adj" fmla="val 50000"/>
            </a:avLst>
          </a:prstGeom>
          <a:solidFill>
            <a:srgbClr val="CC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134E4A"/>
                </a:solidFill>
                <a:latin typeface="微软雅黑"/>
                <a:ea typeface="微软雅黑"/>
              </a:rPr>
              <a:t>项目答辩 · 课程设计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10360152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400" b="1" i="0">
                <a:solidFill>
                  <a:srgbClr val="FFFFFF"/>
                </a:solidFill>
                <a:latin typeface="微软雅黑"/>
                <a:ea typeface="微软雅黑"/>
              </a:rPr>
              <a:t>医智助手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54680"/>
            <a:ext cx="1036015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99F6E4"/>
                </a:solidFill>
                <a:latin typeface="微软雅黑"/>
                <a:ea typeface="微软雅黑"/>
              </a:rPr>
              <a:t>医疗知识库智能问答系统</a:t>
            </a:r>
          </a:p>
        </p:txBody>
      </p:sp>
      <p:sp>
        <p:nvSpPr>
          <p:cNvPr id="9" name="Rectangle 8"/>
          <p:cNvSpPr/>
          <p:nvPr/>
        </p:nvSpPr>
        <p:spPr>
          <a:xfrm>
            <a:off x="5413248" y="4041648"/>
            <a:ext cx="1371600" cy="27432"/>
          </a:xfrm>
          <a:prstGeom prst="rect">
            <a:avLst/>
          </a:prstGeom>
          <a:solidFill>
            <a:srgbClr val="99F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315968"/>
            <a:ext cx="103601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CCEAE6"/>
                </a:solidFill>
                <a:latin typeface="微软雅黑"/>
                <a:ea typeface="微软雅黑"/>
              </a:rPr>
              <a:t>基于 RAG 的可追溯医学知识问答  ·  五角色医院信息系统教学平台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623560"/>
            <a:ext cx="103601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9EC9C4"/>
                </a:solidFill>
                <a:latin typeface="微软雅黑"/>
                <a:ea typeface="微软雅黑"/>
              </a:rPr>
              <a:t>技术栈：Vue 3 · Flask · MySQL 8 · Milvus · 大语言模型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989320"/>
            <a:ext cx="103601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9EC9C4"/>
                </a:solidFill>
                <a:latin typeface="微软雅黑"/>
                <a:ea typeface="微软雅黑"/>
              </a:rPr>
              <a:t>2026 年 8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82296" cy="40233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10896"/>
            <a:ext cx="5486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E293B"/>
                </a:solidFill>
                <a:latin typeface="微软雅黑"/>
                <a:ea typeface="微软雅黑"/>
              </a:rPr>
              <a:t>目录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96012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4A3B8"/>
                </a:solidFill>
                <a:latin typeface="微软雅黑"/>
                <a:ea typeface="微软雅黑"/>
              </a:rPr>
              <a:t>CONTENTS</a:t>
            </a:r>
          </a:p>
        </p:txBody>
      </p:sp>
      <p:sp>
        <p:nvSpPr>
          <p:cNvPr id="6" name="Oval 5"/>
          <p:cNvSpPr/>
          <p:nvPr/>
        </p:nvSpPr>
        <p:spPr>
          <a:xfrm>
            <a:off x="8503920" y="1463040"/>
            <a:ext cx="3291840" cy="3291840"/>
          </a:xfrm>
          <a:prstGeom prst="ellipse">
            <a:avLst/>
          </a:prstGeom>
          <a:solidFill>
            <a:srgbClr val="F0F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784080" y="2651760"/>
            <a:ext cx="1463040" cy="1463040"/>
          </a:xfrm>
          <a:prstGeom prst="ellipse">
            <a:avLst/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600200"/>
            <a:ext cx="7223760" cy="786384"/>
          </a:xfrm>
          <a:prstGeom prst="roundRect">
            <a:avLst>
              <a:gd name="adj" fmla="val 1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09928"/>
            <a:ext cx="822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F766E"/>
                </a:solidFill>
                <a:latin typeface="微软雅黑"/>
                <a:ea typeface="微软雅黑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1673352"/>
            <a:ext cx="58521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E293B"/>
                </a:solidFill>
                <a:latin typeface="微软雅黑"/>
                <a:ea typeface="微软雅黑"/>
              </a:rPr>
              <a:t>项目背景与需求分析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2029967"/>
            <a:ext cx="5852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4748B"/>
                </a:solidFill>
                <a:latin typeface="微软雅黑"/>
                <a:ea typeface="微软雅黑"/>
              </a:rPr>
              <a:t>背景意义 · 系统简介 · 角色权限 · 功能/非功能需求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2514600"/>
            <a:ext cx="7223760" cy="786384"/>
          </a:xfrm>
          <a:prstGeom prst="roundRect">
            <a:avLst>
              <a:gd name="adj" fmla="val 1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2624328"/>
            <a:ext cx="822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F766E"/>
                </a:solidFill>
                <a:latin typeface="微软雅黑"/>
                <a:ea typeface="微软雅黑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0240" y="2587752"/>
            <a:ext cx="58521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E293B"/>
                </a:solidFill>
                <a:latin typeface="微软雅黑"/>
                <a:ea typeface="微软雅黑"/>
              </a:rPr>
              <a:t>系统总体设计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40" y="2944368"/>
            <a:ext cx="5852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4748B"/>
                </a:solidFill>
                <a:latin typeface="微软雅黑"/>
                <a:ea typeface="微软雅黑"/>
              </a:rPr>
              <a:t>总体架构 · 技术栈 · 数据库 · 权限安全 · RAG 设计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429000"/>
            <a:ext cx="7223760" cy="786384"/>
          </a:xfrm>
          <a:prstGeom prst="roundRect">
            <a:avLst>
              <a:gd name="adj" fmla="val 1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3538728"/>
            <a:ext cx="822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F766E"/>
                </a:solidFill>
                <a:latin typeface="微软雅黑"/>
                <a:ea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20240" y="3502152"/>
            <a:ext cx="58521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E293B"/>
                </a:solidFill>
                <a:latin typeface="微软雅黑"/>
                <a:ea typeface="微软雅黑"/>
              </a:rPr>
              <a:t>系统详细实现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20240" y="3858768"/>
            <a:ext cx="5852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4748B"/>
                </a:solidFill>
                <a:latin typeface="微软雅黑"/>
                <a:ea typeface="微软雅黑"/>
              </a:rPr>
              <a:t>后端架构 · 前端架构 · 四大核心功能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4343400"/>
            <a:ext cx="7223760" cy="786384"/>
          </a:xfrm>
          <a:prstGeom prst="roundRect">
            <a:avLst>
              <a:gd name="adj" fmla="val 1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4453128"/>
            <a:ext cx="822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F766E"/>
                </a:solidFill>
                <a:latin typeface="微软雅黑"/>
                <a:ea typeface="微软雅黑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20240" y="4416552"/>
            <a:ext cx="58521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E293B"/>
                </a:solidFill>
                <a:latin typeface="微软雅黑"/>
                <a:ea typeface="微软雅黑"/>
              </a:rPr>
              <a:t>系统运行与测试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20240" y="4773168"/>
            <a:ext cx="5852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4748B"/>
                </a:solidFill>
                <a:latin typeface="微软雅黑"/>
                <a:ea typeface="微软雅黑"/>
              </a:rPr>
              <a:t>运行效果 · 测试用例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5257800"/>
            <a:ext cx="7223760" cy="786384"/>
          </a:xfrm>
          <a:prstGeom prst="roundRect">
            <a:avLst>
              <a:gd name="adj" fmla="val 1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560" y="5367528"/>
            <a:ext cx="822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F766E"/>
                </a:solidFill>
                <a:latin typeface="微软雅黑"/>
                <a:ea typeface="微软雅黑"/>
              </a:rPr>
              <a:t>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5330952"/>
            <a:ext cx="58521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E293B"/>
                </a:solidFill>
                <a:latin typeface="微软雅黑"/>
                <a:ea typeface="微软雅黑"/>
              </a:rPr>
              <a:t>项目总结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20240" y="5687568"/>
            <a:ext cx="5852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4748B"/>
                </a:solidFill>
                <a:latin typeface="微软雅黑"/>
                <a:ea typeface="微软雅黑"/>
              </a:rPr>
              <a:t>亮点与难点 · 总结展望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4748B"/>
                </a:solidFill>
                <a:latin typeface="微软雅黑"/>
                <a:ea typeface="微软雅黑"/>
              </a:rPr>
              <a:t>医智助手 · 医疗知识库智能问答系统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81360" y="6455664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4748B"/>
                </a:solidFill>
                <a:latin typeface="微软雅黑"/>
                <a:ea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234440"/>
            <a:ext cx="41148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1" i="0">
                <a:solidFill>
                  <a:srgbClr val="E0F2FE"/>
                </a:solidFill>
                <a:latin typeface="微软雅黑"/>
                <a:ea typeface="微软雅黑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200400"/>
            <a:ext cx="4434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134E4A"/>
                </a:solidFill>
                <a:latin typeface="微软雅黑"/>
                <a:ea typeface="微软雅黑"/>
              </a:rPr>
              <a:t>项目背景与需求分析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0432" y="422452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94A3B8"/>
                </a:solidFill>
                <a:latin typeface="微软雅黑"/>
                <a:ea typeface="微软雅黑"/>
              </a:rPr>
              <a:t>BACKGROUND &amp; REQUIREMENTS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0" y="1371600"/>
            <a:ext cx="6035040" cy="658368"/>
          </a:xfrm>
          <a:prstGeom prst="roundRect">
            <a:avLst>
              <a:gd name="adj" fmla="val 18000"/>
            </a:avLst>
          </a:prstGeom>
          <a:solidFill>
            <a:srgbClr val="E6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89320" y="1499616"/>
            <a:ext cx="457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F766E"/>
                </a:solidFill>
                <a:latin typeface="微软雅黑"/>
                <a:ea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508760"/>
            <a:ext cx="5120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E293B"/>
                </a:solidFill>
                <a:latin typeface="微软雅黑"/>
                <a:ea typeface="微软雅黑"/>
              </a:rPr>
              <a:t>项目背景与意义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0" y="2176272"/>
            <a:ext cx="6035040" cy="658368"/>
          </a:xfrm>
          <a:prstGeom prst="roundRect">
            <a:avLst>
              <a:gd name="adj" fmla="val 18000"/>
            </a:avLst>
          </a:prstGeom>
          <a:solidFill>
            <a:srgbClr val="E6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89320" y="2304288"/>
            <a:ext cx="457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F766E"/>
                </a:solidFill>
                <a:latin typeface="微软雅黑"/>
                <a:ea typeface="微软雅黑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313432"/>
            <a:ext cx="5120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E293B"/>
                </a:solidFill>
                <a:latin typeface="微软雅黑"/>
                <a:ea typeface="微软雅黑"/>
              </a:rPr>
              <a:t>系统简介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0" y="2980944"/>
            <a:ext cx="6035040" cy="658368"/>
          </a:xfrm>
          <a:prstGeom prst="roundRect">
            <a:avLst>
              <a:gd name="adj" fmla="val 18000"/>
            </a:avLst>
          </a:prstGeom>
          <a:solidFill>
            <a:srgbClr val="E6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89320" y="3108960"/>
            <a:ext cx="457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F766E"/>
                </a:solidFill>
                <a:latin typeface="微软雅黑"/>
                <a:ea typeface="微软雅黑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3118103"/>
            <a:ext cx="5120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E293B"/>
                </a:solidFill>
                <a:latin typeface="微软雅黑"/>
                <a:ea typeface="微软雅黑"/>
              </a:rPr>
              <a:t>用户角色与权限分析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0" y="3785615"/>
            <a:ext cx="6035040" cy="658368"/>
          </a:xfrm>
          <a:prstGeom prst="roundRect">
            <a:avLst>
              <a:gd name="adj" fmla="val 18000"/>
            </a:avLst>
          </a:prstGeom>
          <a:solidFill>
            <a:srgbClr val="E6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89320" y="3913631"/>
            <a:ext cx="457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F766E"/>
                </a:solidFill>
                <a:latin typeface="微软雅黑"/>
                <a:ea typeface="微软雅黑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922776"/>
            <a:ext cx="5120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E293B"/>
                </a:solidFill>
                <a:latin typeface="微软雅黑"/>
                <a:ea typeface="微软雅黑"/>
              </a:rPr>
              <a:t>功能性需求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0" y="4590288"/>
            <a:ext cx="6035040" cy="658368"/>
          </a:xfrm>
          <a:prstGeom prst="roundRect">
            <a:avLst>
              <a:gd name="adj" fmla="val 18000"/>
            </a:avLst>
          </a:prstGeom>
          <a:solidFill>
            <a:srgbClr val="E6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89320" y="4718303"/>
            <a:ext cx="457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F766E"/>
                </a:solidFill>
                <a:latin typeface="微软雅黑"/>
                <a:ea typeface="微软雅黑"/>
              </a:rPr>
              <a:t>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4727448"/>
            <a:ext cx="5120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E293B"/>
                </a:solidFill>
                <a:latin typeface="微软雅黑"/>
                <a:ea typeface="微软雅黑"/>
              </a:rPr>
              <a:t>非功能性需求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82296" cy="40233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10896"/>
            <a:ext cx="8686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E293B"/>
                </a:solidFill>
                <a:latin typeface="微软雅黑"/>
                <a:ea typeface="微软雅黑"/>
              </a:rPr>
              <a:t>项目背景与意义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978847" y="384048"/>
            <a:ext cx="1709928" cy="365760"/>
          </a:xfrm>
          <a:prstGeom prst="roundRect">
            <a:avLst>
              <a:gd name="adj" fmla="val 50000"/>
            </a:avLst>
          </a:prstGeom>
          <a:solidFill>
            <a:srgbClr val="E6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0F766E"/>
                </a:solidFill>
                <a:latin typeface="微软雅黑"/>
                <a:ea typeface="微软雅黑"/>
              </a:rPr>
              <a:t>01 · 背景与需求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969264"/>
            <a:ext cx="11183112" cy="1463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4748B"/>
                </a:solidFill>
                <a:latin typeface="微软雅黑"/>
                <a:ea typeface="微软雅黑"/>
              </a:rPr>
              <a:t>医智助手 · 医疗知识库智能问答系统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55664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4748B"/>
                </a:solidFill>
                <a:latin typeface="微软雅黑"/>
                <a:ea typeface="微软雅黑"/>
              </a:rPr>
              <a:t>04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234440"/>
            <a:ext cx="5440680" cy="4983480"/>
          </a:xfrm>
          <a:prstGeom prst="roundRect">
            <a:avLst>
              <a:gd name="adj" fmla="val 5000"/>
            </a:avLst>
          </a:prstGeom>
          <a:solidFill>
            <a:srgbClr val="E6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48132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34E4A"/>
                </a:solidFill>
                <a:latin typeface="微软雅黑"/>
                <a:ea typeface="微软雅黑"/>
              </a:rPr>
              <a:t>医疗信息化现状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029968"/>
            <a:ext cx="484632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1300"/>
              </a:spcAft>
            </a:pPr>
            <a:r>
              <a:rPr sz="1400" b="1" i="0">
                <a:solidFill>
                  <a:srgbClr val="0F766E"/>
                </a:solidFill>
                <a:latin typeface="微软雅黑"/>
                <a:ea typeface="微软雅黑"/>
              </a:rPr>
              <a:t>● </a:t>
            </a:r>
            <a:r>
              <a:rPr sz="1400" b="0" i="0">
                <a:solidFill>
                  <a:srgbClr val="1E293B"/>
                </a:solidFill>
                <a:latin typeface="微软雅黑"/>
                <a:ea typeface="微软雅黑"/>
              </a:rPr>
              <a:t>医疗信息化是医院管理与患者服务的核心支撑</a:t>
            </a:r>
          </a:p>
          <a:p>
            <a:pPr>
              <a:lnSpc>
                <a:spcPct val="100000"/>
              </a:lnSpc>
              <a:spcAft>
                <a:spcPts val="1300"/>
              </a:spcAft>
            </a:pPr>
            <a:r>
              <a:rPr sz="1400" b="1" i="0">
                <a:solidFill>
                  <a:srgbClr val="0F766E"/>
                </a:solidFill>
                <a:latin typeface="微软雅黑"/>
                <a:ea typeface="微软雅黑"/>
              </a:rPr>
              <a:t>● </a:t>
            </a:r>
            <a:r>
              <a:rPr sz="1400" b="0" i="0">
                <a:solidFill>
                  <a:srgbClr val="1E293B"/>
                </a:solidFill>
                <a:latin typeface="微软雅黑"/>
                <a:ea typeface="微软雅黑"/>
              </a:rPr>
              <a:t>传统医疗信息咨询痛点：资料分散、检索困难、缺乏个性化</a:t>
            </a:r>
          </a:p>
          <a:p>
            <a:pPr>
              <a:lnSpc>
                <a:spcPct val="100000"/>
              </a:lnSpc>
              <a:spcAft>
                <a:spcPts val="1300"/>
              </a:spcAft>
            </a:pPr>
            <a:r>
              <a:rPr sz="1400" b="1" i="0">
                <a:solidFill>
                  <a:srgbClr val="0F766E"/>
                </a:solidFill>
                <a:latin typeface="微软雅黑"/>
                <a:ea typeface="微软雅黑"/>
              </a:rPr>
              <a:t>● </a:t>
            </a:r>
            <a:r>
              <a:rPr sz="1400" b="0" i="0">
                <a:solidFill>
                  <a:srgbClr val="1E293B"/>
                </a:solidFill>
                <a:latin typeface="微软雅黑"/>
                <a:ea typeface="微软雅黑"/>
              </a:rPr>
              <a:t>缺乏面向教学场景的医学知识服务平台</a:t>
            </a:r>
          </a:p>
          <a:p>
            <a:pPr>
              <a:lnSpc>
                <a:spcPct val="100000"/>
              </a:lnSpc>
              <a:spcAft>
                <a:spcPts val="1300"/>
              </a:spcAft>
            </a:pPr>
            <a:r>
              <a:rPr sz="1400" b="1" i="0">
                <a:solidFill>
                  <a:srgbClr val="0F766E"/>
                </a:solidFill>
                <a:latin typeface="微软雅黑"/>
                <a:ea typeface="微软雅黑"/>
              </a:rPr>
              <a:t>● </a:t>
            </a:r>
            <a:r>
              <a:rPr sz="1400" b="0" i="0">
                <a:solidFill>
                  <a:srgbClr val="1E293B"/>
                </a:solidFill>
                <a:latin typeface="微软雅黑"/>
                <a:ea typeface="微软雅黑"/>
              </a:rPr>
              <a:t>大模型与 RAG 技术为医学知识服务带来新可能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234440"/>
            <a:ext cx="5440680" cy="2331720"/>
          </a:xfrm>
          <a:prstGeom prst="roundRect">
            <a:avLst>
              <a:gd name="adj" fmla="val 6000"/>
            </a:avLst>
          </a:prstGeom>
          <a:solidFill>
            <a:srgbClr val="EA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148132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563EB"/>
                </a:solidFill>
                <a:latin typeface="微软雅黑"/>
                <a:ea typeface="微软雅黑"/>
              </a:rPr>
              <a:t>设计思路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1968" y="2029968"/>
            <a:ext cx="48463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400" b="1" i="0">
                <a:solidFill>
                  <a:srgbClr val="0F766E"/>
                </a:solidFill>
                <a:latin typeface="微软雅黑"/>
                <a:ea typeface="微软雅黑"/>
              </a:rPr>
              <a:t>● </a:t>
            </a:r>
            <a:r>
              <a:rPr sz="1400" b="0" i="0">
                <a:solidFill>
                  <a:srgbClr val="1E293B"/>
                </a:solidFill>
                <a:latin typeface="微软雅黑"/>
                <a:ea typeface="微软雅黑"/>
              </a:rPr>
              <a:t>以"医学知识库 + 智能问答"为切入点</a:t>
            </a: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400" b="1" i="0">
                <a:solidFill>
                  <a:srgbClr val="0F766E"/>
                </a:solidFill>
                <a:latin typeface="微软雅黑"/>
                <a:ea typeface="微软雅黑"/>
              </a:rPr>
              <a:t>● </a:t>
            </a:r>
            <a:r>
              <a:rPr sz="1400" b="0" i="0">
                <a:solidFill>
                  <a:srgbClr val="1E293B"/>
                </a:solidFill>
                <a:latin typeface="微软雅黑"/>
                <a:ea typeface="微软雅黑"/>
              </a:rPr>
              <a:t>参考医院信息系统（HIS）的真实用户角色划分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3794760"/>
            <a:ext cx="5440680" cy="2423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4023360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D97706"/>
                </a:solidFill>
                <a:latin typeface="微软雅黑"/>
                <a:ea typeface="微软雅黑"/>
              </a:rPr>
              <a:t>项目意义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01968" y="4572000"/>
            <a:ext cx="484632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400" b="1" i="0">
                <a:solidFill>
                  <a:srgbClr val="0F766E"/>
                </a:solidFill>
                <a:latin typeface="微软雅黑"/>
                <a:ea typeface="微软雅黑"/>
              </a:rPr>
              <a:t>● </a:t>
            </a:r>
            <a:r>
              <a:rPr sz="1400" b="0" i="0">
                <a:solidFill>
                  <a:srgbClr val="1E293B"/>
                </a:solidFill>
                <a:latin typeface="微软雅黑"/>
                <a:ea typeface="微软雅黑"/>
              </a:rPr>
              <a:t>为数据库 / 软件工程课程提供完整工程样例</a:t>
            </a: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400" b="1" i="0">
                <a:solidFill>
                  <a:srgbClr val="0F766E"/>
                </a:solidFill>
                <a:latin typeface="微软雅黑"/>
                <a:ea typeface="微软雅黑"/>
              </a:rPr>
              <a:t>● </a:t>
            </a:r>
            <a:r>
              <a:rPr sz="1400" b="0" i="0">
                <a:solidFill>
                  <a:srgbClr val="1E293B"/>
                </a:solidFill>
                <a:latin typeface="微软雅黑"/>
                <a:ea typeface="微软雅黑"/>
              </a:rPr>
              <a:t>面向公众的医学知识科普与辅助理解平台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82296" cy="40233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10896"/>
            <a:ext cx="8686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E293B"/>
                </a:solidFill>
                <a:latin typeface="微软雅黑"/>
                <a:ea typeface="微软雅黑"/>
              </a:rPr>
              <a:t>系统简介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978847" y="384048"/>
            <a:ext cx="1709928" cy="365760"/>
          </a:xfrm>
          <a:prstGeom prst="roundRect">
            <a:avLst>
              <a:gd name="adj" fmla="val 50000"/>
            </a:avLst>
          </a:prstGeom>
          <a:solidFill>
            <a:srgbClr val="E6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0F766E"/>
                </a:solidFill>
                <a:latin typeface="微软雅黑"/>
                <a:ea typeface="微软雅黑"/>
              </a:rPr>
              <a:t>01 · 背景与需求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969264"/>
            <a:ext cx="11183112" cy="1463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4748B"/>
                </a:solidFill>
                <a:latin typeface="微软雅黑"/>
                <a:ea typeface="微软雅黑"/>
              </a:rPr>
              <a:t>医智助手 · 医疗知识库智能问答系统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55664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4748B"/>
                </a:solidFill>
                <a:latin typeface="微软雅黑"/>
                <a:ea typeface="微软雅黑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188720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64748B"/>
                </a:solidFill>
                <a:latin typeface="微软雅黑"/>
                <a:ea typeface="微软雅黑"/>
              </a:rPr>
              <a:t>医智助手：面向医院信息系统教学场景的医学知识库智能问答平台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783080"/>
            <a:ext cx="2679192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011680"/>
            <a:ext cx="267919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0F766E"/>
                </a:solidFill>
                <a:latin typeface="微软雅黑"/>
                <a:ea typeface="微软雅黑"/>
              </a:rPr>
              <a:t>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697480"/>
            <a:ext cx="249631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4748B"/>
                </a:solidFill>
                <a:latin typeface="微软雅黑"/>
                <a:ea typeface="微软雅黑"/>
              </a:rPr>
              <a:t>个疾病知识库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37560" y="1783080"/>
            <a:ext cx="2679192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37560" y="2011680"/>
            <a:ext cx="267919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0F766E"/>
                </a:solidFill>
                <a:latin typeface="微软雅黑"/>
                <a:ea typeface="微软雅黑"/>
              </a:rPr>
              <a:t>240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9000" y="2697480"/>
            <a:ext cx="249631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4748B"/>
                </a:solidFill>
                <a:latin typeface="微软雅黑"/>
                <a:ea typeface="微软雅黑"/>
              </a:rPr>
              <a:t>篇医学文档（公开 + 私有）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1783080"/>
            <a:ext cx="2679192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72200" y="2011680"/>
            <a:ext cx="267919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0F766E"/>
                </a:solidFill>
                <a:latin typeface="微软雅黑"/>
                <a:ea typeface="微软雅黑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2697480"/>
            <a:ext cx="249631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4748B"/>
                </a:solidFill>
                <a:latin typeface="微软雅黑"/>
                <a:ea typeface="微软雅黑"/>
              </a:rPr>
              <a:t>种用户角色门户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1783080"/>
            <a:ext cx="2679192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06840" y="2011680"/>
            <a:ext cx="267919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0F766E"/>
                </a:solidFill>
                <a:latin typeface="微软雅黑"/>
                <a:ea typeface="微软雅黑"/>
              </a:rPr>
              <a:t>11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98280" y="2697480"/>
            <a:ext cx="249631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4748B"/>
                </a:solidFill>
                <a:latin typeface="微软雅黑"/>
                <a:ea typeface="微软雅黑"/>
              </a:rPr>
              <a:t>张 MySQL 数据表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3429000"/>
            <a:ext cx="11183112" cy="28346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3639312"/>
            <a:ext cx="10515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34E4A"/>
                </a:solidFill>
                <a:latin typeface="微软雅黑"/>
                <a:ea typeface="微软雅黑"/>
              </a:rPr>
              <a:t>核心能力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" y="4160520"/>
            <a:ext cx="521208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350" b="1" i="0">
                <a:solidFill>
                  <a:srgbClr val="0F766E"/>
                </a:solidFill>
                <a:latin typeface="微软雅黑"/>
                <a:ea typeface="微软雅黑"/>
              </a:rPr>
              <a:t>● </a:t>
            </a:r>
            <a:r>
              <a:rPr sz="1350" b="0" i="0">
                <a:solidFill>
                  <a:srgbClr val="1E293B"/>
                </a:solidFill>
                <a:latin typeface="微软雅黑"/>
                <a:ea typeface="微软雅黑"/>
              </a:rPr>
              <a:t>RAG 智能医疗咨询：召回→生成→引用，可追溯</a:t>
            </a: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350" b="1" i="0">
                <a:solidFill>
                  <a:srgbClr val="0F766E"/>
                </a:solidFill>
                <a:latin typeface="微软雅黑"/>
                <a:ea typeface="微软雅黑"/>
              </a:rPr>
              <a:t>● </a:t>
            </a:r>
            <a:r>
              <a:rPr sz="1350" b="0" i="0">
                <a:solidFill>
                  <a:srgbClr val="1E293B"/>
                </a:solidFill>
                <a:latin typeface="微软雅黑"/>
                <a:ea typeface="微软雅黑"/>
              </a:rPr>
              <a:t>公开 / 私有双层级权限模型，按角色过滤可见文档</a:t>
            </a: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350" b="1" i="0">
                <a:solidFill>
                  <a:srgbClr val="0F766E"/>
                </a:solidFill>
                <a:latin typeface="微软雅黑"/>
                <a:ea typeface="微软雅黑"/>
              </a:rPr>
              <a:t>● </a:t>
            </a:r>
            <a:r>
              <a:rPr sz="1350" b="0" i="0">
                <a:solidFill>
                  <a:srgbClr val="1E293B"/>
                </a:solidFill>
                <a:latin typeface="微软雅黑"/>
                <a:ea typeface="微软雅黑"/>
              </a:rPr>
              <a:t>5 角色统一单页应用门户，差异化导航与权限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160520"/>
            <a:ext cx="521208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350" b="1" i="0">
                <a:solidFill>
                  <a:srgbClr val="0F766E"/>
                </a:solidFill>
                <a:latin typeface="微软雅黑"/>
                <a:ea typeface="微软雅黑"/>
              </a:rPr>
              <a:t>● </a:t>
            </a:r>
            <a:r>
              <a:rPr sz="1350" b="0" i="0">
                <a:solidFill>
                  <a:srgbClr val="1E293B"/>
                </a:solidFill>
                <a:latin typeface="微软雅黑"/>
                <a:ea typeface="微软雅黑"/>
              </a:rPr>
              <a:t>患者健康档案：住院、消费明细、预约挂号</a:t>
            </a: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350" b="1" i="0">
                <a:solidFill>
                  <a:srgbClr val="0F766E"/>
                </a:solidFill>
                <a:latin typeface="微软雅黑"/>
                <a:ea typeface="微软雅黑"/>
              </a:rPr>
              <a:t>● </a:t>
            </a:r>
            <a:r>
              <a:rPr sz="1350" b="0" i="0">
                <a:solidFill>
                  <a:srgbClr val="1E293B"/>
                </a:solidFill>
                <a:latin typeface="微软雅黑"/>
                <a:ea typeface="微软雅黑"/>
              </a:rPr>
              <a:t>医护工作台：患者管理、护理记录、排班</a:t>
            </a: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350" b="1" i="0">
                <a:solidFill>
                  <a:srgbClr val="0F766E"/>
                </a:solidFill>
                <a:latin typeface="微软雅黑"/>
                <a:ea typeface="微软雅黑"/>
              </a:rPr>
              <a:t>● </a:t>
            </a:r>
            <a:r>
              <a:rPr sz="1350" b="0" i="0">
                <a:solidFill>
                  <a:srgbClr val="1E293B"/>
                </a:solidFill>
                <a:latin typeface="微软雅黑"/>
                <a:ea typeface="微软雅黑"/>
              </a:rPr>
              <a:t>知识库管理：上传、切分、向量化、检索一站式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82296" cy="40233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10896"/>
            <a:ext cx="8686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E293B"/>
                </a:solidFill>
                <a:latin typeface="微软雅黑"/>
                <a:ea typeface="微软雅黑"/>
              </a:rPr>
              <a:t>用户角色与权限分析（RBAC）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978847" y="384048"/>
            <a:ext cx="1709928" cy="365760"/>
          </a:xfrm>
          <a:prstGeom prst="roundRect">
            <a:avLst>
              <a:gd name="adj" fmla="val 50000"/>
            </a:avLst>
          </a:prstGeom>
          <a:solidFill>
            <a:srgbClr val="E6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0F766E"/>
                </a:solidFill>
                <a:latin typeface="微软雅黑"/>
                <a:ea typeface="微软雅黑"/>
              </a:rPr>
              <a:t>01 · 背景与需求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969264"/>
            <a:ext cx="11183112" cy="1463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4748B"/>
                </a:solidFill>
                <a:latin typeface="微软雅黑"/>
                <a:ea typeface="微软雅黑"/>
              </a:rPr>
              <a:t>医智助手 · 医疗知识库智能问答系统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55664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4748B"/>
                </a:solidFill>
                <a:latin typeface="微软雅黑"/>
                <a:ea typeface="微软雅黑"/>
              </a:rPr>
              <a:t>06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234440"/>
          <a:ext cx="11183112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5669280"/>
                <a:gridCol w="3410712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角色</a:t>
                      </a:r>
                    </a:p>
                  </a:txBody>
                  <a:tcPr marL="137160" marR="91440" marT="45720" marB="45720" anchor="ctr">
                    <a:solidFill>
                      <a:srgbClr val="0F76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核心功能</a:t>
                      </a:r>
                    </a:p>
                  </a:txBody>
                  <a:tcPr marL="137160" marR="91440" marT="45720" marB="45720" anchor="ctr">
                    <a:solidFill>
                      <a:srgbClr val="0F76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数据可见范围</a:t>
                      </a:r>
                    </a:p>
                  </a:txBody>
                  <a:tcPr marL="137160" marR="91440" marT="45720" marB="45720" anchor="ctr">
                    <a:solidFill>
                      <a:srgbClr val="0F766E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E293B"/>
                          </a:solidFill>
                          <a:latin typeface="微软雅黑"/>
                          <a:ea typeface="微软雅黑"/>
                        </a:rPr>
                        <a:t>群众 / 患者</a:t>
                      </a:r>
                    </a:p>
                  </a:txBody>
                  <a:tcPr marL="13716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E293B"/>
                          </a:solidFill>
                          <a:latin typeface="微软雅黑"/>
                          <a:ea typeface="微软雅黑"/>
                        </a:rPr>
                        <a:t>智能咨询 · 健康资讯 · 预约挂号 · 本人健康档案</a:t>
                      </a:r>
                    </a:p>
                  </a:txBody>
                  <a:tcPr marL="13716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E293B"/>
                          </a:solidFill>
                          <a:latin typeface="微软雅黑"/>
                          <a:ea typeface="微软雅黑"/>
                        </a:rPr>
                        <a:t>仅公开知识库 + 公开文档</a:t>
                      </a:r>
                    </a:p>
                  </a:txBody>
                  <a:tcPr marL="137160" marR="91440" marT="45720" marB="45720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E293B"/>
                          </a:solidFill>
                          <a:latin typeface="微软雅黑"/>
                          <a:ea typeface="微软雅黑"/>
                        </a:rPr>
                        <a:t>医生</a:t>
                      </a:r>
                    </a:p>
                  </a:txBody>
                  <a:tcPr marL="137160" marR="91440" marT="45720" marB="4572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E293B"/>
                          </a:solidFill>
                          <a:latin typeface="微软雅黑"/>
                          <a:ea typeface="微软雅黑"/>
                        </a:rPr>
                        <a:t>知识库管理 · 上传公开/私有文档 · 患者/住院管理 · 排班</a:t>
                      </a:r>
                    </a:p>
                  </a:txBody>
                  <a:tcPr marL="137160" marR="91440" marT="45720" marB="4572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E293B"/>
                          </a:solidFill>
                          <a:latin typeface="微软雅黑"/>
                          <a:ea typeface="微软雅黑"/>
                        </a:rPr>
                        <a:t>公开 + 私有文档</a:t>
                      </a:r>
                    </a:p>
                  </a:txBody>
                  <a:tcPr marL="137160" marR="91440" marT="45720" marB="45720" anchor="ctr">
                    <a:solidFill>
                      <a:srgbClr val="F1F5F9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E293B"/>
                          </a:solidFill>
                          <a:latin typeface="微软雅黑"/>
                          <a:ea typeface="微软雅黑"/>
                        </a:rPr>
                        <a:t>护士</a:t>
                      </a:r>
                    </a:p>
                  </a:txBody>
                  <a:tcPr marL="13716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E293B"/>
                          </a:solidFill>
                          <a:latin typeface="微软雅黑"/>
                          <a:ea typeface="微软雅黑"/>
                        </a:rPr>
                        <a:t>患者查看 · 护理记录 · 排班查看</a:t>
                      </a:r>
                    </a:p>
                  </a:txBody>
                  <a:tcPr marL="13716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E293B"/>
                          </a:solidFill>
                          <a:latin typeface="微软雅黑"/>
                          <a:ea typeface="微软雅黑"/>
                        </a:rPr>
                        <a:t>仅公开知识库 + 公开文档</a:t>
                      </a:r>
                    </a:p>
                  </a:txBody>
                  <a:tcPr marL="137160" marR="91440" marT="45720" marB="45720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E293B"/>
                          </a:solidFill>
                          <a:latin typeface="微软雅黑"/>
                          <a:ea typeface="微软雅黑"/>
                        </a:rPr>
                        <a:t>管理员</a:t>
                      </a:r>
                    </a:p>
                  </a:txBody>
                  <a:tcPr marL="137160" marR="91440" marT="45720" marB="4572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E293B"/>
                          </a:solidFill>
                          <a:latin typeface="微软雅黑"/>
                          <a:ea typeface="微软雅黑"/>
                        </a:rPr>
                        <a:t>用户管理 · 全部知识库 · 全系统数据看板</a:t>
                      </a:r>
                    </a:p>
                  </a:txBody>
                  <a:tcPr marL="137160" marR="91440" marT="45720" marB="4572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E293B"/>
                          </a:solidFill>
                          <a:latin typeface="微软雅黑"/>
                          <a:ea typeface="微软雅黑"/>
                        </a:rPr>
                        <a:t>全部数据</a:t>
                      </a:r>
                    </a:p>
                  </a:txBody>
                  <a:tcPr marL="137160" marR="91440" marT="45720" marB="4572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02920" y="480060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34E4A"/>
                </a:solidFill>
                <a:latin typeface="微软雅黑"/>
                <a:ea typeface="微软雅黑"/>
              </a:rPr>
              <a:t>权限控制策略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5257800"/>
            <a:ext cx="111556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800"/>
              </a:spcAft>
            </a:pPr>
            <a:r>
              <a:rPr sz="1250" b="1" i="0">
                <a:solidFill>
                  <a:srgbClr val="0F766E"/>
                </a:solidFill>
                <a:latin typeface="微软雅黑"/>
                <a:ea typeface="微软雅黑"/>
              </a:rPr>
              <a:t>● </a:t>
            </a:r>
            <a:r>
              <a:rPr sz="1250" b="0" i="0">
                <a:solidFill>
                  <a:srgbClr val="1E293B"/>
                </a:solidFill>
                <a:latin typeface="微软雅黑"/>
                <a:ea typeface="微软雅黑"/>
              </a:rPr>
              <a:t>普通用户（患者/群众/护士）检索时仅保留公开片段，过滤下推到向量库（Milvus expr / Numpy 标量过滤）</a:t>
            </a:r>
          </a:p>
          <a:p>
            <a:pPr>
              <a:lnSpc>
                <a:spcPct val="100000"/>
              </a:lnSpc>
              <a:spcAft>
                <a:spcPts val="800"/>
              </a:spcAft>
            </a:pPr>
            <a:r>
              <a:rPr sz="1250" b="1" i="0">
                <a:solidFill>
                  <a:srgbClr val="0F766E"/>
                </a:solidFill>
                <a:latin typeface="微软雅黑"/>
                <a:ea typeface="微软雅黑"/>
              </a:rPr>
              <a:t>● </a:t>
            </a:r>
            <a:r>
              <a:rPr sz="1250" b="0" i="0">
                <a:solidFill>
                  <a:srgbClr val="1E293B"/>
                </a:solidFill>
                <a:latin typeface="微软雅黑"/>
                <a:ea typeface="微软雅黑"/>
              </a:rPr>
              <a:t>医生可上传私有文档并仅供本人可见；管理员拥有全部权限，实现细粒度 RBAC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82296" cy="40233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10896"/>
            <a:ext cx="8686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E293B"/>
                </a:solidFill>
                <a:latin typeface="微软雅黑"/>
                <a:ea typeface="微软雅黑"/>
              </a:rPr>
              <a:t>功能性需求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978847" y="384048"/>
            <a:ext cx="1709928" cy="365760"/>
          </a:xfrm>
          <a:prstGeom prst="roundRect">
            <a:avLst>
              <a:gd name="adj" fmla="val 50000"/>
            </a:avLst>
          </a:prstGeom>
          <a:solidFill>
            <a:srgbClr val="E6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0F766E"/>
                </a:solidFill>
                <a:latin typeface="微软雅黑"/>
                <a:ea typeface="微软雅黑"/>
              </a:rPr>
              <a:t>01 · 背景与需求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969264"/>
            <a:ext cx="11183112" cy="1463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4748B"/>
                </a:solidFill>
                <a:latin typeface="微软雅黑"/>
                <a:ea typeface="微软雅黑"/>
              </a:rPr>
              <a:t>医智助手 · 医疗知识库智能问答系统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55664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4748B"/>
                </a:solidFill>
                <a:latin typeface="微软雅黑"/>
                <a:ea typeface="微软雅黑"/>
              </a:rPr>
              <a:t>07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234440"/>
            <a:ext cx="11183112" cy="658368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1380744"/>
            <a:ext cx="73152" cy="36576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1307592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34E4A"/>
                </a:solidFill>
                <a:latin typeface="微软雅黑"/>
                <a:ea typeface="微软雅黑"/>
              </a:rPr>
              <a:t>智能医疗咨询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9000" y="1325880"/>
            <a:ext cx="80924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E293B"/>
                </a:solidFill>
                <a:latin typeface="微软雅黑"/>
                <a:ea typeface="微软雅黑"/>
              </a:rPr>
              <a:t>自然语言提问 → 知识库召回 → 上下文构建 → 大模型流式回答，前端流式输出并附引用来源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1947672"/>
            <a:ext cx="11183112" cy="658368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85800" y="2093976"/>
            <a:ext cx="73152" cy="36576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2020824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34E4A"/>
                </a:solidFill>
                <a:latin typeface="微软雅黑"/>
                <a:ea typeface="微软雅黑"/>
              </a:rPr>
              <a:t>公开/私有权限模型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9000" y="2039112"/>
            <a:ext cx="80924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E293B"/>
                </a:solidFill>
                <a:latin typeface="微软雅黑"/>
                <a:ea typeface="微软雅黑"/>
              </a:rPr>
              <a:t>知识库与文档均可设置公开或私有，查询时按角色自动过滤可见文档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2660904"/>
            <a:ext cx="11183112" cy="658368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85800" y="2807208"/>
            <a:ext cx="73152" cy="36576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2734056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34E4A"/>
                </a:solidFill>
                <a:latin typeface="微软雅黑"/>
                <a:ea typeface="微软雅黑"/>
              </a:rPr>
              <a:t>多角色门户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29000" y="2752344"/>
            <a:ext cx="80924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E293B"/>
                </a:solidFill>
                <a:latin typeface="微软雅黑"/>
                <a:ea typeface="微软雅黑"/>
              </a:rPr>
              <a:t>5 种角色登录后呈现不同功能导航与权限，统一单页应用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374136"/>
            <a:ext cx="11183112" cy="658368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85800" y="3520440"/>
            <a:ext cx="73152" cy="36576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3447288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34E4A"/>
                </a:solidFill>
                <a:latin typeface="微软雅黑"/>
                <a:ea typeface="微软雅黑"/>
              </a:rPr>
              <a:t>患者健康档案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29000" y="3465576"/>
            <a:ext cx="80924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E293B"/>
                </a:solidFill>
                <a:latin typeface="微软雅黑"/>
                <a:ea typeface="微软雅黑"/>
              </a:rPr>
              <a:t>最近住院信息、消费明细、预约挂号查询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4087368"/>
            <a:ext cx="11183112" cy="658368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85800" y="4233672"/>
            <a:ext cx="73152" cy="36576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0120" y="4160520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34E4A"/>
                </a:solidFill>
                <a:latin typeface="微软雅黑"/>
                <a:ea typeface="微软雅黑"/>
              </a:rPr>
              <a:t>医护工作台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29000" y="4178808"/>
            <a:ext cx="80924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E293B"/>
                </a:solidFill>
                <a:latin typeface="微软雅黑"/>
                <a:ea typeface="微软雅黑"/>
              </a:rPr>
              <a:t>患者管理、住院信息管理、护理记录、排班管理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4800600"/>
            <a:ext cx="11183112" cy="658368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85800" y="4946904"/>
            <a:ext cx="73152" cy="36576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60120" y="4873752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34E4A"/>
                </a:solidFill>
                <a:latin typeface="微软雅黑"/>
                <a:ea typeface="微软雅黑"/>
              </a:rPr>
              <a:t>知识库管理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29000" y="4892040"/>
            <a:ext cx="80924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E293B"/>
                </a:solidFill>
                <a:latin typeface="微软雅黑"/>
                <a:ea typeface="微软雅黑"/>
              </a:rPr>
              <a:t>创建知识库、上传 txt/md/pdf/docx/pptx、切分、向量化入库与检索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5513832"/>
            <a:ext cx="11183112" cy="658368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85800" y="5660136"/>
            <a:ext cx="73152" cy="36576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0120" y="5586984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34E4A"/>
                </a:solidFill>
                <a:latin typeface="微软雅黑"/>
                <a:ea typeface="微软雅黑"/>
              </a:rPr>
              <a:t>系统管理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429000" y="5605272"/>
            <a:ext cx="80924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E293B"/>
                </a:solidFill>
                <a:latin typeface="微软雅黑"/>
                <a:ea typeface="微软雅黑"/>
              </a:rPr>
              <a:t>用户增删改查、全系统统计看板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82296" cy="40233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10896"/>
            <a:ext cx="8686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E293B"/>
                </a:solidFill>
                <a:latin typeface="微软雅黑"/>
                <a:ea typeface="微软雅黑"/>
              </a:rPr>
              <a:t>非功能性需求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978847" y="384048"/>
            <a:ext cx="1709928" cy="365760"/>
          </a:xfrm>
          <a:prstGeom prst="roundRect">
            <a:avLst>
              <a:gd name="adj" fmla="val 50000"/>
            </a:avLst>
          </a:prstGeom>
          <a:solidFill>
            <a:srgbClr val="E6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0F766E"/>
                </a:solidFill>
                <a:latin typeface="微软雅黑"/>
                <a:ea typeface="微软雅黑"/>
              </a:rPr>
              <a:t>01 · 背景与需求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969264"/>
            <a:ext cx="11183112" cy="1463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4748B"/>
                </a:solidFill>
                <a:latin typeface="微软雅黑"/>
                <a:ea typeface="微软雅黑"/>
              </a:rPr>
              <a:t>医智助手 · 医疗知识库智能问答系统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55664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4748B"/>
                </a:solidFill>
                <a:latin typeface="微软雅黑"/>
                <a:ea typeface="微软雅黑"/>
              </a:rPr>
              <a:t>08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325880"/>
            <a:ext cx="5440680" cy="2103120"/>
          </a:xfrm>
          <a:prstGeom prst="roundRect">
            <a:avLst>
              <a:gd name="adj" fmla="val 5000"/>
            </a:avLst>
          </a:prstGeom>
          <a:solidFill>
            <a:srgbClr val="EA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77240" y="1600200"/>
            <a:ext cx="502920" cy="5029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6968" y="169164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</a:rPr>
              <a:t>性能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8" y="2286000"/>
            <a:ext cx="4892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E293B"/>
                </a:solidFill>
                <a:latin typeface="微软雅黑"/>
                <a:ea typeface="微软雅黑"/>
              </a:rPr>
              <a:t>SSE 流式响应，边生成边输出，首字延迟低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325880"/>
            <a:ext cx="5440680" cy="2103120"/>
          </a:xfrm>
          <a:prstGeom prst="roundRect">
            <a:avLst>
              <a:gd name="adj" fmla="val 5000"/>
            </a:avLst>
          </a:prstGeom>
          <a:solidFill>
            <a:srgbClr val="E6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537959" y="1600200"/>
            <a:ext cx="502920" cy="502920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47688" y="169164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</a:rPr>
              <a:t>可用性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286000"/>
            <a:ext cx="4892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E293B"/>
                </a:solidFill>
                <a:latin typeface="微软雅黑"/>
                <a:ea typeface="微软雅黑"/>
              </a:rPr>
              <a:t>无 API Key 也可运行；Milvus 未启动自动降级 NumpyStore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703320"/>
            <a:ext cx="5440680" cy="2103120"/>
          </a:xfrm>
          <a:prstGeom prst="roundRect">
            <a:avLst>
              <a:gd name="adj" fmla="val 5000"/>
            </a:avLst>
          </a:prstGeom>
          <a:solidFill>
            <a:srgbClr val="CC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77240" y="3977639"/>
            <a:ext cx="502920" cy="502920"/>
          </a:xfrm>
          <a:prstGeom prst="ellipse">
            <a:avLst/>
          </a:prstGeom>
          <a:solidFill>
            <a:srgbClr val="134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" y="406908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</a:rPr>
              <a:t>安全性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8" y="4663440"/>
            <a:ext cx="4892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E293B"/>
                </a:solidFill>
                <a:latin typeface="微软雅黑"/>
                <a:ea typeface="微软雅黑"/>
              </a:rPr>
              <a:t>JWT 认证 · 密码哈希存储 · 接口角色校验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3703320"/>
            <a:ext cx="5440680" cy="2103120"/>
          </a:xfrm>
          <a:prstGeom prst="roundRect">
            <a:avLst>
              <a:gd name="adj" fmla="val 5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537959" y="3977639"/>
            <a:ext cx="502920" cy="502920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47688" y="406908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</a:rPr>
              <a:t>可维护性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56248" y="4663440"/>
            <a:ext cx="4892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E293B"/>
                </a:solidFill>
                <a:latin typeface="微软雅黑"/>
                <a:ea typeface="微软雅黑"/>
              </a:rPr>
              <a:t>Blueprint + Service 分层，模块职责清晰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5806440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250" b="1" i="0">
                <a:solidFill>
                  <a:srgbClr val="0F766E"/>
                </a:solidFill>
                <a:latin typeface="微软雅黑"/>
                <a:ea typeface="微软雅黑"/>
              </a:rPr>
              <a:t>● </a:t>
            </a:r>
            <a:r>
              <a:rPr sz="1250" b="0" i="0">
                <a:solidFill>
                  <a:srgbClr val="1E293B"/>
                </a:solidFill>
                <a:latin typeface="微软雅黑"/>
                <a:ea typeface="微软雅黑"/>
              </a:rPr>
              <a:t>可扩展性：向量库可切换（Milvus / NumpyStore）、模型可更换（DeepSeek / OpenAI / 通义 / Ollama）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234440"/>
            <a:ext cx="41148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1" i="0">
                <a:solidFill>
                  <a:srgbClr val="E0F2FE"/>
                </a:solidFill>
                <a:latin typeface="微软雅黑"/>
                <a:ea typeface="微软雅黑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200400"/>
            <a:ext cx="4434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134E4A"/>
                </a:solidFill>
                <a:latin typeface="微软雅黑"/>
                <a:ea typeface="微软雅黑"/>
              </a:rPr>
              <a:t>系统总体设计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0432" y="422452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94A3B8"/>
                </a:solidFill>
                <a:latin typeface="微软雅黑"/>
                <a:ea typeface="微软雅黑"/>
              </a:rPr>
              <a:t>SYSTEM DESIGN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0" y="1371600"/>
            <a:ext cx="6035040" cy="658368"/>
          </a:xfrm>
          <a:prstGeom prst="roundRect">
            <a:avLst>
              <a:gd name="adj" fmla="val 18000"/>
            </a:avLst>
          </a:prstGeom>
          <a:solidFill>
            <a:srgbClr val="E6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89320" y="1499616"/>
            <a:ext cx="457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F766E"/>
                </a:solidFill>
                <a:latin typeface="微软雅黑"/>
                <a:ea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508760"/>
            <a:ext cx="5120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E293B"/>
                </a:solidFill>
                <a:latin typeface="微软雅黑"/>
                <a:ea typeface="微软雅黑"/>
              </a:rPr>
              <a:t>系统总体架构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0" y="2176272"/>
            <a:ext cx="6035040" cy="658368"/>
          </a:xfrm>
          <a:prstGeom prst="roundRect">
            <a:avLst>
              <a:gd name="adj" fmla="val 18000"/>
            </a:avLst>
          </a:prstGeom>
          <a:solidFill>
            <a:srgbClr val="E6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89320" y="2304288"/>
            <a:ext cx="457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F766E"/>
                </a:solidFill>
                <a:latin typeface="微软雅黑"/>
                <a:ea typeface="微软雅黑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313432"/>
            <a:ext cx="5120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E293B"/>
                </a:solidFill>
                <a:latin typeface="微软雅黑"/>
                <a:ea typeface="微软雅黑"/>
              </a:rPr>
              <a:t>技术栈选型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0" y="2980944"/>
            <a:ext cx="6035040" cy="658368"/>
          </a:xfrm>
          <a:prstGeom prst="roundRect">
            <a:avLst>
              <a:gd name="adj" fmla="val 18000"/>
            </a:avLst>
          </a:prstGeom>
          <a:solidFill>
            <a:srgbClr val="E6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89320" y="3108960"/>
            <a:ext cx="457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F766E"/>
                </a:solidFill>
                <a:latin typeface="微软雅黑"/>
                <a:ea typeface="微软雅黑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3118103"/>
            <a:ext cx="5120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E293B"/>
                </a:solidFill>
                <a:latin typeface="微软雅黑"/>
                <a:ea typeface="微软雅黑"/>
              </a:rPr>
              <a:t>数据库设计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0" y="3785615"/>
            <a:ext cx="6035040" cy="658368"/>
          </a:xfrm>
          <a:prstGeom prst="roundRect">
            <a:avLst>
              <a:gd name="adj" fmla="val 18000"/>
            </a:avLst>
          </a:prstGeom>
          <a:solidFill>
            <a:srgbClr val="E6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89320" y="3913631"/>
            <a:ext cx="457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F766E"/>
                </a:solidFill>
                <a:latin typeface="微软雅黑"/>
                <a:ea typeface="微软雅黑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922776"/>
            <a:ext cx="5120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E293B"/>
                </a:solidFill>
                <a:latin typeface="微软雅黑"/>
                <a:ea typeface="微软雅黑"/>
              </a:rPr>
              <a:t>权限与安全设计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0" y="4590288"/>
            <a:ext cx="6035040" cy="658368"/>
          </a:xfrm>
          <a:prstGeom prst="roundRect">
            <a:avLst>
              <a:gd name="adj" fmla="val 18000"/>
            </a:avLst>
          </a:prstGeom>
          <a:solidFill>
            <a:srgbClr val="E6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89320" y="4718303"/>
            <a:ext cx="457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F766E"/>
                </a:solidFill>
                <a:latin typeface="微软雅黑"/>
                <a:ea typeface="微软雅黑"/>
              </a:rPr>
              <a:t>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4727448"/>
            <a:ext cx="5120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E293B"/>
                </a:solidFill>
                <a:latin typeface="微软雅黑"/>
                <a:ea typeface="微软雅黑"/>
              </a:rPr>
              <a:t>向量检索与 RAG 设计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82296" cy="40233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10896"/>
            <a:ext cx="8686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E293B"/>
                </a:solidFill>
                <a:latin typeface="微软雅黑"/>
                <a:ea typeface="微软雅黑"/>
              </a:rPr>
              <a:t>系统总体架构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120579" y="384048"/>
            <a:ext cx="1568196" cy="365760"/>
          </a:xfrm>
          <a:prstGeom prst="roundRect">
            <a:avLst>
              <a:gd name="adj" fmla="val 50000"/>
            </a:avLst>
          </a:prstGeom>
          <a:solidFill>
            <a:srgbClr val="E6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0F766E"/>
                </a:solidFill>
                <a:latin typeface="微软雅黑"/>
                <a:ea typeface="微软雅黑"/>
              </a:rPr>
              <a:t>02 · 总体设计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969264"/>
            <a:ext cx="11183112" cy="1463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4748B"/>
                </a:solidFill>
                <a:latin typeface="微软雅黑"/>
                <a:ea typeface="微软雅黑"/>
              </a:rPr>
              <a:t>医智助手 · 医疗知识库智能问答系统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55664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4748B"/>
                </a:solidFill>
                <a:latin typeface="微软雅黑"/>
                <a:ea typeface="微软雅黑"/>
              </a:rP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234440"/>
            <a:ext cx="2103120" cy="502920"/>
          </a:xfrm>
          <a:prstGeom prst="roundRect">
            <a:avLst>
              <a:gd name="adj" fmla="val 50000"/>
            </a:avLst>
          </a:prstGeom>
          <a:solidFill>
            <a:srgbClr val="CC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134E4A"/>
                </a:solidFill>
                <a:latin typeface="微软雅黑"/>
                <a:ea typeface="微软雅黑"/>
              </a:rPr>
              <a:t>患者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50058" y="1234440"/>
            <a:ext cx="2103120" cy="502920"/>
          </a:xfrm>
          <a:prstGeom prst="roundRect">
            <a:avLst>
              <a:gd name="adj" fmla="val 50000"/>
            </a:avLst>
          </a:prstGeom>
          <a:solidFill>
            <a:srgbClr val="CC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134E4A"/>
                </a:solidFill>
                <a:latin typeface="微软雅黑"/>
                <a:ea typeface="微软雅黑"/>
              </a:rPr>
              <a:t>医生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97196" y="1234440"/>
            <a:ext cx="2103120" cy="502920"/>
          </a:xfrm>
          <a:prstGeom prst="roundRect">
            <a:avLst>
              <a:gd name="adj" fmla="val 50000"/>
            </a:avLst>
          </a:prstGeom>
          <a:solidFill>
            <a:srgbClr val="CC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134E4A"/>
                </a:solidFill>
                <a:latin typeface="微软雅黑"/>
                <a:ea typeface="微软雅黑"/>
              </a:rPr>
              <a:t>护士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44333" y="1234440"/>
            <a:ext cx="2103120" cy="502920"/>
          </a:xfrm>
          <a:prstGeom prst="roundRect">
            <a:avLst>
              <a:gd name="adj" fmla="val 50000"/>
            </a:avLst>
          </a:prstGeom>
          <a:solidFill>
            <a:srgbClr val="CC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134E4A"/>
                </a:solidFill>
                <a:latin typeface="微软雅黑"/>
                <a:ea typeface="微软雅黑"/>
              </a:rPr>
              <a:t>群众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491472" y="1234440"/>
            <a:ext cx="2103120" cy="502920"/>
          </a:xfrm>
          <a:prstGeom prst="roundRect">
            <a:avLst>
              <a:gd name="adj" fmla="val 50000"/>
            </a:avLst>
          </a:prstGeom>
          <a:solidFill>
            <a:srgbClr val="CC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134E4A"/>
                </a:solidFill>
                <a:latin typeface="微软雅黑"/>
                <a:ea typeface="微软雅黑"/>
              </a:rPr>
              <a:t>管理员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16752" y="1755648"/>
            <a:ext cx="164592" cy="54864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Isosceles Triangle 14"/>
          <p:cNvSpPr/>
          <p:nvPr/>
        </p:nvSpPr>
        <p:spPr>
          <a:xfrm>
            <a:off x="5971032" y="1700784"/>
            <a:ext cx="256032" cy="146304"/>
          </a:xfrm>
          <a:prstGeom prst="triangl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02920" y="1828800"/>
            <a:ext cx="11183112" cy="640080"/>
          </a:xfrm>
          <a:prstGeom prst="roundRect">
            <a:avLst>
              <a:gd name="adj" fmla="val 14000"/>
            </a:avLst>
          </a:prstGeom>
          <a:solidFill>
            <a:srgbClr val="134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1956816"/>
            <a:ext cx="1081735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微软雅黑"/>
                <a:ea typeface="微软雅黑"/>
              </a:rPr>
              <a:t>表现层：Vue 3 单页应用（Element Plus · Pinia · Vue Router · ECharts · Axios）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16752" y="2505456"/>
            <a:ext cx="164592" cy="54864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Isosceles Triangle 18"/>
          <p:cNvSpPr/>
          <p:nvPr/>
        </p:nvSpPr>
        <p:spPr>
          <a:xfrm>
            <a:off x="5971032" y="2450592"/>
            <a:ext cx="256032" cy="146304"/>
          </a:xfrm>
          <a:prstGeom prst="triangl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02920" y="2578608"/>
            <a:ext cx="5440680" cy="1481328"/>
          </a:xfrm>
          <a:prstGeom prst="roundRect">
            <a:avLst>
              <a:gd name="adj" fmla="val 5000"/>
            </a:avLst>
          </a:prstGeom>
          <a:solidFill>
            <a:srgbClr val="E6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2697480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34E4A"/>
                </a:solidFill>
                <a:latin typeface="微软雅黑"/>
                <a:ea typeface="微软雅黑"/>
              </a:rPr>
              <a:t>API 接口层 · Flask Blueprint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3127248"/>
            <a:ext cx="5029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E293B"/>
                </a:solidFill>
                <a:latin typeface="微软雅黑"/>
                <a:ea typeface="微软雅黑"/>
              </a:rPr>
              <a:t>auth · kb · chat · patient · doctor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E293B"/>
                </a:solidFill>
                <a:latin typeface="微软雅黑"/>
                <a:ea typeface="微软雅黑"/>
              </a:rPr>
              <a:t>nurse · schedule · dashboard · admin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45352" y="2578608"/>
            <a:ext cx="5440680" cy="1481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73952" y="2697480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34E4A"/>
                </a:solidFill>
                <a:latin typeface="微软雅黑"/>
                <a:ea typeface="微软雅黑"/>
              </a:rPr>
              <a:t>业务服务层 · Service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73952" y="3127248"/>
            <a:ext cx="5029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E293B"/>
                </a:solidFill>
                <a:latin typeface="微软雅黑"/>
                <a:ea typeface="微软雅黑"/>
              </a:rPr>
              <a:t>智能咨询(RAG) · 知识库 · 文档处理 · 检索重排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E293B"/>
                </a:solidFill>
                <a:latin typeface="微软雅黑"/>
                <a:ea typeface="微软雅黑"/>
              </a:rPr>
              <a:t>患者档案 · 医护排班 · 用户管理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16752" y="4096512"/>
            <a:ext cx="164592" cy="54864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Isosceles Triangle 26"/>
          <p:cNvSpPr/>
          <p:nvPr/>
        </p:nvSpPr>
        <p:spPr>
          <a:xfrm>
            <a:off x="5971032" y="4041648"/>
            <a:ext cx="256032" cy="146304"/>
          </a:xfrm>
          <a:prstGeom prst="triangl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02920" y="4169663"/>
            <a:ext cx="11183112" cy="640080"/>
          </a:xfrm>
          <a:prstGeom prst="roundRect">
            <a:avLst>
              <a:gd name="adj" fmla="val 14000"/>
            </a:avLst>
          </a:prstGeom>
          <a:solidFill>
            <a:srgbClr val="134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4297680"/>
            <a:ext cx="1081735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微软雅黑"/>
                <a:ea typeface="微软雅黑"/>
              </a:rPr>
              <a:t>数据与基础：MySQL 8 业务数据 · Milvus/NumpyStore 向量库 · 本地文件存储 · LLM 接口（DeepSeek）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5074920"/>
            <a:ext cx="11183112" cy="10972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523036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34E4A"/>
                </a:solidFill>
                <a:latin typeface="微软雅黑"/>
                <a:ea typeface="微软雅黑"/>
              </a:rPr>
              <a:t>关键机制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5528" y="5650992"/>
            <a:ext cx="106070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500"/>
              </a:spcAft>
            </a:pPr>
            <a:r>
              <a:rPr sz="1150" b="1" i="0">
                <a:solidFill>
                  <a:srgbClr val="0F766E"/>
                </a:solidFill>
                <a:latin typeface="微软雅黑"/>
                <a:ea typeface="微软雅黑"/>
              </a:rPr>
              <a:t>● </a:t>
            </a:r>
            <a:r>
              <a:rPr sz="1150" b="0" i="0">
                <a:solidFill>
                  <a:srgbClr val="1E293B"/>
                </a:solidFill>
                <a:latin typeface="微软雅黑"/>
                <a:ea typeface="微软雅黑"/>
              </a:rPr>
              <a:t>JWT 认证与会话管理 → 角色鉴权后访问各服务；SSE 流式响应推送到前端</a:t>
            </a:r>
          </a:p>
          <a:p>
            <a:pPr>
              <a:lnSpc>
                <a:spcPct val="100000"/>
              </a:lnSpc>
              <a:spcAft>
                <a:spcPts val="500"/>
              </a:spcAft>
            </a:pPr>
            <a:r>
              <a:rPr sz="1150" b="1" i="0">
                <a:solidFill>
                  <a:srgbClr val="0F766E"/>
                </a:solidFill>
                <a:latin typeface="微软雅黑"/>
                <a:ea typeface="微软雅黑"/>
              </a:rPr>
              <a:t>● </a:t>
            </a:r>
            <a:r>
              <a:rPr sz="1150" b="0" i="0">
                <a:solidFill>
                  <a:srgbClr val="1E293B"/>
                </a:solidFill>
                <a:latin typeface="微软雅黑"/>
                <a:ea typeface="微软雅黑"/>
              </a:rPr>
              <a:t>RAG 全链路：权限过滤 → 向量召回 → 关键词重排 → 上下文构建 → 大模型生成 → 引用来源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82296" cy="40233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10896"/>
            <a:ext cx="8686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E293B"/>
                </a:solidFill>
                <a:latin typeface="微软雅黑"/>
                <a:ea typeface="微软雅黑"/>
              </a:rPr>
              <a:t>技术栈选型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120579" y="384048"/>
            <a:ext cx="1568196" cy="365760"/>
          </a:xfrm>
          <a:prstGeom prst="roundRect">
            <a:avLst>
              <a:gd name="adj" fmla="val 50000"/>
            </a:avLst>
          </a:prstGeom>
          <a:solidFill>
            <a:srgbClr val="E6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0F766E"/>
                </a:solidFill>
                <a:latin typeface="微软雅黑"/>
                <a:ea typeface="微软雅黑"/>
              </a:rPr>
              <a:t>02 · 总体设计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969264"/>
            <a:ext cx="11183112" cy="1463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4748B"/>
                </a:solidFill>
                <a:latin typeface="微软雅黑"/>
                <a:ea typeface="微软雅黑"/>
              </a:rPr>
              <a:t>医智助手 · 医疗知识库智能问答系统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55664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4748B"/>
                </a:solidFill>
                <a:latin typeface="微软雅黑"/>
                <a:ea typeface="微软雅黑"/>
              </a:rPr>
              <a:t>11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280160"/>
          <a:ext cx="11183112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4846320"/>
                <a:gridCol w="4782312"/>
              </a:tblGrid>
              <a:tr h="640080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层级</a:t>
                      </a:r>
                    </a:p>
                  </a:txBody>
                  <a:tcPr marL="137160" marR="91440" marT="36576" marB="36576" anchor="ctr">
                    <a:solidFill>
                      <a:srgbClr val="0F76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技术选型</a:t>
                      </a:r>
                    </a:p>
                  </a:txBody>
                  <a:tcPr marL="137160" marR="91440" marT="36576" marB="36576" anchor="ctr">
                    <a:solidFill>
                      <a:srgbClr val="0F76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说明</a:t>
                      </a:r>
                    </a:p>
                  </a:txBody>
                  <a:tcPr marL="137160" marR="91440" marT="36576" marB="36576" anchor="ctr">
                    <a:solidFill>
                      <a:srgbClr val="0F766E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E293B"/>
                          </a:solidFill>
                          <a:latin typeface="微软雅黑"/>
                          <a:ea typeface="微软雅黑"/>
                        </a:rPr>
                        <a:t>前端</a:t>
                      </a:r>
                    </a:p>
                  </a:txBody>
                  <a:tcPr marL="13716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E293B"/>
                          </a:solidFill>
                          <a:latin typeface="微软雅黑"/>
                          <a:ea typeface="微软雅黑"/>
                        </a:rPr>
                        <a:t>Vue 3 · TypeScript · Vite · Element Plus</a:t>
                      </a:r>
                    </a:p>
                  </a:txBody>
                  <a:tcPr marL="13716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E293B"/>
                          </a:solidFill>
                          <a:latin typeface="微软雅黑"/>
                          <a:ea typeface="微软雅黑"/>
                        </a:rPr>
                        <a:t>Pinia · Vue Router · ECharts · Axios，单页应用</a:t>
                      </a:r>
                    </a:p>
                  </a:txBody>
                  <a:tcPr marL="137160" marR="91440" marT="36576" marB="36576"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E293B"/>
                          </a:solidFill>
                          <a:latin typeface="微软雅黑"/>
                          <a:ea typeface="微软雅黑"/>
                        </a:rPr>
                        <a:t>后端</a:t>
                      </a:r>
                    </a:p>
                  </a:txBody>
                  <a:tcPr marL="137160" marR="91440" marT="36576" marB="36576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E293B"/>
                          </a:solidFill>
                          <a:latin typeface="微软雅黑"/>
                          <a:ea typeface="微软雅黑"/>
                        </a:rPr>
                        <a:t>Python · Flask · Flask-CORS</a:t>
                      </a:r>
                    </a:p>
                  </a:txBody>
                  <a:tcPr marL="137160" marR="91440" marT="36576" marB="36576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E293B"/>
                          </a:solidFill>
                          <a:latin typeface="微软雅黑"/>
                          <a:ea typeface="微软雅黑"/>
                        </a:rPr>
                        <a:t>Blueprint + Service 分层，SSE 流式</a:t>
                      </a:r>
                    </a:p>
                  </a:txBody>
                  <a:tcPr marL="137160" marR="91440" marT="36576" marB="36576" anchor="ctr">
                    <a:solidFill>
                      <a:srgbClr val="F1F5F9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E293B"/>
                          </a:solidFill>
                          <a:latin typeface="微软雅黑"/>
                          <a:ea typeface="微软雅黑"/>
                        </a:rPr>
                        <a:t>数据存储</a:t>
                      </a:r>
                    </a:p>
                  </a:txBody>
                  <a:tcPr marL="13716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E293B"/>
                          </a:solidFill>
                          <a:latin typeface="微软雅黑"/>
                          <a:ea typeface="微软雅黑"/>
                        </a:rPr>
                        <a:t>MySQL 8 · Milvus 向量库 · 本地文件</a:t>
                      </a:r>
                    </a:p>
                  </a:txBody>
                  <a:tcPr marL="13716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E293B"/>
                          </a:solidFill>
                          <a:latin typeface="微软雅黑"/>
                          <a:ea typeface="微软雅黑"/>
                        </a:rPr>
                        <a:t>NumpyStore 纯 Python 兜底，cosine 相似度</a:t>
                      </a:r>
                    </a:p>
                  </a:txBody>
                  <a:tcPr marL="137160" marR="91440" marT="36576" marB="36576"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E293B"/>
                          </a:solidFill>
                          <a:latin typeface="微软雅黑"/>
                          <a:ea typeface="微软雅黑"/>
                        </a:rPr>
                        <a:t>AI / RAG</a:t>
                      </a:r>
                    </a:p>
                  </a:txBody>
                  <a:tcPr marL="137160" marR="91440" marT="36576" marB="36576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E293B"/>
                          </a:solidFill>
                          <a:latin typeface="微软雅黑"/>
                          <a:ea typeface="微软雅黑"/>
                        </a:rPr>
                        <a:t>OpenAI 兼容接口 · bge 向量模型</a:t>
                      </a:r>
                    </a:p>
                  </a:txBody>
                  <a:tcPr marL="137160" marR="91440" marT="36576" marB="36576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E293B"/>
                          </a:solidFill>
                          <a:latin typeface="微软雅黑"/>
                          <a:ea typeface="微软雅黑"/>
                        </a:rPr>
                        <a:t>文档切分 · 向量检索 · 关键词重排 · 流式响应 · 离线兜底</a:t>
                      </a:r>
                    </a:p>
                  </a:txBody>
                  <a:tcPr marL="137160" marR="91440" marT="36576" marB="36576" anchor="ctr">
                    <a:solidFill>
                      <a:srgbClr val="F1F5F9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E293B"/>
                          </a:solidFill>
                          <a:latin typeface="微软雅黑"/>
                          <a:ea typeface="微软雅黑"/>
                        </a:rPr>
                        <a:t>部署</a:t>
                      </a:r>
                    </a:p>
                  </a:txBody>
                  <a:tcPr marL="13716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E293B"/>
                          </a:solidFill>
                          <a:latin typeface="微软雅黑"/>
                          <a:ea typeface="微软雅黑"/>
                        </a:rPr>
                        <a:t>Docker Compose</a:t>
                      </a:r>
                    </a:p>
                  </a:txBody>
                  <a:tcPr marL="13716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E293B"/>
                          </a:solidFill>
                          <a:latin typeface="微软雅黑"/>
                          <a:ea typeface="微软雅黑"/>
                        </a:rPr>
                        <a:t>MySQL + 前端 Nginx + 后端 gunicorn，一键启动</a:t>
                      </a:r>
                    </a:p>
                  </a:txBody>
                  <a:tcPr marL="137160" marR="91440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02920" y="5349240"/>
            <a:ext cx="11155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250" b="1" i="0">
                <a:solidFill>
                  <a:srgbClr val="0F766E"/>
                </a:solidFill>
                <a:latin typeface="微软雅黑"/>
                <a:ea typeface="微软雅黑"/>
              </a:rPr>
              <a:t>● </a:t>
            </a:r>
            <a:r>
              <a:rPr sz="1250" b="0" i="0">
                <a:solidFill>
                  <a:srgbClr val="1E293B"/>
                </a:solidFill>
                <a:latin typeface="微软雅黑"/>
                <a:ea typeface="微软雅黑"/>
              </a:rPr>
              <a:t>开源可复用：MySQL 建库建表自动执行、幂等播种演示数据，开箱即用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250" b="1" i="0">
                <a:solidFill>
                  <a:srgbClr val="0F766E"/>
                </a:solidFill>
                <a:latin typeface="微软雅黑"/>
                <a:ea typeface="微软雅黑"/>
              </a:rPr>
              <a:t>● </a:t>
            </a:r>
            <a:r>
              <a:rPr sz="1250" b="0" i="0">
                <a:solidFill>
                  <a:srgbClr val="1E293B"/>
                </a:solidFill>
                <a:latin typeface="微软雅黑"/>
                <a:ea typeface="微软雅黑"/>
              </a:rPr>
              <a:t>全链路可降级：无 LLM 密钥、无 Milvus 也能运行完整 RAG 流程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82296" cy="40233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10896"/>
            <a:ext cx="8686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E293B"/>
                </a:solidFill>
                <a:latin typeface="微软雅黑"/>
                <a:ea typeface="微软雅黑"/>
              </a:rPr>
              <a:t>数据库设计（MySQL 8）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120579" y="384048"/>
            <a:ext cx="1568196" cy="365760"/>
          </a:xfrm>
          <a:prstGeom prst="roundRect">
            <a:avLst>
              <a:gd name="adj" fmla="val 50000"/>
            </a:avLst>
          </a:prstGeom>
          <a:solidFill>
            <a:srgbClr val="E6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0F766E"/>
                </a:solidFill>
                <a:latin typeface="微软雅黑"/>
                <a:ea typeface="微软雅黑"/>
              </a:rPr>
              <a:t>02 · 总体设计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969264"/>
            <a:ext cx="11183112" cy="1463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4748B"/>
                </a:solidFill>
                <a:latin typeface="微软雅黑"/>
                <a:ea typeface="微软雅黑"/>
              </a:rPr>
              <a:t>医智助手 · 医疗知识库智能问答系统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55664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4748B"/>
                </a:solidFill>
                <a:latin typeface="微软雅黑"/>
                <a:ea typeface="微软雅黑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17043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4748B"/>
                </a:solidFill>
                <a:latin typeface="微软雅黑"/>
                <a:ea typeface="微软雅黑"/>
              </a:rPr>
              <a:t>数据库 medical-assistant-master · utf8mb4 · 启动时自动建库建表、幂等播种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691640"/>
            <a:ext cx="5440680" cy="566928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801368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34E4A"/>
                </a:solidFill>
                <a:latin typeface="微软雅黑"/>
                <a:ea typeface="微软雅黑"/>
              </a:rPr>
              <a:t>users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0360" y="1810512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4748B"/>
                </a:solidFill>
                <a:latin typeface="微软雅黑"/>
                <a:ea typeface="微软雅黑"/>
              </a:rPr>
              <a:t>用户（5 种角色）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74920" y="1810512"/>
            <a:ext cx="731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0F766E"/>
                </a:solidFill>
                <a:latin typeface="微软雅黑"/>
                <a:ea typeface="微软雅黑"/>
              </a:rPr>
              <a:t>50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691640"/>
            <a:ext cx="5440680" cy="566928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4807" y="1801368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34E4A"/>
                </a:solidFill>
                <a:latin typeface="微软雅黑"/>
                <a:ea typeface="微软雅黑"/>
              </a:rPr>
              <a:t>knowledge_bases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41080" y="1810512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4748B"/>
                </a:solidFill>
                <a:latin typeface="微软雅黑"/>
                <a:ea typeface="微软雅黑"/>
              </a:rPr>
              <a:t>知识库（公开/私有）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35640" y="1810512"/>
            <a:ext cx="731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0F766E"/>
                </a:solidFill>
                <a:latin typeface="微软雅黑"/>
                <a:ea typeface="微软雅黑"/>
              </a:rPr>
              <a:t>50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2313432"/>
            <a:ext cx="5440680" cy="566928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4088" y="2423160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34E4A"/>
                </a:solidFill>
                <a:latin typeface="微软雅黑"/>
                <a:ea typeface="微软雅黑"/>
              </a:rPr>
              <a:t>documents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80360" y="2432304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4748B"/>
                </a:solidFill>
                <a:latin typeface="微软雅黑"/>
                <a:ea typeface="微软雅黑"/>
              </a:rPr>
              <a:t>文档（visibility）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2432304"/>
            <a:ext cx="731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0F766E"/>
                </a:solidFill>
                <a:latin typeface="微软雅黑"/>
                <a:ea typeface="微软雅黑"/>
              </a:rPr>
              <a:t>240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2313432"/>
            <a:ext cx="5440680" cy="566928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4807" y="2423160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34E4A"/>
                </a:solidFill>
                <a:latin typeface="微软雅黑"/>
                <a:ea typeface="微软雅黑"/>
              </a:rPr>
              <a:t>conversations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41080" y="2432304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4748B"/>
                </a:solidFill>
                <a:latin typeface="微软雅黑"/>
                <a:ea typeface="微软雅黑"/>
              </a:rPr>
              <a:t>咨询会话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35640" y="2432304"/>
            <a:ext cx="731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0F766E"/>
                </a:solidFill>
                <a:latin typeface="微软雅黑"/>
                <a:ea typeface="微软雅黑"/>
              </a:rPr>
              <a:t>50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2935224"/>
            <a:ext cx="5440680" cy="566928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4088" y="3044952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34E4A"/>
                </a:solidFill>
                <a:latin typeface="微软雅黑"/>
                <a:ea typeface="微软雅黑"/>
              </a:rPr>
              <a:t>messages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80360" y="3054096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4748B"/>
                </a:solidFill>
                <a:latin typeface="微软雅黑"/>
                <a:ea typeface="微软雅黑"/>
              </a:rPr>
              <a:t>会话消息（问答对）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74920" y="3054096"/>
            <a:ext cx="731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0F766E"/>
                </a:solidFill>
                <a:latin typeface="微软雅黑"/>
                <a:ea typeface="微软雅黑"/>
              </a:rPr>
              <a:t>100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63640" y="2935224"/>
            <a:ext cx="5440680" cy="566928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64807" y="3044952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34E4A"/>
                </a:solidFill>
                <a:latin typeface="微软雅黑"/>
                <a:ea typeface="微软雅黑"/>
              </a:rPr>
              <a:t>citations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41080" y="3054096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4748B"/>
                </a:solidFill>
                <a:latin typeface="微软雅黑"/>
                <a:ea typeface="微软雅黑"/>
              </a:rPr>
              <a:t>回答引用来源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35640" y="3054096"/>
            <a:ext cx="731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0F766E"/>
                </a:solidFill>
                <a:latin typeface="微软雅黑"/>
                <a:ea typeface="微软雅黑"/>
              </a:rPr>
              <a:t>50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2920" y="3557016"/>
            <a:ext cx="5440680" cy="566928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04088" y="3666744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34E4A"/>
                </a:solidFill>
                <a:latin typeface="微软雅黑"/>
                <a:ea typeface="微软雅黑"/>
              </a:rPr>
              <a:t>hospitalizations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80360" y="3675888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4748B"/>
                </a:solidFill>
                <a:latin typeface="微软雅黑"/>
                <a:ea typeface="微软雅黑"/>
              </a:rPr>
              <a:t>住院信息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74920" y="3675888"/>
            <a:ext cx="731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0F766E"/>
                </a:solidFill>
                <a:latin typeface="微软雅黑"/>
                <a:ea typeface="微软雅黑"/>
              </a:rPr>
              <a:t>50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63640" y="3557016"/>
            <a:ext cx="5440680" cy="566928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64807" y="3666744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34E4A"/>
                </a:solidFill>
                <a:latin typeface="微软雅黑"/>
                <a:ea typeface="微软雅黑"/>
              </a:rPr>
              <a:t>bills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41080" y="3675888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4748B"/>
                </a:solidFill>
                <a:latin typeface="微软雅黑"/>
                <a:ea typeface="微软雅黑"/>
              </a:rPr>
              <a:t>消费明细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35640" y="3675888"/>
            <a:ext cx="731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0F766E"/>
                </a:solidFill>
                <a:latin typeface="微软雅黑"/>
                <a:ea typeface="微软雅黑"/>
              </a:rPr>
              <a:t>50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02920" y="4178808"/>
            <a:ext cx="5440680" cy="566928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04088" y="4288536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34E4A"/>
                </a:solidFill>
                <a:latin typeface="微软雅黑"/>
                <a:ea typeface="微软雅黑"/>
              </a:rPr>
              <a:t>appointments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80360" y="4297680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4748B"/>
                </a:solidFill>
                <a:latin typeface="微软雅黑"/>
                <a:ea typeface="微软雅黑"/>
              </a:rPr>
              <a:t>预约挂号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74920" y="4297680"/>
            <a:ext cx="731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0F766E"/>
                </a:solidFill>
                <a:latin typeface="微软雅黑"/>
                <a:ea typeface="微软雅黑"/>
              </a:rPr>
              <a:t>50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263640" y="4178808"/>
            <a:ext cx="5440680" cy="566928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64807" y="4288536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34E4A"/>
                </a:solidFill>
                <a:latin typeface="微软雅黑"/>
                <a:ea typeface="微软雅黑"/>
              </a:rPr>
              <a:t>nursing_records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41080" y="4297680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4748B"/>
                </a:solidFill>
                <a:latin typeface="微软雅黑"/>
                <a:ea typeface="微软雅黑"/>
              </a:rPr>
              <a:t>护理记录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835640" y="4297680"/>
            <a:ext cx="731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0F766E"/>
                </a:solidFill>
                <a:latin typeface="微软雅黑"/>
                <a:ea typeface="微软雅黑"/>
              </a:rPr>
              <a:t>50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02920" y="4800600"/>
            <a:ext cx="5440680" cy="566928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04088" y="4910328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34E4A"/>
                </a:solidFill>
                <a:latin typeface="微软雅黑"/>
                <a:ea typeface="微软雅黑"/>
              </a:rPr>
              <a:t>schedules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880360" y="4919472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4748B"/>
                </a:solidFill>
                <a:latin typeface="微软雅黑"/>
                <a:ea typeface="微软雅黑"/>
              </a:rPr>
              <a:t>医护排班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074920" y="4919472"/>
            <a:ext cx="731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0F766E"/>
                </a:solidFill>
                <a:latin typeface="微软雅黑"/>
                <a:ea typeface="微软雅黑"/>
              </a:rPr>
              <a:t>50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02920" y="5486400"/>
            <a:ext cx="11183112" cy="777240"/>
          </a:xfrm>
          <a:prstGeom prst="roundRect">
            <a:avLst>
              <a:gd name="adj" fmla="val 10000"/>
            </a:avLst>
          </a:prstGeom>
          <a:solidFill>
            <a:srgbClr val="E6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22960" y="562356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34E4A"/>
                </a:solidFill>
                <a:latin typeface="微软雅黑"/>
                <a:ea typeface="微软雅黑"/>
              </a:rPr>
              <a:t>设计要点：主外键关联业务闭环（用户→会话→消息→引用 / 患者→住院→账单→挂号→护理）；visibility 字段实现公开/私有双层权限；回答引用独立建表实现"可追溯"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82296" cy="40233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10896"/>
            <a:ext cx="8686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E293B"/>
                </a:solidFill>
                <a:latin typeface="微软雅黑"/>
                <a:ea typeface="微软雅黑"/>
              </a:rPr>
              <a:t>关键数据表结构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120579" y="384048"/>
            <a:ext cx="1568196" cy="365760"/>
          </a:xfrm>
          <a:prstGeom prst="roundRect">
            <a:avLst>
              <a:gd name="adj" fmla="val 50000"/>
            </a:avLst>
          </a:prstGeom>
          <a:solidFill>
            <a:srgbClr val="E6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0F766E"/>
                </a:solidFill>
                <a:latin typeface="微软雅黑"/>
                <a:ea typeface="微软雅黑"/>
              </a:rPr>
              <a:t>02 · 总体设计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969264"/>
            <a:ext cx="11183112" cy="1463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4748B"/>
                </a:solidFill>
                <a:latin typeface="微软雅黑"/>
                <a:ea typeface="微软雅黑"/>
              </a:rPr>
              <a:t>医智助手 · 医疗知识库智能问答系统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55664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4748B"/>
                </a:solidFill>
                <a:latin typeface="微软雅黑"/>
                <a:ea typeface="微软雅黑"/>
              </a:rPr>
              <a:t>13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207008"/>
            <a:ext cx="5440680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28016" cy="50292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" y="1316736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34E4A"/>
                </a:solidFill>
                <a:latin typeface="微软雅黑"/>
                <a:ea typeface="微软雅黑"/>
              </a:rPr>
              <a:t>users · 用户表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1737360"/>
            <a:ext cx="4892040" cy="1463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5528" y="1865376"/>
            <a:ext cx="1965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E293B"/>
                </a:solidFill>
                <a:latin typeface="微软雅黑"/>
                <a:ea typeface="微软雅黑"/>
              </a:rPr>
              <a:t>username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88920" y="1865376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4748B"/>
                </a:solidFill>
                <a:latin typeface="微软雅黑"/>
                <a:ea typeface="微软雅黑"/>
              </a:rPr>
              <a:t>VARCHAR(32) 唯一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60520" y="1865376"/>
            <a:ext cx="1691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4748B"/>
                </a:solidFill>
                <a:latin typeface="微软雅黑"/>
                <a:ea typeface="微软雅黑"/>
              </a:rPr>
              <a:t>登录名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8" y="2176272"/>
            <a:ext cx="1965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E293B"/>
                </a:solidFill>
                <a:latin typeface="微软雅黑"/>
                <a:ea typeface="微软雅黑"/>
              </a:rPr>
              <a:t>password_hash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88920" y="2176272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4748B"/>
                </a:solidFill>
                <a:latin typeface="微软雅黑"/>
                <a:ea typeface="微软雅黑"/>
              </a:rPr>
              <a:t>VARCHAR(255)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60520" y="2176272"/>
            <a:ext cx="1691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4748B"/>
                </a:solidFill>
                <a:latin typeface="微软雅黑"/>
                <a:ea typeface="微软雅黑"/>
              </a:rPr>
              <a:t>密码哈希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5528" y="2487168"/>
            <a:ext cx="1965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E293B"/>
                </a:solidFill>
                <a:latin typeface="微软雅黑"/>
                <a:ea typeface="微软雅黑"/>
              </a:rPr>
              <a:t>role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88920" y="2487168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4748B"/>
                </a:solidFill>
                <a:latin typeface="微软雅黑"/>
                <a:ea typeface="微软雅黑"/>
              </a:rPr>
              <a:t>VARCHAR(16)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60520" y="2487168"/>
            <a:ext cx="1691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4748B"/>
                </a:solidFill>
                <a:latin typeface="微软雅黑"/>
                <a:ea typeface="微软雅黑"/>
              </a:rPr>
              <a:t>patient/doctor/nurse/public/admin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5528" y="2798063"/>
            <a:ext cx="1965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E293B"/>
                </a:solidFill>
                <a:latin typeface="微软雅黑"/>
                <a:ea typeface="微软雅黑"/>
              </a:rPr>
              <a:t>display_name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88920" y="2798063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4748B"/>
                </a:solidFill>
                <a:latin typeface="微软雅黑"/>
                <a:ea typeface="微软雅黑"/>
              </a:rPr>
              <a:t>VARCHAR(64)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0520" y="2798063"/>
            <a:ext cx="1691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4748B"/>
                </a:solidFill>
                <a:latin typeface="微软雅黑"/>
                <a:ea typeface="微软雅黑"/>
              </a:rPr>
              <a:t>显示名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63640" y="1207008"/>
            <a:ext cx="5440680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63640" y="1207008"/>
            <a:ext cx="128016" cy="50292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56248" y="1316736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34E4A"/>
                </a:solidFill>
                <a:latin typeface="微软雅黑"/>
                <a:ea typeface="微软雅黑"/>
              </a:rPr>
              <a:t>knowledge_bases · 知识库表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37959" y="1737360"/>
            <a:ext cx="4892040" cy="1463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56248" y="1865376"/>
            <a:ext cx="1965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E293B"/>
                </a:solidFill>
                <a:latin typeface="微软雅黑"/>
                <a:ea typeface="微软雅黑"/>
              </a:rPr>
              <a:t>owner_id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49640" y="1865376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4748B"/>
                </a:solidFill>
                <a:latin typeface="微软雅黑"/>
                <a:ea typeface="微软雅黑"/>
              </a:rPr>
              <a:t>INT NULL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21240" y="1865376"/>
            <a:ext cx="1691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4748B"/>
                </a:solidFill>
                <a:latin typeface="微软雅黑"/>
                <a:ea typeface="微软雅黑"/>
              </a:rPr>
              <a:t>NULL=平台公共库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56248" y="2176272"/>
            <a:ext cx="1965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E293B"/>
                </a:solidFill>
                <a:latin typeface="微软雅黑"/>
                <a:ea typeface="微软雅黑"/>
              </a:rPr>
              <a:t>name / description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49640" y="2176272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4748B"/>
                </a:solidFill>
                <a:latin typeface="微软雅黑"/>
                <a:ea typeface="微软雅黑"/>
              </a:rPr>
              <a:t>VARCHAR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21240" y="2176272"/>
            <a:ext cx="1691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4748B"/>
                </a:solidFill>
                <a:latin typeface="微软雅黑"/>
                <a:ea typeface="微软雅黑"/>
              </a:rPr>
              <a:t>库名与描述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56248" y="2487168"/>
            <a:ext cx="1965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E293B"/>
                </a:solidFill>
                <a:latin typeface="微软雅黑"/>
                <a:ea typeface="微软雅黑"/>
              </a:rPr>
              <a:t>visibility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49640" y="2487168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4748B"/>
                </a:solidFill>
                <a:latin typeface="微软雅黑"/>
                <a:ea typeface="微软雅黑"/>
              </a:rPr>
              <a:t>VARCHAR(16)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921240" y="2487168"/>
            <a:ext cx="1691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4748B"/>
                </a:solidFill>
                <a:latin typeface="微软雅黑"/>
                <a:ea typeface="微软雅黑"/>
              </a:rPr>
              <a:t>public / private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02920" y="3694176"/>
            <a:ext cx="5440680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02920" y="3694176"/>
            <a:ext cx="128016" cy="50292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95528" y="3803904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34E4A"/>
                </a:solidFill>
                <a:latin typeface="微软雅黑"/>
                <a:ea typeface="微软雅黑"/>
              </a:rPr>
              <a:t>documents · 文档表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77240" y="4224528"/>
            <a:ext cx="4892040" cy="1463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5528" y="4352544"/>
            <a:ext cx="1965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E293B"/>
                </a:solidFill>
                <a:latin typeface="微软雅黑"/>
                <a:ea typeface="微软雅黑"/>
              </a:rPr>
              <a:t>kb_id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788920" y="4352544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4748B"/>
                </a:solidFill>
                <a:latin typeface="微软雅黑"/>
                <a:ea typeface="微软雅黑"/>
              </a:rPr>
              <a:t>INT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60520" y="4352544"/>
            <a:ext cx="1691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4748B"/>
                </a:solidFill>
                <a:latin typeface="微软雅黑"/>
                <a:ea typeface="微软雅黑"/>
              </a:rPr>
              <a:t>所属知识库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5528" y="4663440"/>
            <a:ext cx="1965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E293B"/>
                </a:solidFill>
                <a:latin typeface="微软雅黑"/>
                <a:ea typeface="微软雅黑"/>
              </a:rPr>
              <a:t>file_path / file_type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788920" y="4663440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4748B"/>
                </a:solidFill>
                <a:latin typeface="微软雅黑"/>
                <a:ea typeface="微软雅黑"/>
              </a:rPr>
              <a:t>VARCHAR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160520" y="4663440"/>
            <a:ext cx="1691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4748B"/>
                </a:solidFill>
                <a:latin typeface="微软雅黑"/>
                <a:ea typeface="微软雅黑"/>
              </a:rPr>
              <a:t>落盘路径 · txt/md/pdf/docx/pptx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95528" y="4974336"/>
            <a:ext cx="1965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E293B"/>
                </a:solidFill>
                <a:latin typeface="微软雅黑"/>
                <a:ea typeface="微软雅黑"/>
              </a:rPr>
              <a:t>visibility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88920" y="4974336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4748B"/>
                </a:solidFill>
                <a:latin typeface="微软雅黑"/>
                <a:ea typeface="微软雅黑"/>
              </a:rPr>
              <a:t>VARCHAR(16)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160520" y="4974336"/>
            <a:ext cx="1691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4748B"/>
                </a:solidFill>
                <a:latin typeface="微软雅黑"/>
                <a:ea typeface="微软雅黑"/>
              </a:rPr>
              <a:t>public / private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95528" y="5285231"/>
            <a:ext cx="1965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E293B"/>
                </a:solidFill>
                <a:latin typeface="微软雅黑"/>
                <a:ea typeface="微软雅黑"/>
              </a:rPr>
              <a:t>chunk_count · status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788920" y="5285231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4748B"/>
                </a:solidFill>
                <a:latin typeface="微软雅黑"/>
                <a:ea typeface="微软雅黑"/>
              </a:rPr>
              <a:t>INT / VARCHAR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160520" y="5285231"/>
            <a:ext cx="1691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4748B"/>
                </a:solidFill>
                <a:latin typeface="微软雅黑"/>
                <a:ea typeface="微软雅黑"/>
              </a:rPr>
              <a:t>切分块数 · processing/ready/failed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263640" y="3694176"/>
            <a:ext cx="5440680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263640" y="3694176"/>
            <a:ext cx="128016" cy="50292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556248" y="3803904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34E4A"/>
                </a:solidFill>
                <a:latin typeface="微软雅黑"/>
                <a:ea typeface="微软雅黑"/>
              </a:rPr>
              <a:t>citations · 引用来源表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537959" y="4224528"/>
            <a:ext cx="4892040" cy="1463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556248" y="4352544"/>
            <a:ext cx="1965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E293B"/>
                </a:solidFill>
                <a:latin typeface="微软雅黑"/>
                <a:ea typeface="微软雅黑"/>
              </a:rPr>
              <a:t>message_id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549640" y="4352544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4748B"/>
                </a:solidFill>
                <a:latin typeface="微软雅黑"/>
                <a:ea typeface="微软雅黑"/>
              </a:rPr>
              <a:t>INT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921240" y="4352544"/>
            <a:ext cx="1691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4748B"/>
                </a:solidFill>
                <a:latin typeface="微软雅黑"/>
                <a:ea typeface="微软雅黑"/>
              </a:rPr>
              <a:t>关联回答消息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556248" y="4663440"/>
            <a:ext cx="1965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E293B"/>
                </a:solidFill>
                <a:latin typeface="微软雅黑"/>
                <a:ea typeface="微软雅黑"/>
              </a:rPr>
              <a:t>document_id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49640" y="4663440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4748B"/>
                </a:solidFill>
                <a:latin typeface="微软雅黑"/>
                <a:ea typeface="微软雅黑"/>
              </a:rPr>
              <a:t>INT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921240" y="4663440"/>
            <a:ext cx="1691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4748B"/>
                </a:solidFill>
                <a:latin typeface="微软雅黑"/>
                <a:ea typeface="微软雅黑"/>
              </a:rPr>
              <a:t>引用文档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556248" y="4974336"/>
            <a:ext cx="1965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E293B"/>
                </a:solidFill>
                <a:latin typeface="微软雅黑"/>
                <a:ea typeface="微软雅黑"/>
              </a:rPr>
              <a:t>chunk_index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549640" y="4974336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4748B"/>
                </a:solidFill>
                <a:latin typeface="微软雅黑"/>
                <a:ea typeface="微软雅黑"/>
              </a:rPr>
              <a:t>INT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921240" y="4974336"/>
            <a:ext cx="1691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4748B"/>
                </a:solidFill>
                <a:latin typeface="微软雅黑"/>
                <a:ea typeface="微软雅黑"/>
              </a:rPr>
              <a:t>片段序号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556248" y="5285231"/>
            <a:ext cx="1965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E293B"/>
                </a:solidFill>
                <a:latin typeface="微软雅黑"/>
                <a:ea typeface="微软雅黑"/>
              </a:rPr>
              <a:t>similarity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549640" y="5285231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4748B"/>
                </a:solidFill>
                <a:latin typeface="微软雅黑"/>
                <a:ea typeface="微软雅黑"/>
              </a:rPr>
              <a:t>DOUBLE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921240" y="5285231"/>
            <a:ext cx="1691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4748B"/>
                </a:solidFill>
                <a:latin typeface="微软雅黑"/>
                <a:ea typeface="微软雅黑"/>
              </a:rPr>
              <a:t>cosine 相似度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82296" cy="40233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10896"/>
            <a:ext cx="8686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E293B"/>
                </a:solidFill>
                <a:latin typeface="微软雅黑"/>
                <a:ea typeface="微软雅黑"/>
              </a:rPr>
              <a:t>权限与安全设计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120579" y="384048"/>
            <a:ext cx="1568196" cy="365760"/>
          </a:xfrm>
          <a:prstGeom prst="roundRect">
            <a:avLst>
              <a:gd name="adj" fmla="val 50000"/>
            </a:avLst>
          </a:prstGeom>
          <a:solidFill>
            <a:srgbClr val="E6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0F766E"/>
                </a:solidFill>
                <a:latin typeface="微软雅黑"/>
                <a:ea typeface="微软雅黑"/>
              </a:rPr>
              <a:t>02 · 总体设计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969264"/>
            <a:ext cx="11183112" cy="1463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4748B"/>
                </a:solidFill>
                <a:latin typeface="微软雅黑"/>
                <a:ea typeface="微软雅黑"/>
              </a:rPr>
              <a:t>医智助手 · 医疗知识库智能问答系统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55664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4748B"/>
                </a:solidFill>
                <a:latin typeface="微软雅黑"/>
                <a:ea typeface="微软雅黑"/>
              </a:rPr>
              <a:t>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234440"/>
            <a:ext cx="5440680" cy="2286000"/>
          </a:xfrm>
          <a:prstGeom prst="roundRect">
            <a:avLst>
              <a:gd name="adj" fmla="val 5000"/>
            </a:avLst>
          </a:prstGeom>
          <a:solidFill>
            <a:srgbClr val="E6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463040"/>
            <a:ext cx="4846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34E4A"/>
                </a:solidFill>
                <a:latin typeface="微软雅黑"/>
                <a:ea typeface="微软雅黑"/>
              </a:rPr>
              <a:t>JWT 认证流程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" y="1965960"/>
            <a:ext cx="365760" cy="365760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007107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98448" y="2011679"/>
            <a:ext cx="4480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E293B"/>
                </a:solidFill>
                <a:latin typeface="微软雅黑"/>
                <a:ea typeface="微软雅黑"/>
              </a:rPr>
              <a:t>用户登录 → 校验用户名 + 密码哈希</a:t>
            </a:r>
          </a:p>
        </p:txBody>
      </p:sp>
      <p:sp>
        <p:nvSpPr>
          <p:cNvPr id="14" name="Oval 13"/>
          <p:cNvSpPr/>
          <p:nvPr/>
        </p:nvSpPr>
        <p:spPr>
          <a:xfrm>
            <a:off x="777240" y="2395728"/>
            <a:ext cx="365760" cy="365760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436876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98448" y="2441448"/>
            <a:ext cx="4480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E293B"/>
                </a:solidFill>
                <a:latin typeface="微软雅黑"/>
                <a:ea typeface="微软雅黑"/>
              </a:rPr>
              <a:t>签发 JWT（HS256，24h 过期）</a:t>
            </a:r>
          </a:p>
        </p:txBody>
      </p:sp>
      <p:sp>
        <p:nvSpPr>
          <p:cNvPr id="17" name="Oval 16"/>
          <p:cNvSpPr/>
          <p:nvPr/>
        </p:nvSpPr>
        <p:spPr>
          <a:xfrm>
            <a:off x="777240" y="2825496"/>
            <a:ext cx="365760" cy="365760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6644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8448" y="2871215"/>
            <a:ext cx="4480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E293B"/>
                </a:solidFill>
                <a:latin typeface="微软雅黑"/>
                <a:ea typeface="微软雅黑"/>
              </a:rPr>
              <a:t>前端携带 Token 访问 /api/*</a:t>
            </a:r>
          </a:p>
        </p:txBody>
      </p:sp>
      <p:sp>
        <p:nvSpPr>
          <p:cNvPr id="20" name="Oval 19"/>
          <p:cNvSpPr/>
          <p:nvPr/>
        </p:nvSpPr>
        <p:spPr>
          <a:xfrm>
            <a:off x="777240" y="3255263"/>
            <a:ext cx="365760" cy="365760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3296411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98448" y="3300983"/>
            <a:ext cx="4480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E293B"/>
                </a:solidFill>
                <a:latin typeface="微软雅黑"/>
                <a:ea typeface="微软雅黑"/>
              </a:rPr>
              <a:t>装饰器校验角色 → 放行 / 拒绝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63640" y="1234440"/>
            <a:ext cx="5440680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0" y="1463040"/>
            <a:ext cx="4846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34E4A"/>
                </a:solidFill>
                <a:latin typeface="微软雅黑"/>
                <a:ea typeface="微软雅黑"/>
              </a:rPr>
              <a:t>安全机制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01968" y="1965960"/>
            <a:ext cx="484632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800"/>
              </a:spcAft>
            </a:pPr>
            <a:r>
              <a:rPr sz="1200" b="1" i="0">
                <a:solidFill>
                  <a:srgbClr val="0F766E"/>
                </a:solidFill>
                <a:latin typeface="微软雅黑"/>
                <a:ea typeface="微软雅黑"/>
              </a:rPr>
              <a:t>● </a:t>
            </a:r>
            <a:r>
              <a:rPr sz="1200" b="0" i="0">
                <a:solidFill>
                  <a:srgbClr val="1E293B"/>
                </a:solidFill>
                <a:latin typeface="微软雅黑"/>
                <a:ea typeface="微软雅黑"/>
              </a:rPr>
              <a:t>密码 bcrypt 哈希存储，不存明文</a:t>
            </a:r>
          </a:p>
          <a:p>
            <a:pPr>
              <a:lnSpc>
                <a:spcPct val="100000"/>
              </a:lnSpc>
              <a:spcAft>
                <a:spcPts val="800"/>
              </a:spcAft>
            </a:pPr>
            <a:r>
              <a:rPr sz="1200" b="1" i="0">
                <a:solidFill>
                  <a:srgbClr val="0F766E"/>
                </a:solidFill>
                <a:latin typeface="微软雅黑"/>
                <a:ea typeface="微软雅黑"/>
              </a:rPr>
              <a:t>● </a:t>
            </a:r>
            <a:r>
              <a:rPr sz="1200" b="0" i="0">
                <a:solidFill>
                  <a:srgbClr val="1E293B"/>
                </a:solidFill>
                <a:latin typeface="微软雅黑"/>
                <a:ea typeface="微软雅黑"/>
              </a:rPr>
              <a:t>角色装饰器 @require_role 校验接口权限</a:t>
            </a:r>
          </a:p>
          <a:p>
            <a:pPr>
              <a:lnSpc>
                <a:spcPct val="100000"/>
              </a:lnSpc>
              <a:spcAft>
                <a:spcPts val="800"/>
              </a:spcAft>
            </a:pPr>
            <a:r>
              <a:rPr sz="1200" b="1" i="0">
                <a:solidFill>
                  <a:srgbClr val="0F766E"/>
                </a:solidFill>
                <a:latin typeface="微软雅黑"/>
                <a:ea typeface="微软雅黑"/>
              </a:rPr>
              <a:t>● </a:t>
            </a:r>
            <a:r>
              <a:rPr sz="1200" b="0" i="0">
                <a:solidFill>
                  <a:srgbClr val="1E293B"/>
                </a:solidFill>
                <a:latin typeface="微软雅黑"/>
                <a:ea typeface="微软雅黑"/>
              </a:rPr>
              <a:t>公开/私有过滤下推到向量库查询</a:t>
            </a:r>
          </a:p>
          <a:p>
            <a:pPr>
              <a:lnSpc>
                <a:spcPct val="100000"/>
              </a:lnSpc>
              <a:spcAft>
                <a:spcPts val="800"/>
              </a:spcAft>
            </a:pPr>
            <a:r>
              <a:rPr sz="1200" b="1" i="0">
                <a:solidFill>
                  <a:srgbClr val="0F766E"/>
                </a:solidFill>
                <a:latin typeface="微软雅黑"/>
                <a:ea typeface="微软雅黑"/>
              </a:rPr>
              <a:t>● </a:t>
            </a:r>
            <a:r>
              <a:rPr sz="1200" b="0" i="0">
                <a:solidFill>
                  <a:srgbClr val="1E293B"/>
                </a:solidFill>
                <a:latin typeface="微软雅黑"/>
                <a:ea typeface="微软雅黑"/>
              </a:rPr>
              <a:t>.env 敏感配置不入库、不提交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3794760"/>
            <a:ext cx="11183112" cy="2377440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023360"/>
            <a:ext cx="10515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34E4A"/>
                </a:solidFill>
                <a:latin typeface="微软雅黑"/>
                <a:ea typeface="微软雅黑"/>
              </a:rPr>
              <a:t>核心权限矩阵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777240" y="4480560"/>
          <a:ext cx="1060704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417320"/>
                <a:gridCol w="1417320"/>
                <a:gridCol w="1417320"/>
                <a:gridCol w="1417320"/>
                <a:gridCol w="173736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能力</a:t>
                      </a:r>
                    </a:p>
                  </a:txBody>
                  <a:tcPr marL="73152" marR="45720" marT="18288" marB="18288" anchor="ctr">
                    <a:solidFill>
                      <a:srgbClr val="0F76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患者</a:t>
                      </a:r>
                    </a:p>
                  </a:txBody>
                  <a:tcPr marL="73152" marR="45720" marT="18288" marB="18288" anchor="ctr">
                    <a:solidFill>
                      <a:srgbClr val="0F76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医生</a:t>
                      </a:r>
                    </a:p>
                  </a:txBody>
                  <a:tcPr marL="73152" marR="45720" marT="18288" marB="18288" anchor="ctr">
                    <a:solidFill>
                      <a:srgbClr val="0F76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护士</a:t>
                      </a:r>
                    </a:p>
                  </a:txBody>
                  <a:tcPr marL="73152" marR="45720" marT="18288" marB="18288" anchor="ctr">
                    <a:solidFill>
                      <a:srgbClr val="0F76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群众</a:t>
                      </a:r>
                    </a:p>
                  </a:txBody>
                  <a:tcPr marL="73152" marR="45720" marT="18288" marB="18288" anchor="ctr">
                    <a:solidFill>
                      <a:srgbClr val="0F76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管理员</a:t>
                      </a:r>
                    </a:p>
                  </a:txBody>
                  <a:tcPr marL="73152" marR="45720" marT="18288" marB="18288" anchor="ctr">
                    <a:solidFill>
                      <a:srgbClr val="0F766E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E293B"/>
                          </a:solidFill>
                          <a:latin typeface="微软雅黑"/>
                          <a:ea typeface="微软雅黑"/>
                        </a:rPr>
                        <a:t>公开知识库 / 文档查询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0B8A55"/>
                          </a:solidFill>
                          <a:latin typeface="微软雅黑"/>
                          <a:ea typeface="微软雅黑"/>
                        </a:rPr>
                        <a:t>✓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0B8A55"/>
                          </a:solidFill>
                          <a:latin typeface="微软雅黑"/>
                          <a:ea typeface="微软雅黑"/>
                        </a:rPr>
                        <a:t>✓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0B8A55"/>
                          </a:solidFill>
                          <a:latin typeface="微软雅黑"/>
                          <a:ea typeface="微软雅黑"/>
                        </a:rPr>
                        <a:t>✓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0B8A55"/>
                          </a:solidFill>
                          <a:latin typeface="微软雅黑"/>
                          <a:ea typeface="微软雅黑"/>
                        </a:rPr>
                        <a:t>✓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0B8A55"/>
                          </a:solidFill>
                          <a:latin typeface="微软雅黑"/>
                          <a:ea typeface="微软雅黑"/>
                        </a:rPr>
                        <a:t>✓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E293B"/>
                          </a:solidFill>
                          <a:latin typeface="微软雅黑"/>
                          <a:ea typeface="微软雅黑"/>
                        </a:rPr>
                        <a:t>私有文档检索</a:t>
                      </a:r>
                    </a:p>
                  </a:txBody>
                  <a:tcPr marL="73152" marR="45720" marT="18288" marB="18288" anchor="ctr">
                    <a:solidFill>
                      <a:srgbClr val="E6F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E293B"/>
                          </a:solidFill>
                          <a:latin typeface="微软雅黑"/>
                          <a:ea typeface="微软雅黑"/>
                        </a:rPr>
                        <a:t>✗</a:t>
                      </a:r>
                    </a:p>
                  </a:txBody>
                  <a:tcPr marL="73152" marR="45720" marT="18288" marB="18288" anchor="ctr">
                    <a:solidFill>
                      <a:srgbClr val="E6F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0B8A55"/>
                          </a:solidFill>
                          <a:latin typeface="微软雅黑"/>
                          <a:ea typeface="微软雅黑"/>
                        </a:rPr>
                        <a:t>✓</a:t>
                      </a:r>
                    </a:p>
                  </a:txBody>
                  <a:tcPr marL="73152" marR="45720" marT="18288" marB="18288" anchor="ctr">
                    <a:solidFill>
                      <a:srgbClr val="E6F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E293B"/>
                          </a:solidFill>
                          <a:latin typeface="微软雅黑"/>
                          <a:ea typeface="微软雅黑"/>
                        </a:rPr>
                        <a:t>✗</a:t>
                      </a:r>
                    </a:p>
                  </a:txBody>
                  <a:tcPr marL="73152" marR="45720" marT="18288" marB="18288" anchor="ctr">
                    <a:solidFill>
                      <a:srgbClr val="E6F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E293B"/>
                          </a:solidFill>
                          <a:latin typeface="微软雅黑"/>
                          <a:ea typeface="微软雅黑"/>
                        </a:rPr>
                        <a:t>✗</a:t>
                      </a:r>
                    </a:p>
                  </a:txBody>
                  <a:tcPr marL="73152" marR="45720" marT="18288" marB="18288" anchor="ctr">
                    <a:solidFill>
                      <a:srgbClr val="E6F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0B8A55"/>
                          </a:solidFill>
                          <a:latin typeface="微软雅黑"/>
                          <a:ea typeface="微软雅黑"/>
                        </a:rPr>
                        <a:t>✓</a:t>
                      </a:r>
                    </a:p>
                  </a:txBody>
                  <a:tcPr marL="73152" marR="45720" marT="18288" marB="18288" anchor="ctr">
                    <a:solidFill>
                      <a:srgbClr val="E6F6F1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E293B"/>
                          </a:solidFill>
                          <a:latin typeface="微软雅黑"/>
                          <a:ea typeface="微软雅黑"/>
                        </a:rPr>
                        <a:t>创建知识库 / 上传文档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E293B"/>
                          </a:solidFill>
                          <a:latin typeface="微软雅黑"/>
                          <a:ea typeface="微软雅黑"/>
                        </a:rPr>
                        <a:t>✗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0B8A55"/>
                          </a:solidFill>
                          <a:latin typeface="微软雅黑"/>
                          <a:ea typeface="微软雅黑"/>
                        </a:rPr>
                        <a:t>✓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E293B"/>
                          </a:solidFill>
                          <a:latin typeface="微软雅黑"/>
                          <a:ea typeface="微软雅黑"/>
                        </a:rPr>
                        <a:t>✗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E293B"/>
                          </a:solidFill>
                          <a:latin typeface="微软雅黑"/>
                          <a:ea typeface="微软雅黑"/>
                        </a:rPr>
                        <a:t>✗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0B8A55"/>
                          </a:solidFill>
                          <a:latin typeface="微软雅黑"/>
                          <a:ea typeface="微软雅黑"/>
                        </a:rPr>
                        <a:t>✓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E293B"/>
                          </a:solidFill>
                          <a:latin typeface="微软雅黑"/>
                          <a:ea typeface="微软雅黑"/>
                        </a:rPr>
                        <a:t>健康档案 / 护理记录 / 排班</a:t>
                      </a:r>
                    </a:p>
                  </a:txBody>
                  <a:tcPr marL="73152" marR="45720" marT="18288" marB="18288" anchor="ctr">
                    <a:solidFill>
                      <a:srgbClr val="E6F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E293B"/>
                          </a:solidFill>
                          <a:latin typeface="微软雅黑"/>
                          <a:ea typeface="微软雅黑"/>
                        </a:rPr>
                        <a:t>本人</a:t>
                      </a:r>
                    </a:p>
                  </a:txBody>
                  <a:tcPr marL="73152" marR="45720" marT="18288" marB="18288" anchor="ctr">
                    <a:solidFill>
                      <a:srgbClr val="E6F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E293B"/>
                          </a:solidFill>
                          <a:latin typeface="微软雅黑"/>
                          <a:ea typeface="微软雅黑"/>
                        </a:rPr>
                        <a:t>管理</a:t>
                      </a:r>
                    </a:p>
                  </a:txBody>
                  <a:tcPr marL="73152" marR="45720" marT="18288" marB="18288" anchor="ctr">
                    <a:solidFill>
                      <a:srgbClr val="E6F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E293B"/>
                          </a:solidFill>
                          <a:latin typeface="微软雅黑"/>
                          <a:ea typeface="微软雅黑"/>
                        </a:rPr>
                        <a:t>护理</a:t>
                      </a:r>
                    </a:p>
                  </a:txBody>
                  <a:tcPr marL="73152" marR="45720" marT="18288" marB="18288" anchor="ctr">
                    <a:solidFill>
                      <a:srgbClr val="E6F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E293B"/>
                          </a:solidFill>
                          <a:latin typeface="微软雅黑"/>
                          <a:ea typeface="微软雅黑"/>
                        </a:rPr>
                        <a:t>挂号</a:t>
                      </a:r>
                    </a:p>
                  </a:txBody>
                  <a:tcPr marL="73152" marR="45720" marT="18288" marB="18288" anchor="ctr">
                    <a:solidFill>
                      <a:srgbClr val="E6F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E293B"/>
                          </a:solidFill>
                          <a:latin typeface="微软雅黑"/>
                          <a:ea typeface="微软雅黑"/>
                        </a:rPr>
                        <a:t>全量</a:t>
                      </a:r>
                    </a:p>
                  </a:txBody>
                  <a:tcPr marL="73152" marR="45720" marT="18288" marB="18288" anchor="ctr">
                    <a:solidFill>
                      <a:srgbClr val="E6F6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82296" cy="40233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10896"/>
            <a:ext cx="8686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E293B"/>
                </a:solidFill>
                <a:latin typeface="微软雅黑"/>
                <a:ea typeface="微软雅黑"/>
              </a:rPr>
              <a:t>向量检索与 RAG 设计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120579" y="384048"/>
            <a:ext cx="1568196" cy="365760"/>
          </a:xfrm>
          <a:prstGeom prst="roundRect">
            <a:avLst>
              <a:gd name="adj" fmla="val 50000"/>
            </a:avLst>
          </a:prstGeom>
          <a:solidFill>
            <a:srgbClr val="E6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0F766E"/>
                </a:solidFill>
                <a:latin typeface="微软雅黑"/>
                <a:ea typeface="微软雅黑"/>
              </a:rPr>
              <a:t>02 · 总体设计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969264"/>
            <a:ext cx="11183112" cy="1463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4748B"/>
                </a:solidFill>
                <a:latin typeface="微软雅黑"/>
                <a:ea typeface="微软雅黑"/>
              </a:rPr>
              <a:t>医智助手 · 医疗知识库智能问答系统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55664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4748B"/>
                </a:solidFill>
                <a:latin typeface="微软雅黑"/>
                <a:ea typeface="微软雅黑"/>
              </a:rPr>
              <a:t>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280160"/>
            <a:ext cx="2697480" cy="28803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280160"/>
            <a:ext cx="2697480" cy="475488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609344"/>
            <a:ext cx="2697480" cy="146304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1371600"/>
            <a:ext cx="2331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微软雅黑"/>
                <a:ea typeface="微软雅黑"/>
              </a:rPr>
              <a:t>文档切分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1965960"/>
            <a:ext cx="233172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150" b="1" i="0">
                <a:solidFill>
                  <a:srgbClr val="0F766E"/>
                </a:solidFill>
                <a:latin typeface="微软雅黑"/>
                <a:ea typeface="微软雅黑"/>
              </a:rPr>
              <a:t>● </a:t>
            </a:r>
            <a:r>
              <a:rPr sz="1150" b="0" i="0">
                <a:solidFill>
                  <a:srgbClr val="1E293B"/>
                </a:solidFill>
                <a:latin typeface="微软雅黑"/>
                <a:ea typeface="微软雅黑"/>
              </a:rPr>
              <a:t>CHUNK_SIZE=500 字符</a:t>
            </a:r>
          </a:p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150" b="1" i="0">
                <a:solidFill>
                  <a:srgbClr val="0F766E"/>
                </a:solidFill>
                <a:latin typeface="微软雅黑"/>
                <a:ea typeface="微软雅黑"/>
              </a:rPr>
              <a:t>● </a:t>
            </a:r>
            <a:r>
              <a:rPr sz="1150" b="0" i="0">
                <a:solidFill>
                  <a:srgbClr val="1E293B"/>
                </a:solidFill>
                <a:latin typeface="微软雅黑"/>
                <a:ea typeface="微软雅黑"/>
              </a:rPr>
              <a:t>CHUNK_OVERLAP=80 保证连贯</a:t>
            </a:r>
          </a:p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150" b="1" i="0">
                <a:solidFill>
                  <a:srgbClr val="0F766E"/>
                </a:solidFill>
                <a:latin typeface="微软雅黑"/>
                <a:ea typeface="微软雅黑"/>
              </a:rPr>
              <a:t>● </a:t>
            </a:r>
            <a:r>
              <a:rPr sz="1150" b="0" i="0">
                <a:solidFill>
                  <a:srgbClr val="1E293B"/>
                </a:solidFill>
                <a:latin typeface="微软雅黑"/>
                <a:ea typeface="微软雅黑"/>
              </a:rPr>
              <a:t>支持 txt/md/pdf/docx/pptx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37560" y="1280160"/>
            <a:ext cx="2697480" cy="28803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337560" y="1280160"/>
            <a:ext cx="2697480" cy="475488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37560" y="1609344"/>
            <a:ext cx="2697480" cy="146304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20440" y="1371600"/>
            <a:ext cx="2331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微软雅黑"/>
                <a:ea typeface="微软雅黑"/>
              </a:rPr>
              <a:t>向量化模型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0440" y="1965960"/>
            <a:ext cx="233172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150" b="1" i="0">
                <a:solidFill>
                  <a:srgbClr val="0F766E"/>
                </a:solidFill>
                <a:latin typeface="微软雅黑"/>
                <a:ea typeface="微软雅黑"/>
              </a:rPr>
              <a:t>● </a:t>
            </a:r>
            <a:r>
              <a:rPr sz="1150" b="0" i="0">
                <a:solidFill>
                  <a:srgbClr val="1E293B"/>
                </a:solidFill>
                <a:latin typeface="微软雅黑"/>
                <a:ea typeface="微软雅黑"/>
              </a:rPr>
              <a:t>bge-base-zh-v1.5 · 768 维</a:t>
            </a:r>
          </a:p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150" b="1" i="0">
                <a:solidFill>
                  <a:srgbClr val="0F766E"/>
                </a:solidFill>
                <a:latin typeface="微软雅黑"/>
                <a:ea typeface="微软雅黑"/>
              </a:rPr>
              <a:t>● </a:t>
            </a:r>
            <a:r>
              <a:rPr sz="1150" b="0" i="0">
                <a:solidFill>
                  <a:srgbClr val="1E293B"/>
                </a:solidFill>
                <a:latin typeface="微软雅黑"/>
                <a:ea typeface="微软雅黑"/>
              </a:rPr>
              <a:t>ModelScope 下载 · 本地推理</a:t>
            </a:r>
          </a:p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150" b="1" i="0">
                <a:solidFill>
                  <a:srgbClr val="0F766E"/>
                </a:solidFill>
                <a:latin typeface="微软雅黑"/>
                <a:ea typeface="微软雅黑"/>
              </a:rPr>
              <a:t>● </a:t>
            </a:r>
            <a:r>
              <a:rPr sz="1150" b="0" i="0">
                <a:solidFill>
                  <a:srgbClr val="1E293B"/>
                </a:solidFill>
                <a:latin typeface="微软雅黑"/>
                <a:ea typeface="微软雅黑"/>
              </a:rPr>
              <a:t>中文语义检索效果好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1280160"/>
            <a:ext cx="2697480" cy="28803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172200" y="1280160"/>
            <a:ext cx="2697480" cy="475488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1609344"/>
            <a:ext cx="2697480" cy="146304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1371600"/>
            <a:ext cx="2331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微软雅黑"/>
                <a:ea typeface="微软雅黑"/>
              </a:rPr>
              <a:t>向量存储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1965960"/>
            <a:ext cx="233172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150" b="1" i="0">
                <a:solidFill>
                  <a:srgbClr val="0F766E"/>
                </a:solidFill>
                <a:latin typeface="微软雅黑"/>
                <a:ea typeface="微软雅黑"/>
              </a:rPr>
              <a:t>● </a:t>
            </a:r>
            <a:r>
              <a:rPr sz="1150" b="0" i="0">
                <a:solidFill>
                  <a:srgbClr val="1E293B"/>
                </a:solidFill>
                <a:latin typeface="微软雅黑"/>
                <a:ea typeface="微软雅黑"/>
              </a:rPr>
              <a:t>Milvus：集合 medical_chunks</a:t>
            </a:r>
          </a:p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150" b="1" i="0">
                <a:solidFill>
                  <a:srgbClr val="0F766E"/>
                </a:solidFill>
                <a:latin typeface="微软雅黑"/>
                <a:ea typeface="微软雅黑"/>
              </a:rPr>
              <a:t>● </a:t>
            </a:r>
            <a:r>
              <a:rPr sz="1150" b="0" i="0">
                <a:solidFill>
                  <a:srgbClr val="1E293B"/>
                </a:solidFill>
                <a:latin typeface="微软雅黑"/>
                <a:ea typeface="微软雅黑"/>
              </a:rPr>
              <a:t>kb_id 分区键 + cosine HNSW</a:t>
            </a:r>
          </a:p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150" b="1" i="0">
                <a:solidFill>
                  <a:srgbClr val="0F766E"/>
                </a:solidFill>
                <a:latin typeface="微软雅黑"/>
                <a:ea typeface="微软雅黑"/>
              </a:rPr>
              <a:t>● </a:t>
            </a:r>
            <a:r>
              <a:rPr sz="1150" b="0" i="0">
                <a:solidFill>
                  <a:srgbClr val="1E293B"/>
                </a:solidFill>
                <a:latin typeface="微软雅黑"/>
                <a:ea typeface="微软雅黑"/>
              </a:rPr>
              <a:t>未启动自动降级 NumpyStore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06840" y="1280160"/>
            <a:ext cx="2697480" cy="28803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006840" y="1280160"/>
            <a:ext cx="2697480" cy="475488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006840" y="1609344"/>
            <a:ext cx="2697480" cy="146304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89719" y="1371600"/>
            <a:ext cx="2331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微软雅黑"/>
                <a:ea typeface="微软雅黑"/>
              </a:rPr>
              <a:t>检索与重排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9719" y="1965960"/>
            <a:ext cx="233172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150" b="1" i="0">
                <a:solidFill>
                  <a:srgbClr val="0F766E"/>
                </a:solidFill>
                <a:latin typeface="微软雅黑"/>
                <a:ea typeface="微软雅黑"/>
              </a:rPr>
              <a:t>● </a:t>
            </a:r>
            <a:r>
              <a:rPr sz="1150" b="0" i="0">
                <a:solidFill>
                  <a:srgbClr val="1E293B"/>
                </a:solidFill>
                <a:latin typeface="微软雅黑"/>
                <a:ea typeface="微软雅黑"/>
              </a:rPr>
              <a:t>over-fetch 取 top10</a:t>
            </a:r>
          </a:p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150" b="1" i="0">
                <a:solidFill>
                  <a:srgbClr val="0F766E"/>
                </a:solidFill>
                <a:latin typeface="微软雅黑"/>
                <a:ea typeface="微软雅黑"/>
              </a:rPr>
              <a:t>● </a:t>
            </a:r>
            <a:r>
              <a:rPr sz="1150" b="0" i="0">
                <a:solidFill>
                  <a:srgbClr val="1E293B"/>
                </a:solidFill>
                <a:latin typeface="微软雅黑"/>
                <a:ea typeface="微软雅黑"/>
              </a:rPr>
              <a:t>score = 相似度 + α·关键词重叠</a:t>
            </a:r>
          </a:p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150" b="1" i="0">
                <a:solidFill>
                  <a:srgbClr val="0F766E"/>
                </a:solidFill>
                <a:latin typeface="微软雅黑"/>
                <a:ea typeface="微软雅黑"/>
              </a:rPr>
              <a:t>● </a:t>
            </a:r>
            <a:r>
              <a:rPr sz="1150" b="0" i="0">
                <a:solidFill>
                  <a:srgbClr val="1E293B"/>
                </a:solidFill>
                <a:latin typeface="微软雅黑"/>
                <a:ea typeface="微软雅黑"/>
              </a:rPr>
              <a:t>TOP_K=5 · MIN_SIMILARITY=0.30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4434840"/>
            <a:ext cx="11183112" cy="1737360"/>
          </a:xfrm>
          <a:prstGeom prst="roundRect">
            <a:avLst>
              <a:gd name="adj" fmla="val 6000"/>
            </a:avLst>
          </a:prstGeom>
          <a:solidFill>
            <a:srgbClr val="E6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46634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34E4A"/>
                </a:solidFill>
                <a:latin typeface="微软雅黑"/>
                <a:ea typeface="微软雅黑"/>
              </a:rPr>
              <a:t>相似度语义修正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5138928"/>
            <a:ext cx="106070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250" b="1" i="0">
                <a:solidFill>
                  <a:srgbClr val="0F766E"/>
                </a:solidFill>
                <a:latin typeface="微软雅黑"/>
                <a:ea typeface="微软雅黑"/>
              </a:rPr>
              <a:t>● </a:t>
            </a:r>
            <a:r>
              <a:rPr sz="1250" b="0" i="0">
                <a:solidFill>
                  <a:srgbClr val="1E293B"/>
                </a:solidFill>
                <a:latin typeface="微软雅黑"/>
                <a:ea typeface="微软雅黑"/>
              </a:rPr>
              <a:t>统一 cosine 距离 → similarity = 1 - distance，得到 0~1 的 cosine 相似度（原文命中 ≈ 0.99）</a:t>
            </a:r>
          </a:p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250" b="1" i="0">
                <a:solidFill>
                  <a:srgbClr val="0F766E"/>
                </a:solidFill>
                <a:latin typeface="微软雅黑"/>
                <a:ea typeface="微软雅黑"/>
              </a:rPr>
              <a:t>● </a:t>
            </a:r>
            <a:r>
              <a:rPr sz="1250" b="0" i="0">
                <a:solidFill>
                  <a:srgbClr val="1E293B"/>
                </a:solidFill>
                <a:latin typeface="微软雅黑"/>
                <a:ea typeface="微软雅黑"/>
              </a:rPr>
              <a:t>修复旧实现 1/(1+d) 压分导致的"匹配上但分数仅 0.3~0.5"问题；低于 MIN_SIMILARITY 的片段视为无关不进入上下文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82296" cy="40233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10896"/>
            <a:ext cx="8686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E293B"/>
                </a:solidFill>
                <a:latin typeface="微软雅黑"/>
                <a:ea typeface="微软雅黑"/>
              </a:rPr>
              <a:t>RAG 智能问答全流程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120579" y="384048"/>
            <a:ext cx="1568196" cy="365760"/>
          </a:xfrm>
          <a:prstGeom prst="roundRect">
            <a:avLst>
              <a:gd name="adj" fmla="val 50000"/>
            </a:avLst>
          </a:prstGeom>
          <a:solidFill>
            <a:srgbClr val="E6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0F766E"/>
                </a:solidFill>
                <a:latin typeface="微软雅黑"/>
                <a:ea typeface="微软雅黑"/>
              </a:rPr>
              <a:t>02 · 总体设计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969264"/>
            <a:ext cx="11183112" cy="1463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4748B"/>
                </a:solidFill>
                <a:latin typeface="微软雅黑"/>
                <a:ea typeface="微软雅黑"/>
              </a:rPr>
              <a:t>医智助手 · 医疗知识库智能问答系统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55664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4748B"/>
                </a:solidFill>
                <a:latin typeface="微软雅黑"/>
                <a:ea typeface="微软雅黑"/>
              </a:rPr>
              <a:t>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371600"/>
            <a:ext cx="2697480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536192"/>
            <a:ext cx="2423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34E4A"/>
                </a:solidFill>
                <a:latin typeface="微软雅黑"/>
                <a:ea typeface="微软雅黑"/>
              </a:rPr>
              <a:t>① 用户提问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920240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4748B"/>
                </a:solidFill>
                <a:latin typeface="微软雅黑"/>
                <a:ea typeface="微软雅黑"/>
              </a:rPr>
              <a:t>自然语言问题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18688" y="1732788"/>
            <a:ext cx="91440" cy="164592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Isosceles Triangle 12"/>
          <p:cNvSpPr/>
          <p:nvPr/>
        </p:nvSpPr>
        <p:spPr>
          <a:xfrm>
            <a:off x="3200400" y="1687068"/>
            <a:ext cx="146304" cy="256032"/>
          </a:xfrm>
          <a:prstGeom prst="triangl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328416" y="1371600"/>
            <a:ext cx="2697480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65576" y="1536192"/>
            <a:ext cx="2423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34E4A"/>
                </a:solidFill>
                <a:latin typeface="微软雅黑"/>
                <a:ea typeface="微软雅黑"/>
              </a:rPr>
              <a:t>② 权限过滤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65576" y="1920240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4748B"/>
                </a:solidFill>
                <a:latin typeface="微软雅黑"/>
                <a:ea typeface="微软雅黑"/>
              </a:rPr>
              <a:t>公开/私有文档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44184" y="1732788"/>
            <a:ext cx="91440" cy="164592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Isosceles Triangle 17"/>
          <p:cNvSpPr/>
          <p:nvPr/>
        </p:nvSpPr>
        <p:spPr>
          <a:xfrm>
            <a:off x="6025896" y="1687068"/>
            <a:ext cx="146304" cy="256032"/>
          </a:xfrm>
          <a:prstGeom prst="triangl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153912" y="1371600"/>
            <a:ext cx="2697480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91072" y="1536192"/>
            <a:ext cx="2423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34E4A"/>
                </a:solidFill>
                <a:latin typeface="微软雅黑"/>
                <a:ea typeface="微软雅黑"/>
              </a:rPr>
              <a:t>③ 向量化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91072" y="1920240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4748B"/>
                </a:solidFill>
                <a:latin typeface="微软雅黑"/>
                <a:ea typeface="微软雅黑"/>
              </a:rPr>
              <a:t>bge-zh 768 维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869680" y="1732788"/>
            <a:ext cx="91440" cy="164592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Isosceles Triangle 22"/>
          <p:cNvSpPr/>
          <p:nvPr/>
        </p:nvSpPr>
        <p:spPr>
          <a:xfrm>
            <a:off x="8851392" y="1687068"/>
            <a:ext cx="146304" cy="256032"/>
          </a:xfrm>
          <a:prstGeom prst="triangl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979408" y="1371600"/>
            <a:ext cx="2697480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16568" y="1536192"/>
            <a:ext cx="2423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34E4A"/>
                </a:solidFill>
                <a:latin typeface="微软雅黑"/>
                <a:ea typeface="微软雅黑"/>
              </a:rPr>
              <a:t>④ 向量召回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16568" y="1920240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4748B"/>
                </a:solidFill>
                <a:latin typeface="微软雅黑"/>
                <a:ea typeface="微软雅黑"/>
              </a:rPr>
              <a:t>Milvus top-10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2834639"/>
            <a:ext cx="2697480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2999232"/>
            <a:ext cx="2423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34E4A"/>
                </a:solidFill>
                <a:latin typeface="微软雅黑"/>
                <a:ea typeface="微软雅黑"/>
              </a:rPr>
              <a:t>⑤ 关键词重排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3383279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4748B"/>
                </a:solidFill>
                <a:latin typeface="微软雅黑"/>
                <a:ea typeface="微软雅黑"/>
              </a:rPr>
              <a:t>相似度+α·重叠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18688" y="3195828"/>
            <a:ext cx="91440" cy="164592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Isosceles Triangle 30"/>
          <p:cNvSpPr/>
          <p:nvPr/>
        </p:nvSpPr>
        <p:spPr>
          <a:xfrm>
            <a:off x="3200400" y="3150108"/>
            <a:ext cx="146304" cy="256032"/>
          </a:xfrm>
          <a:prstGeom prst="triangl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3328416" y="2834639"/>
            <a:ext cx="2697480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465576" y="2999232"/>
            <a:ext cx="2423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34E4A"/>
                </a:solidFill>
                <a:latin typeface="微软雅黑"/>
                <a:ea typeface="微软雅黑"/>
              </a:rPr>
              <a:t>⑥ 上下文构建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65576" y="3383279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4748B"/>
                </a:solidFill>
                <a:latin typeface="微软雅黑"/>
                <a:ea typeface="微软雅黑"/>
              </a:rPr>
              <a:t>编号片段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044184" y="3195828"/>
            <a:ext cx="91440" cy="164592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Isosceles Triangle 35"/>
          <p:cNvSpPr/>
          <p:nvPr/>
        </p:nvSpPr>
        <p:spPr>
          <a:xfrm>
            <a:off x="6025896" y="3150108"/>
            <a:ext cx="146304" cy="256032"/>
          </a:xfrm>
          <a:prstGeom prst="triangl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153912" y="2834639"/>
            <a:ext cx="2697480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91072" y="2999232"/>
            <a:ext cx="2423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34E4A"/>
                </a:solidFill>
                <a:latin typeface="微软雅黑"/>
                <a:ea typeface="微软雅黑"/>
              </a:rPr>
              <a:t>⑦ LLM 生成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91072" y="3383279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4748B"/>
                </a:solidFill>
                <a:latin typeface="微软雅黑"/>
                <a:ea typeface="微软雅黑"/>
              </a:rPr>
              <a:t>SSE 流式输出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869680" y="3195828"/>
            <a:ext cx="91440" cy="164592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Isosceles Triangle 40"/>
          <p:cNvSpPr/>
          <p:nvPr/>
        </p:nvSpPr>
        <p:spPr>
          <a:xfrm>
            <a:off x="8851392" y="3150108"/>
            <a:ext cx="146304" cy="256032"/>
          </a:xfrm>
          <a:prstGeom prst="triangl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8979408" y="2834639"/>
            <a:ext cx="2697480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16568" y="2999232"/>
            <a:ext cx="2423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34E4A"/>
                </a:solidFill>
                <a:latin typeface="微软雅黑"/>
                <a:ea typeface="微软雅黑"/>
              </a:rPr>
              <a:t>⑧ 返回 + 引用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16568" y="3383279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4748B"/>
                </a:solidFill>
                <a:latin typeface="微软雅黑"/>
                <a:ea typeface="微软雅黑"/>
              </a:rPr>
              <a:t>citations 来源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769364" y="2514600"/>
            <a:ext cx="164592" cy="26517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Isosceles Triangle 45"/>
          <p:cNvSpPr/>
          <p:nvPr/>
        </p:nvSpPr>
        <p:spPr>
          <a:xfrm>
            <a:off x="1723644" y="2670048"/>
            <a:ext cx="256032" cy="146304"/>
          </a:xfrm>
          <a:prstGeom prst="triangl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0245852" y="2514600"/>
            <a:ext cx="164592" cy="26517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Isosceles Triangle 47"/>
          <p:cNvSpPr/>
          <p:nvPr/>
        </p:nvSpPr>
        <p:spPr>
          <a:xfrm>
            <a:off x="10200132" y="2670048"/>
            <a:ext cx="256032" cy="146304"/>
          </a:xfrm>
          <a:prstGeom prst="triangl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502920" y="4434840"/>
            <a:ext cx="11183112" cy="960120"/>
          </a:xfrm>
          <a:prstGeom prst="roundRect">
            <a:avLst>
              <a:gd name="adj" fmla="val 8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22960" y="45720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D97706"/>
                </a:solidFill>
                <a:latin typeface="微软雅黑"/>
                <a:ea typeface="微软雅黑"/>
              </a:rPr>
              <a:t>离线兜底，全链路始终可用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22960" y="498348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E293B"/>
                </a:solidFill>
                <a:latin typeface="微软雅黑"/>
                <a:ea typeface="微软雅黑"/>
              </a:rPr>
              <a:t>未配置 API Key / 大模型调用失败 → 自动降级为基于知识库检索的离线合成回答，并保留引用来源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02920" y="5577840"/>
            <a:ext cx="11183112" cy="6858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22960" y="568756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E293B"/>
                </a:solidFill>
                <a:latin typeface="微软雅黑"/>
                <a:ea typeface="微软雅黑"/>
              </a:rPr>
              <a:t>知识库切换：可在多个疾病知识库间选择；咨询历史按会话保存，回答引用可逐条追溯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234440"/>
            <a:ext cx="41148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1" i="0">
                <a:solidFill>
                  <a:srgbClr val="E0F2FE"/>
                </a:solidFill>
                <a:latin typeface="微软雅黑"/>
                <a:ea typeface="微软雅黑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200400"/>
            <a:ext cx="4434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134E4A"/>
                </a:solidFill>
                <a:latin typeface="微软雅黑"/>
                <a:ea typeface="微软雅黑"/>
              </a:rPr>
              <a:t>系统详细实现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0432" y="422452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94A3B8"/>
                </a:solidFill>
                <a:latin typeface="微软雅黑"/>
                <a:ea typeface="微软雅黑"/>
              </a:rPr>
              <a:t>IMPLEMENTATION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0" y="1371600"/>
            <a:ext cx="6035040" cy="658368"/>
          </a:xfrm>
          <a:prstGeom prst="roundRect">
            <a:avLst>
              <a:gd name="adj" fmla="val 18000"/>
            </a:avLst>
          </a:prstGeom>
          <a:solidFill>
            <a:srgbClr val="E6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89320" y="1499616"/>
            <a:ext cx="457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F766E"/>
                </a:solidFill>
                <a:latin typeface="微软雅黑"/>
                <a:ea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508760"/>
            <a:ext cx="5120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E293B"/>
                </a:solidFill>
                <a:latin typeface="微软雅黑"/>
                <a:ea typeface="微软雅黑"/>
              </a:rPr>
              <a:t>后端架构实现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0" y="2176272"/>
            <a:ext cx="6035040" cy="658368"/>
          </a:xfrm>
          <a:prstGeom prst="roundRect">
            <a:avLst>
              <a:gd name="adj" fmla="val 18000"/>
            </a:avLst>
          </a:prstGeom>
          <a:solidFill>
            <a:srgbClr val="E6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89320" y="2304288"/>
            <a:ext cx="457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F766E"/>
                </a:solidFill>
                <a:latin typeface="微软雅黑"/>
                <a:ea typeface="微软雅黑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313432"/>
            <a:ext cx="5120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E293B"/>
                </a:solidFill>
                <a:latin typeface="微软雅黑"/>
                <a:ea typeface="微软雅黑"/>
              </a:rPr>
              <a:t>前端架构实现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0" y="2980944"/>
            <a:ext cx="6035040" cy="658368"/>
          </a:xfrm>
          <a:prstGeom prst="roundRect">
            <a:avLst>
              <a:gd name="adj" fmla="val 18000"/>
            </a:avLst>
          </a:prstGeom>
          <a:solidFill>
            <a:srgbClr val="E6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89320" y="3108960"/>
            <a:ext cx="457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F766E"/>
                </a:solidFill>
                <a:latin typeface="微软雅黑"/>
                <a:ea typeface="微软雅黑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3118103"/>
            <a:ext cx="5120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E293B"/>
                </a:solidFill>
                <a:latin typeface="微软雅黑"/>
                <a:ea typeface="微软雅黑"/>
              </a:rPr>
              <a:t>智能咨询功能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0" y="3785615"/>
            <a:ext cx="6035040" cy="658368"/>
          </a:xfrm>
          <a:prstGeom prst="roundRect">
            <a:avLst>
              <a:gd name="adj" fmla="val 18000"/>
            </a:avLst>
          </a:prstGeom>
          <a:solidFill>
            <a:srgbClr val="E6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89320" y="3913631"/>
            <a:ext cx="457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F766E"/>
                </a:solidFill>
                <a:latin typeface="微软雅黑"/>
                <a:ea typeface="微软雅黑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922776"/>
            <a:ext cx="5120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E293B"/>
                </a:solidFill>
                <a:latin typeface="微软雅黑"/>
                <a:ea typeface="微软雅黑"/>
              </a:rPr>
              <a:t>知识库管理功能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0" y="4590288"/>
            <a:ext cx="6035040" cy="658368"/>
          </a:xfrm>
          <a:prstGeom prst="roundRect">
            <a:avLst>
              <a:gd name="adj" fmla="val 18000"/>
            </a:avLst>
          </a:prstGeom>
          <a:solidFill>
            <a:srgbClr val="E6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89320" y="4718303"/>
            <a:ext cx="457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F766E"/>
                </a:solidFill>
                <a:latin typeface="微软雅黑"/>
                <a:ea typeface="微软雅黑"/>
              </a:rPr>
              <a:t>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4727448"/>
            <a:ext cx="5120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E293B"/>
                </a:solidFill>
                <a:latin typeface="微软雅黑"/>
                <a:ea typeface="微软雅黑"/>
              </a:rPr>
              <a:t>核心业务功能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82296" cy="40233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10896"/>
            <a:ext cx="8686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E293B"/>
                </a:solidFill>
                <a:latin typeface="微软雅黑"/>
                <a:ea typeface="微软雅黑"/>
              </a:rPr>
              <a:t>后端架构实现（Flask）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120579" y="384048"/>
            <a:ext cx="1568196" cy="365760"/>
          </a:xfrm>
          <a:prstGeom prst="roundRect">
            <a:avLst>
              <a:gd name="adj" fmla="val 50000"/>
            </a:avLst>
          </a:prstGeom>
          <a:solidFill>
            <a:srgbClr val="E6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0F766E"/>
                </a:solidFill>
                <a:latin typeface="微软雅黑"/>
                <a:ea typeface="微软雅黑"/>
              </a:rPr>
              <a:t>03 · 详细实现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969264"/>
            <a:ext cx="11183112" cy="1463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4748B"/>
                </a:solidFill>
                <a:latin typeface="微软雅黑"/>
                <a:ea typeface="微软雅黑"/>
              </a:rPr>
              <a:t>医智助手 · 医疗知识库智能问答系统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55664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4748B"/>
                </a:solidFill>
                <a:latin typeface="微软雅黑"/>
                <a:ea typeface="微软雅黑"/>
              </a:rPr>
              <a:t>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234440"/>
            <a:ext cx="5440680" cy="3108960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46304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34E4A"/>
                </a:solidFill>
                <a:latin typeface="微软雅黑"/>
                <a:ea typeface="微软雅黑"/>
              </a:rPr>
              <a:t>分层目录结构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920240"/>
            <a:ext cx="4892040" cy="402336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1975104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766E"/>
                </a:solidFill>
                <a:latin typeface="微软雅黑"/>
                <a:ea typeface="微软雅黑"/>
              </a:rPr>
              <a:t>app.py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1984248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E293B"/>
                </a:solidFill>
                <a:latin typeface="微软雅黑"/>
                <a:ea typeface="微软雅黑"/>
              </a:rPr>
              <a:t>Flask 入口：自动建库建表 + 播种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2395728"/>
            <a:ext cx="4892040" cy="402336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2450592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766E"/>
                </a:solidFill>
                <a:latin typeface="微软雅黑"/>
                <a:ea typeface="微软雅黑"/>
              </a:rPr>
              <a:t>api/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8880" y="245973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E293B"/>
                </a:solidFill>
                <a:latin typeface="微软雅黑"/>
                <a:ea typeface="微软雅黑"/>
              </a:rPr>
              <a:t>9 个蓝图：auth kb chat dashboard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2871216"/>
            <a:ext cx="4892040" cy="402336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2926080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766E"/>
                </a:solidFill>
                <a:latin typeface="微软雅黑"/>
                <a:ea typeface="微软雅黑"/>
              </a:rPr>
              <a:t>      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2935224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E293B"/>
                </a:solidFill>
                <a:latin typeface="微软雅黑"/>
                <a:ea typeface="微软雅黑"/>
              </a:rPr>
              <a:t>patient doctor nurse schedule admin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346704"/>
            <a:ext cx="4892040" cy="402336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3401568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766E"/>
                </a:solidFill>
                <a:latin typeface="微软雅黑"/>
                <a:ea typeface="微软雅黑"/>
              </a:rPr>
              <a:t>services/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8880" y="341071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E293B"/>
                </a:solidFill>
                <a:latin typeface="微软雅黑"/>
                <a:ea typeface="微软雅黑"/>
              </a:rPr>
              <a:t>咨询 · 知识库 · 检索 · 文档处理 · LLM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3822191"/>
            <a:ext cx="4892040" cy="402336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3877055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766E"/>
                </a:solidFill>
                <a:latin typeface="微软雅黑"/>
                <a:ea typeface="微软雅黑"/>
              </a:rPr>
              <a:t>models/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68880" y="388620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E293B"/>
                </a:solidFill>
                <a:latin typeface="微软雅黑"/>
                <a:ea typeface="微软雅黑"/>
              </a:rPr>
              <a:t>schema_mysql.sql · db.py 数据访问层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" y="4297679"/>
            <a:ext cx="4892040" cy="402336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0120" y="4352543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766E"/>
                </a:solidFill>
                <a:latin typeface="微软雅黑"/>
                <a:ea typeface="微软雅黑"/>
              </a:rPr>
              <a:t>utils/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68880" y="4361688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E293B"/>
                </a:solidFill>
                <a:latin typeface="微软雅黑"/>
                <a:ea typeface="微软雅黑"/>
              </a:rPr>
              <a:t>错误处理 · 文件工具 · 文本工具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63640" y="1234440"/>
            <a:ext cx="5440680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0" y="146304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34E4A"/>
                </a:solidFill>
                <a:latin typeface="微软雅黑"/>
                <a:ea typeface="微软雅黑"/>
              </a:rPr>
              <a:t>实现要点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01968" y="1965960"/>
            <a:ext cx="484632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800"/>
              </a:spcAft>
            </a:pPr>
            <a:r>
              <a:rPr sz="1250" b="1" i="0">
                <a:solidFill>
                  <a:srgbClr val="0F766E"/>
                </a:solidFill>
                <a:latin typeface="微软雅黑"/>
                <a:ea typeface="微软雅黑"/>
              </a:rPr>
              <a:t>● </a:t>
            </a:r>
            <a:r>
              <a:rPr sz="1250" b="0" i="0">
                <a:solidFill>
                  <a:srgbClr val="1E293B"/>
                </a:solidFill>
                <a:latin typeface="微软雅黑"/>
                <a:ea typeface="微软雅黑"/>
              </a:rPr>
              <a:t>Blueprint 按业务域拆分，接口职责单一</a:t>
            </a:r>
          </a:p>
          <a:p>
            <a:pPr>
              <a:lnSpc>
                <a:spcPct val="100000"/>
              </a:lnSpc>
              <a:spcAft>
                <a:spcPts val="800"/>
              </a:spcAft>
            </a:pPr>
            <a:r>
              <a:rPr sz="1250" b="1" i="0">
                <a:solidFill>
                  <a:srgbClr val="0F766E"/>
                </a:solidFill>
                <a:latin typeface="微软雅黑"/>
                <a:ea typeface="微软雅黑"/>
              </a:rPr>
              <a:t>● </a:t>
            </a:r>
            <a:r>
              <a:rPr sz="1250" b="0" i="0">
                <a:solidFill>
                  <a:srgbClr val="1E293B"/>
                </a:solidFill>
                <a:latin typeface="微软雅黑"/>
                <a:ea typeface="微软雅黑"/>
              </a:rPr>
              <a:t>Service 层隔离业务逻辑，可独立测试</a:t>
            </a:r>
          </a:p>
          <a:p>
            <a:pPr>
              <a:lnSpc>
                <a:spcPct val="100000"/>
              </a:lnSpc>
              <a:spcAft>
                <a:spcPts val="800"/>
              </a:spcAft>
            </a:pPr>
            <a:r>
              <a:rPr sz="1250" b="1" i="0">
                <a:solidFill>
                  <a:srgbClr val="0F766E"/>
                </a:solidFill>
                <a:latin typeface="微软雅黑"/>
                <a:ea typeface="微软雅黑"/>
              </a:rPr>
              <a:t>● </a:t>
            </a:r>
            <a:r>
              <a:rPr sz="1250" b="0" i="0">
                <a:solidFill>
                  <a:srgbClr val="1E293B"/>
                </a:solidFill>
                <a:latin typeface="微软雅黑"/>
                <a:ea typeface="微软雅黑"/>
              </a:rPr>
              <a:t>doc_pipeline：上传 → 切分 → 向量化入库</a:t>
            </a:r>
          </a:p>
          <a:p>
            <a:pPr>
              <a:lnSpc>
                <a:spcPct val="100000"/>
              </a:lnSpc>
              <a:spcAft>
                <a:spcPts val="800"/>
              </a:spcAft>
            </a:pPr>
            <a:r>
              <a:rPr sz="1250" b="1" i="0">
                <a:solidFill>
                  <a:srgbClr val="0F766E"/>
                </a:solidFill>
                <a:latin typeface="微软雅黑"/>
                <a:ea typeface="微软雅黑"/>
              </a:rPr>
              <a:t>● </a:t>
            </a:r>
            <a:r>
              <a:rPr sz="1250" b="0" i="0">
                <a:solidFill>
                  <a:srgbClr val="1E293B"/>
                </a:solidFill>
                <a:latin typeface="微软雅黑"/>
                <a:ea typeface="微软雅黑"/>
              </a:rPr>
              <a:t>retriever：向量召回 + 关键词重排 + 引用构建</a:t>
            </a:r>
          </a:p>
          <a:p>
            <a:pPr>
              <a:lnSpc>
                <a:spcPct val="100000"/>
              </a:lnSpc>
              <a:spcAft>
                <a:spcPts val="800"/>
              </a:spcAft>
            </a:pPr>
            <a:r>
              <a:rPr sz="1250" b="1" i="0">
                <a:solidFill>
                  <a:srgbClr val="0F766E"/>
                </a:solidFill>
                <a:latin typeface="微软雅黑"/>
                <a:ea typeface="微软雅黑"/>
              </a:rPr>
              <a:t>● </a:t>
            </a:r>
            <a:r>
              <a:rPr sz="1250" b="0" i="0">
                <a:solidFill>
                  <a:srgbClr val="1E293B"/>
                </a:solidFill>
                <a:latin typeface="微软雅黑"/>
                <a:ea typeface="微软雅黑"/>
              </a:rPr>
              <a:t>seed.py 幂等播种 5 角色 + 240 篇文档 + 各表 ≥50 条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4572000"/>
            <a:ext cx="11183112" cy="1600200"/>
          </a:xfrm>
          <a:prstGeom prst="roundRect">
            <a:avLst>
              <a:gd name="adj" fmla="val 6000"/>
            </a:avLst>
          </a:prstGeom>
          <a:solidFill>
            <a:srgbClr val="E6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48006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34E4A"/>
                </a:solidFill>
                <a:latin typeface="微软雅黑"/>
                <a:ea typeface="微软雅黑"/>
              </a:rPr>
              <a:t>数据流示例：文档上传 → 检索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5349240"/>
            <a:ext cx="1874519" cy="50292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微软雅黑"/>
                <a:ea typeface="微软雅黑"/>
              </a:rPr>
              <a:t>上传文档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478024" y="5349240"/>
            <a:ext cx="329184" cy="164592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Isosceles Triangle 35"/>
          <p:cNvSpPr/>
          <p:nvPr/>
        </p:nvSpPr>
        <p:spPr>
          <a:xfrm>
            <a:off x="2697479" y="5303520"/>
            <a:ext cx="146304" cy="256032"/>
          </a:xfrm>
          <a:prstGeom prst="triangl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2807208" y="5349240"/>
            <a:ext cx="1874519" cy="50292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微软雅黑"/>
                <a:ea typeface="微软雅黑"/>
              </a:rPr>
              <a:t>doc_pipeline 切分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736592" y="5349240"/>
            <a:ext cx="329184" cy="164592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Isosceles Triangle 38"/>
          <p:cNvSpPr/>
          <p:nvPr/>
        </p:nvSpPr>
        <p:spPr>
          <a:xfrm>
            <a:off x="4956048" y="5303520"/>
            <a:ext cx="146304" cy="256032"/>
          </a:xfrm>
          <a:prstGeom prst="triangl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5065776" y="5349240"/>
            <a:ext cx="1874519" cy="50292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微软雅黑"/>
                <a:ea typeface="微软雅黑"/>
              </a:rPr>
              <a:t>bge 向量化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995160" y="5349240"/>
            <a:ext cx="329184" cy="164592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Isosceles Triangle 41"/>
          <p:cNvSpPr/>
          <p:nvPr/>
        </p:nvSpPr>
        <p:spPr>
          <a:xfrm>
            <a:off x="7214616" y="5303520"/>
            <a:ext cx="146304" cy="256032"/>
          </a:xfrm>
          <a:prstGeom prst="triangl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7324344" y="5349240"/>
            <a:ext cx="1874519" cy="50292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微软雅黑"/>
                <a:ea typeface="微软雅黑"/>
              </a:rPr>
              <a:t>Milvus 入库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253728" y="5349240"/>
            <a:ext cx="329184" cy="164592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Isosceles Triangle 44"/>
          <p:cNvSpPr/>
          <p:nvPr/>
        </p:nvSpPr>
        <p:spPr>
          <a:xfrm>
            <a:off x="9473184" y="5303520"/>
            <a:ext cx="146304" cy="256032"/>
          </a:xfrm>
          <a:prstGeom prst="triangl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9582912" y="5349240"/>
            <a:ext cx="1874519" cy="50292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微软雅黑"/>
                <a:ea typeface="微软雅黑"/>
              </a:rPr>
              <a:t>查询时向量召回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2960" y="598932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4748B"/>
                </a:solidFill>
                <a:latin typeface="微软雅黑"/>
                <a:ea typeface="微软雅黑"/>
              </a:rPr>
              <a:t>状态机：processing → ready / failed（失败返回具体原因，如文件格式不支持）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82296" cy="40233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10896"/>
            <a:ext cx="8686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E293B"/>
                </a:solidFill>
                <a:latin typeface="微软雅黑"/>
                <a:ea typeface="微软雅黑"/>
              </a:rPr>
              <a:t>前端架构实现（Vue 3）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120579" y="384048"/>
            <a:ext cx="1568196" cy="365760"/>
          </a:xfrm>
          <a:prstGeom prst="roundRect">
            <a:avLst>
              <a:gd name="adj" fmla="val 50000"/>
            </a:avLst>
          </a:prstGeom>
          <a:solidFill>
            <a:srgbClr val="E6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0F766E"/>
                </a:solidFill>
                <a:latin typeface="微软雅黑"/>
                <a:ea typeface="微软雅黑"/>
              </a:rPr>
              <a:t>03 · 详细实现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969264"/>
            <a:ext cx="11183112" cy="1463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4748B"/>
                </a:solidFill>
                <a:latin typeface="微软雅黑"/>
                <a:ea typeface="微软雅黑"/>
              </a:rPr>
              <a:t>医智助手 · 医疗知识库智能问答系统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55664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4748B"/>
                </a:solidFill>
                <a:latin typeface="微软雅黑"/>
                <a:ea typeface="微软雅黑"/>
              </a:rPr>
              <a:t>19</a:t>
            </a:r>
          </a:p>
        </p:txBody>
      </p:sp>
      <p:pic>
        <p:nvPicPr>
          <p:cNvPr id="9" name="Picture 8" descr="02-患者数据仪表盘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280160"/>
            <a:ext cx="5394960" cy="337185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263640" y="1280160"/>
            <a:ext cx="5394960" cy="3371850"/>
          </a:xfrm>
          <a:prstGeom prst="rect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" y="1234440"/>
            <a:ext cx="5440680" cy="3794760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46304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34E4A"/>
                </a:solidFill>
                <a:latin typeface="微软雅黑"/>
                <a:ea typeface="微软雅黑"/>
              </a:rPr>
              <a:t>工程结构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1920240"/>
            <a:ext cx="4892040" cy="42062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1993392"/>
            <a:ext cx="1691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766E"/>
                </a:solidFill>
                <a:latin typeface="微软雅黑"/>
                <a:ea typeface="微软雅黑"/>
              </a:rPr>
              <a:t>layouts/MainLayout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1993392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E293B"/>
                </a:solidFill>
                <a:latin typeface="微软雅黑"/>
                <a:ea typeface="微软雅黑"/>
              </a:rPr>
              <a:t>5 角色导航 + 底部版权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2414016"/>
            <a:ext cx="4892040" cy="42062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2487168"/>
            <a:ext cx="1691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766E"/>
                </a:solidFill>
                <a:latin typeface="微软雅黑"/>
                <a:ea typeface="微软雅黑"/>
              </a:rPr>
              <a:t>pages/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0" y="2487168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E293B"/>
                </a:solidFill>
                <a:latin typeface="微软雅黑"/>
                <a:ea typeface="微软雅黑"/>
              </a:rPr>
              <a:t>仪表盘 · 咨询 · 健康档案 · 挂号 · 工作台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2907792"/>
            <a:ext cx="4892040" cy="42062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2980944"/>
            <a:ext cx="1691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766E"/>
                </a:solidFill>
                <a:latin typeface="微软雅黑"/>
                <a:ea typeface="微软雅黑"/>
              </a:rPr>
              <a:t>api/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0" y="2980944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E293B"/>
                </a:solidFill>
                <a:latin typeface="微软雅黑"/>
                <a:ea typeface="微软雅黑"/>
              </a:rPr>
              <a:t>Axios 封装与 /api 端点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3401568"/>
            <a:ext cx="4892040" cy="42062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3474720"/>
            <a:ext cx="1691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766E"/>
                </a:solidFill>
                <a:latin typeface="微软雅黑"/>
                <a:ea typeface="微软雅黑"/>
              </a:rPr>
              <a:t>store/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200" y="34747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E293B"/>
                </a:solidFill>
                <a:latin typeface="微软雅黑"/>
                <a:ea typeface="微软雅黑"/>
              </a:rPr>
              <a:t>Pinia 状态管理（用户/会话）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3895344"/>
            <a:ext cx="4892040" cy="42062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" y="3968496"/>
            <a:ext cx="1691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766E"/>
                </a:solidFill>
                <a:latin typeface="微软雅黑"/>
                <a:ea typeface="微软雅黑"/>
              </a:rPr>
              <a:t>types/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0" y="3968496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E293B"/>
                </a:solidFill>
                <a:latin typeface="微软雅黑"/>
                <a:ea typeface="微软雅黑"/>
              </a:rPr>
              <a:t>角色与业务类型定义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257800"/>
            <a:ext cx="11183112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544068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250" b="1" i="0">
                <a:solidFill>
                  <a:srgbClr val="0F766E"/>
                </a:solidFill>
                <a:latin typeface="微软雅黑"/>
                <a:ea typeface="微软雅黑"/>
              </a:rPr>
              <a:t>● </a:t>
            </a:r>
            <a:r>
              <a:rPr sz="1250" b="0" i="0">
                <a:solidFill>
                  <a:srgbClr val="1E293B"/>
                </a:solidFill>
                <a:latin typeface="微软雅黑"/>
                <a:ea typeface="微软雅黑"/>
              </a:rPr>
              <a:t>SSE 流式渲染：EventSource 接收回答分片，逐字呈现；知识库/角色权限前端路由守卫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250" b="1" i="0">
                <a:solidFill>
                  <a:srgbClr val="0F766E"/>
                </a:solidFill>
                <a:latin typeface="微软雅黑"/>
                <a:ea typeface="微软雅黑"/>
              </a:rPr>
              <a:t>● </a:t>
            </a:r>
            <a:r>
              <a:rPr sz="1250" b="0" i="0">
                <a:solidFill>
                  <a:srgbClr val="1E293B"/>
                </a:solidFill>
                <a:latin typeface="微软雅黑"/>
                <a:ea typeface="微软雅黑"/>
              </a:rPr>
              <a:t>ECharts 数据看板：管理员全系统统计、患者个人健康数据可视化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82296" cy="40233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10896"/>
            <a:ext cx="8686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E293B"/>
                </a:solidFill>
                <a:latin typeface="微软雅黑"/>
                <a:ea typeface="微软雅黑"/>
              </a:rPr>
              <a:t>核心功能 · 智能医疗咨询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120579" y="384048"/>
            <a:ext cx="1568196" cy="365760"/>
          </a:xfrm>
          <a:prstGeom prst="roundRect">
            <a:avLst>
              <a:gd name="adj" fmla="val 50000"/>
            </a:avLst>
          </a:prstGeom>
          <a:solidFill>
            <a:srgbClr val="E6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0F766E"/>
                </a:solidFill>
                <a:latin typeface="微软雅黑"/>
                <a:ea typeface="微软雅黑"/>
              </a:rPr>
              <a:t>03 · 详细实现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969264"/>
            <a:ext cx="11183112" cy="1463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4748B"/>
                </a:solidFill>
                <a:latin typeface="微软雅黑"/>
                <a:ea typeface="微软雅黑"/>
              </a:rPr>
              <a:t>医智助手 · 医疗知识库智能问答系统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55664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4748B"/>
                </a:solidFill>
                <a:latin typeface="微软雅黑"/>
                <a:ea typeface="微软雅黑"/>
              </a:rPr>
              <a:t>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280160"/>
            <a:ext cx="539496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1200"/>
              </a:spcAft>
            </a:pPr>
            <a:r>
              <a:rPr sz="1400" b="1" i="0">
                <a:solidFill>
                  <a:srgbClr val="0F766E"/>
                </a:solidFill>
                <a:latin typeface="微软雅黑"/>
                <a:ea typeface="微软雅黑"/>
              </a:rPr>
              <a:t>● </a:t>
            </a:r>
            <a:r>
              <a:rPr sz="1400" b="0" i="0">
                <a:solidFill>
                  <a:srgbClr val="1E293B"/>
                </a:solidFill>
                <a:latin typeface="微软雅黑"/>
                <a:ea typeface="微软雅黑"/>
              </a:rPr>
              <a:t>自然语言提问，多疾病知识库任选</a:t>
            </a:r>
          </a:p>
          <a:p>
            <a:pPr>
              <a:lnSpc>
                <a:spcPct val="100000"/>
              </a:lnSpc>
              <a:spcAft>
                <a:spcPts val="1200"/>
              </a:spcAft>
            </a:pPr>
            <a:r>
              <a:rPr sz="1400" b="1" i="0">
                <a:solidFill>
                  <a:srgbClr val="0F766E"/>
                </a:solidFill>
                <a:latin typeface="微软雅黑"/>
                <a:ea typeface="微软雅黑"/>
              </a:rPr>
              <a:t>● </a:t>
            </a:r>
            <a:r>
              <a:rPr sz="1400" b="0" i="0">
                <a:solidFill>
                  <a:srgbClr val="1E293B"/>
                </a:solidFill>
                <a:latin typeface="微软雅黑"/>
                <a:ea typeface="微软雅黑"/>
              </a:rPr>
              <a:t>RAG 全链路：召回 → 上下文 → 流式生成</a:t>
            </a:r>
          </a:p>
          <a:p>
            <a:pPr>
              <a:lnSpc>
                <a:spcPct val="100000"/>
              </a:lnSpc>
              <a:spcAft>
                <a:spcPts val="1200"/>
              </a:spcAft>
            </a:pPr>
            <a:r>
              <a:rPr sz="1400" b="1" i="0">
                <a:solidFill>
                  <a:srgbClr val="0F766E"/>
                </a:solidFill>
                <a:latin typeface="微软雅黑"/>
                <a:ea typeface="微软雅黑"/>
              </a:rPr>
              <a:t>● </a:t>
            </a:r>
            <a:r>
              <a:rPr sz="1400" b="0" i="0">
                <a:solidFill>
                  <a:srgbClr val="1E293B"/>
                </a:solidFill>
                <a:latin typeface="微软雅黑"/>
                <a:ea typeface="微软雅黑"/>
              </a:rPr>
              <a:t>回答附引用来源，支持逐条追溯（citations）</a:t>
            </a:r>
          </a:p>
          <a:p>
            <a:pPr>
              <a:lnSpc>
                <a:spcPct val="100000"/>
              </a:lnSpc>
              <a:spcAft>
                <a:spcPts val="1200"/>
              </a:spcAft>
            </a:pPr>
            <a:r>
              <a:rPr sz="1400" b="1" i="0">
                <a:solidFill>
                  <a:srgbClr val="0F766E"/>
                </a:solidFill>
                <a:latin typeface="微软雅黑"/>
                <a:ea typeface="微软雅黑"/>
              </a:rPr>
              <a:t>● </a:t>
            </a:r>
            <a:r>
              <a:rPr sz="1400" b="0" i="0">
                <a:solidFill>
                  <a:srgbClr val="1E293B"/>
                </a:solidFill>
                <a:latin typeface="微软雅黑"/>
                <a:ea typeface="微软雅黑"/>
              </a:rPr>
              <a:t>咨询历史按会话保存，随时回看</a:t>
            </a:r>
          </a:p>
          <a:p>
            <a:pPr>
              <a:lnSpc>
                <a:spcPct val="100000"/>
              </a:lnSpc>
              <a:spcAft>
                <a:spcPts val="1200"/>
              </a:spcAft>
            </a:pPr>
            <a:r>
              <a:rPr sz="1400" b="1" i="0">
                <a:solidFill>
                  <a:srgbClr val="0F766E"/>
                </a:solidFill>
                <a:latin typeface="微软雅黑"/>
                <a:ea typeface="微软雅黑"/>
              </a:rPr>
              <a:t>● </a:t>
            </a:r>
            <a:r>
              <a:rPr sz="1400" b="0" i="0">
                <a:solidFill>
                  <a:srgbClr val="1E293B"/>
                </a:solidFill>
                <a:latin typeface="微软雅黑"/>
                <a:ea typeface="微软雅黑"/>
              </a:rPr>
              <a:t>普通用户只能检索公开知识库 + 公开文档</a:t>
            </a:r>
          </a:p>
          <a:p>
            <a:pPr>
              <a:lnSpc>
                <a:spcPct val="100000"/>
              </a:lnSpc>
              <a:spcAft>
                <a:spcPts val="1200"/>
              </a:spcAft>
            </a:pPr>
            <a:r>
              <a:rPr sz="1400" b="1" i="0">
                <a:solidFill>
                  <a:srgbClr val="0F766E"/>
                </a:solidFill>
                <a:latin typeface="微软雅黑"/>
                <a:ea typeface="微软雅黑"/>
              </a:rPr>
              <a:t>● </a:t>
            </a:r>
            <a:r>
              <a:rPr sz="1400" b="0" i="0">
                <a:solidFill>
                  <a:srgbClr val="1E293B"/>
                </a:solidFill>
                <a:latin typeface="微软雅黑"/>
                <a:ea typeface="微软雅黑"/>
              </a:rPr>
              <a:t>离线兜底：无密钥也可完整演示</a:t>
            </a:r>
          </a:p>
        </p:txBody>
      </p:sp>
      <p:pic>
        <p:nvPicPr>
          <p:cNvPr id="10" name="Picture 9" descr="03-智能咨询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280160"/>
            <a:ext cx="5394960" cy="337185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263640" y="1280160"/>
            <a:ext cx="5394960" cy="3371850"/>
          </a:xfrm>
          <a:prstGeom prst="rect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02920" y="4709160"/>
            <a:ext cx="11183112" cy="1463040"/>
          </a:xfrm>
          <a:prstGeom prst="roundRect">
            <a:avLst>
              <a:gd name="adj" fmla="val 6000"/>
            </a:avLst>
          </a:prstGeom>
          <a:solidFill>
            <a:srgbClr val="E6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19472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34E4A"/>
                </a:solidFill>
                <a:latin typeface="微软雅黑"/>
                <a:ea typeface="微软雅黑"/>
              </a:rPr>
              <a:t>回答生成逻辑（chat_service）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349240"/>
            <a:ext cx="106070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E293B"/>
                </a:solidFill>
                <a:latin typeface="微软雅黑"/>
                <a:ea typeface="微软雅黑"/>
              </a:rPr>
              <a:t>权限过滤 → 向量召回(top10) → 相似度+关键词重排(top5) → 构建带编号上下文 → 调用大模型（OpenAI 兼容）→ SSE 流式返回；将片段写入 citations 表用于前端引用展示；调用失败时降级为离线合成回答。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82296" cy="40233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10896"/>
            <a:ext cx="8686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E293B"/>
                </a:solidFill>
                <a:latin typeface="微软雅黑"/>
                <a:ea typeface="微软雅黑"/>
              </a:rPr>
              <a:t>核心功能 · 知识库管理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120579" y="384048"/>
            <a:ext cx="1568196" cy="365760"/>
          </a:xfrm>
          <a:prstGeom prst="roundRect">
            <a:avLst>
              <a:gd name="adj" fmla="val 50000"/>
            </a:avLst>
          </a:prstGeom>
          <a:solidFill>
            <a:srgbClr val="E6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0F766E"/>
                </a:solidFill>
                <a:latin typeface="微软雅黑"/>
                <a:ea typeface="微软雅黑"/>
              </a:rPr>
              <a:t>03 · 详细实现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969264"/>
            <a:ext cx="11183112" cy="1463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4748B"/>
                </a:solidFill>
                <a:latin typeface="微软雅黑"/>
                <a:ea typeface="微软雅黑"/>
              </a:rPr>
              <a:t>医智助手 · 医疗知识库智能问答系统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55664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4748B"/>
                </a:solidFill>
                <a:latin typeface="微软雅黑"/>
                <a:ea typeface="微软雅黑"/>
              </a:rPr>
              <a:t>21</a:t>
            </a:r>
          </a:p>
        </p:txBody>
      </p:sp>
      <p:pic>
        <p:nvPicPr>
          <p:cNvPr id="9" name="Picture 8" descr="13-知识库管理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280160"/>
            <a:ext cx="5394960" cy="337185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263640" y="1280160"/>
            <a:ext cx="5394960" cy="3371850"/>
          </a:xfrm>
          <a:prstGeom prst="rect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80160"/>
            <a:ext cx="539496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1200"/>
              </a:spcAft>
            </a:pPr>
            <a:r>
              <a:rPr sz="1400" b="1" i="0">
                <a:solidFill>
                  <a:srgbClr val="0F766E"/>
                </a:solidFill>
                <a:latin typeface="微软雅黑"/>
                <a:ea typeface="微软雅黑"/>
              </a:rPr>
              <a:t>● </a:t>
            </a:r>
            <a:r>
              <a:rPr sz="1400" b="0" i="0">
                <a:solidFill>
                  <a:srgbClr val="1E293B"/>
                </a:solidFill>
                <a:latin typeface="微软雅黑"/>
                <a:ea typeface="微软雅黑"/>
              </a:rPr>
              <a:t>12 个疾病知识库：呼吸、心血管、消化、神经……</a:t>
            </a:r>
          </a:p>
          <a:p>
            <a:pPr>
              <a:lnSpc>
                <a:spcPct val="100000"/>
              </a:lnSpc>
              <a:spcAft>
                <a:spcPts val="1200"/>
              </a:spcAft>
            </a:pPr>
            <a:r>
              <a:rPr sz="1400" b="1" i="0">
                <a:solidFill>
                  <a:srgbClr val="0F766E"/>
                </a:solidFill>
                <a:latin typeface="微软雅黑"/>
                <a:ea typeface="微软雅黑"/>
              </a:rPr>
              <a:t>● </a:t>
            </a:r>
            <a:r>
              <a:rPr sz="1400" b="0" i="0">
                <a:solidFill>
                  <a:srgbClr val="1E293B"/>
                </a:solidFill>
                <a:latin typeface="微软雅黑"/>
                <a:ea typeface="微软雅黑"/>
              </a:rPr>
              <a:t>知识库 / 文档均可设置公开或私有</a:t>
            </a:r>
          </a:p>
          <a:p>
            <a:pPr>
              <a:lnSpc>
                <a:spcPct val="100000"/>
              </a:lnSpc>
              <a:spcAft>
                <a:spcPts val="1200"/>
              </a:spcAft>
            </a:pPr>
            <a:r>
              <a:rPr sz="1400" b="1" i="0">
                <a:solidFill>
                  <a:srgbClr val="0F766E"/>
                </a:solidFill>
                <a:latin typeface="微软雅黑"/>
                <a:ea typeface="微软雅黑"/>
              </a:rPr>
              <a:t>● </a:t>
            </a:r>
            <a:r>
              <a:rPr sz="1400" b="0" i="0">
                <a:solidFill>
                  <a:srgbClr val="1E293B"/>
                </a:solidFill>
                <a:latin typeface="微软雅黑"/>
                <a:ea typeface="微软雅黑"/>
              </a:rPr>
              <a:t>支持上传 txt · md · pdf · docx · pptx</a:t>
            </a:r>
          </a:p>
          <a:p>
            <a:pPr>
              <a:lnSpc>
                <a:spcPct val="100000"/>
              </a:lnSpc>
              <a:spcAft>
                <a:spcPts val="1200"/>
              </a:spcAft>
            </a:pPr>
            <a:r>
              <a:rPr sz="1400" b="1" i="0">
                <a:solidFill>
                  <a:srgbClr val="0F766E"/>
                </a:solidFill>
                <a:latin typeface="微软雅黑"/>
                <a:ea typeface="微软雅黑"/>
              </a:rPr>
              <a:t>● </a:t>
            </a:r>
            <a:r>
              <a:rPr sz="1400" b="0" i="0">
                <a:solidFill>
                  <a:srgbClr val="1E293B"/>
                </a:solidFill>
                <a:latin typeface="微软雅黑"/>
                <a:ea typeface="微软雅黑"/>
              </a:rPr>
              <a:t>上传后自动切分、向量化入库，可立即检索</a:t>
            </a:r>
          </a:p>
          <a:p>
            <a:pPr>
              <a:lnSpc>
                <a:spcPct val="100000"/>
              </a:lnSpc>
              <a:spcAft>
                <a:spcPts val="1200"/>
              </a:spcAft>
            </a:pPr>
            <a:r>
              <a:rPr sz="1400" b="1" i="0">
                <a:solidFill>
                  <a:srgbClr val="0F766E"/>
                </a:solidFill>
                <a:latin typeface="微软雅黑"/>
                <a:ea typeface="微软雅黑"/>
              </a:rPr>
              <a:t>● </a:t>
            </a:r>
            <a:r>
              <a:rPr sz="1400" b="0" i="0">
                <a:solidFill>
                  <a:srgbClr val="1E293B"/>
                </a:solidFill>
                <a:latin typeface="微软雅黑"/>
                <a:ea typeface="微软雅黑"/>
              </a:rPr>
              <a:t>失败时返回具体原因，状态机清晰</a:t>
            </a:r>
          </a:p>
          <a:p>
            <a:pPr>
              <a:lnSpc>
                <a:spcPct val="100000"/>
              </a:lnSpc>
              <a:spcAft>
                <a:spcPts val="1200"/>
              </a:spcAft>
            </a:pPr>
            <a:r>
              <a:rPr sz="1400" b="1" i="0">
                <a:solidFill>
                  <a:srgbClr val="0F766E"/>
                </a:solidFill>
                <a:latin typeface="微软雅黑"/>
                <a:ea typeface="微软雅黑"/>
              </a:rPr>
              <a:t>● </a:t>
            </a:r>
            <a:r>
              <a:rPr sz="1400" b="0" i="0">
                <a:solidFill>
                  <a:srgbClr val="1E293B"/>
                </a:solidFill>
                <a:latin typeface="微软雅黑"/>
                <a:ea typeface="微软雅黑"/>
              </a:rPr>
              <a:t>医生私有库仅本人可见（visibility + owner）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709160"/>
            <a:ext cx="11183112" cy="146304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19472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34E4A"/>
                </a:solidFill>
                <a:latin typeface="微软雅黑"/>
                <a:ea typeface="微软雅黑"/>
              </a:rPr>
              <a:t>上传管线（doc_pipeline）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5413248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微软雅黑"/>
                <a:ea typeface="微软雅黑"/>
              </a:rPr>
              <a:t>格式校验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66543" y="5404104"/>
            <a:ext cx="310896" cy="164592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Isosceles Triangle 15"/>
          <p:cNvSpPr/>
          <p:nvPr/>
        </p:nvSpPr>
        <p:spPr>
          <a:xfrm>
            <a:off x="2267711" y="5358384"/>
            <a:ext cx="146304" cy="256032"/>
          </a:xfrm>
          <a:prstGeom prst="triangl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377440" y="5413248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微软雅黑"/>
                <a:ea typeface="微软雅黑"/>
              </a:rPr>
              <a:t>正文抽取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895344" y="5404104"/>
            <a:ext cx="310896" cy="164592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Isosceles Triangle 18"/>
          <p:cNvSpPr/>
          <p:nvPr/>
        </p:nvSpPr>
        <p:spPr>
          <a:xfrm>
            <a:off x="4096511" y="5358384"/>
            <a:ext cx="146304" cy="256032"/>
          </a:xfrm>
          <a:prstGeom prst="triangl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206240" y="5413248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微软雅黑"/>
                <a:ea typeface="微软雅黑"/>
              </a:rPr>
              <a:t>切分(500+80)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724144" y="5404104"/>
            <a:ext cx="310896" cy="164592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Isosceles Triangle 21"/>
          <p:cNvSpPr/>
          <p:nvPr/>
        </p:nvSpPr>
        <p:spPr>
          <a:xfrm>
            <a:off x="5925312" y="5358384"/>
            <a:ext cx="146304" cy="256032"/>
          </a:xfrm>
          <a:prstGeom prst="triangl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035040" y="5413248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微软雅黑"/>
                <a:ea typeface="微软雅黑"/>
              </a:rPr>
              <a:t>bge 向量化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552944" y="5404104"/>
            <a:ext cx="310896" cy="164592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Isosceles Triangle 24"/>
          <p:cNvSpPr/>
          <p:nvPr/>
        </p:nvSpPr>
        <p:spPr>
          <a:xfrm>
            <a:off x="7754112" y="5358384"/>
            <a:ext cx="146304" cy="256032"/>
          </a:xfrm>
          <a:prstGeom prst="triangl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863840" y="5413248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微软雅黑"/>
                <a:ea typeface="微软雅黑"/>
              </a:rPr>
              <a:t>Milvus 写入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381744" y="5404104"/>
            <a:ext cx="310896" cy="164592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Isosceles Triangle 27"/>
          <p:cNvSpPr/>
          <p:nvPr/>
        </p:nvSpPr>
        <p:spPr>
          <a:xfrm>
            <a:off x="9582912" y="5358384"/>
            <a:ext cx="146304" cy="256032"/>
          </a:xfrm>
          <a:prstGeom prst="triangl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692640" y="5413248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微软雅黑"/>
                <a:ea typeface="微软雅黑"/>
              </a:rPr>
              <a:t>状态 ready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82296" cy="40233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10896"/>
            <a:ext cx="8686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E293B"/>
                </a:solidFill>
                <a:latin typeface="微软雅黑"/>
                <a:ea typeface="微软雅黑"/>
              </a:rPr>
              <a:t>核心业务功能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120579" y="384048"/>
            <a:ext cx="1568196" cy="365760"/>
          </a:xfrm>
          <a:prstGeom prst="roundRect">
            <a:avLst>
              <a:gd name="adj" fmla="val 50000"/>
            </a:avLst>
          </a:prstGeom>
          <a:solidFill>
            <a:srgbClr val="E6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0F766E"/>
                </a:solidFill>
                <a:latin typeface="微软雅黑"/>
                <a:ea typeface="微软雅黑"/>
              </a:rPr>
              <a:t>03 · 详细实现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969264"/>
            <a:ext cx="11183112" cy="1463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4748B"/>
                </a:solidFill>
                <a:latin typeface="微软雅黑"/>
                <a:ea typeface="微软雅黑"/>
              </a:rPr>
              <a:t>医智助手 · 医疗知识库智能问答系统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55664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4748B"/>
                </a:solidFill>
                <a:latin typeface="微软雅黑"/>
                <a:ea typeface="微软雅黑"/>
              </a:rPr>
              <a:t>22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280160"/>
            <a:ext cx="2697480" cy="3291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5-患者健康档案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17320"/>
            <a:ext cx="2423160" cy="151447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3794760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34E4A"/>
                </a:solidFill>
                <a:latin typeface="微软雅黑"/>
                <a:ea typeface="微软雅黑"/>
              </a:rPr>
              <a:t>患者健康档案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4133087"/>
            <a:ext cx="247802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4748B"/>
                </a:solidFill>
                <a:latin typeface="微软雅黑"/>
                <a:ea typeface="微软雅黑"/>
              </a:rPr>
              <a:t>最近住院信息 · 消费明细 · 预约挂号查询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37560" y="1280160"/>
            <a:ext cx="2697480" cy="3291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6-预约挂号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720" y="1417320"/>
            <a:ext cx="2423160" cy="151447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474720" y="3794760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34E4A"/>
                </a:solidFill>
                <a:latin typeface="微软雅黑"/>
                <a:ea typeface="微软雅黑"/>
              </a:rPr>
              <a:t>在线预约挂号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47288" y="4133087"/>
            <a:ext cx="247802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4748B"/>
                </a:solidFill>
                <a:latin typeface="微软雅黑"/>
                <a:ea typeface="微软雅黑"/>
              </a:rPr>
              <a:t>科室/时间选择 · 状态流转（booked→visited）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1280160"/>
            <a:ext cx="2697480" cy="3291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09-医生工作台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1417320"/>
            <a:ext cx="2423160" cy="151447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309360" y="3794760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34E4A"/>
                </a:solidFill>
                <a:latin typeface="微软雅黑"/>
                <a:ea typeface="微软雅黑"/>
              </a:rPr>
              <a:t>医护工作台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81928" y="4133087"/>
            <a:ext cx="247802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4748B"/>
                </a:solidFill>
                <a:latin typeface="微软雅黑"/>
                <a:ea typeface="微软雅黑"/>
              </a:rPr>
              <a:t>患者管理 · 住院信息 · 护理记录 · 排班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06840" y="1280160"/>
            <a:ext cx="2697480" cy="3291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15-系统管理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0" y="1417320"/>
            <a:ext cx="2423160" cy="1514474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144000" y="3794760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34E4A"/>
                </a:solidFill>
                <a:latin typeface="微软雅黑"/>
                <a:ea typeface="微软雅黑"/>
              </a:rPr>
              <a:t>系统管理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16567" y="4133087"/>
            <a:ext cx="247802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4748B"/>
                </a:solidFill>
                <a:latin typeface="微软雅黑"/>
                <a:ea typeface="微软雅黑"/>
              </a:rPr>
              <a:t>用户增删改查 · 全系统数据看板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4800600"/>
            <a:ext cx="11183112" cy="1371600"/>
          </a:xfrm>
          <a:prstGeom prst="roundRect">
            <a:avLst>
              <a:gd name="adj" fmla="val 6000"/>
            </a:avLst>
          </a:prstGeom>
          <a:solidFill>
            <a:srgbClr val="E6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5010912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34E4A"/>
                </a:solidFill>
                <a:latin typeface="微软雅黑"/>
                <a:ea typeface="微软雅黑"/>
              </a:rPr>
              <a:t>业务闭环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5440680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E293B"/>
                </a:solidFill>
                <a:latin typeface="微软雅黑"/>
                <a:ea typeface="微软雅黑"/>
              </a:rPr>
              <a:t>患者：注册 → 挂号 → 住院 → 消费 → 健康档案查询；医护：排班 → 接诊 → 护理记录 → 出院管理；管理员：用户与全系统数据一屏掌握。业务数据贯穿 11 张表，形成完整闭环。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234440"/>
            <a:ext cx="41148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1" i="0">
                <a:solidFill>
                  <a:srgbClr val="E0F2FE"/>
                </a:solidFill>
                <a:latin typeface="微软雅黑"/>
                <a:ea typeface="微软雅黑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200400"/>
            <a:ext cx="4434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134E4A"/>
                </a:solidFill>
                <a:latin typeface="微软雅黑"/>
                <a:ea typeface="微软雅黑"/>
              </a:rPr>
              <a:t>系统运行与测试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0432" y="422452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94A3B8"/>
                </a:solidFill>
                <a:latin typeface="微软雅黑"/>
                <a:ea typeface="微软雅黑"/>
              </a:rPr>
              <a:t>RUNNING &amp; TESTING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0" y="1371600"/>
            <a:ext cx="6035040" cy="658368"/>
          </a:xfrm>
          <a:prstGeom prst="roundRect">
            <a:avLst>
              <a:gd name="adj" fmla="val 18000"/>
            </a:avLst>
          </a:prstGeom>
          <a:solidFill>
            <a:srgbClr val="E6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89320" y="1499616"/>
            <a:ext cx="457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F766E"/>
                </a:solidFill>
                <a:latin typeface="微软雅黑"/>
                <a:ea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508760"/>
            <a:ext cx="5120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E293B"/>
                </a:solidFill>
                <a:latin typeface="微软雅黑"/>
                <a:ea typeface="微软雅黑"/>
              </a:rPr>
              <a:t>系统运行效果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0" y="2176272"/>
            <a:ext cx="6035040" cy="658368"/>
          </a:xfrm>
          <a:prstGeom prst="roundRect">
            <a:avLst>
              <a:gd name="adj" fmla="val 18000"/>
            </a:avLst>
          </a:prstGeom>
          <a:solidFill>
            <a:srgbClr val="E6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89320" y="2304288"/>
            <a:ext cx="457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F766E"/>
                </a:solidFill>
                <a:latin typeface="微软雅黑"/>
                <a:ea typeface="微软雅黑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313432"/>
            <a:ext cx="5120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E293B"/>
                </a:solidFill>
                <a:latin typeface="微软雅黑"/>
                <a:ea typeface="微软雅黑"/>
              </a:rPr>
              <a:t>功能测试用例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82296" cy="40233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10896"/>
            <a:ext cx="8686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E293B"/>
                </a:solidFill>
                <a:latin typeface="微软雅黑"/>
                <a:ea typeface="微软雅黑"/>
              </a:rPr>
              <a:t>系统运行效果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978847" y="384048"/>
            <a:ext cx="1709928" cy="365760"/>
          </a:xfrm>
          <a:prstGeom prst="roundRect">
            <a:avLst>
              <a:gd name="adj" fmla="val 50000"/>
            </a:avLst>
          </a:prstGeom>
          <a:solidFill>
            <a:srgbClr val="E6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0F766E"/>
                </a:solidFill>
                <a:latin typeface="微软雅黑"/>
                <a:ea typeface="微软雅黑"/>
              </a:rPr>
              <a:t>04 · 运行与测试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969264"/>
            <a:ext cx="11183112" cy="1463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4748B"/>
                </a:solidFill>
                <a:latin typeface="微软雅黑"/>
                <a:ea typeface="微软雅黑"/>
              </a:rPr>
              <a:t>医智助手 · 医疗知识库智能问答系统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55664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4748B"/>
                </a:solidFill>
                <a:latin typeface="微软雅黑"/>
                <a:ea typeface="微软雅黑"/>
              </a:rPr>
              <a:t>24</a:t>
            </a:r>
          </a:p>
        </p:txBody>
      </p:sp>
      <p:pic>
        <p:nvPicPr>
          <p:cNvPr id="9" name="Picture 8" descr="01-登录页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0280" y="1143000"/>
            <a:ext cx="3493008" cy="2183129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2240280" y="1143000"/>
            <a:ext cx="3493008" cy="2183129"/>
          </a:xfrm>
          <a:prstGeom prst="rect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40280" y="3390137"/>
            <a:ext cx="34930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4748B"/>
                </a:solidFill>
                <a:latin typeface="微软雅黑"/>
                <a:ea typeface="微软雅黑"/>
              </a:rPr>
              <a:t>登录页 · 五种角色</a:t>
            </a:r>
          </a:p>
        </p:txBody>
      </p:sp>
      <p:pic>
        <p:nvPicPr>
          <p:cNvPr id="12" name="Picture 11" descr="02-患者数据仪表盘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4808" y="1143000"/>
            <a:ext cx="3493008" cy="2183129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6464808" y="1143000"/>
            <a:ext cx="3493008" cy="2183129"/>
          </a:xfrm>
          <a:prstGeom prst="rect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64808" y="3390137"/>
            <a:ext cx="34930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4748B"/>
                </a:solidFill>
                <a:latin typeface="微软雅黑"/>
                <a:ea typeface="微软雅黑"/>
              </a:rPr>
              <a:t>患者数据仪表盘</a:t>
            </a:r>
          </a:p>
        </p:txBody>
      </p:sp>
      <p:pic>
        <p:nvPicPr>
          <p:cNvPr id="15" name="Picture 14" descr="03-智能咨询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40280" y="3710177"/>
            <a:ext cx="3493008" cy="2183129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2240280" y="3710177"/>
            <a:ext cx="3493008" cy="2183129"/>
          </a:xfrm>
          <a:prstGeom prst="rect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240280" y="5957315"/>
            <a:ext cx="34930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4748B"/>
                </a:solidFill>
                <a:latin typeface="微软雅黑"/>
                <a:ea typeface="微软雅黑"/>
              </a:rPr>
              <a:t>智能咨询 · 流式回答 + 引用</a:t>
            </a:r>
          </a:p>
        </p:txBody>
      </p:sp>
      <p:pic>
        <p:nvPicPr>
          <p:cNvPr id="18" name="Picture 17" descr="05-患者健康档案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64808" y="3710177"/>
            <a:ext cx="3493008" cy="2183129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6464808" y="3710177"/>
            <a:ext cx="3493008" cy="2183129"/>
          </a:xfrm>
          <a:prstGeom prst="rect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64808" y="5957315"/>
            <a:ext cx="34930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4748B"/>
                </a:solidFill>
                <a:latin typeface="微软雅黑"/>
                <a:ea typeface="微软雅黑"/>
              </a:rPr>
              <a:t>患者健康档案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82296" cy="40233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10896"/>
            <a:ext cx="8686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E293B"/>
                </a:solidFill>
                <a:latin typeface="微软雅黑"/>
                <a:ea typeface="微软雅黑"/>
              </a:rPr>
              <a:t>系统测试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978847" y="384048"/>
            <a:ext cx="1709928" cy="365760"/>
          </a:xfrm>
          <a:prstGeom prst="roundRect">
            <a:avLst>
              <a:gd name="adj" fmla="val 50000"/>
            </a:avLst>
          </a:prstGeom>
          <a:solidFill>
            <a:srgbClr val="E6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0F766E"/>
                </a:solidFill>
                <a:latin typeface="微软雅黑"/>
                <a:ea typeface="微软雅黑"/>
              </a:rPr>
              <a:t>04 · 运行与测试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969264"/>
            <a:ext cx="11183112" cy="1463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4748B"/>
                </a:solidFill>
                <a:latin typeface="微软雅黑"/>
                <a:ea typeface="微软雅黑"/>
              </a:rPr>
              <a:t>医智助手 · 医疗知识库智能问答系统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55664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4748B"/>
                </a:solidFill>
                <a:latin typeface="微软雅黑"/>
                <a:ea typeface="微软雅黑"/>
              </a:rPr>
              <a:t>25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234440"/>
          <a:ext cx="11183112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4480560"/>
                <a:gridCol w="4233672"/>
              </a:tblGrid>
              <a:tr h="522514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用例</a:t>
                      </a:r>
                    </a:p>
                  </a:txBody>
                  <a:tcPr marL="109728" marR="73152" marT="36576" marB="36576" anchor="ctr">
                    <a:solidFill>
                      <a:srgbClr val="0F76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测试步骤</a:t>
                      </a:r>
                    </a:p>
                  </a:txBody>
                  <a:tcPr marL="109728" marR="73152" marT="36576" marB="36576" anchor="ctr">
                    <a:solidFill>
                      <a:srgbClr val="0F76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预期结果</a:t>
                      </a:r>
                    </a:p>
                  </a:txBody>
                  <a:tcPr marL="109728" marR="73152" marT="36576" marB="36576" anchor="ctr">
                    <a:solidFill>
                      <a:srgbClr val="0F766E"/>
                    </a:solidFill>
                  </a:tcPr>
                </a:tc>
              </a:tr>
              <a:tr h="522514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1E293B"/>
                          </a:solidFill>
                          <a:latin typeface="微软雅黑"/>
                          <a:ea typeface="微软雅黑"/>
                        </a:rPr>
                        <a:t>多角色登录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1E293B"/>
                          </a:solidFill>
                          <a:latin typeface="微软雅黑"/>
                          <a:ea typeface="微软雅黑"/>
                        </a:rPr>
                        <a:t>5 个演示账号逐一登录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1E293B"/>
                          </a:solidFill>
                          <a:latin typeface="微软雅黑"/>
                          <a:ea typeface="微软雅黑"/>
                        </a:rPr>
                        <a:t>各自进入对应角色门户，权限正确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1E293B"/>
                          </a:solidFill>
                          <a:latin typeface="微软雅黑"/>
                          <a:ea typeface="微软雅黑"/>
                        </a:rPr>
                        <a:t>公开/私有过滤</a:t>
                      </a:r>
                    </a:p>
                  </a:txBody>
                  <a:tcPr marL="109728" marR="73152" marT="36576" marB="36576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1E293B"/>
                          </a:solidFill>
                          <a:latin typeface="微软雅黑"/>
                          <a:ea typeface="微软雅黑"/>
                        </a:rPr>
                        <a:t>患者/群众检索私有文档</a:t>
                      </a:r>
                    </a:p>
                  </a:txBody>
                  <a:tcPr marL="109728" marR="73152" marT="36576" marB="36576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1E293B"/>
                          </a:solidFill>
                          <a:latin typeface="微软雅黑"/>
                          <a:ea typeface="微软雅黑"/>
                        </a:rPr>
                        <a:t>返回空或仅公开结果，拒绝越权</a:t>
                      </a:r>
                    </a:p>
                  </a:txBody>
                  <a:tcPr marL="109728" marR="73152" marT="36576" marB="36576" anchor="ctr">
                    <a:solidFill>
                      <a:srgbClr val="F1F5F9"/>
                    </a:solidFill>
                  </a:tcPr>
                </a:tc>
              </a:tr>
              <a:tr h="522514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1E293B"/>
                          </a:solidFill>
                          <a:latin typeface="微软雅黑"/>
                          <a:ea typeface="微软雅黑"/>
                        </a:rPr>
                        <a:t>RAG 智能问答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1E293B"/>
                          </a:solidFill>
                          <a:latin typeface="微软雅黑"/>
                          <a:ea typeface="微软雅黑"/>
                        </a:rPr>
                        <a:t>对知识库提问并查看引用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1E293B"/>
                          </a:solidFill>
                          <a:latin typeface="微软雅黑"/>
                          <a:ea typeface="微软雅黑"/>
                        </a:rPr>
                        <a:t>流式回答 + 引用来源可追溯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1E293B"/>
                          </a:solidFill>
                          <a:latin typeface="微软雅黑"/>
                          <a:ea typeface="微软雅黑"/>
                        </a:rPr>
                        <a:t>文档上传</a:t>
                      </a:r>
                    </a:p>
                  </a:txBody>
                  <a:tcPr marL="109728" marR="73152" marT="36576" marB="36576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1E293B"/>
                          </a:solidFill>
                          <a:latin typeface="微软雅黑"/>
                          <a:ea typeface="微软雅黑"/>
                        </a:rPr>
                        <a:t>上传 txt/md/pdf/docx/pptx</a:t>
                      </a:r>
                    </a:p>
                  </a:txBody>
                  <a:tcPr marL="109728" marR="73152" marT="36576" marB="36576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1E293B"/>
                          </a:solidFill>
                          <a:latin typeface="微软雅黑"/>
                          <a:ea typeface="微软雅黑"/>
                        </a:rPr>
                        <a:t>切分向量化成功，检索可用；非法文件报具体原因</a:t>
                      </a:r>
                    </a:p>
                  </a:txBody>
                  <a:tcPr marL="109728" marR="73152" marT="36576" marB="36576" anchor="ctr">
                    <a:solidFill>
                      <a:srgbClr val="F1F5F9"/>
                    </a:solidFill>
                  </a:tcPr>
                </a:tc>
              </a:tr>
              <a:tr h="522514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1E293B"/>
                          </a:solidFill>
                          <a:latin typeface="微软雅黑"/>
                          <a:ea typeface="微软雅黑"/>
                        </a:rPr>
                        <a:t>健康档案/挂号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1E293B"/>
                          </a:solidFill>
                          <a:latin typeface="微软雅黑"/>
                          <a:ea typeface="微软雅黑"/>
                        </a:rPr>
                        <a:t>患者查看住院消费、预约挂号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1E293B"/>
                          </a:solidFill>
                          <a:latin typeface="微软雅黑"/>
                          <a:ea typeface="微软雅黑"/>
                        </a:rPr>
                        <a:t>数据与本人一致，状态流转正确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</a:tr>
              <a:tr h="522516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1E293B"/>
                          </a:solidFill>
                          <a:latin typeface="微软雅黑"/>
                          <a:ea typeface="微软雅黑"/>
                        </a:rPr>
                        <a:t>兜底降级</a:t>
                      </a:r>
                    </a:p>
                  </a:txBody>
                  <a:tcPr marL="109728" marR="73152" marT="36576" marB="36576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1E293B"/>
                          </a:solidFill>
                          <a:latin typeface="微软雅黑"/>
                          <a:ea typeface="微软雅黑"/>
                        </a:rPr>
                        <a:t>停用 API Key / 关闭 Milvus</a:t>
                      </a:r>
                    </a:p>
                  </a:txBody>
                  <a:tcPr marL="109728" marR="73152" marT="36576" marB="36576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1E293B"/>
                          </a:solidFill>
                          <a:latin typeface="微软雅黑"/>
                          <a:ea typeface="微软雅黑"/>
                        </a:rPr>
                        <a:t>自动降级离线合成回答 / NumpyStore，系统不中断</a:t>
                      </a:r>
                    </a:p>
                  </a:txBody>
                  <a:tcPr marL="109728" marR="73152" marT="36576" marB="36576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02920" y="512064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34E4A"/>
                </a:solidFill>
                <a:latin typeface="微软雅黑"/>
                <a:ea typeface="微软雅黑"/>
              </a:rPr>
              <a:t>说明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5532120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150" b="1" i="0">
                <a:solidFill>
                  <a:srgbClr val="0F766E"/>
                </a:solidFill>
                <a:latin typeface="微软雅黑"/>
                <a:ea typeface="微软雅黑"/>
              </a:rPr>
              <a:t>● </a:t>
            </a:r>
            <a:r>
              <a:rPr sz="1150" b="0" i="0">
                <a:solidFill>
                  <a:srgbClr val="1E293B"/>
                </a:solidFill>
                <a:latin typeface="微软雅黑"/>
                <a:ea typeface="微软雅黑"/>
              </a:rPr>
              <a:t>本轮以功能用例手工验证为主，配合接口联调与降级演练；项目结构为后续接入 pytest 单元测试预留了 Service 层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150" b="1" i="0">
                <a:solidFill>
                  <a:srgbClr val="0F766E"/>
                </a:solidFill>
                <a:latin typeface="微软雅黑"/>
                <a:ea typeface="微软雅黑"/>
              </a:rPr>
              <a:t>● </a:t>
            </a:r>
            <a:r>
              <a:rPr sz="1150" b="0" i="0">
                <a:solidFill>
                  <a:srgbClr val="1E293B"/>
                </a:solidFill>
                <a:latin typeface="微软雅黑"/>
                <a:ea typeface="微软雅黑"/>
              </a:rPr>
              <a:t>运行截图由 scripts/screenshot.mjs（puppeteer-core + 本机 Chrome）自动生成，可回归验证 UI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234440"/>
            <a:ext cx="41148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1" i="0">
                <a:solidFill>
                  <a:srgbClr val="E0F2FE"/>
                </a:solidFill>
                <a:latin typeface="微软雅黑"/>
                <a:ea typeface="微软雅黑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200400"/>
            <a:ext cx="4434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134E4A"/>
                </a:solidFill>
                <a:latin typeface="微软雅黑"/>
                <a:ea typeface="微软雅黑"/>
              </a:rPr>
              <a:t>项目总结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0432" y="422452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94A3B8"/>
                </a:solidFill>
                <a:latin typeface="微软雅黑"/>
                <a:ea typeface="微软雅黑"/>
              </a:rPr>
              <a:t>SUMMARY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0" y="1371600"/>
            <a:ext cx="6035040" cy="658368"/>
          </a:xfrm>
          <a:prstGeom prst="roundRect">
            <a:avLst>
              <a:gd name="adj" fmla="val 18000"/>
            </a:avLst>
          </a:prstGeom>
          <a:solidFill>
            <a:srgbClr val="E6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89320" y="1499616"/>
            <a:ext cx="457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F766E"/>
                </a:solidFill>
                <a:latin typeface="微软雅黑"/>
                <a:ea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508760"/>
            <a:ext cx="5120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E293B"/>
                </a:solidFill>
                <a:latin typeface="微软雅黑"/>
                <a:ea typeface="微软雅黑"/>
              </a:rPr>
              <a:t>项目亮点与难点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0" y="2176272"/>
            <a:ext cx="6035040" cy="658368"/>
          </a:xfrm>
          <a:prstGeom prst="roundRect">
            <a:avLst>
              <a:gd name="adj" fmla="val 18000"/>
            </a:avLst>
          </a:prstGeom>
          <a:solidFill>
            <a:srgbClr val="E6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89320" y="2304288"/>
            <a:ext cx="457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F766E"/>
                </a:solidFill>
                <a:latin typeface="微软雅黑"/>
                <a:ea typeface="微软雅黑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313432"/>
            <a:ext cx="5120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E293B"/>
                </a:solidFill>
                <a:latin typeface="微软雅黑"/>
                <a:ea typeface="微软雅黑"/>
              </a:rPr>
              <a:t>总结与展望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82296" cy="40233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10896"/>
            <a:ext cx="8686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E293B"/>
                </a:solidFill>
                <a:latin typeface="微软雅黑"/>
                <a:ea typeface="微软雅黑"/>
              </a:rPr>
              <a:t>项目亮点与难点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04043" y="384048"/>
            <a:ext cx="1284732" cy="365760"/>
          </a:xfrm>
          <a:prstGeom prst="roundRect">
            <a:avLst>
              <a:gd name="adj" fmla="val 50000"/>
            </a:avLst>
          </a:prstGeom>
          <a:solidFill>
            <a:srgbClr val="E6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0F766E"/>
                </a:solidFill>
                <a:latin typeface="微软雅黑"/>
                <a:ea typeface="微软雅黑"/>
              </a:rPr>
              <a:t>05 · 总结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969264"/>
            <a:ext cx="11183112" cy="1463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4748B"/>
                </a:solidFill>
                <a:latin typeface="微软雅黑"/>
                <a:ea typeface="微软雅黑"/>
              </a:rPr>
              <a:t>医智助手 · 医疗知识库智能问答系统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55664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4748B"/>
                </a:solidFill>
                <a:latin typeface="微软雅黑"/>
                <a:ea typeface="微软雅黑"/>
              </a:rPr>
              <a:t>27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234440"/>
            <a:ext cx="5440680" cy="3291840"/>
          </a:xfrm>
          <a:prstGeom prst="roundRect">
            <a:avLst>
              <a:gd name="adj" fmla="val 5000"/>
            </a:avLst>
          </a:prstGeom>
          <a:solidFill>
            <a:srgbClr val="E6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481328"/>
            <a:ext cx="4846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34E4A"/>
                </a:solidFill>
                <a:latin typeface="微软雅黑"/>
                <a:ea typeface="微软雅黑"/>
              </a:rPr>
              <a:t>项目亮点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011680"/>
            <a:ext cx="4846320" cy="2468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1100"/>
              </a:spcAft>
            </a:pPr>
            <a:r>
              <a:rPr sz="1300" b="1" i="0">
                <a:solidFill>
                  <a:srgbClr val="0F766E"/>
                </a:solidFill>
                <a:latin typeface="微软雅黑"/>
                <a:ea typeface="微软雅黑"/>
              </a:rPr>
              <a:t>● </a:t>
            </a:r>
            <a:r>
              <a:rPr sz="1300" b="0" i="0">
                <a:solidFill>
                  <a:srgbClr val="1E293B"/>
                </a:solidFill>
                <a:latin typeface="微软雅黑"/>
                <a:ea typeface="微软雅黑"/>
              </a:rPr>
              <a:t>端到端 RAG：切分→向量化→检索→重排→生成→引用</a:t>
            </a:r>
          </a:p>
          <a:p>
            <a:pPr>
              <a:lnSpc>
                <a:spcPct val="100000"/>
              </a:lnSpc>
              <a:spcAft>
                <a:spcPts val="1100"/>
              </a:spcAft>
            </a:pPr>
            <a:r>
              <a:rPr sz="1300" b="1" i="0">
                <a:solidFill>
                  <a:srgbClr val="0F766E"/>
                </a:solidFill>
                <a:latin typeface="微软雅黑"/>
                <a:ea typeface="微软雅黑"/>
              </a:rPr>
              <a:t>● </a:t>
            </a:r>
            <a:r>
              <a:rPr sz="1300" b="0" i="0">
                <a:solidFill>
                  <a:srgbClr val="1E293B"/>
                </a:solidFill>
                <a:latin typeface="微软雅黑"/>
                <a:ea typeface="微软雅黑"/>
              </a:rPr>
              <a:t>公开/私有双层权限，过滤下推到向量库</a:t>
            </a:r>
          </a:p>
          <a:p>
            <a:pPr>
              <a:lnSpc>
                <a:spcPct val="100000"/>
              </a:lnSpc>
              <a:spcAft>
                <a:spcPts val="1100"/>
              </a:spcAft>
            </a:pPr>
            <a:r>
              <a:rPr sz="1300" b="1" i="0">
                <a:solidFill>
                  <a:srgbClr val="0F766E"/>
                </a:solidFill>
                <a:latin typeface="微软雅黑"/>
                <a:ea typeface="微软雅黑"/>
              </a:rPr>
              <a:t>● </a:t>
            </a:r>
            <a:r>
              <a:rPr sz="1300" b="0" i="0">
                <a:solidFill>
                  <a:srgbClr val="1E293B"/>
                </a:solidFill>
                <a:latin typeface="微软雅黑"/>
                <a:ea typeface="微软雅黑"/>
              </a:rPr>
              <a:t>全链路降级，离线也完整可用</a:t>
            </a:r>
          </a:p>
          <a:p>
            <a:pPr>
              <a:lnSpc>
                <a:spcPct val="100000"/>
              </a:lnSpc>
              <a:spcAft>
                <a:spcPts val="1100"/>
              </a:spcAft>
            </a:pPr>
            <a:r>
              <a:rPr sz="1300" b="1" i="0">
                <a:solidFill>
                  <a:srgbClr val="0F766E"/>
                </a:solidFill>
                <a:latin typeface="微软雅黑"/>
                <a:ea typeface="微软雅黑"/>
              </a:rPr>
              <a:t>● </a:t>
            </a:r>
            <a:r>
              <a:rPr sz="1300" b="0" i="0">
                <a:solidFill>
                  <a:srgbClr val="1E293B"/>
                </a:solidFill>
                <a:latin typeface="微软雅黑"/>
                <a:ea typeface="微软雅黑"/>
              </a:rPr>
              <a:t>知识问答 + 健康档案 + 医护管理三合一</a:t>
            </a:r>
          </a:p>
          <a:p>
            <a:pPr>
              <a:lnSpc>
                <a:spcPct val="100000"/>
              </a:lnSpc>
              <a:spcAft>
                <a:spcPts val="1100"/>
              </a:spcAft>
            </a:pPr>
            <a:r>
              <a:rPr sz="1300" b="1" i="0">
                <a:solidFill>
                  <a:srgbClr val="0F766E"/>
                </a:solidFill>
                <a:latin typeface="微软雅黑"/>
                <a:ea typeface="微软雅黑"/>
              </a:rPr>
              <a:t>● </a:t>
            </a:r>
            <a:r>
              <a:rPr sz="1300" b="0" i="0">
                <a:solidFill>
                  <a:srgbClr val="1E293B"/>
                </a:solidFill>
                <a:latin typeface="微软雅黑"/>
                <a:ea typeface="微软雅黑"/>
              </a:rPr>
              <a:t>持续演进：SQLite→MySQL、ChromaDB→Milvus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234440"/>
            <a:ext cx="5440680" cy="3291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1481328"/>
            <a:ext cx="4846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D97706"/>
                </a:solidFill>
                <a:latin typeface="微软雅黑"/>
                <a:ea typeface="微软雅黑"/>
              </a:rPr>
              <a:t>技术难点与解决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1968" y="2011680"/>
            <a:ext cx="4846320" cy="2468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1100"/>
              </a:spcAft>
            </a:pPr>
            <a:r>
              <a:rPr sz="1300" b="1" i="0">
                <a:solidFill>
                  <a:srgbClr val="0F766E"/>
                </a:solidFill>
                <a:latin typeface="微软雅黑"/>
                <a:ea typeface="微软雅黑"/>
              </a:rPr>
              <a:t>● </a:t>
            </a:r>
            <a:r>
              <a:rPr sz="1300" b="0" i="0">
                <a:solidFill>
                  <a:srgbClr val="1E293B"/>
                </a:solidFill>
                <a:latin typeface="微软雅黑"/>
                <a:ea typeface="微软雅黑"/>
              </a:rPr>
              <a:t>中文向量模型下载（HF Xet 不可达）→ 改用 ModelScope</a:t>
            </a:r>
          </a:p>
          <a:p>
            <a:pPr>
              <a:lnSpc>
                <a:spcPct val="100000"/>
              </a:lnSpc>
              <a:spcAft>
                <a:spcPts val="1100"/>
              </a:spcAft>
            </a:pPr>
            <a:r>
              <a:rPr sz="1300" b="1" i="0">
                <a:solidFill>
                  <a:srgbClr val="0F766E"/>
                </a:solidFill>
                <a:latin typeface="微软雅黑"/>
                <a:ea typeface="微软雅黑"/>
              </a:rPr>
              <a:t>● </a:t>
            </a:r>
            <a:r>
              <a:rPr sz="1300" b="0" i="0">
                <a:solidFill>
                  <a:srgbClr val="1E293B"/>
                </a:solidFill>
                <a:latin typeface="微软雅黑"/>
                <a:ea typeface="微软雅黑"/>
              </a:rPr>
              <a:t>相似度压分失真（1/(1+d)）→ 改为 cosine 相似度 1-d</a:t>
            </a:r>
          </a:p>
          <a:p>
            <a:pPr>
              <a:lnSpc>
                <a:spcPct val="100000"/>
              </a:lnSpc>
              <a:spcAft>
                <a:spcPts val="1100"/>
              </a:spcAft>
            </a:pPr>
            <a:r>
              <a:rPr sz="1300" b="1" i="0">
                <a:solidFill>
                  <a:srgbClr val="0F766E"/>
                </a:solidFill>
                <a:latin typeface="微软雅黑"/>
                <a:ea typeface="微软雅黑"/>
              </a:rPr>
              <a:t>● </a:t>
            </a:r>
            <a:r>
              <a:rPr sz="1300" b="0" i="0">
                <a:solidFill>
                  <a:srgbClr val="1E293B"/>
                </a:solidFill>
                <a:latin typeface="微软雅黑"/>
                <a:ea typeface="微软雅黑"/>
              </a:rPr>
              <a:t>多角色权限矩阵复杂 → 装饰器 + 下推过滤统一实现</a:t>
            </a:r>
          </a:p>
          <a:p>
            <a:pPr>
              <a:lnSpc>
                <a:spcPct val="100000"/>
              </a:lnSpc>
              <a:spcAft>
                <a:spcPts val="1100"/>
              </a:spcAft>
            </a:pPr>
            <a:r>
              <a:rPr sz="1300" b="1" i="0">
                <a:solidFill>
                  <a:srgbClr val="0F766E"/>
                </a:solidFill>
                <a:latin typeface="微软雅黑"/>
                <a:ea typeface="微软雅黑"/>
              </a:rPr>
              <a:t>● </a:t>
            </a:r>
            <a:r>
              <a:rPr sz="1300" b="0" i="0">
                <a:solidFill>
                  <a:srgbClr val="1E293B"/>
                </a:solidFill>
                <a:latin typeface="微软雅黑"/>
                <a:ea typeface="微软雅黑"/>
              </a:rPr>
              <a:t>向量库不可用 → Milvus 自动降级 NumpyStore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754880"/>
            <a:ext cx="11183112" cy="141732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98348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34E4A"/>
                </a:solidFill>
                <a:latin typeface="微软雅黑"/>
                <a:ea typeface="微软雅黑"/>
              </a:rPr>
              <a:t>工程亮点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5440680"/>
            <a:ext cx="106070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250" b="1" i="0">
                <a:solidFill>
                  <a:srgbClr val="0F766E"/>
                </a:solidFill>
                <a:latin typeface="微软雅黑"/>
                <a:ea typeface="微软雅黑"/>
              </a:rPr>
              <a:t>● </a:t>
            </a:r>
            <a:r>
              <a:rPr sz="1250" b="0" i="0">
                <a:solidFill>
                  <a:srgbClr val="1E293B"/>
                </a:solidFill>
                <a:latin typeface="微软雅黑"/>
                <a:ea typeface="微软雅黑"/>
              </a:rPr>
              <a:t>自动建库建表 + 幂等播种，五角色一键演示；Docker Compose 一键部署（Milvus+MySQL+前后端）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82296" cy="40233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10896"/>
            <a:ext cx="8686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E293B"/>
                </a:solidFill>
                <a:latin typeface="微软雅黑"/>
                <a:ea typeface="微软雅黑"/>
              </a:rPr>
              <a:t>总结与展望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04043" y="384048"/>
            <a:ext cx="1284732" cy="365760"/>
          </a:xfrm>
          <a:prstGeom prst="roundRect">
            <a:avLst>
              <a:gd name="adj" fmla="val 50000"/>
            </a:avLst>
          </a:prstGeom>
          <a:solidFill>
            <a:srgbClr val="E6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0F766E"/>
                </a:solidFill>
                <a:latin typeface="微软雅黑"/>
                <a:ea typeface="微软雅黑"/>
              </a:rPr>
              <a:t>05 · 总结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969264"/>
            <a:ext cx="11183112" cy="1463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4748B"/>
                </a:solidFill>
                <a:latin typeface="微软雅黑"/>
                <a:ea typeface="微软雅黑"/>
              </a:rPr>
              <a:t>医智助手 · 医疗知识库智能问答系统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55664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4748B"/>
                </a:solidFill>
                <a:latin typeface="微软雅黑"/>
                <a:ea typeface="微软雅黑"/>
              </a:rPr>
              <a:t>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234440"/>
            <a:ext cx="11183112" cy="2148840"/>
          </a:xfrm>
          <a:prstGeom prst="roundRect">
            <a:avLst>
              <a:gd name="adj" fmla="val 5000"/>
            </a:avLst>
          </a:prstGeom>
          <a:solidFill>
            <a:srgbClr val="E6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4630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34E4A"/>
                </a:solidFill>
                <a:latin typeface="微软雅黑"/>
                <a:ea typeface="微软雅黑"/>
              </a:rPr>
              <a:t>项目总结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1938528"/>
            <a:ext cx="1060704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300" b="1" i="0">
                <a:solidFill>
                  <a:srgbClr val="0F766E"/>
                </a:solidFill>
                <a:latin typeface="微软雅黑"/>
                <a:ea typeface="微软雅黑"/>
              </a:rPr>
              <a:t>● </a:t>
            </a:r>
            <a:r>
              <a:rPr sz="1300" b="0" i="0">
                <a:solidFill>
                  <a:srgbClr val="1E293B"/>
                </a:solidFill>
                <a:latin typeface="微软雅黑"/>
                <a:ea typeface="微软雅黑"/>
              </a:rPr>
              <a:t>完成了一个"知识库 + 智能问答 + 多角色业务"的医疗辅助平台，覆盖 12 疾病库 / 240 篇文档 / 5 角色</a:t>
            </a:r>
          </a:p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300" b="1" i="0">
                <a:solidFill>
                  <a:srgbClr val="0F766E"/>
                </a:solidFill>
                <a:latin typeface="微软雅黑"/>
                <a:ea typeface="微软雅黑"/>
              </a:rPr>
              <a:t>● </a:t>
            </a:r>
            <a:r>
              <a:rPr sz="1300" b="0" i="0">
                <a:solidFill>
                  <a:srgbClr val="1E293B"/>
                </a:solidFill>
                <a:latin typeface="微软雅黑"/>
                <a:ea typeface="微软雅黑"/>
              </a:rPr>
              <a:t>基于 RAG 实现可追溯的医学问答，并配套健康档案、挂号、医护、管理全业务闭环</a:t>
            </a:r>
          </a:p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300" b="1" i="0">
                <a:solidFill>
                  <a:srgbClr val="0F766E"/>
                </a:solidFill>
                <a:latin typeface="微软雅黑"/>
                <a:ea typeface="微软雅黑"/>
              </a:rPr>
              <a:t>● </a:t>
            </a:r>
            <a:r>
              <a:rPr sz="1300" b="0" i="0">
                <a:solidFill>
                  <a:srgbClr val="1E293B"/>
                </a:solidFill>
                <a:latin typeface="微软雅黑"/>
                <a:ea typeface="微软雅黑"/>
              </a:rPr>
              <a:t>工程上从数据库、向量检索到前端门户均有完整设计与可运行实现，满足课程设计与教学演示要求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657600"/>
            <a:ext cx="11183112" cy="2514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8862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563EB"/>
                </a:solidFill>
                <a:latin typeface="微软雅黑"/>
                <a:ea typeface="微软雅黑"/>
              </a:rPr>
              <a:t>后续展望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4389120"/>
            <a:ext cx="1060704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300" b="1" i="0">
                <a:solidFill>
                  <a:srgbClr val="0F766E"/>
                </a:solidFill>
                <a:latin typeface="微软雅黑"/>
                <a:ea typeface="微软雅黑"/>
              </a:rPr>
              <a:t>● </a:t>
            </a:r>
            <a:r>
              <a:rPr sz="1300" b="0" i="0">
                <a:solidFill>
                  <a:srgbClr val="1E293B"/>
                </a:solidFill>
                <a:latin typeface="微软雅黑"/>
                <a:ea typeface="微软雅黑"/>
              </a:rPr>
              <a:t>扩充专科知识库与权威医学语料，接入多模态（病历图片、影像报告）</a:t>
            </a:r>
          </a:p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300" b="1" i="0">
                <a:solidFill>
                  <a:srgbClr val="0F766E"/>
                </a:solidFill>
                <a:latin typeface="微软雅黑"/>
                <a:ea typeface="微软雅黑"/>
              </a:rPr>
              <a:t>● </a:t>
            </a:r>
            <a:r>
              <a:rPr sz="1300" b="0" i="0">
                <a:solidFill>
                  <a:srgbClr val="1E293B"/>
                </a:solidFill>
                <a:latin typeface="微软雅黑"/>
                <a:ea typeface="微软雅黑"/>
              </a:rPr>
              <a:t>引入 Agent / 工具调用，对接真实医院信息系统数据</a:t>
            </a:r>
          </a:p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300" b="1" i="0">
                <a:solidFill>
                  <a:srgbClr val="0F766E"/>
                </a:solidFill>
                <a:latin typeface="微软雅黑"/>
                <a:ea typeface="微软雅黑"/>
              </a:rPr>
              <a:t>● </a:t>
            </a:r>
            <a:r>
              <a:rPr sz="1300" b="0" i="0">
                <a:solidFill>
                  <a:srgbClr val="1E293B"/>
                </a:solidFill>
                <a:latin typeface="微软雅黑"/>
                <a:ea typeface="微软雅黑"/>
              </a:rPr>
              <a:t>增加对话记忆与个性化推荐，提升咨询体验</a:t>
            </a:r>
          </a:p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300" b="1" i="0">
                <a:solidFill>
                  <a:srgbClr val="0F766E"/>
                </a:solidFill>
                <a:latin typeface="微软雅黑"/>
                <a:ea typeface="微软雅黑"/>
              </a:rPr>
              <a:t>● </a:t>
            </a:r>
            <a:r>
              <a:rPr sz="1300" b="0" i="0">
                <a:solidFill>
                  <a:srgbClr val="1E293B"/>
                </a:solidFill>
                <a:latin typeface="微软雅黑"/>
                <a:ea typeface="微软雅黑"/>
              </a:rPr>
              <a:t>补充自动化测试（pytest）与 CI/CD，部署公网并接入微信 / App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3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097280" y="-1463040"/>
            <a:ext cx="3840480" cy="3840480"/>
          </a:xfrm>
          <a:prstGeom prst="ellipse">
            <a:avLst/>
          </a:prstGeom>
          <a:solidFill>
            <a:srgbClr val="1484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241280" y="4937760"/>
            <a:ext cx="4023360" cy="4023360"/>
          </a:xfrm>
          <a:prstGeom prst="ellipse">
            <a:avLst/>
          </a:prstGeom>
          <a:solidFill>
            <a:srgbClr val="0E60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1036015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00" b="1" i="0">
                <a:solidFill>
                  <a:srgbClr val="FFFFFF"/>
                </a:solidFill>
                <a:latin typeface="微软雅黑"/>
                <a:ea typeface="微软雅黑"/>
              </a:rPr>
              <a:t>感谢聆听</a:t>
            </a:r>
          </a:p>
        </p:txBody>
      </p:sp>
      <p:sp>
        <p:nvSpPr>
          <p:cNvPr id="6" name="Rectangle 5"/>
          <p:cNvSpPr/>
          <p:nvPr/>
        </p:nvSpPr>
        <p:spPr>
          <a:xfrm>
            <a:off x="5413248" y="3429000"/>
            <a:ext cx="1371600" cy="27432"/>
          </a:xfrm>
          <a:prstGeom prst="rect">
            <a:avLst/>
          </a:prstGeom>
          <a:solidFill>
            <a:srgbClr val="99F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749039"/>
            <a:ext cx="103601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99F6E4"/>
                </a:solidFill>
                <a:latin typeface="微软雅黑"/>
                <a:ea typeface="微软雅黑"/>
              </a:rPr>
              <a:t>敬请各位老师批评指正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846320"/>
            <a:ext cx="103601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9EC9C4"/>
                </a:solidFill>
                <a:latin typeface="微软雅黑"/>
                <a:ea typeface="微软雅黑"/>
              </a:rPr>
              <a:t>医智助手 · 医疗知识库智能问答系统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